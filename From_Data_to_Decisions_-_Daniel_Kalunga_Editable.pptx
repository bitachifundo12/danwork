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29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Opening frame. The argument of this presentation in one line: better data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leads to better decisions, and better decisions lead to better results for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children.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four stages on the right are the spine of the whole deck. Trust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data, understand the story, act on the evidence, improve results.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Every slide that follows sits under one of those four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Start with the diagnosis, not the solution.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Left: what we observe. Data arrive late, they are incomplete, they are not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consistent across partners, and they are rarely disaggregated enough to see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who is being left behind. Reporting is heavy on activities and outputs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light on coverage, quality, equity and outcomes.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Centre: why that matters. Senior management needs four answers on a routine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basis. Are we on track. Where are the gaps. Why. What should we change.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Today the information does not reliably deliver those four answers.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Right: the consequence. Four categories of management decision are being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made with weaker evidence than they deserve.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Bottom: name the audience, because a performance system is only useful if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it is designed around the people who must act on it.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Close on the key point: this is not a request for more data. It is a case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for a trusted system that turns evidence into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The response has to be proportionate to the question. That is the whole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argument of this slide.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Layer one is always first: make the routine system work. Clear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framework, standard definitions, mapped data flows, dashboards that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management actually uses, and analysis that can show bottlenecks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disaggregation.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Layer two is quality assurance built into that system: a baseline data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quality assessment, automated checks, verification against source records,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scorecards for partners and districts, and tracked corrective action.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Layer three is new evidence, and only where layers one and two genuinely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cannot answer the question. Rapid assessments, surveys, evaluations,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implementation research, qualitative work, real-time monitoring.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The decision rule at the bottom is how I would choose. Begin from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decision question, check the existing evidence, judge its quality, identify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what gap remains, and only then select a method.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 dirty="0">
                <a:solidFill>
                  <a:srgbClr val="404041"/>
                </a:solidFill>
                <a:latin typeface="Arial"/>
                <a:cs typeface="Arial"/>
              </a:rPr>
              <a:t>This protects the budget and it protects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Trust is the precondition for use. If management does not believe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numbers, no dashboard and no evaluation will change a decision.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wheel on the left is what we mean by quality: validity, accuracy,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completeness, consistency, timeliness and reliability. Those six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dimensions are the specification.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three columns are how you achieve it. Prevent errors at source through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definitions, tools, training and system controls. Detect what still slips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through, using automated checks, alerts, verification and triangulation.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Then correct and learn, so the same problem does not recur.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chain at the bottom is the point I would emphasise in an interview: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quality is not an M&amp;E task, it is a shared accountability that runs from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data producer all the way to management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This is the management slide. It answers the question: how would you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actually run a consultancy so that it produces something usable.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Six stages. The terms of reference is where most evaluations succeed or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fail, so I would invest heavily there: the decision question, the method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expectations, the deliverables, ethics, and data ownership.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Procurement assesses technical quality and independence, not price alone.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Inception is a genuine gate. Nothing goes to the field until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methodology, tools, analysis plan, workplan, quality assurance plan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ethics protocol are approved.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During implementation UNICEF stays close. We monitor training, fieldwork,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data quality indicators, protocol compliance and emerging risk.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Quality assurance happens at fixed checkpoints, not at the end.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Acceptance is deliberately drawn as a ladder that ends in a management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response, because a report that is accepted but not acted on has failed.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strip underneath is the accountability boundary. The consultant brings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capacity. UNICEF keeps oversight, ethics, quality, coordination,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acceptance and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Four constituencies, one system.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Government first, because sustainability depends on it. We co-define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information needs, align indicators to national frameworks, use existing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administrative systems wherever they can carry the load, validate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interpret jointly, and leave behind stronger capacity.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Internally, Programme Sections own the decision needs, M&amp;E owns method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quality, partners strengthen reporting and verification, and management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closes the loop by agreeing actions.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Children, adolescents and communities are participants, not just data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sources. That means accessible methods, real feedback loops and do no harm.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Ethics and data protection are not a compliance annex. Ethical review,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consent and assent, confidentiality, safeguarding referral routes, data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minimisation and controlled access.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chain at the bottom is the sequence I would hold myself to: align,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participate, protect, strengthen.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 twelve week spine with a gate at the end of each stage.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Weeks one and two are diagnostic: what decisions are pending and what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information is genuinely missing. Weeks two to four produce the design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terms of reference and start procurement. Weeks four to six are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inception, tools and a pilot. Weeks six to nine are implementation.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Weeks nine to eleven are analysis and joint validation. Week twelve is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management decision and the action plan, which is the actual deliverable.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After that it becomes routine: monitor, learn, adapt.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risk table is deliberately paired. Every risk I raise has a management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response attached to it, because naming risk without a response is not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risk management.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mechanisms line is how the control actually operates week to week.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closing line is the one I would want remembered: milestones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decision points, not the contract end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This is the operating loop. Seven steps, and the only one that most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organisations do reliably is the first.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Data becomes insight through analysis of trends, equity gaps, bottlenecks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and drivers. Insight becomes interpretation only through joint review with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government and programme colleagues, because the number rarely explains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itself. Interpretation becomes a decision when someone agrees what must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change. A decision becomes action only when it has an owner, a deadline, 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resource and an expected result. Then we track it, and then we adapt.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centre is deliberate. Joint review and accountability is what holds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cycle together, and children and communities are inside that circle,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not outside it.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The three examples show the same loop producing three different responses,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which is the point: proportionality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Close by returning to the three ideas that opened the presentation.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Trust the data. That means quality assurance, completeness and accuracy,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and named accountability.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Understand the story. That means integrating evidence from different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sources, identifying the gaps and prioritising the bottlenecks that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matter most for children.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Act on the evidence. Decisions with owners, actions with follow up, and 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system that adapts.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Final line, and I would pause on it: evidence is only useful when 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changes a decision, an allocation, an implementation approach, or an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00" b="0" i="0">
                <a:solidFill>
                  <a:srgbClr val="404041"/>
                </a:solidFill>
                <a:latin typeface="Arial"/>
                <a:cs typeface="Arial"/>
              </a:rPr>
              <a:t>accountability action. Everything else is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15CC7-F749-2746-BC56-B0B6D36B28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625263" y="63500"/>
            <a:ext cx="534987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MW" sz="12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5508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9516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3524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7532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1540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5548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195559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83564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91440"/>
            <a:ext cx="5486" cy="5623560"/>
          </a:xfrm>
          <a:prstGeom prst="rect">
            <a:avLst/>
          </a:prstGeom>
          <a:solidFill>
            <a:srgbClr val="1E2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932688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 spc="220">
                <a:solidFill>
                  <a:srgbClr val="1CABE2"/>
                </a:solidFill>
                <a:latin typeface="Arial"/>
                <a:cs typeface="Arial"/>
              </a:rPr>
              <a:t>UNICEF MALAWI  |  TECHNICAL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3" y="1316736"/>
            <a:ext cx="6035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700" b="1" i="0" spc="-140">
                <a:solidFill>
                  <a:srgbClr val="FFFFFF"/>
                </a:solidFill>
                <a:latin typeface="Arial"/>
                <a:cs typeface="Arial"/>
              </a:rPr>
              <a:t>FROM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3" y="2121408"/>
            <a:ext cx="6035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700" b="1" i="0" spc="-140">
                <a:solidFill>
                  <a:srgbClr val="1CABE2"/>
                </a:solidFill>
                <a:latin typeface="Arial"/>
                <a:cs typeface="Arial"/>
              </a:rPr>
              <a:t>TO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27248"/>
            <a:ext cx="1188720" cy="438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419856"/>
            <a:ext cx="539496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>
                <a:solidFill>
                  <a:srgbClr val="FFFFFF"/>
                </a:solidFill>
                <a:latin typeface="Arial"/>
                <a:cs typeface="Arial"/>
              </a:rPr>
              <a:t>Strengthening Performance Monitoring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>
                <a:solidFill>
                  <a:srgbClr val="FFFFFF"/>
                </a:solidFill>
                <a:latin typeface="Arial"/>
                <a:cs typeface="Arial"/>
              </a:rPr>
              <a:t>and Evidence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17136"/>
            <a:ext cx="27432" cy="9326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498848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i="0">
                <a:solidFill>
                  <a:srgbClr val="FFFFFF"/>
                </a:solidFill>
                <a:latin typeface="Arial"/>
                <a:cs typeface="Arial"/>
              </a:rPr>
              <a:t>Daniel Kalunga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82896"/>
            <a:ext cx="5120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i="0">
                <a:solidFill>
                  <a:srgbClr val="9FB4DC"/>
                </a:solidFill>
                <a:latin typeface="Arial"/>
                <a:cs typeface="Arial"/>
              </a:rPr>
              <a:t>Technical Assessment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i="0">
                <a:solidFill>
                  <a:srgbClr val="9FB4DC"/>
                </a:solidFill>
                <a:latin typeface="Arial"/>
                <a:cs typeface="Arial"/>
              </a:rPr>
              <a:t>Monitoring and Evaluation Specialist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188720"/>
            <a:ext cx="18288" cy="3950208"/>
          </a:xfrm>
          <a:prstGeom prst="rect">
            <a:avLst/>
          </a:prstGeom>
          <a:solidFill>
            <a:srgbClr val="2C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03720" y="1188720"/>
            <a:ext cx="18288" cy="9326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6" name="chip:shield"/>
          <p:cNvGrpSpPr/>
          <p:nvPr/>
        </p:nvGrpSpPr>
        <p:grpSpPr>
          <a:xfrm>
            <a:off x="7022592" y="1225295"/>
            <a:ext cx="566928" cy="566928"/>
            <a:chOff x="7022592" y="1225295"/>
            <a:chExt cx="566928" cy="566928"/>
          </a:xfrm>
        </p:grpSpPr>
        <p:sp>
          <p:nvSpPr>
            <p:cNvPr id="22" name="Oval 21"/>
            <p:cNvSpPr/>
            <p:nvPr/>
          </p:nvSpPr>
          <p:spPr>
            <a:xfrm>
              <a:off x="7022592" y="1225295"/>
              <a:ext cx="566928" cy="566928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5" name="icon:shield"/>
            <p:cNvGrpSpPr/>
            <p:nvPr/>
          </p:nvGrpSpPr>
          <p:grpSpPr>
            <a:xfrm>
              <a:off x="7192670" y="1378366"/>
              <a:ext cx="226771" cy="266456"/>
              <a:chOff x="7192670" y="1378366"/>
              <a:chExt cx="226771" cy="266456"/>
            </a:xfrm>
          </p:grpSpPr>
          <p:sp>
            <p:nvSpPr>
              <p:cNvPr id="23" name="Freeform 22"/>
              <p:cNvSpPr/>
              <p:nvPr/>
            </p:nvSpPr>
            <p:spPr>
              <a:xfrm>
                <a:off x="7192670" y="1378366"/>
                <a:ext cx="226771" cy="266456"/>
              </a:xfrm>
              <a:custGeom>
                <a:avLst/>
                <a:gdLst/>
                <a:ahLst/>
                <a:cxnLst/>
                <a:rect l="l" t="t" r="r" b="b"/>
                <a:pathLst>
                  <a:path w="226771" h="266456">
                    <a:moveTo>
                      <a:pt x="0" y="0"/>
                    </a:moveTo>
                    <a:lnTo>
                      <a:pt x="226771" y="0"/>
                    </a:lnTo>
                    <a:lnTo>
                      <a:pt x="226771" y="144567"/>
                    </a:lnTo>
                    <a:lnTo>
                      <a:pt x="113386" y="266456"/>
                    </a:lnTo>
                    <a:lnTo>
                      <a:pt x="0" y="144567"/>
                    </a:lnTo>
                    <a:close/>
                  </a:path>
                </a:pathLst>
              </a:custGeom>
              <a:noFill/>
              <a:ln w="15875">
                <a:solidFill>
                  <a:srgbClr val="1621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7257867" y="1463405"/>
                <a:ext cx="102047" cy="124724"/>
              </a:xfrm>
              <a:custGeom>
                <a:avLst/>
                <a:gdLst/>
                <a:ahLst/>
                <a:cxnLst/>
                <a:rect l="l" t="t" r="r" b="b"/>
                <a:pathLst>
                  <a:path w="102047" h="124724">
                    <a:moveTo>
                      <a:pt x="0" y="45355"/>
                    </a:moveTo>
                    <a:lnTo>
                      <a:pt x="34015" y="85039"/>
                    </a:lnTo>
                    <a:lnTo>
                      <a:pt x="102047" y="0"/>
                    </a:lnTo>
                    <a:lnTo>
                      <a:pt x="102047" y="39685"/>
                    </a:lnTo>
                    <a:lnTo>
                      <a:pt x="34015" y="124724"/>
                    </a:lnTo>
                    <a:lnTo>
                      <a:pt x="0" y="85039"/>
                    </a:lnTo>
                    <a:close/>
                  </a:path>
                </a:pathLst>
              </a:cu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7744968" y="1225296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 b="1" i="0" cap="all" spc="150">
                <a:solidFill>
                  <a:srgbClr val="FFFFFF"/>
                </a:solidFill>
                <a:latin typeface="Arial"/>
                <a:cs typeface="Arial"/>
              </a:rPr>
              <a:t>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44968" y="15544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0" i="0">
                <a:solidFill>
                  <a:srgbClr val="A8BDE0"/>
                </a:solidFill>
                <a:latin typeface="Arial"/>
                <a:cs typeface="Arial"/>
              </a:rPr>
              <a:t>the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2231136"/>
            <a:ext cx="18288" cy="9326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37" name="chip:searchbar"/>
          <p:cNvGrpSpPr/>
          <p:nvPr/>
        </p:nvGrpSpPr>
        <p:grpSpPr>
          <a:xfrm>
            <a:off x="7022592" y="2267712"/>
            <a:ext cx="566928" cy="566928"/>
            <a:chOff x="7022592" y="2267712"/>
            <a:chExt cx="566928" cy="566928"/>
          </a:xfrm>
        </p:grpSpPr>
        <p:sp>
          <p:nvSpPr>
            <p:cNvPr id="30" name="Oval 29"/>
            <p:cNvSpPr/>
            <p:nvPr/>
          </p:nvSpPr>
          <p:spPr>
            <a:xfrm>
              <a:off x="7022592" y="2267712"/>
              <a:ext cx="566928" cy="566928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36" name="icon:searchbar"/>
            <p:cNvGrpSpPr/>
            <p:nvPr/>
          </p:nvGrpSpPr>
          <p:grpSpPr>
            <a:xfrm>
              <a:off x="7175662" y="2420782"/>
              <a:ext cx="198424" cy="272125"/>
              <a:chOff x="7175662" y="2420782"/>
              <a:chExt cx="198424" cy="272125"/>
            </a:xfrm>
          </p:grpSpPr>
          <p:sp>
            <p:nvSpPr>
              <p:cNvPr id="31" name="Oval 30"/>
              <p:cNvSpPr/>
              <p:nvPr/>
            </p:nvSpPr>
            <p:spPr>
              <a:xfrm>
                <a:off x="7175662" y="2420782"/>
                <a:ext cx="198424" cy="198424"/>
              </a:xfrm>
              <a:prstGeom prst="ellipse">
                <a:avLst/>
              </a:prstGeom>
              <a:noFill/>
              <a:ln w="15875">
                <a:solidFill>
                  <a:srgbClr val="16214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ectangle 31"/>
              <p:cNvSpPr/>
              <p:nvPr/>
            </p:nvSpPr>
            <p:spPr>
              <a:xfrm rot="18900000">
                <a:off x="7345740" y="2596530"/>
                <a:ext cx="28346" cy="96377"/>
              </a:xfrm>
              <a:prstGeom prst="rect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7221016" y="2534168"/>
                <a:ext cx="19842" cy="51023"/>
              </a:xfrm>
              <a:prstGeom prst="rect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7255032" y="2505821"/>
                <a:ext cx="19842" cy="79369"/>
              </a:xfrm>
              <a:prstGeom prst="rect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289048" y="2477475"/>
                <a:ext cx="19842" cy="107716"/>
              </a:xfrm>
              <a:prstGeom prst="rect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38" name="TextBox 37"/>
          <p:cNvSpPr txBox="1"/>
          <p:nvPr/>
        </p:nvSpPr>
        <p:spPr>
          <a:xfrm>
            <a:off x="7744968" y="2267712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 b="1" i="0" cap="all" spc="150">
                <a:solidFill>
                  <a:srgbClr val="FFFFFF"/>
                </a:solidFill>
                <a:latin typeface="Arial"/>
                <a:cs typeface="Arial"/>
              </a:rPr>
              <a:t>Understand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259689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0" i="0">
                <a:solidFill>
                  <a:srgbClr val="A8BDE0"/>
                </a:solidFill>
                <a:latin typeface="Arial"/>
                <a:cs typeface="Arial"/>
              </a:rPr>
              <a:t>the story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3273552"/>
            <a:ext cx="18288" cy="9326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49" name="chip:people"/>
          <p:cNvGrpSpPr/>
          <p:nvPr/>
        </p:nvGrpSpPr>
        <p:grpSpPr>
          <a:xfrm>
            <a:off x="7022592" y="3310128"/>
            <a:ext cx="566928" cy="566928"/>
            <a:chOff x="7022592" y="3310128"/>
            <a:chExt cx="566928" cy="566928"/>
          </a:xfrm>
        </p:grpSpPr>
        <p:sp>
          <p:nvSpPr>
            <p:cNvPr id="41" name="Oval 40"/>
            <p:cNvSpPr/>
            <p:nvPr/>
          </p:nvSpPr>
          <p:spPr>
            <a:xfrm>
              <a:off x="7022592" y="3310128"/>
              <a:ext cx="566928" cy="566928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48" name="icon:people"/>
            <p:cNvGrpSpPr/>
            <p:nvPr/>
          </p:nvGrpSpPr>
          <p:grpSpPr>
            <a:xfrm>
              <a:off x="7158654" y="3457529"/>
              <a:ext cx="294803" cy="232440"/>
              <a:chOff x="7158654" y="3457529"/>
              <a:chExt cx="294803" cy="23244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7164324" y="3480206"/>
                <a:ext cx="73700" cy="73700"/>
              </a:xfrm>
              <a:prstGeom prst="ellipse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ound Same Side Corner Rectangle 42"/>
              <p:cNvSpPr/>
              <p:nvPr/>
            </p:nvSpPr>
            <p:spPr>
              <a:xfrm>
                <a:off x="7158654" y="3565245"/>
                <a:ext cx="85039" cy="9637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374087" y="3480206"/>
                <a:ext cx="73700" cy="73700"/>
              </a:xfrm>
              <a:prstGeom prst="ellipse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ound Same Side Corner Rectangle 44"/>
              <p:cNvSpPr/>
              <p:nvPr/>
            </p:nvSpPr>
            <p:spPr>
              <a:xfrm>
                <a:off x="7368418" y="3565245"/>
                <a:ext cx="85039" cy="9637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7257867" y="3457529"/>
                <a:ext cx="96377" cy="96377"/>
              </a:xfrm>
              <a:prstGeom prst="ellipse">
                <a:avLst/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ound Same Side Corner Rectangle 46"/>
              <p:cNvSpPr/>
              <p:nvPr/>
            </p:nvSpPr>
            <p:spPr>
              <a:xfrm>
                <a:off x="7240859" y="3565245"/>
                <a:ext cx="130393" cy="12472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16214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7744968" y="331012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 b="1" i="0" cap="all" spc="150">
                <a:solidFill>
                  <a:srgbClr val="FFFFFF"/>
                </a:solidFill>
                <a:latin typeface="Arial"/>
                <a:cs typeface="Arial"/>
              </a:rPr>
              <a:t>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968" y="363931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0" i="0">
                <a:solidFill>
                  <a:srgbClr val="A8BDE0"/>
                </a:solidFill>
                <a:latin typeface="Arial"/>
                <a:cs typeface="Arial"/>
              </a:rPr>
              <a:t>on the evidence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4315968"/>
            <a:ext cx="18288" cy="9326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5" name="chip:trend"/>
          <p:cNvGrpSpPr/>
          <p:nvPr/>
        </p:nvGrpSpPr>
        <p:grpSpPr>
          <a:xfrm>
            <a:off x="7022592" y="4352544"/>
            <a:ext cx="566928" cy="566928"/>
            <a:chOff x="7022592" y="4352544"/>
            <a:chExt cx="566928" cy="566928"/>
          </a:xfrm>
        </p:grpSpPr>
        <p:sp>
          <p:nvSpPr>
            <p:cNvPr id="53" name="Oval 52"/>
            <p:cNvSpPr/>
            <p:nvPr/>
          </p:nvSpPr>
          <p:spPr>
            <a:xfrm>
              <a:off x="7022592" y="4352544"/>
              <a:ext cx="566928" cy="566928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4" name="Freeform 53"/>
            <p:cNvSpPr/>
            <p:nvPr/>
          </p:nvSpPr>
          <p:spPr>
            <a:xfrm>
              <a:off x="7175662" y="4539630"/>
              <a:ext cx="243779" cy="226771"/>
            </a:xfrm>
            <a:custGeom>
              <a:avLst/>
              <a:gdLst/>
              <a:ahLst/>
              <a:cxnLst/>
              <a:rect l="l" t="t" r="r" b="b"/>
              <a:pathLst>
                <a:path w="243779" h="226771">
                  <a:moveTo>
                    <a:pt x="0" y="181417"/>
                  </a:moveTo>
                  <a:lnTo>
                    <a:pt x="90709" y="79370"/>
                  </a:lnTo>
                  <a:lnTo>
                    <a:pt x="147401" y="136062"/>
                  </a:lnTo>
                  <a:lnTo>
                    <a:pt x="243779" y="0"/>
                  </a:lnTo>
                  <a:lnTo>
                    <a:pt x="243779" y="73700"/>
                  </a:lnTo>
                  <a:lnTo>
                    <a:pt x="147401" y="209763"/>
                  </a:lnTo>
                  <a:lnTo>
                    <a:pt x="90709" y="153070"/>
                  </a:lnTo>
                  <a:lnTo>
                    <a:pt x="0" y="226771"/>
                  </a:lnTo>
                  <a:close/>
                </a:path>
              </a:pathLst>
            </a:custGeom>
            <a:solidFill>
              <a:srgbClr val="1621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7744968" y="4352544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 b="1" i="0" cap="all" spc="150">
                <a:solidFill>
                  <a:srgbClr val="FFFFFF"/>
                </a:solidFill>
                <a:latin typeface="Arial"/>
                <a:cs typeface="Arial"/>
              </a:rPr>
              <a:t>Improve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968" y="46817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0" i="0">
                <a:solidFill>
                  <a:srgbClr val="A8BDE0"/>
                </a:solidFill>
                <a:latin typeface="Arial"/>
                <a:cs typeface="Arial"/>
              </a:rPr>
              <a:t>results for children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5925312"/>
            <a:ext cx="12191969" cy="10972"/>
          </a:xfrm>
          <a:prstGeom prst="rect">
            <a:avLst/>
          </a:prstGeom>
          <a:solidFill>
            <a:srgbClr val="2C3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614476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i="0" spc="-60">
                <a:solidFill>
                  <a:srgbClr val="FFFFFF"/>
                </a:solidFill>
                <a:latin typeface="Arial"/>
                <a:cs typeface="Arial"/>
              </a:rPr>
              <a:t>unicef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12848" y="6163056"/>
            <a:ext cx="12801" cy="365760"/>
          </a:xfrm>
          <a:prstGeom prst="rect">
            <a:avLst/>
          </a:prstGeom>
          <a:solidFill>
            <a:srgbClr val="4A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377440" y="62362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>
                <a:solidFill>
                  <a:srgbClr val="FFFFFF"/>
                </a:solidFill>
                <a:latin typeface="Arial"/>
                <a:cs typeface="Arial"/>
              </a:rPr>
              <a:t>for every child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6163056"/>
            <a:ext cx="12801" cy="365760"/>
          </a:xfrm>
          <a:prstGeom prst="rect">
            <a:avLst/>
          </a:prstGeom>
          <a:solidFill>
            <a:srgbClr val="4A5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89320" y="61264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C5D3EC"/>
                </a:solidFill>
                <a:latin typeface="Arial"/>
                <a:cs typeface="Arial"/>
              </a:rPr>
              <a:t>Better data.  Better decisions.  Better results for </a:t>
            </a:r>
            <a:r>
              <a:rPr lang="en-GB" sz="1200" b="1" i="0">
                <a:solidFill>
                  <a:srgbClr val="1CABE2"/>
                </a:solidFill>
                <a:latin typeface="Arial"/>
                <a:cs typeface="Arial"/>
              </a:rPr>
              <a:t>every child.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6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3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65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4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 animBg="1"/>
      <p:bldP spid="26" grpId="0"/>
      <p:bldP spid="27" grpId="0"/>
      <p:bldP spid="28" grpId="0"/>
      <p:bldP spid="29" grpId="0" animBg="1"/>
      <p:bldP spid="37" grpId="0"/>
      <p:bldP spid="38" grpId="0"/>
      <p:bldP spid="39" grpId="0"/>
      <p:bldP spid="40" grpId="0" animBg="1"/>
      <p:bldP spid="49" grpId="0"/>
      <p:bldP spid="50" grpId="0"/>
      <p:bldP spid="51" grpId="0"/>
      <p:bldP spid="52" grpId="0" animBg="1"/>
      <p:bldP spid="55" grpId="0"/>
      <p:bldP spid="56" grpId="0"/>
      <p:bldP spid="57" grpId="0"/>
      <p:bldP spid="6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30352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spc="-35">
                <a:solidFill>
                  <a:srgbClr val="213063"/>
                </a:solidFill>
                <a:latin typeface="Arial"/>
                <a:cs typeface="Arial"/>
              </a:rPr>
              <a:t>Define the Performance and Evidence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The challenge: management cannot consistently see where programmes are off track, or why.</a:t>
            </a:r>
          </a:p>
        </p:txBody>
      </p:sp>
      <p:grpSp>
        <p:nvGrpSpPr>
          <p:cNvPr id="10" name="icon:target"/>
          <p:cNvGrpSpPr/>
          <p:nvPr/>
        </p:nvGrpSpPr>
        <p:grpSpPr>
          <a:xfrm>
            <a:off x="11048969" y="521207"/>
            <a:ext cx="566928" cy="566928"/>
            <a:chOff x="11048969" y="521207"/>
            <a:chExt cx="566928" cy="566928"/>
          </a:xfrm>
        </p:grpSpPr>
        <p:sp>
          <p:nvSpPr>
            <p:cNvPr id="7" name="Oval 6"/>
            <p:cNvSpPr/>
            <p:nvPr/>
          </p:nvSpPr>
          <p:spPr>
            <a:xfrm>
              <a:off x="11048969" y="521207"/>
              <a:ext cx="566928" cy="566928"/>
            </a:xfrm>
            <a:prstGeom prst="ellipse">
              <a:avLst/>
            </a:prstGeom>
            <a:noFill/>
            <a:ln w="19050">
              <a:solidFill>
                <a:srgbClr val="C9C6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11162355" y="634593"/>
              <a:ext cx="340156" cy="340156"/>
            </a:xfrm>
            <a:prstGeom prst="ellipse">
              <a:avLst/>
            </a:prstGeom>
            <a:noFill/>
            <a:ln w="19050">
              <a:solidFill>
                <a:srgbClr val="C9C6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11270071" y="742309"/>
              <a:ext cx="124724" cy="124724"/>
            </a:xfrm>
            <a:prstGeom prst="ellipse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" name="Rectangle 10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02 / 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572768"/>
            <a:ext cx="3527541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1572768"/>
            <a:ext cx="3527541" cy="47548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3" name="icon:chartup"/>
          <p:cNvGrpSpPr/>
          <p:nvPr/>
        </p:nvGrpSpPr>
        <p:grpSpPr>
          <a:xfrm>
            <a:off x="790041" y="1750161"/>
            <a:ext cx="321869" cy="314554"/>
            <a:chOff x="790041" y="1750161"/>
            <a:chExt cx="321869" cy="314554"/>
          </a:xfrm>
        </p:grpSpPr>
        <p:sp>
          <p:nvSpPr>
            <p:cNvPr id="19" name="Rectangle 18"/>
            <p:cNvSpPr/>
            <p:nvPr/>
          </p:nvSpPr>
          <p:spPr>
            <a:xfrm>
              <a:off x="790041" y="1933041"/>
              <a:ext cx="58521" cy="13167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77824" y="1874520"/>
              <a:ext cx="58521" cy="190195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965606" y="1801368"/>
              <a:ext cx="58521" cy="26334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2" name="Freeform 21"/>
            <p:cNvSpPr/>
            <p:nvPr/>
          </p:nvSpPr>
          <p:spPr>
            <a:xfrm>
              <a:off x="804672" y="1750161"/>
              <a:ext cx="307238" cy="138989"/>
            </a:xfrm>
            <a:custGeom>
              <a:avLst/>
              <a:gdLst/>
              <a:ahLst/>
              <a:cxnLst/>
              <a:rect l="l" t="t" r="r" b="b"/>
              <a:pathLst>
                <a:path w="307238" h="138989">
                  <a:moveTo>
                    <a:pt x="0" y="87783"/>
                  </a:moveTo>
                  <a:lnTo>
                    <a:pt x="190195" y="0"/>
                  </a:lnTo>
                  <a:lnTo>
                    <a:pt x="307238" y="0"/>
                  </a:lnTo>
                  <a:lnTo>
                    <a:pt x="307238" y="117043"/>
                  </a:lnTo>
                  <a:lnTo>
                    <a:pt x="256032" y="51207"/>
                  </a:lnTo>
                  <a:lnTo>
                    <a:pt x="14630" y="138989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243584" y="1792224"/>
            <a:ext cx="270458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" b="1" i="0" cap="all" spc="70">
                <a:solidFill>
                  <a:srgbClr val="374EA2"/>
                </a:solidFill>
                <a:latin typeface="Arial"/>
                <a:cs typeface="Arial"/>
              </a:rPr>
              <a:t>Observed performance problem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2409444"/>
            <a:ext cx="20116" cy="14630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359152"/>
            <a:ext cx="292403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0" i="0">
                <a:solidFill>
                  <a:srgbClr val="404041"/>
                </a:solidFill>
                <a:latin typeface="Arial"/>
                <a:cs typeface="Arial"/>
              </a:rPr>
              <a:t>Programme data are often late, incomplete, inconsistent across partners and systems, or insufficiently disaggregated.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2980944"/>
            <a:ext cx="308862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8096" y="3122676"/>
            <a:ext cx="20116" cy="14630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072384"/>
            <a:ext cx="292403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0" i="0">
                <a:solidFill>
                  <a:srgbClr val="404041"/>
                </a:solidFill>
                <a:latin typeface="Arial"/>
                <a:cs typeface="Arial"/>
              </a:rPr>
              <a:t>Reporting tends to focus on activities and outputs, with weaker visibility of coverage, quality, equity and outcomes for children.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3694176"/>
            <a:ext cx="308862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8096" y="3835908"/>
            <a:ext cx="20116" cy="14630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785616"/>
            <a:ext cx="2924037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0" i="0">
                <a:solidFill>
                  <a:srgbClr val="404041"/>
                </a:solidFill>
                <a:latin typeface="Arial"/>
                <a:cs typeface="Arial"/>
              </a:rPr>
              <a:t>Multiple government, partner and UNICEF information systems may generate data that are not sufficiently integrated or routinely triangulated.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2213" y="1572768"/>
            <a:ext cx="3527541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32213" y="1572768"/>
            <a:ext cx="3527541" cy="4754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40" name="icon:searchbar"/>
          <p:cNvGrpSpPr/>
          <p:nvPr/>
        </p:nvGrpSpPr>
        <p:grpSpPr>
          <a:xfrm>
            <a:off x="4566300" y="1742846"/>
            <a:ext cx="256032" cy="351129"/>
            <a:chOff x="4566300" y="1742846"/>
            <a:chExt cx="256032" cy="351129"/>
          </a:xfrm>
        </p:grpSpPr>
        <p:sp>
          <p:nvSpPr>
            <p:cNvPr id="35" name="Oval 34"/>
            <p:cNvSpPr/>
            <p:nvPr/>
          </p:nvSpPr>
          <p:spPr>
            <a:xfrm>
              <a:off x="4566300" y="1742846"/>
              <a:ext cx="256031" cy="256031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 rot="18900000">
              <a:off x="4785756" y="1969617"/>
              <a:ext cx="36576" cy="124358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24821" y="1889150"/>
              <a:ext cx="25603" cy="65836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668713" y="1852574"/>
              <a:ext cx="25603" cy="10241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712604" y="1815998"/>
              <a:ext cx="25603" cy="138988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027157" y="1792224"/>
            <a:ext cx="270458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70">
                <a:solidFill>
                  <a:srgbClr val="1CABE2"/>
                </a:solidFill>
                <a:latin typeface="Arial"/>
                <a:cs typeface="Arial"/>
              </a:rPr>
              <a:t>The underlying evidence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1669" y="2359152"/>
            <a:ext cx="308862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0" i="0">
                <a:solidFill>
                  <a:srgbClr val="5B5B5E"/>
                </a:solidFill>
                <a:latin typeface="Arial"/>
                <a:cs typeface="Arial"/>
              </a:rPr>
              <a:t>Senior management needs timely answers to four questions:</a:t>
            </a:r>
          </a:p>
        </p:txBody>
      </p:sp>
      <p:grpSp>
        <p:nvGrpSpPr>
          <p:cNvPr id="48" name="chip:pin"/>
          <p:cNvGrpSpPr/>
          <p:nvPr/>
        </p:nvGrpSpPr>
        <p:grpSpPr>
          <a:xfrm>
            <a:off x="4567416" y="2930652"/>
            <a:ext cx="576072" cy="576072"/>
            <a:chOff x="4567416" y="2930652"/>
            <a:chExt cx="576072" cy="576072"/>
          </a:xfrm>
        </p:grpSpPr>
        <p:sp>
          <p:nvSpPr>
            <p:cNvPr id="43" name="Oval 42"/>
            <p:cNvSpPr/>
            <p:nvPr/>
          </p:nvSpPr>
          <p:spPr>
            <a:xfrm>
              <a:off x="4567416" y="2930652"/>
              <a:ext cx="576072" cy="576072"/>
            </a:xfrm>
            <a:prstGeom prst="ellipse">
              <a:avLst/>
            </a:prstGeom>
            <a:noFill/>
            <a:ln w="1270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4" name="Oval 43"/>
            <p:cNvSpPr/>
            <p:nvPr/>
          </p:nvSpPr>
          <p:spPr>
            <a:xfrm>
              <a:off x="4626852" y="2990088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47" name="icon:pin"/>
            <p:cNvGrpSpPr/>
            <p:nvPr/>
          </p:nvGrpSpPr>
          <p:grpSpPr>
            <a:xfrm>
              <a:off x="4777728" y="3108960"/>
              <a:ext cx="155448" cy="219456"/>
              <a:chOff x="4777728" y="3108960"/>
              <a:chExt cx="155448" cy="219456"/>
            </a:xfrm>
          </p:grpSpPr>
          <p:sp>
            <p:nvSpPr>
              <p:cNvPr id="45" name="Freeform 44"/>
              <p:cNvSpPr/>
              <p:nvPr/>
            </p:nvSpPr>
            <p:spPr>
              <a:xfrm>
                <a:off x="4777728" y="3108960"/>
                <a:ext cx="155448" cy="219456"/>
              </a:xfrm>
              <a:custGeom>
                <a:avLst/>
                <a:gdLst/>
                <a:ahLst/>
                <a:cxnLst/>
                <a:rect l="l" t="t" r="r" b="b"/>
                <a:pathLst>
                  <a:path w="155448" h="219456">
                    <a:moveTo>
                      <a:pt x="77724" y="219456"/>
                    </a:moveTo>
                    <a:lnTo>
                      <a:pt x="0" y="86868"/>
                    </a:lnTo>
                    <a:lnTo>
                      <a:pt x="0" y="54864"/>
                    </a:lnTo>
                    <a:lnTo>
                      <a:pt x="77724" y="0"/>
                    </a:lnTo>
                    <a:lnTo>
                      <a:pt x="155448" y="54864"/>
                    </a:lnTo>
                    <a:lnTo>
                      <a:pt x="155448" y="86868"/>
                    </a:lnTo>
                    <a:close/>
                  </a:path>
                </a:pathLst>
              </a:custGeom>
              <a:noFill/>
              <a:ln w="15875">
                <a:solidFill>
                  <a:srgbClr val="1CABE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5734" y="3145536"/>
                <a:ext cx="59436" cy="59436"/>
              </a:xfrm>
              <a:prstGeom prst="ellipse">
                <a:avLst/>
              </a:prstGeom>
              <a:solidFill>
                <a:srgbClr val="1CAB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49" name="TextBox 48"/>
          <p:cNvSpPr txBox="1"/>
          <p:nvPr/>
        </p:nvSpPr>
        <p:spPr>
          <a:xfrm>
            <a:off x="4441941" y="3529584"/>
            <a:ext cx="82702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Are we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on track?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5214099" y="3179185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7" name="chip:warning"/>
          <p:cNvGrpSpPr/>
          <p:nvPr/>
        </p:nvGrpSpPr>
        <p:grpSpPr>
          <a:xfrm>
            <a:off x="5394438" y="2930652"/>
            <a:ext cx="576072" cy="576072"/>
            <a:chOff x="5394438" y="2930652"/>
            <a:chExt cx="576072" cy="576072"/>
          </a:xfrm>
        </p:grpSpPr>
        <p:sp>
          <p:nvSpPr>
            <p:cNvPr id="51" name="Oval 50"/>
            <p:cNvSpPr/>
            <p:nvPr/>
          </p:nvSpPr>
          <p:spPr>
            <a:xfrm>
              <a:off x="5394438" y="2930652"/>
              <a:ext cx="576072" cy="576072"/>
            </a:xfrm>
            <a:prstGeom prst="ellipse">
              <a:avLst/>
            </a:prstGeom>
            <a:noFill/>
            <a:ln w="1270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2" name="Oval 51"/>
            <p:cNvSpPr/>
            <p:nvPr/>
          </p:nvSpPr>
          <p:spPr>
            <a:xfrm>
              <a:off x="5453874" y="2990088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56" name="icon:warning"/>
            <p:cNvGrpSpPr/>
            <p:nvPr/>
          </p:nvGrpSpPr>
          <p:grpSpPr>
            <a:xfrm>
              <a:off x="5572746" y="3113532"/>
              <a:ext cx="219456" cy="196596"/>
              <a:chOff x="5572746" y="3113532"/>
              <a:chExt cx="219456" cy="196596"/>
            </a:xfrm>
          </p:grpSpPr>
          <p:sp>
            <p:nvSpPr>
              <p:cNvPr id="53" name="Freeform 52"/>
              <p:cNvSpPr/>
              <p:nvPr/>
            </p:nvSpPr>
            <p:spPr>
              <a:xfrm>
                <a:off x="5572746" y="3113532"/>
                <a:ext cx="219456" cy="196596"/>
              </a:xfrm>
              <a:custGeom>
                <a:avLst/>
                <a:gdLst/>
                <a:ahLst/>
                <a:cxnLst/>
                <a:rect l="l" t="t" r="r" b="b"/>
                <a:pathLst>
                  <a:path w="219456" h="196596">
                    <a:moveTo>
                      <a:pt x="109728" y="0"/>
                    </a:moveTo>
                    <a:lnTo>
                      <a:pt x="219456" y="196596"/>
                    </a:lnTo>
                    <a:lnTo>
                      <a:pt x="0" y="196596"/>
                    </a:lnTo>
                    <a:close/>
                  </a:path>
                </a:pathLst>
              </a:custGeom>
              <a:noFill/>
              <a:ln w="15875">
                <a:solidFill>
                  <a:srgbClr val="1CABE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5673330" y="3172968"/>
                <a:ext cx="18288" cy="77724"/>
              </a:xfrm>
              <a:prstGeom prst="rect">
                <a:avLst/>
              </a:prstGeom>
              <a:solidFill>
                <a:srgbClr val="1CAB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5673330" y="3266694"/>
                <a:ext cx="18288" cy="20574"/>
              </a:xfrm>
              <a:prstGeom prst="rect">
                <a:avLst/>
              </a:prstGeom>
              <a:solidFill>
                <a:srgbClr val="1CAB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8" name="TextBox 57"/>
          <p:cNvSpPr txBox="1"/>
          <p:nvPr/>
        </p:nvSpPr>
        <p:spPr>
          <a:xfrm>
            <a:off x="5268963" y="3529584"/>
            <a:ext cx="82702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Where are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the gaps?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6041120" y="3179185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63" name="chip:question"/>
          <p:cNvGrpSpPr/>
          <p:nvPr/>
        </p:nvGrpSpPr>
        <p:grpSpPr>
          <a:xfrm>
            <a:off x="6221459" y="2930652"/>
            <a:ext cx="576072" cy="576072"/>
            <a:chOff x="6221459" y="2930652"/>
            <a:chExt cx="576072" cy="576072"/>
          </a:xfrm>
        </p:grpSpPr>
        <p:sp>
          <p:nvSpPr>
            <p:cNvPr id="60" name="Oval 59"/>
            <p:cNvSpPr/>
            <p:nvPr/>
          </p:nvSpPr>
          <p:spPr>
            <a:xfrm>
              <a:off x="6221459" y="2930652"/>
              <a:ext cx="576072" cy="576072"/>
            </a:xfrm>
            <a:prstGeom prst="ellipse">
              <a:avLst/>
            </a:prstGeom>
            <a:noFill/>
            <a:ln w="1270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1" name="Oval 60"/>
            <p:cNvSpPr/>
            <p:nvPr/>
          </p:nvSpPr>
          <p:spPr>
            <a:xfrm>
              <a:off x="6280895" y="2990088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72335" y="3072384"/>
              <a:ext cx="274320" cy="28346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50" b="1" i="0">
                  <a:solidFill>
                    <a:srgbClr val="1CABE2"/>
                  </a:solidFill>
                  <a:latin typeface="Arial"/>
                  <a:cs typeface="Arial"/>
                </a:rPr>
                <a:t>?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6095984" y="3529584"/>
            <a:ext cx="82702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Why?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6868142" y="3179185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72" name="chip:bulb"/>
          <p:cNvGrpSpPr/>
          <p:nvPr/>
        </p:nvGrpSpPr>
        <p:grpSpPr>
          <a:xfrm>
            <a:off x="7048480" y="2930652"/>
            <a:ext cx="576072" cy="576072"/>
            <a:chOff x="7048480" y="2930652"/>
            <a:chExt cx="576072" cy="576072"/>
          </a:xfrm>
        </p:grpSpPr>
        <p:sp>
          <p:nvSpPr>
            <p:cNvPr id="66" name="Oval 65"/>
            <p:cNvSpPr/>
            <p:nvPr/>
          </p:nvSpPr>
          <p:spPr>
            <a:xfrm>
              <a:off x="7048480" y="2930652"/>
              <a:ext cx="576072" cy="576072"/>
            </a:xfrm>
            <a:prstGeom prst="ellipse">
              <a:avLst/>
            </a:prstGeom>
            <a:noFill/>
            <a:ln w="1270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7" name="Oval 66"/>
            <p:cNvSpPr/>
            <p:nvPr/>
          </p:nvSpPr>
          <p:spPr>
            <a:xfrm>
              <a:off x="7107916" y="2990088"/>
              <a:ext cx="457200" cy="457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71" name="icon:bulb"/>
            <p:cNvGrpSpPr/>
            <p:nvPr/>
          </p:nvGrpSpPr>
          <p:grpSpPr>
            <a:xfrm>
              <a:off x="7258792" y="3108960"/>
              <a:ext cx="155448" cy="194310"/>
              <a:chOff x="7258792" y="3108960"/>
              <a:chExt cx="155448" cy="194310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7258792" y="3108960"/>
                <a:ext cx="155448" cy="155448"/>
              </a:xfrm>
              <a:prstGeom prst="ellipse">
                <a:avLst/>
              </a:prstGeom>
              <a:noFill/>
              <a:ln w="15875">
                <a:solidFill>
                  <a:srgbClr val="1CABE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7304512" y="3259836"/>
                <a:ext cx="64008" cy="16002"/>
              </a:xfrm>
              <a:prstGeom prst="rect">
                <a:avLst/>
              </a:prstGeom>
              <a:solidFill>
                <a:srgbClr val="1CAB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311370" y="3287268"/>
                <a:ext cx="50292" cy="16002"/>
              </a:xfrm>
              <a:prstGeom prst="rect">
                <a:avLst/>
              </a:prstGeom>
              <a:solidFill>
                <a:srgbClr val="1CABE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73" name="TextBox 72"/>
          <p:cNvSpPr txBox="1"/>
          <p:nvPr/>
        </p:nvSpPr>
        <p:spPr>
          <a:xfrm>
            <a:off x="6923006" y="3529584"/>
            <a:ext cx="82702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What should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cap="all" spc="20">
                <a:solidFill>
                  <a:srgbClr val="213063"/>
                </a:solidFill>
                <a:latin typeface="Arial"/>
                <a:cs typeface="Arial"/>
              </a:rPr>
              <a:t>we change?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51669" y="3968496"/>
            <a:ext cx="308862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51669" y="4078224"/>
            <a:ext cx="30886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0" i="1">
                <a:solidFill>
                  <a:srgbClr val="5B5B5E"/>
                </a:solidFill>
                <a:latin typeface="Arial"/>
                <a:cs typeface="Arial"/>
              </a:rPr>
              <a:t>Current information does not consistently provide these answers.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15787" y="1572768"/>
            <a:ext cx="3527541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115787" y="1572768"/>
            <a:ext cx="3527541" cy="47548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81" name="icon:signpost"/>
          <p:cNvGrpSpPr/>
          <p:nvPr/>
        </p:nvGrpSpPr>
        <p:grpSpPr>
          <a:xfrm>
            <a:off x="8357189" y="1742846"/>
            <a:ext cx="321869" cy="336499"/>
            <a:chOff x="8357189" y="1742846"/>
            <a:chExt cx="321869" cy="336499"/>
          </a:xfrm>
        </p:grpSpPr>
        <p:sp>
          <p:nvSpPr>
            <p:cNvPr id="78" name="Rectangle 77"/>
            <p:cNvSpPr/>
            <p:nvPr/>
          </p:nvSpPr>
          <p:spPr>
            <a:xfrm>
              <a:off x="8507150" y="1742846"/>
              <a:ext cx="21945" cy="336499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9" name="Freeform 78"/>
            <p:cNvSpPr/>
            <p:nvPr/>
          </p:nvSpPr>
          <p:spPr>
            <a:xfrm>
              <a:off x="8357189" y="1779422"/>
              <a:ext cx="321869" cy="87782"/>
            </a:xfrm>
            <a:custGeom>
              <a:avLst/>
              <a:gdLst/>
              <a:ahLst/>
              <a:cxnLst/>
              <a:rect l="l" t="t" r="r" b="b"/>
              <a:pathLst>
                <a:path w="321869" h="87782">
                  <a:moveTo>
                    <a:pt x="0" y="0"/>
                  </a:moveTo>
                  <a:lnTo>
                    <a:pt x="270662" y="0"/>
                  </a:lnTo>
                  <a:lnTo>
                    <a:pt x="321869" y="43891"/>
                  </a:lnTo>
                  <a:lnTo>
                    <a:pt x="270662" y="87782"/>
                  </a:lnTo>
                  <a:lnTo>
                    <a:pt x="0" y="87782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Freeform 79"/>
            <p:cNvSpPr/>
            <p:nvPr/>
          </p:nvSpPr>
          <p:spPr>
            <a:xfrm>
              <a:off x="8357189" y="1911096"/>
              <a:ext cx="321869" cy="87782"/>
            </a:xfrm>
            <a:custGeom>
              <a:avLst/>
              <a:gdLst/>
              <a:ahLst/>
              <a:cxnLst/>
              <a:rect l="l" t="t" r="r" b="b"/>
              <a:pathLst>
                <a:path w="321869" h="87782">
                  <a:moveTo>
                    <a:pt x="321869" y="0"/>
                  </a:moveTo>
                  <a:lnTo>
                    <a:pt x="51206" y="0"/>
                  </a:lnTo>
                  <a:lnTo>
                    <a:pt x="0" y="43891"/>
                  </a:lnTo>
                  <a:lnTo>
                    <a:pt x="51206" y="87782"/>
                  </a:lnTo>
                  <a:lnTo>
                    <a:pt x="321869" y="87782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8810731" y="1792224"/>
            <a:ext cx="270458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40" b="1" i="0" cap="all" spc="70">
                <a:solidFill>
                  <a:srgbClr val="00833D"/>
                </a:solidFill>
                <a:latin typeface="Arial"/>
                <a:cs typeface="Arial"/>
              </a:rPr>
              <a:t>Decisions constrained</a:t>
            </a:r>
          </a:p>
        </p:txBody>
      </p:sp>
      <p:grpSp>
        <p:nvGrpSpPr>
          <p:cNvPr id="86" name="icon:coins"/>
          <p:cNvGrpSpPr/>
          <p:nvPr/>
        </p:nvGrpSpPr>
        <p:grpSpPr>
          <a:xfrm>
            <a:off x="8363407" y="2532156"/>
            <a:ext cx="225308" cy="168981"/>
            <a:chOff x="8363407" y="2532156"/>
            <a:chExt cx="225308" cy="168981"/>
          </a:xfrm>
        </p:grpSpPr>
        <p:sp>
          <p:nvSpPr>
            <p:cNvPr id="83" name="Oval 82"/>
            <p:cNvSpPr/>
            <p:nvPr/>
          </p:nvSpPr>
          <p:spPr>
            <a:xfrm>
              <a:off x="8363407" y="2634569"/>
              <a:ext cx="225308" cy="66568"/>
            </a:xfrm>
            <a:prstGeom prst="ellipse">
              <a:avLst/>
            </a:prstGeom>
            <a:noFill/>
            <a:ln w="15875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4" name="Oval 83"/>
            <p:cNvSpPr/>
            <p:nvPr/>
          </p:nvSpPr>
          <p:spPr>
            <a:xfrm>
              <a:off x="8363407" y="2583362"/>
              <a:ext cx="225308" cy="66568"/>
            </a:xfrm>
            <a:prstGeom prst="ellipse">
              <a:avLst/>
            </a:prstGeom>
            <a:noFill/>
            <a:ln w="15875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5" name="Oval 84"/>
            <p:cNvSpPr/>
            <p:nvPr/>
          </p:nvSpPr>
          <p:spPr>
            <a:xfrm>
              <a:off x="8363407" y="2532156"/>
              <a:ext cx="225308" cy="66568"/>
            </a:xfrm>
            <a:prstGeom prst="ellipse">
              <a:avLst/>
            </a:prstGeom>
            <a:noFill/>
            <a:ln w="15875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8755867" y="2377440"/>
            <a:ext cx="266800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40" b="0" i="0">
                <a:solidFill>
                  <a:srgbClr val="404041"/>
                </a:solidFill>
                <a:latin typeface="Arial"/>
                <a:cs typeface="Arial"/>
              </a:rPr>
              <a:t>Where should resources and technical support be redirected?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35243" y="2907792"/>
            <a:ext cx="308862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5" name="icon:people"/>
          <p:cNvGrpSpPr/>
          <p:nvPr/>
        </p:nvGrpSpPr>
        <p:grpSpPr>
          <a:xfrm>
            <a:off x="8342924" y="3031784"/>
            <a:ext cx="266273" cy="209946"/>
            <a:chOff x="8342924" y="3031784"/>
            <a:chExt cx="266273" cy="209946"/>
          </a:xfrm>
        </p:grpSpPr>
        <p:sp>
          <p:nvSpPr>
            <p:cNvPr id="89" name="Oval 88"/>
            <p:cNvSpPr/>
            <p:nvPr/>
          </p:nvSpPr>
          <p:spPr>
            <a:xfrm>
              <a:off x="8348045" y="3052267"/>
              <a:ext cx="66568" cy="6656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0" name="Round Same Side Corner Rectangle 89"/>
            <p:cNvSpPr/>
            <p:nvPr/>
          </p:nvSpPr>
          <p:spPr>
            <a:xfrm>
              <a:off x="8342924" y="3129076"/>
              <a:ext cx="76809" cy="8705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1" name="Oval 90"/>
            <p:cNvSpPr/>
            <p:nvPr/>
          </p:nvSpPr>
          <p:spPr>
            <a:xfrm>
              <a:off x="8537508" y="3052267"/>
              <a:ext cx="66568" cy="6656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2" name="Round Same Side Corner Rectangle 91"/>
            <p:cNvSpPr/>
            <p:nvPr/>
          </p:nvSpPr>
          <p:spPr>
            <a:xfrm>
              <a:off x="8532388" y="3129076"/>
              <a:ext cx="76809" cy="8705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3" name="Oval 92"/>
            <p:cNvSpPr/>
            <p:nvPr/>
          </p:nvSpPr>
          <p:spPr>
            <a:xfrm>
              <a:off x="8432535" y="3031784"/>
              <a:ext cx="87050" cy="87050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4" name="Round Same Side Corner Rectangle 93"/>
            <p:cNvSpPr/>
            <p:nvPr/>
          </p:nvSpPr>
          <p:spPr>
            <a:xfrm>
              <a:off x="8417173" y="3129076"/>
              <a:ext cx="117774" cy="11265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755867" y="2907792"/>
            <a:ext cx="266800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40" b="0" i="0">
                <a:solidFill>
                  <a:srgbClr val="404041"/>
                </a:solidFill>
                <a:latin typeface="Arial"/>
                <a:cs typeface="Arial"/>
              </a:rPr>
              <a:t>Which districts and populations are being left behind?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335243" y="3438144"/>
            <a:ext cx="308862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9" name="icon:gear"/>
          <p:cNvGrpSpPr/>
          <p:nvPr/>
        </p:nvGrpSpPr>
        <p:grpSpPr>
          <a:xfrm>
            <a:off x="8354446" y="3563416"/>
            <a:ext cx="243229" cy="243230"/>
            <a:chOff x="8354446" y="3563416"/>
            <a:chExt cx="243229" cy="243230"/>
          </a:xfrm>
        </p:grpSpPr>
        <p:sp>
          <p:nvSpPr>
            <p:cNvPr id="98" name="Rectangle 97"/>
            <p:cNvSpPr/>
            <p:nvPr/>
          </p:nvSpPr>
          <p:spPr>
            <a:xfrm>
              <a:off x="8559271" y="3665829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9" name="Rectangle 98"/>
            <p:cNvSpPr/>
            <p:nvPr/>
          </p:nvSpPr>
          <p:spPr>
            <a:xfrm rot="2700000">
              <a:off x="8529275" y="3738246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0" name="Rectangle 99"/>
            <p:cNvSpPr/>
            <p:nvPr/>
          </p:nvSpPr>
          <p:spPr>
            <a:xfrm rot="5400000">
              <a:off x="8456858" y="3768242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1" name="Rectangle 100"/>
            <p:cNvSpPr/>
            <p:nvPr/>
          </p:nvSpPr>
          <p:spPr>
            <a:xfrm rot="8100000">
              <a:off x="8384442" y="3738246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2" name="Rectangle 101"/>
            <p:cNvSpPr/>
            <p:nvPr/>
          </p:nvSpPr>
          <p:spPr>
            <a:xfrm rot="10800000">
              <a:off x="8354446" y="3665829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3" name="Rectangle 102"/>
            <p:cNvSpPr/>
            <p:nvPr/>
          </p:nvSpPr>
          <p:spPr>
            <a:xfrm rot="13500000">
              <a:off x="8384442" y="3593412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4" name="Rectangle 103"/>
            <p:cNvSpPr/>
            <p:nvPr/>
          </p:nvSpPr>
          <p:spPr>
            <a:xfrm rot="16200000">
              <a:off x="8456858" y="3563416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5" name="Rectangle 104"/>
            <p:cNvSpPr/>
            <p:nvPr/>
          </p:nvSpPr>
          <p:spPr>
            <a:xfrm rot="18900000">
              <a:off x="8529275" y="3593412"/>
              <a:ext cx="38404" cy="3840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6" name="Oval 105"/>
            <p:cNvSpPr/>
            <p:nvPr/>
          </p:nvSpPr>
          <p:spPr>
            <a:xfrm>
              <a:off x="8389010" y="3597981"/>
              <a:ext cx="174101" cy="174101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7" name="Oval 106"/>
            <p:cNvSpPr/>
            <p:nvPr/>
          </p:nvSpPr>
          <p:spPr>
            <a:xfrm>
              <a:off x="8437656" y="3646627"/>
              <a:ext cx="76809" cy="76809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8" name="Oval 107"/>
            <p:cNvSpPr/>
            <p:nvPr/>
          </p:nvSpPr>
          <p:spPr>
            <a:xfrm>
              <a:off x="8437656" y="3646627"/>
              <a:ext cx="76809" cy="768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8755867" y="3438144"/>
            <a:ext cx="266800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40" b="0" i="0">
                <a:solidFill>
                  <a:srgbClr val="404041"/>
                </a:solidFill>
                <a:latin typeface="Arial"/>
                <a:cs typeface="Arial"/>
              </a:rPr>
              <a:t>Which interventions require acceleration or redesign?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35243" y="3968496"/>
            <a:ext cx="308862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16" name="icon:doc"/>
          <p:cNvGrpSpPr/>
          <p:nvPr/>
        </p:nvGrpSpPr>
        <p:grpSpPr>
          <a:xfrm>
            <a:off x="8394131" y="4097609"/>
            <a:ext cx="168981" cy="235549"/>
            <a:chOff x="8394131" y="4097609"/>
            <a:chExt cx="168981" cy="235549"/>
          </a:xfrm>
        </p:grpSpPr>
        <p:sp>
          <p:nvSpPr>
            <p:cNvPr id="112" name="Freeform 111"/>
            <p:cNvSpPr/>
            <p:nvPr/>
          </p:nvSpPr>
          <p:spPr>
            <a:xfrm>
              <a:off x="8394131" y="4097609"/>
              <a:ext cx="168981" cy="235549"/>
            </a:xfrm>
            <a:custGeom>
              <a:avLst/>
              <a:gdLst/>
              <a:ahLst/>
              <a:cxnLst/>
              <a:rect l="l" t="t" r="r" b="b"/>
              <a:pathLst>
                <a:path w="168981" h="235549">
                  <a:moveTo>
                    <a:pt x="0" y="0"/>
                  </a:moveTo>
                  <a:lnTo>
                    <a:pt x="117774" y="0"/>
                  </a:lnTo>
                  <a:lnTo>
                    <a:pt x="168981" y="56327"/>
                  </a:lnTo>
                  <a:lnTo>
                    <a:pt x="168981" y="235549"/>
                  </a:lnTo>
                  <a:lnTo>
                    <a:pt x="0" y="235549"/>
                  </a:lnTo>
                  <a:close/>
                </a:path>
              </a:pathLst>
            </a:custGeom>
            <a:noFill/>
            <a:ln w="15875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8424854" y="4189780"/>
              <a:ext cx="102412" cy="11521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8424854" y="4230745"/>
              <a:ext cx="102412" cy="11521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8424854" y="4271711"/>
              <a:ext cx="71688" cy="11521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8755867" y="3968496"/>
            <a:ext cx="266800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40" b="0" i="0">
                <a:solidFill>
                  <a:srgbClr val="404041"/>
                </a:solidFill>
                <a:latin typeface="Arial"/>
                <a:cs typeface="Arial"/>
              </a:rPr>
              <a:t>Where is additional evidence required before making programme decisions?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4754879"/>
            <a:ext cx="11094689" cy="67665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548640" y="4754879"/>
            <a:ext cx="45720" cy="676656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86384" y="4754879"/>
            <a:ext cx="14813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cap="all" spc="90">
                <a:solidFill>
                  <a:srgbClr val="213063"/>
                </a:solidFill>
                <a:latin typeface="Arial"/>
                <a:cs typeface="Arial"/>
              </a:rPr>
              <a:t>Who needs the information?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359152" y="4882895"/>
            <a:ext cx="9144" cy="420623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0" name="chip:people"/>
          <p:cNvGrpSpPr/>
          <p:nvPr/>
        </p:nvGrpSpPr>
        <p:grpSpPr>
          <a:xfrm>
            <a:off x="2606040" y="4901183"/>
            <a:ext cx="384048" cy="384048"/>
            <a:chOff x="2606040" y="4901183"/>
            <a:chExt cx="384048" cy="384048"/>
          </a:xfrm>
        </p:grpSpPr>
        <p:sp>
          <p:nvSpPr>
            <p:cNvPr id="122" name="Oval 121"/>
            <p:cNvSpPr/>
            <p:nvPr/>
          </p:nvSpPr>
          <p:spPr>
            <a:xfrm>
              <a:off x="2606040" y="4901183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29" name="icon:people"/>
            <p:cNvGrpSpPr/>
            <p:nvPr/>
          </p:nvGrpSpPr>
          <p:grpSpPr>
            <a:xfrm>
              <a:off x="2698211" y="5001036"/>
              <a:ext cx="199705" cy="157459"/>
              <a:chOff x="2698211" y="5001036"/>
              <a:chExt cx="199705" cy="157459"/>
            </a:xfrm>
          </p:grpSpPr>
          <p:sp>
            <p:nvSpPr>
              <p:cNvPr id="123" name="Oval 122"/>
              <p:cNvSpPr/>
              <p:nvPr/>
            </p:nvSpPr>
            <p:spPr>
              <a:xfrm>
                <a:off x="2702052" y="5016398"/>
                <a:ext cx="49926" cy="499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Round Same Side Corner Rectangle 123"/>
              <p:cNvSpPr/>
              <p:nvPr/>
            </p:nvSpPr>
            <p:spPr>
              <a:xfrm>
                <a:off x="2698211" y="5074005"/>
                <a:ext cx="57607" cy="652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2844149" y="5016398"/>
                <a:ext cx="49926" cy="499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Round Same Side Corner Rectangle 125"/>
              <p:cNvSpPr/>
              <p:nvPr/>
            </p:nvSpPr>
            <p:spPr>
              <a:xfrm>
                <a:off x="2840309" y="5074005"/>
                <a:ext cx="57607" cy="652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/>
              <p:cNvSpPr/>
              <p:nvPr/>
            </p:nvSpPr>
            <p:spPr>
              <a:xfrm>
                <a:off x="2765419" y="5001036"/>
                <a:ext cx="65288" cy="652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Round Same Side Corner Rectangle 127"/>
              <p:cNvSpPr/>
              <p:nvPr/>
            </p:nvSpPr>
            <p:spPr>
              <a:xfrm>
                <a:off x="2753898" y="5074005"/>
                <a:ext cx="88331" cy="8449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31" name="TextBox 130"/>
          <p:cNvSpPr txBox="1"/>
          <p:nvPr/>
        </p:nvSpPr>
        <p:spPr>
          <a:xfrm>
            <a:off x="3054096" y="4754879"/>
            <a:ext cx="1293565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Senior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Management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256221" y="4882895"/>
            <a:ext cx="7315" cy="420623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40" name="chip:clipboard"/>
          <p:cNvGrpSpPr/>
          <p:nvPr/>
        </p:nvGrpSpPr>
        <p:grpSpPr>
          <a:xfrm>
            <a:off x="4429957" y="4901183"/>
            <a:ext cx="384048" cy="384048"/>
            <a:chOff x="4429957" y="4901183"/>
            <a:chExt cx="384048" cy="384048"/>
          </a:xfrm>
        </p:grpSpPr>
        <p:sp>
          <p:nvSpPr>
            <p:cNvPr id="133" name="Oval 132"/>
            <p:cNvSpPr/>
            <p:nvPr/>
          </p:nvSpPr>
          <p:spPr>
            <a:xfrm>
              <a:off x="4429957" y="4901183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39" name="icon:clipboard"/>
            <p:cNvGrpSpPr/>
            <p:nvPr/>
          </p:nvGrpSpPr>
          <p:grpSpPr>
            <a:xfrm>
              <a:off x="4556692" y="4997195"/>
              <a:ext cx="130576" cy="184343"/>
              <a:chOff x="4556692" y="4997195"/>
              <a:chExt cx="130576" cy="184343"/>
            </a:xfrm>
          </p:grpSpPr>
          <p:sp>
            <p:nvSpPr>
              <p:cNvPr id="134" name="Rounded Rectangle 133"/>
              <p:cNvSpPr/>
              <p:nvPr/>
            </p:nvSpPr>
            <p:spPr>
              <a:xfrm>
                <a:off x="4556692" y="5012557"/>
                <a:ext cx="130576" cy="168981"/>
              </a:xfrm>
              <a:prstGeom prst="roundRect">
                <a:avLst>
                  <a:gd name="adj" fmla="val 8823"/>
                </a:avLst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Rectangle 134"/>
              <p:cNvSpPr/>
              <p:nvPr/>
            </p:nvSpPr>
            <p:spPr>
              <a:xfrm>
                <a:off x="4591257" y="4997195"/>
                <a:ext cx="61447" cy="307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Rectangle 135"/>
              <p:cNvSpPr/>
              <p:nvPr/>
            </p:nvSpPr>
            <p:spPr>
              <a:xfrm>
                <a:off x="4587416" y="5070165"/>
                <a:ext cx="69128" cy="86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Rectangle 136"/>
              <p:cNvSpPr/>
              <p:nvPr/>
            </p:nvSpPr>
            <p:spPr>
              <a:xfrm>
                <a:off x="4587416" y="5100888"/>
                <a:ext cx="69128" cy="86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Rectangle 137"/>
              <p:cNvSpPr/>
              <p:nvPr/>
            </p:nvSpPr>
            <p:spPr>
              <a:xfrm>
                <a:off x="4587416" y="5131612"/>
                <a:ext cx="69128" cy="86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41" name="TextBox 140"/>
          <p:cNvSpPr txBox="1"/>
          <p:nvPr/>
        </p:nvSpPr>
        <p:spPr>
          <a:xfrm>
            <a:off x="4878013" y="4754879"/>
            <a:ext cx="1293565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Programme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Sections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80138" y="4882895"/>
            <a:ext cx="7315" cy="420623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2" name="chip:bank"/>
          <p:cNvGrpSpPr/>
          <p:nvPr/>
        </p:nvGrpSpPr>
        <p:grpSpPr>
          <a:xfrm>
            <a:off x="6253874" y="4901183"/>
            <a:ext cx="384048" cy="384048"/>
            <a:chOff x="6253874" y="4901183"/>
            <a:chExt cx="384048" cy="384048"/>
          </a:xfrm>
        </p:grpSpPr>
        <p:sp>
          <p:nvSpPr>
            <p:cNvPr id="143" name="Oval 142"/>
            <p:cNvSpPr/>
            <p:nvPr/>
          </p:nvSpPr>
          <p:spPr>
            <a:xfrm>
              <a:off x="6253874" y="4901183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51" name="icon:bank"/>
            <p:cNvGrpSpPr/>
            <p:nvPr/>
          </p:nvGrpSpPr>
          <p:grpSpPr>
            <a:xfrm>
              <a:off x="6353726" y="5001036"/>
              <a:ext cx="184343" cy="180502"/>
              <a:chOff x="6353726" y="5001036"/>
              <a:chExt cx="184343" cy="180502"/>
            </a:xfrm>
          </p:grpSpPr>
          <p:sp>
            <p:nvSpPr>
              <p:cNvPr id="144" name="Isosceles Triangle 143"/>
              <p:cNvSpPr/>
              <p:nvPr/>
            </p:nvSpPr>
            <p:spPr>
              <a:xfrm>
                <a:off x="6353726" y="5001036"/>
                <a:ext cx="184343" cy="57607"/>
              </a:xfrm>
              <a:prstGeom prst="triangl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6353726" y="5062484"/>
                <a:ext cx="184343" cy="960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Rectangle 145"/>
              <p:cNvSpPr/>
              <p:nvPr/>
            </p:nvSpPr>
            <p:spPr>
              <a:xfrm>
                <a:off x="6376769" y="5081686"/>
                <a:ext cx="17282" cy="768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Rectangle 146"/>
              <p:cNvSpPr/>
              <p:nvPr/>
            </p:nvSpPr>
            <p:spPr>
              <a:xfrm>
                <a:off x="6420935" y="5081686"/>
                <a:ext cx="17282" cy="768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Rectangle 147"/>
              <p:cNvSpPr/>
              <p:nvPr/>
            </p:nvSpPr>
            <p:spPr>
              <a:xfrm>
                <a:off x="6465100" y="5081686"/>
                <a:ext cx="17282" cy="768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Rectangle 148"/>
              <p:cNvSpPr/>
              <p:nvPr/>
            </p:nvSpPr>
            <p:spPr>
              <a:xfrm>
                <a:off x="6505425" y="5081686"/>
                <a:ext cx="17282" cy="768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Rectangle 149"/>
              <p:cNvSpPr/>
              <p:nvPr/>
            </p:nvSpPr>
            <p:spPr>
              <a:xfrm>
                <a:off x="6353726" y="5162336"/>
                <a:ext cx="184343" cy="1920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3" name="TextBox 152"/>
          <p:cNvSpPr txBox="1"/>
          <p:nvPr/>
        </p:nvSpPr>
        <p:spPr>
          <a:xfrm>
            <a:off x="6701930" y="4754879"/>
            <a:ext cx="1293565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Government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904055" y="4882895"/>
            <a:ext cx="7315" cy="420623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9" name="chip:handshake"/>
          <p:cNvGrpSpPr/>
          <p:nvPr/>
        </p:nvGrpSpPr>
        <p:grpSpPr>
          <a:xfrm>
            <a:off x="8077791" y="4901183"/>
            <a:ext cx="384048" cy="384048"/>
            <a:chOff x="8077791" y="4901183"/>
            <a:chExt cx="384048" cy="384048"/>
          </a:xfrm>
        </p:grpSpPr>
        <p:sp>
          <p:nvSpPr>
            <p:cNvPr id="155" name="Oval 154"/>
            <p:cNvSpPr/>
            <p:nvPr/>
          </p:nvSpPr>
          <p:spPr>
            <a:xfrm>
              <a:off x="8077791" y="4901183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58" name="icon:handshake"/>
            <p:cNvGrpSpPr/>
            <p:nvPr/>
          </p:nvGrpSpPr>
          <p:grpSpPr>
            <a:xfrm>
              <a:off x="8173803" y="5035600"/>
              <a:ext cx="192023" cy="115214"/>
              <a:chOff x="8173803" y="5035600"/>
              <a:chExt cx="192023" cy="115214"/>
            </a:xfrm>
          </p:grpSpPr>
          <p:sp>
            <p:nvSpPr>
              <p:cNvPr id="156" name="Oval 155"/>
              <p:cNvSpPr/>
              <p:nvPr/>
            </p:nvSpPr>
            <p:spPr>
              <a:xfrm>
                <a:off x="8173803" y="5035600"/>
                <a:ext cx="115214" cy="115214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8250612" y="5035600"/>
                <a:ext cx="115214" cy="115214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60" name="TextBox 159"/>
          <p:cNvSpPr txBox="1"/>
          <p:nvPr/>
        </p:nvSpPr>
        <p:spPr>
          <a:xfrm>
            <a:off x="8525847" y="4754879"/>
            <a:ext cx="1293565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Implementing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Partners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727972" y="4882895"/>
            <a:ext cx="7315" cy="420623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66" name="chip:person"/>
          <p:cNvGrpSpPr/>
          <p:nvPr/>
        </p:nvGrpSpPr>
        <p:grpSpPr>
          <a:xfrm>
            <a:off x="9901708" y="4901183"/>
            <a:ext cx="384048" cy="384048"/>
            <a:chOff x="9901708" y="4901183"/>
            <a:chExt cx="384048" cy="384048"/>
          </a:xfrm>
        </p:grpSpPr>
        <p:sp>
          <p:nvSpPr>
            <p:cNvPr id="162" name="Oval 161"/>
            <p:cNvSpPr/>
            <p:nvPr/>
          </p:nvSpPr>
          <p:spPr>
            <a:xfrm>
              <a:off x="9901708" y="4901183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65" name="icon:person"/>
            <p:cNvGrpSpPr/>
            <p:nvPr/>
          </p:nvGrpSpPr>
          <p:grpSpPr>
            <a:xfrm>
              <a:off x="10024603" y="5004876"/>
              <a:ext cx="138257" cy="176662"/>
              <a:chOff x="10024603" y="5004876"/>
              <a:chExt cx="138257" cy="176662"/>
            </a:xfrm>
          </p:grpSpPr>
          <p:sp>
            <p:nvSpPr>
              <p:cNvPr id="163" name="Oval 162"/>
              <p:cNvSpPr/>
              <p:nvPr/>
            </p:nvSpPr>
            <p:spPr>
              <a:xfrm>
                <a:off x="10051487" y="5004876"/>
                <a:ext cx="84490" cy="8449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Round Same Side Corner Rectangle 163"/>
              <p:cNvSpPr/>
              <p:nvPr/>
            </p:nvSpPr>
            <p:spPr>
              <a:xfrm>
                <a:off x="10024603" y="5089367"/>
                <a:ext cx="138257" cy="9217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67" name="TextBox 166"/>
          <p:cNvSpPr txBox="1"/>
          <p:nvPr/>
        </p:nvSpPr>
        <p:spPr>
          <a:xfrm>
            <a:off x="10349764" y="4754879"/>
            <a:ext cx="1293565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Field Teams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48640" y="5577840"/>
            <a:ext cx="11094689" cy="731520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548640" y="5577840"/>
            <a:ext cx="68580" cy="731520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72" name="icon:megaphone"/>
          <p:cNvGrpSpPr/>
          <p:nvPr/>
        </p:nvGrpSpPr>
        <p:grpSpPr>
          <a:xfrm>
            <a:off x="902329" y="5774618"/>
            <a:ext cx="307239" cy="330281"/>
            <a:chOff x="902329" y="5774618"/>
            <a:chExt cx="307239" cy="330281"/>
          </a:xfrm>
        </p:grpSpPr>
        <p:sp>
          <p:nvSpPr>
            <p:cNvPr id="170" name="Freeform 169"/>
            <p:cNvSpPr/>
            <p:nvPr/>
          </p:nvSpPr>
          <p:spPr>
            <a:xfrm>
              <a:off x="902329" y="5774618"/>
              <a:ext cx="307239" cy="291877"/>
            </a:xfrm>
            <a:custGeom>
              <a:avLst/>
              <a:gdLst/>
              <a:ahLst/>
              <a:cxnLst/>
              <a:rect l="l" t="t" r="r" b="b"/>
              <a:pathLst>
                <a:path w="307239" h="291877">
                  <a:moveTo>
                    <a:pt x="0" y="115215"/>
                  </a:moveTo>
                  <a:lnTo>
                    <a:pt x="138258" y="115215"/>
                  </a:lnTo>
                  <a:lnTo>
                    <a:pt x="307239" y="0"/>
                  </a:lnTo>
                  <a:lnTo>
                    <a:pt x="307239" y="291877"/>
                  </a:lnTo>
                  <a:lnTo>
                    <a:pt x="138258" y="199705"/>
                  </a:lnTo>
                  <a:lnTo>
                    <a:pt x="0" y="199705"/>
                  </a:lnTo>
                  <a:close/>
                </a:path>
              </a:pathLst>
            </a:cu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963777" y="5974323"/>
              <a:ext cx="69128" cy="130576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1463039" y="566928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Key point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944368" y="5742431"/>
            <a:ext cx="9144" cy="402336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3108960" y="5669279"/>
            <a:ext cx="826004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i="0">
                <a:solidFill>
                  <a:srgbClr val="FFFFFF"/>
                </a:solidFill>
                <a:latin typeface="Arial"/>
                <a:cs typeface="Arial"/>
              </a:rPr>
              <a:t>The problem is not simply </a:t>
            </a:r>
            <a:r>
              <a:rPr lang="en-GB" sz="1250" b="1" i="0">
                <a:solidFill>
                  <a:srgbClr val="1CABE2"/>
                </a:solidFill>
                <a:latin typeface="Arial"/>
                <a:cs typeface="Arial"/>
              </a:rPr>
              <a:t>more data</a:t>
            </a:r>
            <a:r>
              <a:rPr lang="en-GB" sz="1250" b="1" i="0">
                <a:solidFill>
                  <a:srgbClr val="FFFFFF"/>
                </a:solidFill>
                <a:latin typeface="Arial"/>
                <a:cs typeface="Arial"/>
              </a:rPr>
              <a:t>. It is establishing a trusted performance management system that converts existing and new evidence into timely decisions.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4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4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34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4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3" presetClass="entr" presetSubtype="16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4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34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4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3" presetClass="entr" presetSubtype="16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4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34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4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4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34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4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4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34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4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3" presetClass="entr" presetSubtype="16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34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4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3" presetClass="entr" presetSubtype="16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4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34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4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3" presetClass="entr" presetSubtype="16" fill="hold" grpId="0" nodeType="withEffect">
                                  <p:stCondLst>
                                    <p:cond delay="515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4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34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4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4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34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4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4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34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4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4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34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4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3" presetClass="entr" presetSubtype="16" fill="hold" grpId="0" nodeType="withEffect">
                                  <p:stCondLst>
                                    <p:cond delay="695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4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34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4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4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34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4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42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42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4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4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7" dur="34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34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3" dur="34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6" dur="34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34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2" dur="34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5" dur="34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8" dur="34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34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34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34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3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3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3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3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38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38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8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8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8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8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8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8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8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8" dur="5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1" dur="5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4" dur="5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7" dur="52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2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3" dur="52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10" grpId="0"/>
      <p:bldP spid="11" grpId="0" animBg="1"/>
      <p:bldP spid="12" grpId="0" animBg="1"/>
      <p:bldP spid="17" grpId="0" animBg="1"/>
      <p:bldP spid="18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29" grpId="0"/>
      <p:bldP spid="30" grpId="0" animBg="1"/>
      <p:bldP spid="31" grpId="0" animBg="1"/>
      <p:bldP spid="32" grpId="0"/>
      <p:bldP spid="33" grpId="0" animBg="1"/>
      <p:bldP spid="34" grpId="0" animBg="1"/>
      <p:bldP spid="40" grpId="0"/>
      <p:bldP spid="41" grpId="0"/>
      <p:bldP spid="42" grpId="0"/>
      <p:bldP spid="48" grpId="0"/>
      <p:bldP spid="49" grpId="0"/>
      <p:bldP spid="50" grpId="0" animBg="1"/>
      <p:bldP spid="57" grpId="0"/>
      <p:bldP spid="58" grpId="0"/>
      <p:bldP spid="59" grpId="0" animBg="1"/>
      <p:bldP spid="63" grpId="0"/>
      <p:bldP spid="64" grpId="0"/>
      <p:bldP spid="65" grpId="0" animBg="1"/>
      <p:bldP spid="72" grpId="0"/>
      <p:bldP spid="73" grpId="0"/>
      <p:bldP spid="74" grpId="0" animBg="1"/>
      <p:bldP spid="75" grpId="0"/>
      <p:bldP spid="76" grpId="0" animBg="1"/>
      <p:bldP spid="77" grpId="0" animBg="1"/>
      <p:bldP spid="81" grpId="0"/>
      <p:bldP spid="82" grpId="0"/>
      <p:bldP spid="86" grpId="0"/>
      <p:bldP spid="87" grpId="0"/>
      <p:bldP spid="88" grpId="0" animBg="1"/>
      <p:bldP spid="95" grpId="0"/>
      <p:bldP spid="96" grpId="0"/>
      <p:bldP spid="97" grpId="0" animBg="1"/>
      <p:bldP spid="109" grpId="0"/>
      <p:bldP spid="110" grpId="0"/>
      <p:bldP spid="111" grpId="0" animBg="1"/>
      <p:bldP spid="116" grpId="0"/>
      <p:bldP spid="117" grpId="0"/>
      <p:bldP spid="118" grpId="0" animBg="1"/>
      <p:bldP spid="119" grpId="0" animBg="1"/>
      <p:bldP spid="120" grpId="0"/>
      <p:bldP spid="121" grpId="0" animBg="1"/>
      <p:bldP spid="130" grpId="0"/>
      <p:bldP spid="131" grpId="0"/>
      <p:bldP spid="132" grpId="0" animBg="1"/>
      <p:bldP spid="140" grpId="0"/>
      <p:bldP spid="141" grpId="0"/>
      <p:bldP spid="142" grpId="0" animBg="1"/>
      <p:bldP spid="152" grpId="0"/>
      <p:bldP spid="153" grpId="0"/>
      <p:bldP spid="154" grpId="0" animBg="1"/>
      <p:bldP spid="159" grpId="0"/>
      <p:bldP spid="160" grpId="0"/>
      <p:bldP spid="161" grpId="0" animBg="1"/>
      <p:bldP spid="166" grpId="0"/>
      <p:bldP spid="167" grpId="0"/>
      <p:bldP spid="168" grpId="0" animBg="1"/>
      <p:bldP spid="169" grpId="0" animBg="1"/>
      <p:bldP spid="172" grpId="0"/>
      <p:bldP spid="173" grpId="0"/>
      <p:bldP spid="174" grpId="0" animBg="1"/>
      <p:bldP spid="1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30352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spc="-35">
                <a:solidFill>
                  <a:srgbClr val="213063"/>
                </a:solidFill>
                <a:latin typeface="Arial"/>
                <a:cs typeface="Arial"/>
              </a:rPr>
              <a:t>Select a Proportionate M&amp;E and Evidence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Use a layered response: strengthen routine monitoring first, then generate new evidence only where it is needed.</a:t>
            </a:r>
          </a:p>
        </p:txBody>
      </p:sp>
      <p:grpSp>
        <p:nvGrpSpPr>
          <p:cNvPr id="13" name="icon:sliders"/>
          <p:cNvGrpSpPr/>
          <p:nvPr/>
        </p:nvGrpSpPr>
        <p:grpSpPr>
          <a:xfrm>
            <a:off x="11071646" y="566562"/>
            <a:ext cx="521573" cy="487557"/>
            <a:chOff x="11071646" y="566562"/>
            <a:chExt cx="521573" cy="487557"/>
          </a:xfrm>
        </p:grpSpPr>
        <p:sp>
          <p:nvSpPr>
            <p:cNvPr id="7" name="Rectangle 6"/>
            <p:cNvSpPr/>
            <p:nvPr/>
          </p:nvSpPr>
          <p:spPr>
            <a:xfrm>
              <a:off x="11071646" y="623255"/>
              <a:ext cx="521573" cy="28346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162355" y="566562"/>
              <a:ext cx="73700" cy="136062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071646" y="804671"/>
              <a:ext cx="521573" cy="28346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309756" y="747979"/>
              <a:ext cx="73700" cy="136062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71646" y="974750"/>
              <a:ext cx="521573" cy="28346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457157" y="918057"/>
              <a:ext cx="73700" cy="136062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" name="Rectangle 13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03 / 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572768"/>
            <a:ext cx="11094689" cy="420624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1572768"/>
            <a:ext cx="54864" cy="42062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7" name="icon:scales"/>
          <p:cNvGrpSpPr/>
          <p:nvPr/>
        </p:nvGrpSpPr>
        <p:grpSpPr>
          <a:xfrm>
            <a:off x="830275" y="1662379"/>
            <a:ext cx="241401" cy="244144"/>
            <a:chOff x="830275" y="1662379"/>
            <a:chExt cx="241401" cy="244144"/>
          </a:xfrm>
        </p:grpSpPr>
        <p:sp>
          <p:nvSpPr>
            <p:cNvPr id="22" name="Rectangle 21"/>
            <p:cNvSpPr/>
            <p:nvPr/>
          </p:nvSpPr>
          <p:spPr>
            <a:xfrm>
              <a:off x="945489" y="1662379"/>
              <a:ext cx="12344" cy="241401"/>
            </a:xfrm>
            <a:prstGeom prst="rect">
              <a:avLst/>
            </a:pr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30275" y="1689811"/>
              <a:ext cx="241401" cy="12344"/>
            </a:xfrm>
            <a:prstGeom prst="rect">
              <a:avLst/>
            </a:pr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30275" y="1700784"/>
              <a:ext cx="76809" cy="65836"/>
            </a:xfrm>
            <a:custGeom>
              <a:avLst/>
              <a:gdLst/>
              <a:ahLst/>
              <a:cxnLst/>
              <a:rect l="l" t="t" r="r" b="b"/>
              <a:pathLst>
                <a:path w="76809" h="65836">
                  <a:moveTo>
                    <a:pt x="0" y="65836"/>
                  </a:moveTo>
                  <a:lnTo>
                    <a:pt x="76809" y="65836"/>
                  </a:lnTo>
                  <a:lnTo>
                    <a:pt x="38405" y="0"/>
                  </a:lnTo>
                  <a:close/>
                </a:path>
              </a:pathLst>
            </a:cu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Freeform 24"/>
            <p:cNvSpPr/>
            <p:nvPr/>
          </p:nvSpPr>
          <p:spPr>
            <a:xfrm>
              <a:off x="994867" y="1700784"/>
              <a:ext cx="76809" cy="65836"/>
            </a:xfrm>
            <a:custGeom>
              <a:avLst/>
              <a:gdLst/>
              <a:ahLst/>
              <a:cxnLst/>
              <a:rect l="l" t="t" r="r" b="b"/>
              <a:pathLst>
                <a:path w="76809" h="65836">
                  <a:moveTo>
                    <a:pt x="0" y="65836"/>
                  </a:moveTo>
                  <a:lnTo>
                    <a:pt x="76809" y="65836"/>
                  </a:lnTo>
                  <a:lnTo>
                    <a:pt x="38405" y="0"/>
                  </a:lnTo>
                  <a:close/>
                </a:path>
              </a:pathLst>
            </a:cu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90625" y="1892807"/>
              <a:ext cx="120700" cy="13716"/>
            </a:xfrm>
            <a:prstGeom prst="rect">
              <a:avLst/>
            </a:pr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225295" y="1572768"/>
            <a:ext cx="1021686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Start with what we already know.</a:t>
            </a:r>
            <a:r>
              <a:rPr lang="en-GB" sz="1200" b="0" i="0">
                <a:solidFill>
                  <a:srgbClr val="BFCEEA"/>
                </a:solidFill>
                <a:latin typeface="Arial"/>
                <a:cs typeface="Arial"/>
              </a:rPr>
              <a:t>   Use new evidence where the gap matters most.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121408"/>
            <a:ext cx="3527541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2121408"/>
            <a:ext cx="3527541" cy="566928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2121408"/>
            <a:ext cx="420624" cy="56692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121408"/>
            <a:ext cx="420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grpSp>
        <p:nvGrpSpPr>
          <p:cNvPr id="39" name="icon:sliders"/>
          <p:cNvGrpSpPr/>
          <p:nvPr/>
        </p:nvGrpSpPr>
        <p:grpSpPr>
          <a:xfrm>
            <a:off x="1080820" y="2289657"/>
            <a:ext cx="252374" cy="235915"/>
            <a:chOff x="1080820" y="2289657"/>
            <a:chExt cx="252374" cy="235915"/>
          </a:xfrm>
        </p:grpSpPr>
        <p:sp>
          <p:nvSpPr>
            <p:cNvPr id="33" name="Rectangle 32"/>
            <p:cNvSpPr/>
            <p:nvPr/>
          </p:nvSpPr>
          <p:spPr>
            <a:xfrm>
              <a:off x="1080820" y="2317089"/>
              <a:ext cx="252374" cy="137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24711" y="2289657"/>
              <a:ext cx="35661" cy="65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80820" y="2404872"/>
              <a:ext cx="252374" cy="137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96035" y="2377440"/>
              <a:ext cx="35661" cy="65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80820" y="2487168"/>
              <a:ext cx="252374" cy="137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267358" y="2459736"/>
              <a:ext cx="35661" cy="65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426464" y="2121408"/>
            <a:ext cx="250341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" b="1" i="0" cap="all" spc="70">
                <a:solidFill>
                  <a:srgbClr val="FFFFFF"/>
                </a:solidFill>
                <a:latin typeface="Arial"/>
                <a:cs typeface="Arial"/>
              </a:rPr>
              <a:t>Strengthen routine performance monitoring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2213" y="2121408"/>
            <a:ext cx="3527541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32213" y="2121408"/>
            <a:ext cx="3527541" cy="56692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32213" y="2121408"/>
            <a:ext cx="420624" cy="56692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32213" y="2121408"/>
            <a:ext cx="420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grpSp>
        <p:nvGrpSpPr>
          <p:cNvPr id="47" name="icon:shield"/>
          <p:cNvGrpSpPr/>
          <p:nvPr/>
        </p:nvGrpSpPr>
        <p:grpSpPr>
          <a:xfrm>
            <a:off x="4880853" y="2278684"/>
            <a:ext cx="219456" cy="257861"/>
            <a:chOff x="4880853" y="2278684"/>
            <a:chExt cx="219456" cy="257861"/>
          </a:xfrm>
        </p:grpSpPr>
        <p:sp>
          <p:nvSpPr>
            <p:cNvPr id="45" name="Freeform 44"/>
            <p:cNvSpPr/>
            <p:nvPr/>
          </p:nvSpPr>
          <p:spPr>
            <a:xfrm>
              <a:off x="4880853" y="2278684"/>
              <a:ext cx="219456" cy="257861"/>
            </a:xfrm>
            <a:custGeom>
              <a:avLst/>
              <a:gdLst/>
              <a:ahLst/>
              <a:cxnLst/>
              <a:rect l="l" t="t" r="r" b="b"/>
              <a:pathLst>
                <a:path w="219456" h="257861">
                  <a:moveTo>
                    <a:pt x="0" y="0"/>
                  </a:moveTo>
                  <a:lnTo>
                    <a:pt x="219456" y="0"/>
                  </a:lnTo>
                  <a:lnTo>
                    <a:pt x="219456" y="139904"/>
                  </a:lnTo>
                  <a:lnTo>
                    <a:pt x="109728" y="257861"/>
                  </a:lnTo>
                  <a:lnTo>
                    <a:pt x="0" y="139904"/>
                  </a:lnTo>
                  <a:close/>
                </a:path>
              </a:pathLst>
            </a:custGeom>
            <a:noFill/>
            <a:ln w="165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Freeform 45"/>
            <p:cNvSpPr/>
            <p:nvPr/>
          </p:nvSpPr>
          <p:spPr>
            <a:xfrm>
              <a:off x="4943947" y="2360980"/>
              <a:ext cx="98755" cy="120701"/>
            </a:xfrm>
            <a:custGeom>
              <a:avLst/>
              <a:gdLst/>
              <a:ahLst/>
              <a:cxnLst/>
              <a:rect l="l" t="t" r="r" b="b"/>
              <a:pathLst>
                <a:path w="98755" h="120701">
                  <a:moveTo>
                    <a:pt x="0" y="43892"/>
                  </a:moveTo>
                  <a:lnTo>
                    <a:pt x="32918" y="82296"/>
                  </a:lnTo>
                  <a:lnTo>
                    <a:pt x="98755" y="0"/>
                  </a:lnTo>
                  <a:lnTo>
                    <a:pt x="98755" y="38405"/>
                  </a:lnTo>
                  <a:lnTo>
                    <a:pt x="32918" y="120701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210037" y="2121408"/>
            <a:ext cx="250341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" b="1" i="0" cap="all" spc="70">
                <a:solidFill>
                  <a:srgbClr val="FFFFFF"/>
                </a:solidFill>
                <a:latin typeface="Arial"/>
                <a:cs typeface="Arial"/>
              </a:rPr>
              <a:t>Institutionalize data quality assurance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5787" y="2121408"/>
            <a:ext cx="3527541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115787" y="2121408"/>
            <a:ext cx="3527541" cy="566928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15787" y="2121408"/>
            <a:ext cx="420624" cy="56692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15787" y="2121408"/>
            <a:ext cx="420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grpSp>
        <p:nvGrpSpPr>
          <p:cNvPr id="56" name="icon:target"/>
          <p:cNvGrpSpPr/>
          <p:nvPr/>
        </p:nvGrpSpPr>
        <p:grpSpPr>
          <a:xfrm>
            <a:off x="8636995" y="2267712"/>
            <a:ext cx="274320" cy="274320"/>
            <a:chOff x="8636995" y="2267712"/>
            <a:chExt cx="274320" cy="274320"/>
          </a:xfrm>
        </p:grpSpPr>
        <p:sp>
          <p:nvSpPr>
            <p:cNvPr id="53" name="Oval 52"/>
            <p:cNvSpPr/>
            <p:nvPr/>
          </p:nvSpPr>
          <p:spPr>
            <a:xfrm>
              <a:off x="8636995" y="2267712"/>
              <a:ext cx="274320" cy="274320"/>
            </a:xfrm>
            <a:prstGeom prst="ellipse">
              <a:avLst/>
            </a:prstGeom>
            <a:noFill/>
            <a:ln w="165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4" name="Oval 53"/>
            <p:cNvSpPr/>
            <p:nvPr/>
          </p:nvSpPr>
          <p:spPr>
            <a:xfrm>
              <a:off x="8691859" y="2322576"/>
              <a:ext cx="164592" cy="164592"/>
            </a:xfrm>
            <a:prstGeom prst="ellipse">
              <a:avLst/>
            </a:prstGeom>
            <a:noFill/>
            <a:ln w="1651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5" name="Oval 54"/>
            <p:cNvSpPr/>
            <p:nvPr/>
          </p:nvSpPr>
          <p:spPr>
            <a:xfrm>
              <a:off x="8743980" y="2374696"/>
              <a:ext cx="60350" cy="60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8993611" y="2121408"/>
            <a:ext cx="250341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" b="1" i="0" cap="all" spc="70">
                <a:solidFill>
                  <a:srgbClr val="FFFFFF"/>
                </a:solidFill>
                <a:latin typeface="Arial"/>
                <a:cs typeface="Arial"/>
              </a:rPr>
              <a:t>Fill critical evidence gaps</a:t>
            </a:r>
          </a:p>
        </p:txBody>
      </p:sp>
      <p:grpSp>
        <p:nvGrpSpPr>
          <p:cNvPr id="65" name="icon:checklist"/>
          <p:cNvGrpSpPr/>
          <p:nvPr/>
        </p:nvGrpSpPr>
        <p:grpSpPr>
          <a:xfrm>
            <a:off x="796991" y="2908523"/>
            <a:ext cx="161665" cy="209214"/>
            <a:chOff x="796991" y="2908523"/>
            <a:chExt cx="161665" cy="209214"/>
          </a:xfrm>
        </p:grpSpPr>
        <p:sp>
          <p:nvSpPr>
            <p:cNvPr id="58" name="Rounded Rectangle 57"/>
            <p:cNvSpPr/>
            <p:nvPr/>
          </p:nvSpPr>
          <p:spPr>
            <a:xfrm>
              <a:off x="796991" y="2908523"/>
              <a:ext cx="161665" cy="209214"/>
            </a:xfrm>
            <a:prstGeom prst="roundRect">
              <a:avLst>
                <a:gd name="adj" fmla="val 8823"/>
              </a:avLst>
            </a:prstGeom>
            <a:noFill/>
            <a:ln w="1524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9" name="Freeform 58"/>
            <p:cNvSpPr/>
            <p:nvPr/>
          </p:nvSpPr>
          <p:spPr>
            <a:xfrm>
              <a:off x="825520" y="2946562"/>
              <a:ext cx="47549" cy="52304"/>
            </a:xfrm>
            <a:custGeom>
              <a:avLst/>
              <a:gdLst/>
              <a:ahLst/>
              <a:cxnLst/>
              <a:rect l="l" t="t" r="r" b="b"/>
              <a:pathLst>
                <a:path w="47549" h="52304">
                  <a:moveTo>
                    <a:pt x="0" y="19020"/>
                  </a:moveTo>
                  <a:lnTo>
                    <a:pt x="16642" y="35662"/>
                  </a:lnTo>
                  <a:lnTo>
                    <a:pt x="47549" y="0"/>
                  </a:lnTo>
                  <a:lnTo>
                    <a:pt x="47549" y="16642"/>
                  </a:lnTo>
                  <a:lnTo>
                    <a:pt x="16642" y="52304"/>
                  </a:lnTo>
                  <a:lnTo>
                    <a:pt x="0" y="35662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89711" y="2967959"/>
              <a:ext cx="52303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1" name="Freeform 60"/>
            <p:cNvSpPr/>
            <p:nvPr/>
          </p:nvSpPr>
          <p:spPr>
            <a:xfrm>
              <a:off x="825520" y="2994111"/>
              <a:ext cx="47549" cy="52304"/>
            </a:xfrm>
            <a:custGeom>
              <a:avLst/>
              <a:gdLst/>
              <a:ahLst/>
              <a:cxnLst/>
              <a:rect l="l" t="t" r="r" b="b"/>
              <a:pathLst>
                <a:path w="47549" h="52304">
                  <a:moveTo>
                    <a:pt x="0" y="19019"/>
                  </a:moveTo>
                  <a:lnTo>
                    <a:pt x="16642" y="35661"/>
                  </a:lnTo>
                  <a:lnTo>
                    <a:pt x="47549" y="0"/>
                  </a:lnTo>
                  <a:lnTo>
                    <a:pt x="47549" y="16642"/>
                  </a:lnTo>
                  <a:lnTo>
                    <a:pt x="16642" y="52304"/>
                  </a:lnTo>
                  <a:lnTo>
                    <a:pt x="0" y="35661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89711" y="3015508"/>
              <a:ext cx="52303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3" name="Freeform 62"/>
            <p:cNvSpPr/>
            <p:nvPr/>
          </p:nvSpPr>
          <p:spPr>
            <a:xfrm>
              <a:off x="825520" y="3041660"/>
              <a:ext cx="47549" cy="52303"/>
            </a:xfrm>
            <a:custGeom>
              <a:avLst/>
              <a:gdLst/>
              <a:ahLst/>
              <a:cxnLst/>
              <a:rect l="l" t="t" r="r" b="b"/>
              <a:pathLst>
                <a:path w="47549" h="52303">
                  <a:moveTo>
                    <a:pt x="0" y="19019"/>
                  </a:moveTo>
                  <a:lnTo>
                    <a:pt x="16642" y="35661"/>
                  </a:lnTo>
                  <a:lnTo>
                    <a:pt x="47549" y="0"/>
                  </a:lnTo>
                  <a:lnTo>
                    <a:pt x="47549" y="16642"/>
                  </a:lnTo>
                  <a:lnTo>
                    <a:pt x="16642" y="52303"/>
                  </a:lnTo>
                  <a:lnTo>
                    <a:pt x="0" y="35661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89711" y="3063057"/>
              <a:ext cx="52303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1078992" y="2816352"/>
            <a:ext cx="292403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Review results framework, indicators, baselines and targets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3236976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74" name="icon:sliders"/>
          <p:cNvGrpSpPr/>
          <p:nvPr/>
        </p:nvGrpSpPr>
        <p:grpSpPr>
          <a:xfrm>
            <a:off x="768461" y="3329147"/>
            <a:ext cx="218724" cy="204459"/>
            <a:chOff x="768461" y="3329147"/>
            <a:chExt cx="218724" cy="204459"/>
          </a:xfrm>
        </p:grpSpPr>
        <p:sp>
          <p:nvSpPr>
            <p:cNvPr id="68" name="Rectangle 67"/>
            <p:cNvSpPr/>
            <p:nvPr/>
          </p:nvSpPr>
          <p:spPr>
            <a:xfrm>
              <a:off x="768461" y="3352921"/>
              <a:ext cx="218724" cy="1188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806500" y="3329147"/>
              <a:ext cx="30906" cy="5705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68461" y="3429000"/>
              <a:ext cx="218724" cy="1188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868314" y="3405225"/>
              <a:ext cx="30906" cy="5705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68461" y="3500323"/>
              <a:ext cx="218724" cy="1188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30127" y="3476548"/>
              <a:ext cx="30906" cy="5705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1078992" y="3236976"/>
            <a:ext cx="292403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Standardize indicator definitions and reporting tools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" y="3657600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84" name="icon:flow"/>
          <p:cNvGrpSpPr/>
          <p:nvPr/>
        </p:nvGrpSpPr>
        <p:grpSpPr>
          <a:xfrm>
            <a:off x="768461" y="3699296"/>
            <a:ext cx="218725" cy="213969"/>
            <a:chOff x="768461" y="3699296"/>
            <a:chExt cx="218725" cy="213969"/>
          </a:xfrm>
        </p:grpSpPr>
        <p:sp>
          <p:nvSpPr>
            <p:cNvPr id="77" name="Rectangle 76"/>
            <p:cNvSpPr/>
            <p:nvPr/>
          </p:nvSpPr>
          <p:spPr>
            <a:xfrm>
              <a:off x="768461" y="3699296"/>
              <a:ext cx="71323" cy="6181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15863" y="3699296"/>
              <a:ext cx="71323" cy="6181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42162" y="3851452"/>
              <a:ext cx="71323" cy="6181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01745" y="3761110"/>
              <a:ext cx="10698" cy="4279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946769" y="3761110"/>
              <a:ext cx="10698" cy="4279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01745" y="3803904"/>
              <a:ext cx="152156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73069" y="3803904"/>
              <a:ext cx="10698" cy="4754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85" name="TextBox 84"/>
          <p:cNvSpPr txBox="1"/>
          <p:nvPr/>
        </p:nvSpPr>
        <p:spPr>
          <a:xfrm>
            <a:off x="1078992" y="3657600"/>
            <a:ext cx="292403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Map data flows and reporting responsibilities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3986784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3" name="icon:monitor"/>
          <p:cNvGrpSpPr/>
          <p:nvPr/>
        </p:nvGrpSpPr>
        <p:grpSpPr>
          <a:xfrm>
            <a:off x="763706" y="4083710"/>
            <a:ext cx="228234" cy="202082"/>
            <a:chOff x="763706" y="4083710"/>
            <a:chExt cx="228234" cy="202082"/>
          </a:xfrm>
        </p:grpSpPr>
        <p:sp>
          <p:nvSpPr>
            <p:cNvPr id="87" name="Rounded Rectangle 86"/>
            <p:cNvSpPr/>
            <p:nvPr/>
          </p:nvSpPr>
          <p:spPr>
            <a:xfrm>
              <a:off x="763706" y="4083710"/>
              <a:ext cx="228234" cy="147401"/>
            </a:xfrm>
            <a:prstGeom prst="roundRect">
              <a:avLst>
                <a:gd name="adj" fmla="val 6451"/>
              </a:avLst>
            </a:prstGeom>
            <a:noFill/>
            <a:ln w="1524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863559" y="4231111"/>
              <a:ext cx="28529" cy="38039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816010" y="4269150"/>
              <a:ext cx="123626" cy="1664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806500" y="4155033"/>
              <a:ext cx="23774" cy="5230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844539" y="4126504"/>
              <a:ext cx="23774" cy="8083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882578" y="4107484"/>
              <a:ext cx="23774" cy="9985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1078992" y="3986784"/>
            <a:ext cx="292403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Establish and strengthen management performance dashboards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1520" y="4407408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1" name="icon:searchbar"/>
          <p:cNvGrpSpPr/>
          <p:nvPr/>
        </p:nvGrpSpPr>
        <p:grpSpPr>
          <a:xfrm>
            <a:off x="768461" y="4444349"/>
            <a:ext cx="166421" cy="228234"/>
            <a:chOff x="768461" y="4444349"/>
            <a:chExt cx="166421" cy="228234"/>
          </a:xfrm>
        </p:grpSpPr>
        <p:sp>
          <p:nvSpPr>
            <p:cNvPr id="96" name="Oval 95"/>
            <p:cNvSpPr/>
            <p:nvPr/>
          </p:nvSpPr>
          <p:spPr>
            <a:xfrm>
              <a:off x="768461" y="4444349"/>
              <a:ext cx="166420" cy="166420"/>
            </a:xfrm>
            <a:prstGeom prst="ellipse">
              <a:avLst/>
            </a:prstGeom>
            <a:noFill/>
            <a:ln w="1524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7" name="Rectangle 96"/>
            <p:cNvSpPr/>
            <p:nvPr/>
          </p:nvSpPr>
          <p:spPr>
            <a:xfrm rot="18900000">
              <a:off x="911108" y="4591751"/>
              <a:ext cx="23774" cy="8083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806500" y="4539447"/>
              <a:ext cx="16642" cy="4279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835030" y="4515672"/>
              <a:ext cx="16642" cy="6656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863559" y="4491898"/>
              <a:ext cx="16642" cy="9034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1078992" y="4407408"/>
            <a:ext cx="292403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Improve disaggregation and bottleneck analysis</a:t>
            </a:r>
          </a:p>
        </p:txBody>
      </p:sp>
      <p:grpSp>
        <p:nvGrpSpPr>
          <p:cNvPr id="110" name="icon:checklist"/>
          <p:cNvGrpSpPr/>
          <p:nvPr/>
        </p:nvGrpSpPr>
        <p:grpSpPr>
          <a:xfrm>
            <a:off x="4580564" y="2908523"/>
            <a:ext cx="161665" cy="209214"/>
            <a:chOff x="4580564" y="2908523"/>
            <a:chExt cx="161665" cy="209214"/>
          </a:xfrm>
        </p:grpSpPr>
        <p:sp>
          <p:nvSpPr>
            <p:cNvPr id="103" name="Rounded Rectangle 102"/>
            <p:cNvSpPr/>
            <p:nvPr/>
          </p:nvSpPr>
          <p:spPr>
            <a:xfrm>
              <a:off x="4580564" y="2908523"/>
              <a:ext cx="161665" cy="209214"/>
            </a:xfrm>
            <a:prstGeom prst="roundRect">
              <a:avLst>
                <a:gd name="adj" fmla="val 8823"/>
              </a:avLst>
            </a:prstGeom>
            <a:noFill/>
            <a:ln w="15240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4609094" y="2946562"/>
              <a:ext cx="47548" cy="52304"/>
            </a:xfrm>
            <a:custGeom>
              <a:avLst/>
              <a:gdLst/>
              <a:ahLst/>
              <a:cxnLst/>
              <a:rect l="l" t="t" r="r" b="b"/>
              <a:pathLst>
                <a:path w="47548" h="52304">
                  <a:moveTo>
                    <a:pt x="0" y="19020"/>
                  </a:moveTo>
                  <a:lnTo>
                    <a:pt x="16642" y="35662"/>
                  </a:lnTo>
                  <a:lnTo>
                    <a:pt x="47548" y="0"/>
                  </a:lnTo>
                  <a:lnTo>
                    <a:pt x="47548" y="16642"/>
                  </a:lnTo>
                  <a:lnTo>
                    <a:pt x="16642" y="52304"/>
                  </a:lnTo>
                  <a:lnTo>
                    <a:pt x="0" y="35662"/>
                  </a:lnTo>
                  <a:close/>
                </a:path>
              </a:pathLst>
            </a:cu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4673285" y="2967959"/>
              <a:ext cx="52303" cy="10698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4609094" y="2994111"/>
              <a:ext cx="47548" cy="52304"/>
            </a:xfrm>
            <a:custGeom>
              <a:avLst/>
              <a:gdLst/>
              <a:ahLst/>
              <a:cxnLst/>
              <a:rect l="l" t="t" r="r" b="b"/>
              <a:pathLst>
                <a:path w="47548" h="52304">
                  <a:moveTo>
                    <a:pt x="0" y="19019"/>
                  </a:moveTo>
                  <a:lnTo>
                    <a:pt x="16642" y="35661"/>
                  </a:lnTo>
                  <a:lnTo>
                    <a:pt x="47548" y="0"/>
                  </a:lnTo>
                  <a:lnTo>
                    <a:pt x="47548" y="16642"/>
                  </a:lnTo>
                  <a:lnTo>
                    <a:pt x="16642" y="52304"/>
                  </a:lnTo>
                  <a:lnTo>
                    <a:pt x="0" y="35661"/>
                  </a:lnTo>
                  <a:close/>
                </a:path>
              </a:pathLst>
            </a:cu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4673285" y="3015508"/>
              <a:ext cx="52303" cy="10698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4609094" y="3041660"/>
              <a:ext cx="47548" cy="52303"/>
            </a:xfrm>
            <a:custGeom>
              <a:avLst/>
              <a:gdLst/>
              <a:ahLst/>
              <a:cxnLst/>
              <a:rect l="l" t="t" r="r" b="b"/>
              <a:pathLst>
                <a:path w="47548" h="52303">
                  <a:moveTo>
                    <a:pt x="0" y="19019"/>
                  </a:moveTo>
                  <a:lnTo>
                    <a:pt x="16642" y="35661"/>
                  </a:lnTo>
                  <a:lnTo>
                    <a:pt x="47548" y="0"/>
                  </a:lnTo>
                  <a:lnTo>
                    <a:pt x="47548" y="16642"/>
                  </a:lnTo>
                  <a:lnTo>
                    <a:pt x="16642" y="52303"/>
                  </a:lnTo>
                  <a:lnTo>
                    <a:pt x="0" y="35661"/>
                  </a:lnTo>
                  <a:close/>
                </a:path>
              </a:pathLst>
            </a:cu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4673285" y="3063057"/>
              <a:ext cx="52303" cy="10698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4862565" y="2816352"/>
            <a:ext cx="2924037" cy="4206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Baseline data quality assessment of priority indicators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515093" y="3236976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Freeform 112"/>
          <p:cNvSpPr/>
          <p:nvPr/>
        </p:nvSpPr>
        <p:spPr>
          <a:xfrm>
            <a:off x="4556790" y="3283427"/>
            <a:ext cx="204460" cy="209215"/>
          </a:xfrm>
          <a:custGeom>
            <a:avLst/>
            <a:gdLst/>
            <a:ahLst/>
            <a:cxnLst/>
            <a:rect l="l" t="t" r="r" b="b"/>
            <a:pathLst>
              <a:path w="204460" h="209215">
                <a:moveTo>
                  <a:pt x="0" y="95098"/>
                </a:moveTo>
                <a:lnTo>
                  <a:pt x="52304" y="147401"/>
                </a:lnTo>
                <a:lnTo>
                  <a:pt x="204460" y="0"/>
                </a:lnTo>
                <a:lnTo>
                  <a:pt x="204460" y="61813"/>
                </a:lnTo>
                <a:lnTo>
                  <a:pt x="52304" y="209215"/>
                </a:lnTo>
                <a:lnTo>
                  <a:pt x="0" y="156911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862565" y="3236976"/>
            <a:ext cx="292403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Automated validation and completeness checks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515093" y="3566160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0" name="icon:doc"/>
          <p:cNvGrpSpPr/>
          <p:nvPr/>
        </p:nvGrpSpPr>
        <p:grpSpPr>
          <a:xfrm>
            <a:off x="4585319" y="3603101"/>
            <a:ext cx="156911" cy="218725"/>
            <a:chOff x="4585319" y="3603101"/>
            <a:chExt cx="156911" cy="218725"/>
          </a:xfrm>
        </p:grpSpPr>
        <p:sp>
          <p:nvSpPr>
            <p:cNvPr id="116" name="Freeform 115"/>
            <p:cNvSpPr/>
            <p:nvPr/>
          </p:nvSpPr>
          <p:spPr>
            <a:xfrm>
              <a:off x="4585319" y="3603101"/>
              <a:ext cx="156911" cy="218725"/>
            </a:xfrm>
            <a:custGeom>
              <a:avLst/>
              <a:gdLst/>
              <a:ahLst/>
              <a:cxnLst/>
              <a:rect l="l" t="t" r="r" b="b"/>
              <a:pathLst>
                <a:path w="156911" h="218725">
                  <a:moveTo>
                    <a:pt x="0" y="0"/>
                  </a:moveTo>
                  <a:lnTo>
                    <a:pt x="109363" y="0"/>
                  </a:lnTo>
                  <a:lnTo>
                    <a:pt x="156911" y="52304"/>
                  </a:lnTo>
                  <a:lnTo>
                    <a:pt x="156911" y="218725"/>
                  </a:lnTo>
                  <a:lnTo>
                    <a:pt x="0" y="218725"/>
                  </a:lnTo>
                  <a:close/>
                </a:path>
              </a:pathLst>
            </a:custGeom>
            <a:noFill/>
            <a:ln w="15240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613849" y="3688689"/>
              <a:ext cx="95097" cy="10698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4613849" y="3726728"/>
              <a:ext cx="95097" cy="10698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4613849" y="3764767"/>
              <a:ext cx="66568" cy="10698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4862565" y="3566160"/>
            <a:ext cx="292403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Routine verification against source records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15093" y="3895344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6" name="icon:chart"/>
          <p:cNvGrpSpPr/>
          <p:nvPr/>
        </p:nvGrpSpPr>
        <p:grpSpPr>
          <a:xfrm>
            <a:off x="4561545" y="3937040"/>
            <a:ext cx="194949" cy="204460"/>
            <a:chOff x="4561545" y="3937040"/>
            <a:chExt cx="194949" cy="204460"/>
          </a:xfrm>
        </p:grpSpPr>
        <p:sp>
          <p:nvSpPr>
            <p:cNvPr id="123" name="Rectangle 122"/>
            <p:cNvSpPr/>
            <p:nvPr/>
          </p:nvSpPr>
          <p:spPr>
            <a:xfrm>
              <a:off x="4561545" y="4036893"/>
              <a:ext cx="42793" cy="104607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4637623" y="3984589"/>
              <a:ext cx="42793" cy="15691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4713701" y="3937040"/>
              <a:ext cx="42793" cy="204459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4862565" y="3895344"/>
            <a:ext cx="292403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Partner and district data quality scorecards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515093" y="4224528"/>
            <a:ext cx="31617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2" name="icon:cycle"/>
          <p:cNvGrpSpPr/>
          <p:nvPr/>
        </p:nvGrpSpPr>
        <p:grpSpPr>
          <a:xfrm>
            <a:off x="4533016" y="4247205"/>
            <a:ext cx="256763" cy="247253"/>
            <a:chOff x="4533016" y="4247205"/>
            <a:chExt cx="256763" cy="247253"/>
          </a:xfrm>
        </p:grpSpPr>
        <p:sp>
          <p:nvSpPr>
            <p:cNvPr id="129" name="Donut 128"/>
            <p:cNvSpPr/>
            <p:nvPr/>
          </p:nvSpPr>
          <p:spPr>
            <a:xfrm>
              <a:off x="4556790" y="4266224"/>
              <a:ext cx="209214" cy="209214"/>
            </a:xfrm>
            <a:prstGeom prst="donut">
              <a:avLst>
                <a:gd name="adj" fmla="val 19000"/>
              </a:avLst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0" name="Freeform 129"/>
            <p:cNvSpPr/>
            <p:nvPr/>
          </p:nvSpPr>
          <p:spPr>
            <a:xfrm>
              <a:off x="4699436" y="4247205"/>
              <a:ext cx="90343" cy="104607"/>
            </a:xfrm>
            <a:custGeom>
              <a:avLst/>
              <a:gdLst/>
              <a:ahLst/>
              <a:cxnLst/>
              <a:rect l="l" t="t" r="r" b="b"/>
              <a:pathLst>
                <a:path w="90343" h="104607">
                  <a:moveTo>
                    <a:pt x="0" y="0"/>
                  </a:moveTo>
                  <a:lnTo>
                    <a:pt x="90343" y="52303"/>
                  </a:lnTo>
                  <a:lnTo>
                    <a:pt x="0" y="104607"/>
                  </a:lnTo>
                  <a:close/>
                </a:path>
              </a:pathLst>
            </a:cu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4533016" y="4389851"/>
              <a:ext cx="90342" cy="104607"/>
            </a:xfrm>
            <a:custGeom>
              <a:avLst/>
              <a:gdLst/>
              <a:ahLst/>
              <a:cxnLst/>
              <a:rect l="l" t="t" r="r" b="b"/>
              <a:pathLst>
                <a:path w="90342" h="104607">
                  <a:moveTo>
                    <a:pt x="90342" y="104607"/>
                  </a:moveTo>
                  <a:lnTo>
                    <a:pt x="0" y="52304"/>
                  </a:lnTo>
                  <a:lnTo>
                    <a:pt x="90342" y="0"/>
                  </a:lnTo>
                  <a:close/>
                </a:path>
              </a:pathLst>
            </a:cu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4862565" y="4224528"/>
            <a:ext cx="2924037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404041"/>
                </a:solidFill>
                <a:latin typeface="Arial"/>
                <a:cs typeface="Arial"/>
              </a:rPr>
              <a:t>Corrective action tracking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316955" y="2816352"/>
            <a:ext cx="312520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>
                <a:solidFill>
                  <a:srgbClr val="5B5B5E"/>
                </a:solidFill>
                <a:latin typeface="Arial"/>
                <a:cs typeface="Arial"/>
              </a:rPr>
              <a:t>Use targeted methods only where routine monitoring cannot answer the question:</a:t>
            </a:r>
          </a:p>
        </p:txBody>
      </p:sp>
      <p:grpSp>
        <p:nvGrpSpPr>
          <p:cNvPr id="138" name="icon:clock"/>
          <p:cNvGrpSpPr/>
          <p:nvPr/>
        </p:nvGrpSpPr>
        <p:grpSpPr>
          <a:xfrm>
            <a:off x="8330854" y="3452042"/>
            <a:ext cx="228234" cy="228234"/>
            <a:chOff x="8330854" y="3452042"/>
            <a:chExt cx="228234" cy="228234"/>
          </a:xfrm>
        </p:grpSpPr>
        <p:sp>
          <p:nvSpPr>
            <p:cNvPr id="135" name="Oval 134"/>
            <p:cNvSpPr/>
            <p:nvPr/>
          </p:nvSpPr>
          <p:spPr>
            <a:xfrm>
              <a:off x="8330854" y="3452042"/>
              <a:ext cx="228234" cy="228234"/>
            </a:xfrm>
            <a:prstGeom prst="ellipse">
              <a:avLst/>
            </a:prstGeom>
            <a:noFill/>
            <a:ln w="1524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8437839" y="3485327"/>
              <a:ext cx="14264" cy="90342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8440216" y="3561405"/>
              <a:ext cx="71323" cy="1426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8627851" y="3346704"/>
            <a:ext cx="119684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Rapid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assessments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316955" y="3803904"/>
            <a:ext cx="1471162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46" name="icon:clipboard"/>
          <p:cNvGrpSpPr/>
          <p:nvPr/>
        </p:nvGrpSpPr>
        <p:grpSpPr>
          <a:xfrm>
            <a:off x="9945029" y="3447288"/>
            <a:ext cx="161665" cy="228233"/>
            <a:chOff x="9945029" y="3447288"/>
            <a:chExt cx="161665" cy="228233"/>
          </a:xfrm>
        </p:grpSpPr>
        <p:sp>
          <p:nvSpPr>
            <p:cNvPr id="141" name="Rounded Rectangle 140"/>
            <p:cNvSpPr/>
            <p:nvPr/>
          </p:nvSpPr>
          <p:spPr>
            <a:xfrm>
              <a:off x="9945029" y="3466307"/>
              <a:ext cx="161665" cy="209214"/>
            </a:xfrm>
            <a:prstGeom prst="roundRect">
              <a:avLst>
                <a:gd name="adj" fmla="val 8823"/>
              </a:avLst>
            </a:prstGeom>
            <a:noFill/>
            <a:ln w="1524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987823" y="3447288"/>
              <a:ext cx="76078" cy="38039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9983068" y="3537630"/>
              <a:ext cx="85587" cy="1069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9983068" y="3575669"/>
              <a:ext cx="85587" cy="1069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9983068" y="3613708"/>
              <a:ext cx="85587" cy="1069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7" name="TextBox 146"/>
          <p:cNvSpPr txBox="1"/>
          <p:nvPr/>
        </p:nvSpPr>
        <p:spPr>
          <a:xfrm>
            <a:off x="10208742" y="3346704"/>
            <a:ext cx="119684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Surveys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897846" y="3803904"/>
            <a:ext cx="1471162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2" name="icon:chart"/>
          <p:cNvGrpSpPr/>
          <p:nvPr/>
        </p:nvGrpSpPr>
        <p:grpSpPr>
          <a:xfrm>
            <a:off x="8345119" y="3964472"/>
            <a:ext cx="194949" cy="204460"/>
            <a:chOff x="8345119" y="3964472"/>
            <a:chExt cx="194949" cy="204460"/>
          </a:xfrm>
        </p:grpSpPr>
        <p:sp>
          <p:nvSpPr>
            <p:cNvPr id="149" name="Rectangle 148"/>
            <p:cNvSpPr/>
            <p:nvPr/>
          </p:nvSpPr>
          <p:spPr>
            <a:xfrm>
              <a:off x="8345119" y="4064325"/>
              <a:ext cx="42793" cy="104607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8421197" y="4012021"/>
              <a:ext cx="42793" cy="156911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8497275" y="3964472"/>
              <a:ext cx="42793" cy="204459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8627851" y="3849624"/>
            <a:ext cx="119684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Evaluations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316955" y="4306824"/>
            <a:ext cx="1471162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7" name="icon:book"/>
          <p:cNvGrpSpPr/>
          <p:nvPr/>
        </p:nvGrpSpPr>
        <p:grpSpPr>
          <a:xfrm>
            <a:off x="9916500" y="3988247"/>
            <a:ext cx="218724" cy="175930"/>
            <a:chOff x="9916500" y="3988247"/>
            <a:chExt cx="218724" cy="175930"/>
          </a:xfrm>
        </p:grpSpPr>
        <p:sp>
          <p:nvSpPr>
            <p:cNvPr id="155" name="Freeform 154"/>
            <p:cNvSpPr/>
            <p:nvPr/>
          </p:nvSpPr>
          <p:spPr>
            <a:xfrm>
              <a:off x="9916500" y="3988247"/>
              <a:ext cx="104607" cy="175930"/>
            </a:xfrm>
            <a:custGeom>
              <a:avLst/>
              <a:gdLst/>
              <a:ahLst/>
              <a:cxnLst/>
              <a:rect l="l" t="t" r="r" b="b"/>
              <a:pathLst>
                <a:path w="104607" h="175930">
                  <a:moveTo>
                    <a:pt x="0" y="0"/>
                  </a:moveTo>
                  <a:lnTo>
                    <a:pt x="104607" y="19019"/>
                  </a:lnTo>
                  <a:lnTo>
                    <a:pt x="104607" y="175930"/>
                  </a:lnTo>
                  <a:lnTo>
                    <a:pt x="0" y="156911"/>
                  </a:lnTo>
                  <a:close/>
                </a:path>
              </a:pathLst>
            </a:custGeom>
            <a:noFill/>
            <a:ln w="1524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0030617" y="3988247"/>
              <a:ext cx="104607" cy="175930"/>
            </a:xfrm>
            <a:custGeom>
              <a:avLst/>
              <a:gdLst/>
              <a:ahLst/>
              <a:cxnLst/>
              <a:rect l="l" t="t" r="r" b="b"/>
              <a:pathLst>
                <a:path w="104607" h="175930">
                  <a:moveTo>
                    <a:pt x="104607" y="0"/>
                  </a:moveTo>
                  <a:lnTo>
                    <a:pt x="0" y="19019"/>
                  </a:lnTo>
                  <a:lnTo>
                    <a:pt x="0" y="175930"/>
                  </a:lnTo>
                  <a:lnTo>
                    <a:pt x="104607" y="156911"/>
                  </a:lnTo>
                  <a:close/>
                </a:path>
              </a:pathLst>
            </a:custGeom>
            <a:noFill/>
            <a:ln w="1524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8" name="TextBox 157"/>
          <p:cNvSpPr txBox="1"/>
          <p:nvPr/>
        </p:nvSpPr>
        <p:spPr>
          <a:xfrm>
            <a:off x="10208742" y="3849624"/>
            <a:ext cx="119684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Implementation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research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897846" y="4306824"/>
            <a:ext cx="1471162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66" name="icon:people"/>
          <p:cNvGrpSpPr/>
          <p:nvPr/>
        </p:nvGrpSpPr>
        <p:grpSpPr>
          <a:xfrm>
            <a:off x="8321344" y="4457882"/>
            <a:ext cx="247254" cy="194950"/>
            <a:chOff x="8321344" y="4457882"/>
            <a:chExt cx="247254" cy="194950"/>
          </a:xfrm>
        </p:grpSpPr>
        <p:sp>
          <p:nvSpPr>
            <p:cNvPr id="160" name="Oval 159"/>
            <p:cNvSpPr/>
            <p:nvPr/>
          </p:nvSpPr>
          <p:spPr>
            <a:xfrm>
              <a:off x="8326099" y="4476902"/>
              <a:ext cx="61813" cy="61813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1" name="Round Same Side Corner Rectangle 160"/>
            <p:cNvSpPr/>
            <p:nvPr/>
          </p:nvSpPr>
          <p:spPr>
            <a:xfrm>
              <a:off x="8321344" y="4548225"/>
              <a:ext cx="71323" cy="8083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2" name="Oval 161"/>
            <p:cNvSpPr/>
            <p:nvPr/>
          </p:nvSpPr>
          <p:spPr>
            <a:xfrm>
              <a:off x="8502030" y="4476902"/>
              <a:ext cx="61813" cy="61813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3" name="Round Same Side Corner Rectangle 162"/>
            <p:cNvSpPr/>
            <p:nvPr/>
          </p:nvSpPr>
          <p:spPr>
            <a:xfrm>
              <a:off x="8497275" y="4548225"/>
              <a:ext cx="71323" cy="8083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4" name="Oval 163"/>
            <p:cNvSpPr/>
            <p:nvPr/>
          </p:nvSpPr>
          <p:spPr>
            <a:xfrm>
              <a:off x="8404555" y="4457882"/>
              <a:ext cx="80832" cy="80832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5" name="Round Same Side Corner Rectangle 164"/>
            <p:cNvSpPr/>
            <p:nvPr/>
          </p:nvSpPr>
          <p:spPr>
            <a:xfrm>
              <a:off x="8390290" y="4548225"/>
              <a:ext cx="109362" cy="10460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67" name="TextBox 166"/>
          <p:cNvSpPr txBox="1"/>
          <p:nvPr/>
        </p:nvSpPr>
        <p:spPr>
          <a:xfrm>
            <a:off x="8627851" y="4352544"/>
            <a:ext cx="119684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Qualitative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studies</a:t>
            </a:r>
          </a:p>
        </p:txBody>
      </p:sp>
      <p:grpSp>
        <p:nvGrpSpPr>
          <p:cNvPr id="173" name="icon:wifi"/>
          <p:cNvGrpSpPr/>
          <p:nvPr/>
        </p:nvGrpSpPr>
        <p:grpSpPr>
          <a:xfrm>
            <a:off x="9916500" y="4507809"/>
            <a:ext cx="202082" cy="168798"/>
            <a:chOff x="9916500" y="4507809"/>
            <a:chExt cx="202082" cy="168798"/>
          </a:xfrm>
        </p:grpSpPr>
        <p:sp>
          <p:nvSpPr>
            <p:cNvPr id="168" name="Rectangle 167"/>
            <p:cNvSpPr/>
            <p:nvPr/>
          </p:nvSpPr>
          <p:spPr>
            <a:xfrm>
              <a:off x="9916500" y="4643323"/>
              <a:ext cx="30906" cy="33284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9973558" y="4598151"/>
              <a:ext cx="30906" cy="7845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10030617" y="4552980"/>
              <a:ext cx="30906" cy="123626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10087676" y="4507809"/>
              <a:ext cx="30906" cy="16879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2" name="Oval 171"/>
            <p:cNvSpPr/>
            <p:nvPr/>
          </p:nvSpPr>
          <p:spPr>
            <a:xfrm>
              <a:off x="9916500" y="4586264"/>
              <a:ext cx="30906" cy="30906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74" name="TextBox 173"/>
          <p:cNvSpPr txBox="1"/>
          <p:nvPr/>
        </p:nvSpPr>
        <p:spPr>
          <a:xfrm>
            <a:off x="10208742" y="4352544"/>
            <a:ext cx="119684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Innovative and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real-time monitoring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833838" y="3346704"/>
            <a:ext cx="7315" cy="137160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548640" y="5084064"/>
            <a:ext cx="11094689" cy="58521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548640" y="5084064"/>
            <a:ext cx="1517904" cy="585216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713232" y="5084064"/>
            <a:ext cx="969264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 cap="all" spc="100">
                <a:solidFill>
                  <a:srgbClr val="FFFFFF"/>
                </a:solidFill>
                <a:latin typeface="Arial"/>
                <a:cs typeface="Arial"/>
              </a:rPr>
              <a:t>Decision rule</a:t>
            </a:r>
          </a:p>
        </p:txBody>
      </p:sp>
      <p:grpSp>
        <p:nvGrpSpPr>
          <p:cNvPr id="182" name="icon:signpost"/>
          <p:cNvGrpSpPr/>
          <p:nvPr/>
        </p:nvGrpSpPr>
        <p:grpSpPr>
          <a:xfrm>
            <a:off x="1708099" y="5250484"/>
            <a:ext cx="241401" cy="252374"/>
            <a:chOff x="1708099" y="5250484"/>
            <a:chExt cx="241401" cy="252374"/>
          </a:xfrm>
        </p:grpSpPr>
        <p:sp>
          <p:nvSpPr>
            <p:cNvPr id="179" name="Rectangle 178"/>
            <p:cNvSpPr/>
            <p:nvPr/>
          </p:nvSpPr>
          <p:spPr>
            <a:xfrm>
              <a:off x="1820570" y="5250484"/>
              <a:ext cx="16459" cy="252374"/>
            </a:xfrm>
            <a:prstGeom prst="rect">
              <a:avLst/>
            </a:pr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0" name="Freeform 179"/>
            <p:cNvSpPr/>
            <p:nvPr/>
          </p:nvSpPr>
          <p:spPr>
            <a:xfrm>
              <a:off x="1708099" y="5277916"/>
              <a:ext cx="241401" cy="65837"/>
            </a:xfrm>
            <a:custGeom>
              <a:avLst/>
              <a:gdLst/>
              <a:ahLst/>
              <a:cxnLst/>
              <a:rect l="l" t="t" r="r" b="b"/>
              <a:pathLst>
                <a:path w="241401" h="65837">
                  <a:moveTo>
                    <a:pt x="0" y="0"/>
                  </a:moveTo>
                  <a:lnTo>
                    <a:pt x="202996" y="0"/>
                  </a:lnTo>
                  <a:lnTo>
                    <a:pt x="241401" y="32919"/>
                  </a:lnTo>
                  <a:lnTo>
                    <a:pt x="202996" y="65837"/>
                  </a:lnTo>
                  <a:lnTo>
                    <a:pt x="0" y="65837"/>
                  </a:lnTo>
                  <a:close/>
                </a:path>
              </a:pathLst>
            </a:cu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1" name="Freeform 180"/>
            <p:cNvSpPr/>
            <p:nvPr/>
          </p:nvSpPr>
          <p:spPr>
            <a:xfrm>
              <a:off x="1708099" y="5376672"/>
              <a:ext cx="241401" cy="65836"/>
            </a:xfrm>
            <a:custGeom>
              <a:avLst/>
              <a:gdLst/>
              <a:ahLst/>
              <a:cxnLst/>
              <a:rect l="l" t="t" r="r" b="b"/>
              <a:pathLst>
                <a:path w="241401" h="65836">
                  <a:moveTo>
                    <a:pt x="241401" y="0"/>
                  </a:moveTo>
                  <a:lnTo>
                    <a:pt x="38405" y="0"/>
                  </a:lnTo>
                  <a:lnTo>
                    <a:pt x="0" y="32918"/>
                  </a:lnTo>
                  <a:lnTo>
                    <a:pt x="38405" y="65836"/>
                  </a:lnTo>
                  <a:lnTo>
                    <a:pt x="241401" y="65836"/>
                  </a:lnTo>
                  <a:close/>
                </a:path>
              </a:pathLst>
            </a:custGeom>
            <a:solidFill>
              <a:srgbClr val="FFC2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85" name="chip:question"/>
          <p:cNvGrpSpPr/>
          <p:nvPr/>
        </p:nvGrpSpPr>
        <p:grpSpPr>
          <a:xfrm>
            <a:off x="2295144" y="5202936"/>
            <a:ext cx="347472" cy="347472"/>
            <a:chOff x="2295144" y="5202936"/>
            <a:chExt cx="347472" cy="347472"/>
          </a:xfrm>
        </p:grpSpPr>
        <p:sp>
          <p:nvSpPr>
            <p:cNvPr id="183" name="Oval 182"/>
            <p:cNvSpPr/>
            <p:nvPr/>
          </p:nvSpPr>
          <p:spPr>
            <a:xfrm>
              <a:off x="2295144" y="520293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2364638" y="5265480"/>
              <a:ext cx="208483" cy="2154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82" b="1" i="0">
                  <a:solidFill>
                    <a:srgbClr val="FFFFFF"/>
                  </a:solidFill>
                  <a:latin typeface="Arial"/>
                  <a:cs typeface="Arial"/>
                </a:rPr>
                <a:t>?</a:t>
              </a:r>
            </a:p>
          </p:txBody>
        </p:sp>
      </p:grpSp>
      <p:sp>
        <p:nvSpPr>
          <p:cNvPr id="186" name="TextBox 185"/>
          <p:cNvSpPr txBox="1"/>
          <p:nvPr/>
        </p:nvSpPr>
        <p:spPr>
          <a:xfrm>
            <a:off x="2706624" y="5084064"/>
            <a:ext cx="136671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Decision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187" name="Right Arrow 186"/>
          <p:cNvSpPr/>
          <p:nvPr/>
        </p:nvSpPr>
        <p:spPr>
          <a:xfrm>
            <a:off x="4027621" y="5337169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96" name="chip:db"/>
          <p:cNvGrpSpPr/>
          <p:nvPr/>
        </p:nvGrpSpPr>
        <p:grpSpPr>
          <a:xfrm>
            <a:off x="4173925" y="5202936"/>
            <a:ext cx="347472" cy="347472"/>
            <a:chOff x="4173925" y="5202936"/>
            <a:chExt cx="347472" cy="347472"/>
          </a:xfrm>
        </p:grpSpPr>
        <p:sp>
          <p:nvSpPr>
            <p:cNvPr id="188" name="Oval 187"/>
            <p:cNvSpPr/>
            <p:nvPr/>
          </p:nvSpPr>
          <p:spPr>
            <a:xfrm>
              <a:off x="4173925" y="520293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95" name="icon:db"/>
            <p:cNvGrpSpPr/>
            <p:nvPr/>
          </p:nvGrpSpPr>
          <p:grpSpPr>
            <a:xfrm>
              <a:off x="4278166" y="5296753"/>
              <a:ext cx="138988" cy="159836"/>
              <a:chOff x="4278166" y="5296753"/>
              <a:chExt cx="138988" cy="159836"/>
            </a:xfrm>
          </p:grpSpPr>
          <p:sp>
            <p:nvSpPr>
              <p:cNvPr id="189" name="Rectangle 188"/>
              <p:cNvSpPr/>
              <p:nvPr/>
            </p:nvSpPr>
            <p:spPr>
              <a:xfrm>
                <a:off x="4278166" y="5317601"/>
                <a:ext cx="138988" cy="11814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Oval 189"/>
              <p:cNvSpPr/>
              <p:nvPr/>
            </p:nvSpPr>
            <p:spPr>
              <a:xfrm>
                <a:off x="4278166" y="5296753"/>
                <a:ext cx="138988" cy="416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Oval 190"/>
              <p:cNvSpPr/>
              <p:nvPr/>
            </p:nvSpPr>
            <p:spPr>
              <a:xfrm>
                <a:off x="4288590" y="5307177"/>
                <a:ext cx="118140" cy="2084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Oval 191"/>
              <p:cNvSpPr/>
              <p:nvPr/>
            </p:nvSpPr>
            <p:spPr>
              <a:xfrm>
                <a:off x="4278166" y="5359298"/>
                <a:ext cx="138988" cy="382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Oval 192"/>
              <p:cNvSpPr/>
              <p:nvPr/>
            </p:nvSpPr>
            <p:spPr>
              <a:xfrm>
                <a:off x="4278166" y="5404469"/>
                <a:ext cx="138988" cy="382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Oval 193"/>
              <p:cNvSpPr/>
              <p:nvPr/>
            </p:nvSpPr>
            <p:spPr>
              <a:xfrm>
                <a:off x="4278166" y="5414893"/>
                <a:ext cx="138988" cy="416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97" name="TextBox 196"/>
          <p:cNvSpPr txBox="1"/>
          <p:nvPr/>
        </p:nvSpPr>
        <p:spPr>
          <a:xfrm>
            <a:off x="4585405" y="5084064"/>
            <a:ext cx="136671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Existing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198" name="Right Arrow 197"/>
          <p:cNvSpPr/>
          <p:nvPr/>
        </p:nvSpPr>
        <p:spPr>
          <a:xfrm>
            <a:off x="5906402" y="5337169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03" name="chip:award"/>
          <p:cNvGrpSpPr/>
          <p:nvPr/>
        </p:nvGrpSpPr>
        <p:grpSpPr>
          <a:xfrm>
            <a:off x="6052706" y="5202936"/>
            <a:ext cx="347472" cy="347472"/>
            <a:chOff x="6052706" y="5202936"/>
            <a:chExt cx="347472" cy="347472"/>
          </a:xfrm>
        </p:grpSpPr>
        <p:sp>
          <p:nvSpPr>
            <p:cNvPr id="199" name="Oval 198"/>
            <p:cNvSpPr/>
            <p:nvPr/>
          </p:nvSpPr>
          <p:spPr>
            <a:xfrm>
              <a:off x="6052706" y="520293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02" name="icon:award"/>
            <p:cNvGrpSpPr/>
            <p:nvPr/>
          </p:nvGrpSpPr>
          <p:grpSpPr>
            <a:xfrm>
              <a:off x="6163897" y="5293278"/>
              <a:ext cx="125089" cy="166787"/>
              <a:chOff x="6163897" y="5293278"/>
              <a:chExt cx="125089" cy="166787"/>
            </a:xfrm>
          </p:grpSpPr>
          <p:sp>
            <p:nvSpPr>
              <p:cNvPr id="200" name="Oval 199"/>
              <p:cNvSpPr/>
              <p:nvPr/>
            </p:nvSpPr>
            <p:spPr>
              <a:xfrm>
                <a:off x="6163897" y="5293278"/>
                <a:ext cx="125089" cy="125089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Freeform 200"/>
              <p:cNvSpPr/>
              <p:nvPr/>
            </p:nvSpPr>
            <p:spPr>
              <a:xfrm>
                <a:off x="6181270" y="5404469"/>
                <a:ext cx="90343" cy="55596"/>
              </a:xfrm>
              <a:custGeom>
                <a:avLst/>
                <a:gdLst/>
                <a:ahLst/>
                <a:cxnLst/>
                <a:rect l="l" t="t" r="r" b="b"/>
                <a:pathLst>
                  <a:path w="90343" h="55596">
                    <a:moveTo>
                      <a:pt x="0" y="0"/>
                    </a:moveTo>
                    <a:lnTo>
                      <a:pt x="0" y="55596"/>
                    </a:lnTo>
                    <a:lnTo>
                      <a:pt x="45172" y="31273"/>
                    </a:lnTo>
                    <a:lnTo>
                      <a:pt x="90343" y="55596"/>
                    </a:lnTo>
                    <a:lnTo>
                      <a:pt x="903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04" name="TextBox 203"/>
          <p:cNvSpPr txBox="1"/>
          <p:nvPr/>
        </p:nvSpPr>
        <p:spPr>
          <a:xfrm>
            <a:off x="6464186" y="5084064"/>
            <a:ext cx="136671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Evidence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quality</a:t>
            </a:r>
          </a:p>
        </p:txBody>
      </p:sp>
      <p:sp>
        <p:nvSpPr>
          <p:cNvPr id="205" name="Right Arrow 204"/>
          <p:cNvSpPr/>
          <p:nvPr/>
        </p:nvSpPr>
        <p:spPr>
          <a:xfrm>
            <a:off x="7785183" y="5337169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10" name="chip:puzzle"/>
          <p:cNvGrpSpPr/>
          <p:nvPr/>
        </p:nvGrpSpPr>
        <p:grpSpPr>
          <a:xfrm>
            <a:off x="7931487" y="5202936"/>
            <a:ext cx="347472" cy="347472"/>
            <a:chOff x="7931487" y="5202936"/>
            <a:chExt cx="347472" cy="347472"/>
          </a:xfrm>
        </p:grpSpPr>
        <p:sp>
          <p:nvSpPr>
            <p:cNvPr id="206" name="Oval 205"/>
            <p:cNvSpPr/>
            <p:nvPr/>
          </p:nvSpPr>
          <p:spPr>
            <a:xfrm>
              <a:off x="7931487" y="520293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09" name="icon:puzzle"/>
            <p:cNvGrpSpPr/>
            <p:nvPr/>
          </p:nvGrpSpPr>
          <p:grpSpPr>
            <a:xfrm>
              <a:off x="8032254" y="5303702"/>
              <a:ext cx="145938" cy="145939"/>
              <a:chOff x="8032254" y="5303702"/>
              <a:chExt cx="145938" cy="145939"/>
            </a:xfrm>
          </p:grpSpPr>
          <p:sp>
            <p:nvSpPr>
              <p:cNvPr id="207" name="Freeform 206"/>
              <p:cNvSpPr/>
              <p:nvPr/>
            </p:nvSpPr>
            <p:spPr>
              <a:xfrm>
                <a:off x="8032254" y="5303702"/>
                <a:ext cx="145938" cy="145939"/>
              </a:xfrm>
              <a:custGeom>
                <a:avLst/>
                <a:gdLst/>
                <a:ahLst/>
                <a:cxnLst/>
                <a:rect l="l" t="t" r="r" b="b"/>
                <a:pathLst>
                  <a:path w="145938" h="145939">
                    <a:moveTo>
                      <a:pt x="0" y="0"/>
                    </a:moveTo>
                    <a:lnTo>
                      <a:pt x="83393" y="0"/>
                    </a:lnTo>
                    <a:lnTo>
                      <a:pt x="83393" y="24323"/>
                    </a:lnTo>
                    <a:lnTo>
                      <a:pt x="107716" y="24323"/>
                    </a:lnTo>
                    <a:lnTo>
                      <a:pt x="107716" y="0"/>
                    </a:lnTo>
                    <a:lnTo>
                      <a:pt x="145938" y="0"/>
                    </a:lnTo>
                    <a:lnTo>
                      <a:pt x="145938" y="145939"/>
                    </a:lnTo>
                    <a:lnTo>
                      <a:pt x="0" y="145939"/>
                    </a:lnTo>
                    <a:close/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Oval 207"/>
              <p:cNvSpPr/>
              <p:nvPr/>
            </p:nvSpPr>
            <p:spPr>
              <a:xfrm>
                <a:off x="8105223" y="5355823"/>
                <a:ext cx="41696" cy="416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11" name="TextBox 210"/>
          <p:cNvSpPr txBox="1"/>
          <p:nvPr/>
        </p:nvSpPr>
        <p:spPr>
          <a:xfrm>
            <a:off x="8342967" y="5084064"/>
            <a:ext cx="136671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Remaining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gap</a:t>
            </a:r>
          </a:p>
        </p:txBody>
      </p:sp>
      <p:sp>
        <p:nvSpPr>
          <p:cNvPr id="212" name="Right Arrow 211"/>
          <p:cNvSpPr/>
          <p:nvPr/>
        </p:nvSpPr>
        <p:spPr>
          <a:xfrm>
            <a:off x="9663964" y="5337169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9B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18" name="chip:target"/>
          <p:cNvGrpSpPr/>
          <p:nvPr/>
        </p:nvGrpSpPr>
        <p:grpSpPr>
          <a:xfrm>
            <a:off x="9810268" y="5202936"/>
            <a:ext cx="347472" cy="347472"/>
            <a:chOff x="9810268" y="5202936"/>
            <a:chExt cx="347472" cy="347472"/>
          </a:xfrm>
        </p:grpSpPr>
        <p:sp>
          <p:nvSpPr>
            <p:cNvPr id="213" name="Oval 212"/>
            <p:cNvSpPr/>
            <p:nvPr/>
          </p:nvSpPr>
          <p:spPr>
            <a:xfrm>
              <a:off x="9810268" y="520293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17" name="icon:target"/>
            <p:cNvGrpSpPr/>
            <p:nvPr/>
          </p:nvGrpSpPr>
          <p:grpSpPr>
            <a:xfrm>
              <a:off x="9897136" y="5289804"/>
              <a:ext cx="173736" cy="173736"/>
              <a:chOff x="9897136" y="5289804"/>
              <a:chExt cx="173736" cy="173736"/>
            </a:xfrm>
          </p:grpSpPr>
          <p:sp>
            <p:nvSpPr>
              <p:cNvPr id="214" name="Oval 213"/>
              <p:cNvSpPr/>
              <p:nvPr/>
            </p:nvSpPr>
            <p:spPr>
              <a:xfrm>
                <a:off x="9897136" y="5289804"/>
                <a:ext cx="173736" cy="173736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Oval 214"/>
              <p:cNvSpPr/>
              <p:nvPr/>
            </p:nvSpPr>
            <p:spPr>
              <a:xfrm>
                <a:off x="9931883" y="5324551"/>
                <a:ext cx="104241" cy="104241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Oval 215"/>
              <p:cNvSpPr/>
              <p:nvPr/>
            </p:nvSpPr>
            <p:spPr>
              <a:xfrm>
                <a:off x="9964893" y="5357561"/>
                <a:ext cx="38221" cy="382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19" name="TextBox 218"/>
          <p:cNvSpPr txBox="1"/>
          <p:nvPr/>
        </p:nvSpPr>
        <p:spPr>
          <a:xfrm>
            <a:off x="10221748" y="5084064"/>
            <a:ext cx="136671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Most proportionate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 i="0">
                <a:solidFill>
                  <a:srgbClr val="404041"/>
                </a:solidFill>
                <a:latin typeface="Arial"/>
                <a:cs typeface="Arial"/>
              </a:rPr>
              <a:t>method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548640" y="5779007"/>
            <a:ext cx="11094689" cy="621792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548640" y="5779007"/>
            <a:ext cx="68580" cy="62179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25" name="icon:bulb"/>
          <p:cNvGrpSpPr/>
          <p:nvPr/>
        </p:nvGrpSpPr>
        <p:grpSpPr>
          <a:xfrm>
            <a:off x="948415" y="5905560"/>
            <a:ext cx="261152" cy="326441"/>
            <a:chOff x="948415" y="5905560"/>
            <a:chExt cx="261152" cy="326441"/>
          </a:xfrm>
        </p:grpSpPr>
        <p:sp>
          <p:nvSpPr>
            <p:cNvPr id="222" name="Oval 221"/>
            <p:cNvSpPr/>
            <p:nvPr/>
          </p:nvSpPr>
          <p:spPr>
            <a:xfrm>
              <a:off x="948415" y="5905560"/>
              <a:ext cx="261152" cy="261152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5225" y="6159032"/>
              <a:ext cx="107533" cy="26883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36746" y="6205118"/>
              <a:ext cx="84490" cy="26883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26" name="TextBox 225"/>
          <p:cNvSpPr txBox="1"/>
          <p:nvPr/>
        </p:nvSpPr>
        <p:spPr>
          <a:xfrm>
            <a:off x="1463039" y="5815583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Why this
approach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944368" y="5943599"/>
            <a:ext cx="9144" cy="292608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3108960" y="5870447"/>
            <a:ext cx="8260049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>
                <a:solidFill>
                  <a:srgbClr val="FFFFFF"/>
                </a:solidFill>
                <a:latin typeface="Arial"/>
                <a:cs typeface="Arial"/>
              </a:rPr>
              <a:t>It avoids commissioning expensive studies where existing systems can provide the answer, while ensuring that genuine knowledge gaps receive rigorous investigation.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3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54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43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4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215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295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415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615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695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3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815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3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855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895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3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6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6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6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6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6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6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6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6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6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36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6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36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6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36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6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36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6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36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9" dur="5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2" dur="5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5" dur="52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8" dur="52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1" dur="52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4" dur="52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13" grpId="0"/>
      <p:bldP spid="14" grpId="0" animBg="1"/>
      <p:bldP spid="15" grpId="0" animBg="1"/>
      <p:bldP spid="20" grpId="0" animBg="1"/>
      <p:bldP spid="21" grpId="0" animBg="1"/>
      <p:bldP spid="27" grpId="0"/>
      <p:bldP spid="28" grpId="0"/>
      <p:bldP spid="29" grpId="0" animBg="1"/>
      <p:bldP spid="30" grpId="0" animBg="1"/>
      <p:bldP spid="31" grpId="0" animBg="1"/>
      <p:bldP spid="32" grpId="0"/>
      <p:bldP spid="39" grpId="0"/>
      <p:bldP spid="40" grpId="0"/>
      <p:bldP spid="41" grpId="0" animBg="1"/>
      <p:bldP spid="42" grpId="0" animBg="1"/>
      <p:bldP spid="43" grpId="0" animBg="1"/>
      <p:bldP spid="44" grpId="0"/>
      <p:bldP spid="47" grpId="0"/>
      <p:bldP spid="48" grpId="0"/>
      <p:bldP spid="49" grpId="0" animBg="1"/>
      <p:bldP spid="50" grpId="0" animBg="1"/>
      <p:bldP spid="51" grpId="0" animBg="1"/>
      <p:bldP spid="52" grpId="0"/>
      <p:bldP spid="56" grpId="0"/>
      <p:bldP spid="57" grpId="0"/>
      <p:bldP spid="65" grpId="0"/>
      <p:bldP spid="66" grpId="0"/>
      <p:bldP spid="67" grpId="0" animBg="1"/>
      <p:bldP spid="74" grpId="0"/>
      <p:bldP spid="75" grpId="0"/>
      <p:bldP spid="76" grpId="0" animBg="1"/>
      <p:bldP spid="84" grpId="0"/>
      <p:bldP spid="85" grpId="0"/>
      <p:bldP spid="86" grpId="0" animBg="1"/>
      <p:bldP spid="93" grpId="0"/>
      <p:bldP spid="94" grpId="0"/>
      <p:bldP spid="95" grpId="0" animBg="1"/>
      <p:bldP spid="101" grpId="0"/>
      <p:bldP spid="102" grpId="0"/>
      <p:bldP spid="110" grpId="0"/>
      <p:bldP spid="111" grpId="0"/>
      <p:bldP spid="112" grpId="0" animBg="1"/>
      <p:bldP spid="113" grpId="0" animBg="1"/>
      <p:bldP spid="114" grpId="0"/>
      <p:bldP spid="115" grpId="0" animBg="1"/>
      <p:bldP spid="120" grpId="0"/>
      <p:bldP spid="121" grpId="0"/>
      <p:bldP spid="122" grpId="0" animBg="1"/>
      <p:bldP spid="126" grpId="0"/>
      <p:bldP spid="127" grpId="0"/>
      <p:bldP spid="128" grpId="0" animBg="1"/>
      <p:bldP spid="132" grpId="0"/>
      <p:bldP spid="133" grpId="0"/>
      <p:bldP spid="134" grpId="0"/>
      <p:bldP spid="138" grpId="0"/>
      <p:bldP spid="139" grpId="0"/>
      <p:bldP spid="140" grpId="0" animBg="1"/>
      <p:bldP spid="146" grpId="0"/>
      <p:bldP spid="147" grpId="0"/>
      <p:bldP spid="148" grpId="0" animBg="1"/>
      <p:bldP spid="152" grpId="0"/>
      <p:bldP spid="153" grpId="0"/>
      <p:bldP spid="154" grpId="0" animBg="1"/>
      <p:bldP spid="157" grpId="0"/>
      <p:bldP spid="158" grpId="0"/>
      <p:bldP spid="159" grpId="0" animBg="1"/>
      <p:bldP spid="166" grpId="0"/>
      <p:bldP spid="167" grpId="0"/>
      <p:bldP spid="173" grpId="0"/>
      <p:bldP spid="174" grpId="0"/>
      <p:bldP spid="175" grpId="0" animBg="1"/>
      <p:bldP spid="176" grpId="0" animBg="1"/>
      <p:bldP spid="177" grpId="0" animBg="1"/>
      <p:bldP spid="178" grpId="0"/>
      <p:bldP spid="182" grpId="0"/>
      <p:bldP spid="185" grpId="0"/>
      <p:bldP spid="186" grpId="0"/>
      <p:bldP spid="187" grpId="0" animBg="1"/>
      <p:bldP spid="196" grpId="0"/>
      <p:bldP spid="197" grpId="0"/>
      <p:bldP spid="198" grpId="0" animBg="1"/>
      <p:bldP spid="203" grpId="0"/>
      <p:bldP spid="204" grpId="0"/>
      <p:bldP spid="205" grpId="0" animBg="1"/>
      <p:bldP spid="210" grpId="0"/>
      <p:bldP spid="211" grpId="0"/>
      <p:bldP spid="212" grpId="0" animBg="1"/>
      <p:bldP spid="218" grpId="0"/>
      <p:bldP spid="219" grpId="0"/>
      <p:bldP spid="220" grpId="0" animBg="1"/>
      <p:bldP spid="221" grpId="0" animBg="1"/>
      <p:bldP spid="225" grpId="0"/>
      <p:bldP spid="226" grpId="0"/>
      <p:bldP spid="227" grpId="0" animBg="1"/>
      <p:bldP spid="2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30352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spc="-35">
                <a:solidFill>
                  <a:srgbClr val="213063"/>
                </a:solidFill>
                <a:latin typeface="Arial"/>
                <a:cs typeface="Arial"/>
              </a:rPr>
              <a:t>Build Trust in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Quality must be designed into the system, not inspected at the end.</a:t>
            </a:r>
          </a:p>
        </p:txBody>
      </p:sp>
      <p:grpSp>
        <p:nvGrpSpPr>
          <p:cNvPr id="9" name="icon:shield"/>
          <p:cNvGrpSpPr/>
          <p:nvPr/>
        </p:nvGrpSpPr>
        <p:grpSpPr>
          <a:xfrm>
            <a:off x="11105662" y="543885"/>
            <a:ext cx="453542" cy="532912"/>
            <a:chOff x="11105662" y="543885"/>
            <a:chExt cx="453542" cy="532912"/>
          </a:xfrm>
        </p:grpSpPr>
        <p:sp>
          <p:nvSpPr>
            <p:cNvPr id="7" name="Freeform 6"/>
            <p:cNvSpPr/>
            <p:nvPr/>
          </p:nvSpPr>
          <p:spPr>
            <a:xfrm>
              <a:off x="11105662" y="543885"/>
              <a:ext cx="453542" cy="532912"/>
            </a:xfrm>
            <a:custGeom>
              <a:avLst/>
              <a:gdLst/>
              <a:ahLst/>
              <a:cxnLst/>
              <a:rect l="l" t="t" r="r" b="b"/>
              <a:pathLst>
                <a:path w="453542" h="532912">
                  <a:moveTo>
                    <a:pt x="0" y="0"/>
                  </a:moveTo>
                  <a:lnTo>
                    <a:pt x="453542" y="0"/>
                  </a:lnTo>
                  <a:lnTo>
                    <a:pt x="453542" y="289133"/>
                  </a:lnTo>
                  <a:lnTo>
                    <a:pt x="226771" y="532912"/>
                  </a:lnTo>
                  <a:lnTo>
                    <a:pt x="0" y="289133"/>
                  </a:lnTo>
                  <a:close/>
                </a:path>
              </a:pathLst>
            </a:custGeom>
            <a:noFill/>
            <a:ln w="19050">
              <a:solidFill>
                <a:srgbClr val="C9C6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Freeform 7"/>
            <p:cNvSpPr/>
            <p:nvPr/>
          </p:nvSpPr>
          <p:spPr>
            <a:xfrm>
              <a:off x="11236055" y="713963"/>
              <a:ext cx="204094" cy="249448"/>
            </a:xfrm>
            <a:custGeom>
              <a:avLst/>
              <a:gdLst/>
              <a:ahLst/>
              <a:cxnLst/>
              <a:rect l="l" t="t" r="r" b="b"/>
              <a:pathLst>
                <a:path w="204094" h="249448">
                  <a:moveTo>
                    <a:pt x="0" y="90708"/>
                  </a:moveTo>
                  <a:lnTo>
                    <a:pt x="68032" y="170078"/>
                  </a:lnTo>
                  <a:lnTo>
                    <a:pt x="204094" y="0"/>
                  </a:lnTo>
                  <a:lnTo>
                    <a:pt x="204094" y="79370"/>
                  </a:lnTo>
                  <a:lnTo>
                    <a:pt x="68032" y="249448"/>
                  </a:lnTo>
                  <a:lnTo>
                    <a:pt x="0" y="170078"/>
                  </a:lnTo>
                  <a:close/>
                </a:path>
              </a:pathLst>
            </a:cu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" name="Rectangle 9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04 / 09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572768"/>
            <a:ext cx="31272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1572768"/>
            <a:ext cx="3127248" cy="4754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1773936"/>
            <a:ext cx="2688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90">
                <a:solidFill>
                  <a:srgbClr val="213063"/>
                </a:solidFill>
                <a:latin typeface="Arial"/>
                <a:cs typeface="Arial"/>
              </a:rPr>
              <a:t>Dimensions of trusted data</a:t>
            </a:r>
          </a:p>
        </p:txBody>
      </p:sp>
      <p:grpSp>
        <p:nvGrpSpPr>
          <p:cNvPr id="21" name="chip:check"/>
          <p:cNvGrpSpPr/>
          <p:nvPr/>
        </p:nvGrpSpPr>
        <p:grpSpPr>
          <a:xfrm>
            <a:off x="1901952" y="2130551"/>
            <a:ext cx="420624" cy="420624"/>
            <a:chOff x="1901952" y="2130551"/>
            <a:chExt cx="420624" cy="420624"/>
          </a:xfrm>
        </p:grpSpPr>
        <p:sp>
          <p:nvSpPr>
            <p:cNvPr id="19" name="Oval 18"/>
            <p:cNvSpPr/>
            <p:nvPr/>
          </p:nvSpPr>
          <p:spPr>
            <a:xfrm>
              <a:off x="1901952" y="2130551"/>
              <a:ext cx="420624" cy="420624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019726" y="2252532"/>
              <a:ext cx="180869" cy="185075"/>
            </a:xfrm>
            <a:custGeom>
              <a:avLst/>
              <a:gdLst/>
              <a:ahLst/>
              <a:cxnLst/>
              <a:rect l="l" t="t" r="r" b="b"/>
              <a:pathLst>
                <a:path w="180869" h="185075">
                  <a:moveTo>
                    <a:pt x="0" y="84125"/>
                  </a:moveTo>
                  <a:lnTo>
                    <a:pt x="46269" y="130394"/>
                  </a:lnTo>
                  <a:lnTo>
                    <a:pt x="180869" y="0"/>
                  </a:lnTo>
                  <a:lnTo>
                    <a:pt x="180869" y="54682"/>
                  </a:lnTo>
                  <a:lnTo>
                    <a:pt x="46269" y="185075"/>
                  </a:lnTo>
                  <a:lnTo>
                    <a:pt x="0" y="1388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453896" y="2587751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 cap="all" spc="40">
                <a:solidFill>
                  <a:srgbClr val="374EA2"/>
                </a:solidFill>
                <a:latin typeface="Arial"/>
                <a:cs typeface="Arial"/>
              </a:rPr>
              <a:t>Validity</a:t>
            </a:r>
          </a:p>
        </p:txBody>
      </p:sp>
      <p:grpSp>
        <p:nvGrpSpPr>
          <p:cNvPr id="28" name="chip:target"/>
          <p:cNvGrpSpPr/>
          <p:nvPr/>
        </p:nvGrpSpPr>
        <p:grpSpPr>
          <a:xfrm>
            <a:off x="2788872" y="2642615"/>
            <a:ext cx="420624" cy="420624"/>
            <a:chOff x="2788872" y="2642615"/>
            <a:chExt cx="420624" cy="420624"/>
          </a:xfrm>
        </p:grpSpPr>
        <p:sp>
          <p:nvSpPr>
            <p:cNvPr id="23" name="Oval 22"/>
            <p:cNvSpPr/>
            <p:nvPr/>
          </p:nvSpPr>
          <p:spPr>
            <a:xfrm>
              <a:off x="2788872" y="2642615"/>
              <a:ext cx="420624" cy="420624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7" name="icon:target"/>
            <p:cNvGrpSpPr/>
            <p:nvPr/>
          </p:nvGrpSpPr>
          <p:grpSpPr>
            <a:xfrm>
              <a:off x="2894028" y="2747771"/>
              <a:ext cx="210312" cy="210312"/>
              <a:chOff x="2894028" y="2747771"/>
              <a:chExt cx="210312" cy="21031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94028" y="2747771"/>
                <a:ext cx="210312" cy="210312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2936091" y="2789834"/>
                <a:ext cx="126187" cy="126187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2976050" y="2829793"/>
                <a:ext cx="46268" cy="4626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9" name="TextBox 28"/>
          <p:cNvSpPr txBox="1"/>
          <p:nvPr/>
        </p:nvSpPr>
        <p:spPr>
          <a:xfrm>
            <a:off x="2340816" y="3099815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 cap="all" spc="40">
                <a:solidFill>
                  <a:srgbClr val="1CABE2"/>
                </a:solidFill>
                <a:latin typeface="Arial"/>
                <a:cs typeface="Arial"/>
              </a:rPr>
              <a:t>Accuracy</a:t>
            </a:r>
          </a:p>
        </p:txBody>
      </p:sp>
      <p:grpSp>
        <p:nvGrpSpPr>
          <p:cNvPr id="39" name="chip:checklist"/>
          <p:cNvGrpSpPr/>
          <p:nvPr/>
        </p:nvGrpSpPr>
        <p:grpSpPr>
          <a:xfrm>
            <a:off x="2788872" y="3666743"/>
            <a:ext cx="420624" cy="420624"/>
            <a:chOff x="2788872" y="3666743"/>
            <a:chExt cx="420624" cy="420624"/>
          </a:xfrm>
        </p:grpSpPr>
        <p:sp>
          <p:nvSpPr>
            <p:cNvPr id="30" name="Oval 29"/>
            <p:cNvSpPr/>
            <p:nvPr/>
          </p:nvSpPr>
          <p:spPr>
            <a:xfrm>
              <a:off x="2788872" y="3666743"/>
              <a:ext cx="420624" cy="420624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38" name="icon:checklist"/>
            <p:cNvGrpSpPr/>
            <p:nvPr/>
          </p:nvGrpSpPr>
          <p:grpSpPr>
            <a:xfrm>
              <a:off x="2927678" y="3788724"/>
              <a:ext cx="143012" cy="185074"/>
              <a:chOff x="2927678" y="3788724"/>
              <a:chExt cx="143012" cy="185074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2927678" y="3788724"/>
                <a:ext cx="143012" cy="185074"/>
              </a:xfrm>
              <a:prstGeom prst="roundRect">
                <a:avLst>
                  <a:gd name="adj" fmla="val 8823"/>
                </a:avLst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Freeform 31"/>
              <p:cNvSpPr/>
              <p:nvPr/>
            </p:nvSpPr>
            <p:spPr>
              <a:xfrm>
                <a:off x="2952916" y="3822374"/>
                <a:ext cx="42062" cy="46269"/>
              </a:xfrm>
              <a:custGeom>
                <a:avLst/>
                <a:gdLst/>
                <a:ahLst/>
                <a:cxnLst/>
                <a:rect l="l" t="t" r="r" b="b"/>
                <a:pathLst>
                  <a:path w="42062" h="46269">
                    <a:moveTo>
                      <a:pt x="0" y="16825"/>
                    </a:moveTo>
                    <a:lnTo>
                      <a:pt x="14722" y="31547"/>
                    </a:lnTo>
                    <a:lnTo>
                      <a:pt x="42062" y="0"/>
                    </a:lnTo>
                    <a:lnTo>
                      <a:pt x="42062" y="14722"/>
                    </a:lnTo>
                    <a:lnTo>
                      <a:pt x="14722" y="46269"/>
                    </a:lnTo>
                    <a:lnTo>
                      <a:pt x="0" y="315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009700" y="3841302"/>
                <a:ext cx="46268" cy="94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2952916" y="3864437"/>
                <a:ext cx="42062" cy="46268"/>
              </a:xfrm>
              <a:custGeom>
                <a:avLst/>
                <a:gdLst/>
                <a:ahLst/>
                <a:cxnLst/>
                <a:rect l="l" t="t" r="r" b="b"/>
                <a:pathLst>
                  <a:path w="42062" h="46268">
                    <a:moveTo>
                      <a:pt x="0" y="16825"/>
                    </a:moveTo>
                    <a:lnTo>
                      <a:pt x="14722" y="31547"/>
                    </a:lnTo>
                    <a:lnTo>
                      <a:pt x="42062" y="0"/>
                    </a:lnTo>
                    <a:lnTo>
                      <a:pt x="42062" y="14722"/>
                    </a:lnTo>
                    <a:lnTo>
                      <a:pt x="14722" y="46268"/>
                    </a:lnTo>
                    <a:lnTo>
                      <a:pt x="0" y="315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3009700" y="3883365"/>
                <a:ext cx="46268" cy="94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2952916" y="3906499"/>
                <a:ext cx="42062" cy="46269"/>
              </a:xfrm>
              <a:custGeom>
                <a:avLst/>
                <a:gdLst/>
                <a:ahLst/>
                <a:cxnLst/>
                <a:rect l="l" t="t" r="r" b="b"/>
                <a:pathLst>
                  <a:path w="42062" h="46269">
                    <a:moveTo>
                      <a:pt x="0" y="16825"/>
                    </a:moveTo>
                    <a:lnTo>
                      <a:pt x="14722" y="31547"/>
                    </a:lnTo>
                    <a:lnTo>
                      <a:pt x="42062" y="0"/>
                    </a:lnTo>
                    <a:lnTo>
                      <a:pt x="42062" y="14722"/>
                    </a:lnTo>
                    <a:lnTo>
                      <a:pt x="14722" y="46269"/>
                    </a:lnTo>
                    <a:lnTo>
                      <a:pt x="0" y="315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3009700" y="3925427"/>
                <a:ext cx="46268" cy="94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40" name="TextBox 39"/>
          <p:cNvSpPr txBox="1"/>
          <p:nvPr/>
        </p:nvSpPr>
        <p:spPr>
          <a:xfrm>
            <a:off x="2340816" y="4123944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 cap="all" spc="40">
                <a:solidFill>
                  <a:srgbClr val="0E8F9E"/>
                </a:solidFill>
                <a:latin typeface="Arial"/>
                <a:cs typeface="Arial"/>
              </a:rPr>
              <a:t>Completeness</a:t>
            </a:r>
          </a:p>
        </p:txBody>
      </p:sp>
      <p:grpSp>
        <p:nvGrpSpPr>
          <p:cNvPr id="45" name="chip:puzzle"/>
          <p:cNvGrpSpPr/>
          <p:nvPr/>
        </p:nvGrpSpPr>
        <p:grpSpPr>
          <a:xfrm>
            <a:off x="1901952" y="4178807"/>
            <a:ext cx="420624" cy="420624"/>
            <a:chOff x="1901952" y="4178807"/>
            <a:chExt cx="420624" cy="420624"/>
          </a:xfrm>
        </p:grpSpPr>
        <p:sp>
          <p:nvSpPr>
            <p:cNvPr id="41" name="Oval 40"/>
            <p:cNvSpPr/>
            <p:nvPr/>
          </p:nvSpPr>
          <p:spPr>
            <a:xfrm>
              <a:off x="1901952" y="4178807"/>
              <a:ext cx="420624" cy="420624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44" name="icon:puzzle"/>
            <p:cNvGrpSpPr/>
            <p:nvPr/>
          </p:nvGrpSpPr>
          <p:grpSpPr>
            <a:xfrm>
              <a:off x="2023932" y="4300788"/>
              <a:ext cx="176663" cy="176663"/>
              <a:chOff x="2023932" y="4300788"/>
              <a:chExt cx="176663" cy="176663"/>
            </a:xfrm>
          </p:grpSpPr>
          <p:sp>
            <p:nvSpPr>
              <p:cNvPr id="42" name="Freeform 41"/>
              <p:cNvSpPr/>
              <p:nvPr/>
            </p:nvSpPr>
            <p:spPr>
              <a:xfrm>
                <a:off x="2023932" y="4300788"/>
                <a:ext cx="176663" cy="176663"/>
              </a:xfrm>
              <a:custGeom>
                <a:avLst/>
                <a:gdLst/>
                <a:ahLst/>
                <a:cxnLst/>
                <a:rect l="l" t="t" r="r" b="b"/>
                <a:pathLst>
                  <a:path w="176663" h="176663">
                    <a:moveTo>
                      <a:pt x="0" y="0"/>
                    </a:moveTo>
                    <a:lnTo>
                      <a:pt x="100950" y="0"/>
                    </a:lnTo>
                    <a:lnTo>
                      <a:pt x="100950" y="29444"/>
                    </a:lnTo>
                    <a:lnTo>
                      <a:pt x="130394" y="29444"/>
                    </a:lnTo>
                    <a:lnTo>
                      <a:pt x="130394" y="0"/>
                    </a:lnTo>
                    <a:lnTo>
                      <a:pt x="176663" y="0"/>
                    </a:lnTo>
                    <a:lnTo>
                      <a:pt x="176663" y="176663"/>
                    </a:lnTo>
                    <a:lnTo>
                      <a:pt x="0" y="176663"/>
                    </a:lnTo>
                    <a:close/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2112264" y="4363882"/>
                <a:ext cx="50474" cy="5047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46" name="TextBox 45"/>
          <p:cNvSpPr txBox="1"/>
          <p:nvPr/>
        </p:nvSpPr>
        <p:spPr>
          <a:xfrm>
            <a:off x="1453896" y="4636008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 cap="all" spc="40">
                <a:solidFill>
                  <a:srgbClr val="00833D"/>
                </a:solidFill>
                <a:latin typeface="Arial"/>
                <a:cs typeface="Arial"/>
              </a:rPr>
              <a:t>Consistency</a:t>
            </a:r>
          </a:p>
        </p:txBody>
      </p:sp>
      <p:grpSp>
        <p:nvGrpSpPr>
          <p:cNvPr id="52" name="chip:clock"/>
          <p:cNvGrpSpPr/>
          <p:nvPr/>
        </p:nvGrpSpPr>
        <p:grpSpPr>
          <a:xfrm>
            <a:off x="1015031" y="3666743"/>
            <a:ext cx="420624" cy="420624"/>
            <a:chOff x="1015031" y="3666743"/>
            <a:chExt cx="420624" cy="420624"/>
          </a:xfrm>
        </p:grpSpPr>
        <p:sp>
          <p:nvSpPr>
            <p:cNvPr id="47" name="Oval 46"/>
            <p:cNvSpPr/>
            <p:nvPr/>
          </p:nvSpPr>
          <p:spPr>
            <a:xfrm>
              <a:off x="1015031" y="3666743"/>
              <a:ext cx="420624" cy="420624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51" name="icon:clock"/>
            <p:cNvGrpSpPr/>
            <p:nvPr/>
          </p:nvGrpSpPr>
          <p:grpSpPr>
            <a:xfrm>
              <a:off x="1124393" y="3776106"/>
              <a:ext cx="201899" cy="201899"/>
              <a:chOff x="1124393" y="3776106"/>
              <a:chExt cx="201899" cy="201899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1124393" y="3776106"/>
                <a:ext cx="201899" cy="201899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1219033" y="3805549"/>
                <a:ext cx="12618" cy="799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1221136" y="3872849"/>
                <a:ext cx="63093" cy="126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566975" y="4123944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 cap="all" spc="40">
                <a:solidFill>
                  <a:srgbClr val="F26A21"/>
                </a:solidFill>
                <a:latin typeface="Arial"/>
                <a:cs typeface="Arial"/>
              </a:rPr>
              <a:t>Timeliness</a:t>
            </a:r>
          </a:p>
        </p:txBody>
      </p:sp>
      <p:grpSp>
        <p:nvGrpSpPr>
          <p:cNvPr id="56" name="chip:shieldcheck"/>
          <p:cNvGrpSpPr/>
          <p:nvPr/>
        </p:nvGrpSpPr>
        <p:grpSpPr>
          <a:xfrm>
            <a:off x="1015031" y="2642615"/>
            <a:ext cx="420624" cy="420624"/>
            <a:chOff x="1015031" y="2642615"/>
            <a:chExt cx="420624" cy="420624"/>
          </a:xfrm>
        </p:grpSpPr>
        <p:sp>
          <p:nvSpPr>
            <p:cNvPr id="54" name="Oval 53"/>
            <p:cNvSpPr/>
            <p:nvPr/>
          </p:nvSpPr>
          <p:spPr>
            <a:xfrm>
              <a:off x="1015031" y="2642615"/>
              <a:ext cx="420624" cy="420624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5" name="Freeform 54"/>
            <p:cNvSpPr/>
            <p:nvPr/>
          </p:nvSpPr>
          <p:spPr>
            <a:xfrm>
              <a:off x="1137012" y="2760390"/>
              <a:ext cx="176662" cy="193487"/>
            </a:xfrm>
            <a:custGeom>
              <a:avLst/>
              <a:gdLst/>
              <a:ahLst/>
              <a:cxnLst/>
              <a:rect l="l" t="t" r="r" b="b"/>
              <a:pathLst>
                <a:path w="176662" h="193487">
                  <a:moveTo>
                    <a:pt x="0" y="0"/>
                  </a:moveTo>
                  <a:lnTo>
                    <a:pt x="176662" y="0"/>
                  </a:lnTo>
                  <a:lnTo>
                    <a:pt x="176662" y="105156"/>
                  </a:lnTo>
                  <a:lnTo>
                    <a:pt x="88331" y="193487"/>
                  </a:lnTo>
                  <a:lnTo>
                    <a:pt x="0" y="105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566975" y="3099815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 cap="all" spc="40">
                <a:solidFill>
                  <a:srgbClr val="6A1E74"/>
                </a:solidFill>
                <a:latin typeface="Arial"/>
                <a:cs typeface="Arial"/>
              </a:rPr>
              <a:t>Reliability</a:t>
            </a:r>
          </a:p>
        </p:txBody>
      </p:sp>
      <p:sp>
        <p:nvSpPr>
          <p:cNvPr id="58" name="Oval 57"/>
          <p:cNvSpPr/>
          <p:nvPr/>
        </p:nvSpPr>
        <p:spPr>
          <a:xfrm>
            <a:off x="1572768" y="2825496"/>
            <a:ext cx="1078992" cy="1078992"/>
          </a:xfrm>
          <a:prstGeom prst="ellipse">
            <a:avLst/>
          </a:prstGeom>
          <a:solidFill>
            <a:srgbClr val="F3F1EE"/>
          </a:solidFill>
          <a:ln w="12700">
            <a:solidFill>
              <a:srgbClr val="213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545336" y="3054096"/>
            <a:ext cx="113385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spc="70">
                <a:solidFill>
                  <a:srgbClr val="213063"/>
                </a:solidFill>
                <a:latin typeface="Arial"/>
                <a:cs typeface="Arial"/>
              </a:rPr>
              <a:t>TRUSTED DATA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5B5B5E"/>
                </a:solidFill>
                <a:latin typeface="Arial"/>
                <a:cs typeface="Arial"/>
              </a:rPr>
              <a:t>Better decisions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5B5B5E"/>
                </a:solidFill>
                <a:latin typeface="Arial"/>
                <a:cs typeface="Arial"/>
              </a:rPr>
              <a:t>Better results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0" y="1572768"/>
            <a:ext cx="2424165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931920" y="1572768"/>
            <a:ext cx="2424165" cy="475488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Freeform 61"/>
          <p:cNvSpPr/>
          <p:nvPr/>
        </p:nvSpPr>
        <p:spPr>
          <a:xfrm>
            <a:off x="4127601" y="1689811"/>
            <a:ext cx="230429" cy="252374"/>
          </a:xfrm>
          <a:custGeom>
            <a:avLst/>
            <a:gdLst/>
            <a:ahLst/>
            <a:cxnLst/>
            <a:rect l="l" t="t" r="r" b="b"/>
            <a:pathLst>
              <a:path w="230429" h="252374">
                <a:moveTo>
                  <a:pt x="0" y="0"/>
                </a:moveTo>
                <a:lnTo>
                  <a:pt x="230429" y="0"/>
                </a:lnTo>
                <a:lnTo>
                  <a:pt x="230429" y="137160"/>
                </a:lnTo>
                <a:lnTo>
                  <a:pt x="115215" y="252374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62272" y="1572768"/>
            <a:ext cx="176579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1" i="0" cap="all" spc="80">
                <a:solidFill>
                  <a:srgbClr val="FFFFFF"/>
                </a:solidFill>
                <a:latin typeface="Arial"/>
                <a:cs typeface="Arial"/>
              </a:rPr>
              <a:t>1.  Prevent</a:t>
            </a:r>
          </a:p>
        </p:txBody>
      </p:sp>
      <p:grpSp>
        <p:nvGrpSpPr>
          <p:cNvPr id="68" name="icon:doc"/>
          <p:cNvGrpSpPr/>
          <p:nvPr/>
        </p:nvGrpSpPr>
        <p:grpSpPr>
          <a:xfrm>
            <a:off x="4146986" y="2278776"/>
            <a:ext cx="144841" cy="201899"/>
            <a:chOff x="4146986" y="2278776"/>
            <a:chExt cx="144841" cy="201899"/>
          </a:xfrm>
        </p:grpSpPr>
        <p:sp>
          <p:nvSpPr>
            <p:cNvPr id="64" name="Freeform 63"/>
            <p:cNvSpPr/>
            <p:nvPr/>
          </p:nvSpPr>
          <p:spPr>
            <a:xfrm>
              <a:off x="4146986" y="2278776"/>
              <a:ext cx="144841" cy="201899"/>
            </a:xfrm>
            <a:custGeom>
              <a:avLst/>
              <a:gdLst/>
              <a:ahLst/>
              <a:cxnLst/>
              <a:rect l="l" t="t" r="r" b="b"/>
              <a:pathLst>
                <a:path w="144841" h="201899">
                  <a:moveTo>
                    <a:pt x="0" y="0"/>
                  </a:moveTo>
                  <a:lnTo>
                    <a:pt x="100950" y="0"/>
                  </a:lnTo>
                  <a:lnTo>
                    <a:pt x="144841" y="48280"/>
                  </a:lnTo>
                  <a:lnTo>
                    <a:pt x="144841" y="201899"/>
                  </a:lnTo>
                  <a:lnTo>
                    <a:pt x="0" y="201899"/>
                  </a:lnTo>
                  <a:close/>
                </a:path>
              </a:pathLst>
            </a:cu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173321" y="2357780"/>
              <a:ext cx="87782" cy="9875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173321" y="2392893"/>
              <a:ext cx="87782" cy="9875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173321" y="2428006"/>
              <a:ext cx="61447" cy="9875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4443983" y="2139696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Clear indicator reference sheets and metadata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96511" y="2656332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81" name="icon:calendar"/>
          <p:cNvGrpSpPr/>
          <p:nvPr/>
        </p:nvGrpSpPr>
        <p:grpSpPr>
          <a:xfrm>
            <a:off x="4120652" y="2795412"/>
            <a:ext cx="193121" cy="193120"/>
            <a:chOff x="4120652" y="2795412"/>
            <a:chExt cx="193121" cy="193120"/>
          </a:xfrm>
        </p:grpSpPr>
        <p:sp>
          <p:nvSpPr>
            <p:cNvPr id="71" name="Rounded Rectangle 70"/>
            <p:cNvSpPr/>
            <p:nvPr/>
          </p:nvSpPr>
          <p:spPr>
            <a:xfrm>
              <a:off x="4120652" y="2821746"/>
              <a:ext cx="193121" cy="166786"/>
            </a:xfrm>
            <a:prstGeom prst="roundRect">
              <a:avLst>
                <a:gd name="adj" fmla="val 6578"/>
              </a:avLst>
            </a:pr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20652" y="2821746"/>
              <a:ext cx="193121" cy="3511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155765" y="2795412"/>
              <a:ext cx="17556" cy="3950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61103" y="2795412"/>
              <a:ext cx="17556" cy="3950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151375" y="2883194"/>
              <a:ext cx="26334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195267" y="2883194"/>
              <a:ext cx="26334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239158" y="2883194"/>
              <a:ext cx="26334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151375" y="2922696"/>
              <a:ext cx="26334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195267" y="2922696"/>
              <a:ext cx="26334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4239158" y="2922696"/>
              <a:ext cx="26334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4443983" y="2656332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Standard definitions, tools and reporting calendars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96511" y="3172968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0" name="icon:people"/>
          <p:cNvGrpSpPr/>
          <p:nvPr/>
        </p:nvGrpSpPr>
        <p:grpSpPr>
          <a:xfrm>
            <a:off x="4103095" y="3307659"/>
            <a:ext cx="228234" cy="179953"/>
            <a:chOff x="4103095" y="3307659"/>
            <a:chExt cx="228234" cy="179953"/>
          </a:xfrm>
        </p:grpSpPr>
        <p:sp>
          <p:nvSpPr>
            <p:cNvPr id="84" name="Oval 83"/>
            <p:cNvSpPr/>
            <p:nvPr/>
          </p:nvSpPr>
          <p:spPr>
            <a:xfrm>
              <a:off x="4107484" y="3325215"/>
              <a:ext cx="57058" cy="5705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5" name="Round Same Side Corner Rectangle 84"/>
            <p:cNvSpPr/>
            <p:nvPr/>
          </p:nvSpPr>
          <p:spPr>
            <a:xfrm>
              <a:off x="4103095" y="3391052"/>
              <a:ext cx="65836" cy="7461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6" name="Oval 85"/>
            <p:cNvSpPr/>
            <p:nvPr/>
          </p:nvSpPr>
          <p:spPr>
            <a:xfrm>
              <a:off x="4269882" y="3325215"/>
              <a:ext cx="57058" cy="5705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7" name="Round Same Side Corner Rectangle 86"/>
            <p:cNvSpPr/>
            <p:nvPr/>
          </p:nvSpPr>
          <p:spPr>
            <a:xfrm>
              <a:off x="4265493" y="3391052"/>
              <a:ext cx="65836" cy="7461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8" name="Oval 87"/>
            <p:cNvSpPr/>
            <p:nvPr/>
          </p:nvSpPr>
          <p:spPr>
            <a:xfrm>
              <a:off x="4179905" y="3307659"/>
              <a:ext cx="74615" cy="74615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9" name="Round Same Side Corner Rectangle 88"/>
            <p:cNvSpPr/>
            <p:nvPr/>
          </p:nvSpPr>
          <p:spPr>
            <a:xfrm>
              <a:off x="4166737" y="3391052"/>
              <a:ext cx="100949" cy="96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4443983" y="3172968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Training and certification of data producers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96511" y="3689604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9" name="icon:monitor"/>
          <p:cNvGrpSpPr/>
          <p:nvPr/>
        </p:nvGrpSpPr>
        <p:grpSpPr>
          <a:xfrm>
            <a:off x="4111873" y="3841851"/>
            <a:ext cx="210677" cy="186537"/>
            <a:chOff x="4111873" y="3841851"/>
            <a:chExt cx="210677" cy="186537"/>
          </a:xfrm>
        </p:grpSpPr>
        <p:sp>
          <p:nvSpPr>
            <p:cNvPr id="93" name="Rounded Rectangle 92"/>
            <p:cNvSpPr/>
            <p:nvPr/>
          </p:nvSpPr>
          <p:spPr>
            <a:xfrm>
              <a:off x="4111873" y="3841851"/>
              <a:ext cx="210677" cy="136062"/>
            </a:xfrm>
            <a:prstGeom prst="roundRect">
              <a:avLst>
                <a:gd name="adj" fmla="val 6451"/>
              </a:avLst>
            </a:pr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04045" y="3977914"/>
              <a:ext cx="26334" cy="3511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160154" y="4013027"/>
              <a:ext cx="114117" cy="1536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151375" y="3907688"/>
              <a:ext cx="21945" cy="48280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186488" y="3881353"/>
              <a:ext cx="21945" cy="74615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221601" y="3863797"/>
              <a:ext cx="21945" cy="92171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4443983" y="3689604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Digital validation rules and mandatory fields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096511" y="4206240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4" name="icon:person"/>
          <p:cNvGrpSpPr/>
          <p:nvPr/>
        </p:nvGrpSpPr>
        <p:grpSpPr>
          <a:xfrm>
            <a:off x="4138208" y="4345320"/>
            <a:ext cx="158008" cy="201898"/>
            <a:chOff x="4138208" y="4345320"/>
            <a:chExt cx="158008" cy="201898"/>
          </a:xfrm>
        </p:grpSpPr>
        <p:sp>
          <p:nvSpPr>
            <p:cNvPr id="102" name="Oval 101"/>
            <p:cNvSpPr/>
            <p:nvPr/>
          </p:nvSpPr>
          <p:spPr>
            <a:xfrm>
              <a:off x="4168932" y="4345320"/>
              <a:ext cx="96560" cy="96560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3" name="Round Same Side Corner Rectangle 102"/>
            <p:cNvSpPr/>
            <p:nvPr/>
          </p:nvSpPr>
          <p:spPr>
            <a:xfrm>
              <a:off x="4138208" y="4441880"/>
              <a:ext cx="158008" cy="1053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4443983" y="4206240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Clear accountability for every indicator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575541" y="1572768"/>
            <a:ext cx="2424165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575541" y="1572768"/>
            <a:ext cx="2424165" cy="47548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13" name="icon:searchbar"/>
          <p:cNvGrpSpPr/>
          <p:nvPr/>
        </p:nvGrpSpPr>
        <p:grpSpPr>
          <a:xfrm>
            <a:off x="6760250" y="1684324"/>
            <a:ext cx="192024" cy="263347"/>
            <a:chOff x="6760250" y="1684324"/>
            <a:chExt cx="192024" cy="263347"/>
          </a:xfrm>
        </p:grpSpPr>
        <p:sp>
          <p:nvSpPr>
            <p:cNvPr id="108" name="Oval 107"/>
            <p:cNvSpPr/>
            <p:nvPr/>
          </p:nvSpPr>
          <p:spPr>
            <a:xfrm>
              <a:off x="6760250" y="1684324"/>
              <a:ext cx="192024" cy="192024"/>
            </a:xfrm>
            <a:prstGeom prst="ellipse">
              <a:avLst/>
            </a:prstGeom>
            <a:noFill/>
            <a:ln w="158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9" name="Rectangle 108"/>
            <p:cNvSpPr/>
            <p:nvPr/>
          </p:nvSpPr>
          <p:spPr>
            <a:xfrm rot="18900000">
              <a:off x="6924842" y="1854403"/>
              <a:ext cx="27432" cy="932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6804141" y="1794052"/>
              <a:ext cx="19202" cy="493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6837060" y="1766620"/>
              <a:ext cx="19202" cy="768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6869978" y="1739188"/>
              <a:ext cx="19202" cy="1042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7105893" y="1572768"/>
            <a:ext cx="176579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1" i="0" cap="all" spc="80">
                <a:solidFill>
                  <a:srgbClr val="FFFFFF"/>
                </a:solidFill>
                <a:latin typeface="Arial"/>
                <a:cs typeface="Arial"/>
              </a:rPr>
              <a:t>2.  Detect</a:t>
            </a:r>
          </a:p>
        </p:txBody>
      </p:sp>
      <p:grpSp>
        <p:nvGrpSpPr>
          <p:cNvPr id="118" name="icon:warning"/>
          <p:cNvGrpSpPr/>
          <p:nvPr/>
        </p:nvGrpSpPr>
        <p:grpSpPr>
          <a:xfrm>
            <a:off x="6755495" y="2278776"/>
            <a:ext cx="210678" cy="188732"/>
            <a:chOff x="6755495" y="2278776"/>
            <a:chExt cx="210678" cy="188732"/>
          </a:xfrm>
        </p:grpSpPr>
        <p:sp>
          <p:nvSpPr>
            <p:cNvPr id="115" name="Freeform 114"/>
            <p:cNvSpPr/>
            <p:nvPr/>
          </p:nvSpPr>
          <p:spPr>
            <a:xfrm>
              <a:off x="6755495" y="2278776"/>
              <a:ext cx="210678" cy="188732"/>
            </a:xfrm>
            <a:custGeom>
              <a:avLst/>
              <a:gdLst/>
              <a:ahLst/>
              <a:cxnLst/>
              <a:rect l="l" t="t" r="r" b="b"/>
              <a:pathLst>
                <a:path w="210678" h="188732">
                  <a:moveTo>
                    <a:pt x="105339" y="0"/>
                  </a:moveTo>
                  <a:lnTo>
                    <a:pt x="210678" y="188732"/>
                  </a:lnTo>
                  <a:lnTo>
                    <a:pt x="0" y="188732"/>
                  </a:lnTo>
                  <a:close/>
                </a:path>
              </a:pathLst>
            </a:custGeom>
            <a:noFill/>
            <a:ln w="15875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6852056" y="2335834"/>
              <a:ext cx="17556" cy="7461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6852056" y="2425811"/>
              <a:ext cx="17556" cy="1975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7087605" y="2139696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Automated outlier and completeness checks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40133" y="2656332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4" name="icon:bulb"/>
          <p:cNvGrpSpPr/>
          <p:nvPr/>
        </p:nvGrpSpPr>
        <p:grpSpPr>
          <a:xfrm>
            <a:off x="6786219" y="2791023"/>
            <a:ext cx="149230" cy="186536"/>
            <a:chOff x="6786219" y="2791023"/>
            <a:chExt cx="149230" cy="186536"/>
          </a:xfrm>
        </p:grpSpPr>
        <p:sp>
          <p:nvSpPr>
            <p:cNvPr id="121" name="Oval 120"/>
            <p:cNvSpPr/>
            <p:nvPr/>
          </p:nvSpPr>
          <p:spPr>
            <a:xfrm>
              <a:off x="6786219" y="2791023"/>
              <a:ext cx="149230" cy="149230"/>
            </a:xfrm>
            <a:prstGeom prst="ellipse">
              <a:avLst/>
            </a:prstGeom>
            <a:noFill/>
            <a:ln w="15875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830110" y="2935864"/>
              <a:ext cx="61447" cy="1536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6836694" y="2962198"/>
              <a:ext cx="48280" cy="1536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7087605" y="2656332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Routine dashboard alerts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40133" y="3172968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1" name="icon:doc"/>
          <p:cNvGrpSpPr/>
          <p:nvPr/>
        </p:nvGrpSpPr>
        <p:grpSpPr>
          <a:xfrm>
            <a:off x="6790608" y="3312048"/>
            <a:ext cx="144841" cy="201899"/>
            <a:chOff x="6790608" y="3312048"/>
            <a:chExt cx="144841" cy="201899"/>
          </a:xfrm>
        </p:grpSpPr>
        <p:sp>
          <p:nvSpPr>
            <p:cNvPr id="127" name="Freeform 126"/>
            <p:cNvSpPr/>
            <p:nvPr/>
          </p:nvSpPr>
          <p:spPr>
            <a:xfrm>
              <a:off x="6790608" y="3312048"/>
              <a:ext cx="144841" cy="201899"/>
            </a:xfrm>
            <a:custGeom>
              <a:avLst/>
              <a:gdLst/>
              <a:ahLst/>
              <a:cxnLst/>
              <a:rect l="l" t="t" r="r" b="b"/>
              <a:pathLst>
                <a:path w="144841" h="201899">
                  <a:moveTo>
                    <a:pt x="0" y="0"/>
                  </a:moveTo>
                  <a:lnTo>
                    <a:pt x="100950" y="0"/>
                  </a:lnTo>
                  <a:lnTo>
                    <a:pt x="144841" y="48280"/>
                  </a:lnTo>
                  <a:lnTo>
                    <a:pt x="144841" y="201899"/>
                  </a:lnTo>
                  <a:lnTo>
                    <a:pt x="0" y="201899"/>
                  </a:lnTo>
                  <a:close/>
                </a:path>
              </a:pathLst>
            </a:custGeom>
            <a:noFill/>
            <a:ln w="15875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6816943" y="3391052"/>
              <a:ext cx="87782" cy="987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6816943" y="3426165"/>
              <a:ext cx="87782" cy="987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6816943" y="3461278"/>
              <a:ext cx="61447" cy="987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7087605" y="3172968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Source document verification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740133" y="3689604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6" name="icon:pin"/>
          <p:cNvGrpSpPr/>
          <p:nvPr/>
        </p:nvGrpSpPr>
        <p:grpSpPr>
          <a:xfrm>
            <a:off x="6786219" y="3824295"/>
            <a:ext cx="149230" cy="210677"/>
            <a:chOff x="6786219" y="3824295"/>
            <a:chExt cx="149230" cy="210677"/>
          </a:xfrm>
        </p:grpSpPr>
        <p:sp>
          <p:nvSpPr>
            <p:cNvPr id="134" name="Freeform 133"/>
            <p:cNvSpPr/>
            <p:nvPr/>
          </p:nvSpPr>
          <p:spPr>
            <a:xfrm>
              <a:off x="6786219" y="3824295"/>
              <a:ext cx="149230" cy="210677"/>
            </a:xfrm>
            <a:custGeom>
              <a:avLst/>
              <a:gdLst/>
              <a:ahLst/>
              <a:cxnLst/>
              <a:rect l="l" t="t" r="r" b="b"/>
              <a:pathLst>
                <a:path w="149230" h="210677">
                  <a:moveTo>
                    <a:pt x="74615" y="210677"/>
                  </a:moveTo>
                  <a:lnTo>
                    <a:pt x="0" y="83393"/>
                  </a:lnTo>
                  <a:lnTo>
                    <a:pt x="0" y="52669"/>
                  </a:lnTo>
                  <a:lnTo>
                    <a:pt x="74615" y="0"/>
                  </a:lnTo>
                  <a:lnTo>
                    <a:pt x="149230" y="52669"/>
                  </a:lnTo>
                  <a:lnTo>
                    <a:pt x="149230" y="83393"/>
                  </a:lnTo>
                  <a:close/>
                </a:path>
              </a:pathLst>
            </a:custGeom>
            <a:noFill/>
            <a:ln w="15875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/>
            <p:cNvSpPr/>
            <p:nvPr/>
          </p:nvSpPr>
          <p:spPr>
            <a:xfrm>
              <a:off x="6832305" y="3859408"/>
              <a:ext cx="57058" cy="57058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37" name="TextBox 136"/>
          <p:cNvSpPr txBox="1"/>
          <p:nvPr/>
        </p:nvSpPr>
        <p:spPr>
          <a:xfrm>
            <a:off x="7087605" y="3689604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Partner and district spot checks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740133" y="4206240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45" name="icon:network"/>
          <p:cNvGrpSpPr/>
          <p:nvPr/>
        </p:nvGrpSpPr>
        <p:grpSpPr>
          <a:xfrm>
            <a:off x="6759884" y="4340931"/>
            <a:ext cx="201899" cy="206288"/>
            <a:chOff x="6759884" y="4340931"/>
            <a:chExt cx="201899" cy="206288"/>
          </a:xfrm>
        </p:grpSpPr>
        <p:sp>
          <p:nvSpPr>
            <p:cNvPr id="139" name="Oval 138"/>
            <p:cNvSpPr/>
            <p:nvPr/>
          </p:nvSpPr>
          <p:spPr>
            <a:xfrm>
              <a:off x="6834499" y="4340931"/>
              <a:ext cx="52669" cy="52669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0" name="Oval 139"/>
            <p:cNvSpPr/>
            <p:nvPr/>
          </p:nvSpPr>
          <p:spPr>
            <a:xfrm>
              <a:off x="6759884" y="4494550"/>
              <a:ext cx="52669" cy="52669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1" name="Oval 140"/>
            <p:cNvSpPr/>
            <p:nvPr/>
          </p:nvSpPr>
          <p:spPr>
            <a:xfrm>
              <a:off x="6909114" y="4494550"/>
              <a:ext cx="52669" cy="52669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2" name="Rectangle 141"/>
            <p:cNvSpPr/>
            <p:nvPr/>
          </p:nvSpPr>
          <p:spPr>
            <a:xfrm rot="3480000">
              <a:off x="6816943" y="4393600"/>
              <a:ext cx="41696" cy="987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3" name="Rectangle 142"/>
            <p:cNvSpPr/>
            <p:nvPr/>
          </p:nvSpPr>
          <p:spPr>
            <a:xfrm rot="18120000">
              <a:off x="6865223" y="4393600"/>
              <a:ext cx="41696" cy="987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6812554" y="4516495"/>
              <a:ext cx="96560" cy="987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7087605" y="4206240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Triangulation with surveys, administrative systems and field monitoring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219163" y="1572768"/>
            <a:ext cx="2424165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9219163" y="1572768"/>
            <a:ext cx="2424165" cy="475488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2" name="icon:cycle"/>
          <p:cNvGrpSpPr/>
          <p:nvPr/>
        </p:nvGrpSpPr>
        <p:grpSpPr>
          <a:xfrm>
            <a:off x="9381926" y="1667865"/>
            <a:ext cx="296266" cy="285293"/>
            <a:chOff x="9381926" y="1667865"/>
            <a:chExt cx="296266" cy="285293"/>
          </a:xfrm>
        </p:grpSpPr>
        <p:sp>
          <p:nvSpPr>
            <p:cNvPr id="149" name="Donut 148"/>
            <p:cNvSpPr/>
            <p:nvPr/>
          </p:nvSpPr>
          <p:spPr>
            <a:xfrm>
              <a:off x="9409358" y="1689811"/>
              <a:ext cx="241401" cy="241401"/>
            </a:xfrm>
            <a:prstGeom prst="donut">
              <a:avLst>
                <a:gd name="adj" fmla="val 19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0" name="Freeform 149"/>
            <p:cNvSpPr/>
            <p:nvPr/>
          </p:nvSpPr>
          <p:spPr>
            <a:xfrm>
              <a:off x="9573950" y="1667865"/>
              <a:ext cx="104242" cy="120701"/>
            </a:xfrm>
            <a:custGeom>
              <a:avLst/>
              <a:gdLst/>
              <a:ahLst/>
              <a:cxnLst/>
              <a:rect l="l" t="t" r="r" b="b"/>
              <a:pathLst>
                <a:path w="104242" h="120701">
                  <a:moveTo>
                    <a:pt x="0" y="0"/>
                  </a:moveTo>
                  <a:lnTo>
                    <a:pt x="104242" y="60351"/>
                  </a:lnTo>
                  <a:lnTo>
                    <a:pt x="0" y="1207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1" name="Freeform 150"/>
            <p:cNvSpPr/>
            <p:nvPr/>
          </p:nvSpPr>
          <p:spPr>
            <a:xfrm>
              <a:off x="9381926" y="1832457"/>
              <a:ext cx="104242" cy="120701"/>
            </a:xfrm>
            <a:custGeom>
              <a:avLst/>
              <a:gdLst/>
              <a:ahLst/>
              <a:cxnLst/>
              <a:rect l="l" t="t" r="r" b="b"/>
              <a:pathLst>
                <a:path w="104242" h="120701">
                  <a:moveTo>
                    <a:pt x="104242" y="120701"/>
                  </a:moveTo>
                  <a:lnTo>
                    <a:pt x="0" y="60350"/>
                  </a:lnTo>
                  <a:lnTo>
                    <a:pt x="1042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9749515" y="1572768"/>
            <a:ext cx="1765797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80" b="1" i="0" cap="all" spc="80">
                <a:solidFill>
                  <a:srgbClr val="FFFFFF"/>
                </a:solidFill>
                <a:latin typeface="Arial"/>
                <a:cs typeface="Arial"/>
              </a:rPr>
              <a:t>3.  Correct and learn</a:t>
            </a:r>
          </a:p>
        </p:txBody>
      </p:sp>
      <p:grpSp>
        <p:nvGrpSpPr>
          <p:cNvPr id="161" name="icon:checklist"/>
          <p:cNvGrpSpPr/>
          <p:nvPr/>
        </p:nvGrpSpPr>
        <p:grpSpPr>
          <a:xfrm>
            <a:off x="9429841" y="2287554"/>
            <a:ext cx="149230" cy="193121"/>
            <a:chOff x="9429841" y="2287554"/>
            <a:chExt cx="149230" cy="193121"/>
          </a:xfrm>
        </p:grpSpPr>
        <p:sp>
          <p:nvSpPr>
            <p:cNvPr id="154" name="Rounded Rectangle 153"/>
            <p:cNvSpPr/>
            <p:nvPr/>
          </p:nvSpPr>
          <p:spPr>
            <a:xfrm>
              <a:off x="9429841" y="2287554"/>
              <a:ext cx="149230" cy="193121"/>
            </a:xfrm>
            <a:prstGeom prst="roundRect">
              <a:avLst>
                <a:gd name="adj" fmla="val 8823"/>
              </a:avLst>
            </a:prstGeom>
            <a:noFill/>
            <a:ln w="15875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9456176" y="2322667"/>
              <a:ext cx="43891" cy="48280"/>
            </a:xfrm>
            <a:custGeom>
              <a:avLst/>
              <a:gdLst/>
              <a:ahLst/>
              <a:cxnLst/>
              <a:rect l="l" t="t" r="r" b="b"/>
              <a:pathLst>
                <a:path w="43891" h="48280">
                  <a:moveTo>
                    <a:pt x="0" y="17556"/>
                  </a:moveTo>
                  <a:lnTo>
                    <a:pt x="15362" y="32918"/>
                  </a:lnTo>
                  <a:lnTo>
                    <a:pt x="43891" y="0"/>
                  </a:lnTo>
                  <a:lnTo>
                    <a:pt x="43891" y="15362"/>
                  </a:lnTo>
                  <a:lnTo>
                    <a:pt x="15362" y="48280"/>
                  </a:lnTo>
                  <a:lnTo>
                    <a:pt x="0" y="32918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9515429" y="2342418"/>
              <a:ext cx="48280" cy="987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9456176" y="2366558"/>
              <a:ext cx="43891" cy="48280"/>
            </a:xfrm>
            <a:custGeom>
              <a:avLst/>
              <a:gdLst/>
              <a:ahLst/>
              <a:cxnLst/>
              <a:rect l="l" t="t" r="r" b="b"/>
              <a:pathLst>
                <a:path w="43891" h="48280">
                  <a:moveTo>
                    <a:pt x="0" y="17557"/>
                  </a:moveTo>
                  <a:lnTo>
                    <a:pt x="15362" y="32919"/>
                  </a:lnTo>
                  <a:lnTo>
                    <a:pt x="43891" y="0"/>
                  </a:lnTo>
                  <a:lnTo>
                    <a:pt x="43891" y="15362"/>
                  </a:lnTo>
                  <a:lnTo>
                    <a:pt x="15362" y="48280"/>
                  </a:lnTo>
                  <a:lnTo>
                    <a:pt x="0" y="32919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9515429" y="2386309"/>
              <a:ext cx="48280" cy="987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9456176" y="2410449"/>
              <a:ext cx="43891" cy="48281"/>
            </a:xfrm>
            <a:custGeom>
              <a:avLst/>
              <a:gdLst/>
              <a:ahLst/>
              <a:cxnLst/>
              <a:rect l="l" t="t" r="r" b="b"/>
              <a:pathLst>
                <a:path w="43891" h="48281">
                  <a:moveTo>
                    <a:pt x="0" y="17557"/>
                  </a:moveTo>
                  <a:lnTo>
                    <a:pt x="15362" y="32919"/>
                  </a:lnTo>
                  <a:lnTo>
                    <a:pt x="43891" y="0"/>
                  </a:lnTo>
                  <a:lnTo>
                    <a:pt x="43891" y="15362"/>
                  </a:lnTo>
                  <a:lnTo>
                    <a:pt x="15362" y="48281"/>
                  </a:lnTo>
                  <a:lnTo>
                    <a:pt x="0" y="32919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9515429" y="2430200"/>
              <a:ext cx="48280" cy="987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62" name="TextBox 161"/>
          <p:cNvSpPr txBox="1"/>
          <p:nvPr/>
        </p:nvSpPr>
        <p:spPr>
          <a:xfrm>
            <a:off x="9731227" y="2139696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Data quality assessment findings documented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383755" y="2656332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69" name="icon:clipboard"/>
          <p:cNvGrpSpPr/>
          <p:nvPr/>
        </p:nvGrpSpPr>
        <p:grpSpPr>
          <a:xfrm>
            <a:off x="9429841" y="2786634"/>
            <a:ext cx="149230" cy="210677"/>
            <a:chOff x="9429841" y="2786634"/>
            <a:chExt cx="149230" cy="210677"/>
          </a:xfrm>
        </p:grpSpPr>
        <p:sp>
          <p:nvSpPr>
            <p:cNvPr id="164" name="Rounded Rectangle 163"/>
            <p:cNvSpPr/>
            <p:nvPr/>
          </p:nvSpPr>
          <p:spPr>
            <a:xfrm>
              <a:off x="9429841" y="2804190"/>
              <a:ext cx="149230" cy="193121"/>
            </a:xfrm>
            <a:prstGeom prst="roundRect">
              <a:avLst>
                <a:gd name="adj" fmla="val 8823"/>
              </a:avLst>
            </a:prstGeom>
            <a:noFill/>
            <a:ln w="15875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9469343" y="2786634"/>
              <a:ext cx="70225" cy="35112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9464954" y="2870027"/>
              <a:ext cx="79004" cy="987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9464954" y="2905140"/>
              <a:ext cx="79004" cy="987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9464954" y="2940253"/>
              <a:ext cx="79004" cy="9875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70" name="TextBox 169"/>
          <p:cNvSpPr txBox="1"/>
          <p:nvPr/>
        </p:nvSpPr>
        <p:spPr>
          <a:xfrm>
            <a:off x="9731227" y="2656332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Corrective action plan with owner and deadline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383755" y="3172968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2" name="Freeform 171"/>
          <p:cNvSpPr/>
          <p:nvPr/>
        </p:nvSpPr>
        <p:spPr>
          <a:xfrm>
            <a:off x="9407895" y="3320826"/>
            <a:ext cx="188733" cy="193121"/>
          </a:xfrm>
          <a:custGeom>
            <a:avLst/>
            <a:gdLst/>
            <a:ahLst/>
            <a:cxnLst/>
            <a:rect l="l" t="t" r="r" b="b"/>
            <a:pathLst>
              <a:path w="188733" h="193121">
                <a:moveTo>
                  <a:pt x="0" y="87782"/>
                </a:moveTo>
                <a:lnTo>
                  <a:pt x="48281" y="136063"/>
                </a:lnTo>
                <a:lnTo>
                  <a:pt x="188733" y="0"/>
                </a:lnTo>
                <a:lnTo>
                  <a:pt x="188733" y="57059"/>
                </a:lnTo>
                <a:lnTo>
                  <a:pt x="48281" y="193121"/>
                </a:lnTo>
                <a:lnTo>
                  <a:pt x="0" y="144841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9731227" y="3172968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Follow up verification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383755" y="3689604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Freeform 174"/>
          <p:cNvSpPr/>
          <p:nvPr/>
        </p:nvSpPr>
        <p:spPr>
          <a:xfrm>
            <a:off x="9403506" y="3855018"/>
            <a:ext cx="188732" cy="175565"/>
          </a:xfrm>
          <a:custGeom>
            <a:avLst/>
            <a:gdLst/>
            <a:ahLst/>
            <a:cxnLst/>
            <a:rect l="l" t="t" r="r" b="b"/>
            <a:pathLst>
              <a:path w="188732" h="175565">
                <a:moveTo>
                  <a:pt x="0" y="140452"/>
                </a:moveTo>
                <a:lnTo>
                  <a:pt x="70226" y="61448"/>
                </a:lnTo>
                <a:lnTo>
                  <a:pt x="114117" y="105339"/>
                </a:lnTo>
                <a:lnTo>
                  <a:pt x="188732" y="0"/>
                </a:lnTo>
                <a:lnTo>
                  <a:pt x="188732" y="57059"/>
                </a:lnTo>
                <a:lnTo>
                  <a:pt x="114117" y="162398"/>
                </a:lnTo>
                <a:lnTo>
                  <a:pt x="70226" y="118507"/>
                </a:lnTo>
                <a:lnTo>
                  <a:pt x="0" y="175565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731227" y="3689604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Recurring issues escalated to programme reviews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383755" y="4206240"/>
            <a:ext cx="2094981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89" name="icon:gear"/>
          <p:cNvGrpSpPr/>
          <p:nvPr/>
        </p:nvGrpSpPr>
        <p:grpSpPr>
          <a:xfrm>
            <a:off x="9400214" y="4342028"/>
            <a:ext cx="208483" cy="208483"/>
            <a:chOff x="9400214" y="4342028"/>
            <a:chExt cx="208483" cy="208483"/>
          </a:xfrm>
        </p:grpSpPr>
        <p:sp>
          <p:nvSpPr>
            <p:cNvPr id="178" name="Rectangle 177"/>
            <p:cNvSpPr/>
            <p:nvPr/>
          </p:nvSpPr>
          <p:spPr>
            <a:xfrm>
              <a:off x="9575779" y="4429810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9" name="Rectangle 178"/>
            <p:cNvSpPr/>
            <p:nvPr/>
          </p:nvSpPr>
          <p:spPr>
            <a:xfrm rot="2700000">
              <a:off x="9550068" y="4491882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0" name="Rectangle 179"/>
            <p:cNvSpPr/>
            <p:nvPr/>
          </p:nvSpPr>
          <p:spPr>
            <a:xfrm rot="5400000">
              <a:off x="9487997" y="4517593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1" name="Rectangle 180"/>
            <p:cNvSpPr/>
            <p:nvPr/>
          </p:nvSpPr>
          <p:spPr>
            <a:xfrm rot="8100000">
              <a:off x="9425925" y="4491882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2" name="Rectangle 181"/>
            <p:cNvSpPr/>
            <p:nvPr/>
          </p:nvSpPr>
          <p:spPr>
            <a:xfrm rot="10800000">
              <a:off x="9400214" y="4429810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3" name="Rectangle 182"/>
            <p:cNvSpPr/>
            <p:nvPr/>
          </p:nvSpPr>
          <p:spPr>
            <a:xfrm rot="13500000">
              <a:off x="9425925" y="4367739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4" name="Rectangle 183"/>
            <p:cNvSpPr/>
            <p:nvPr/>
          </p:nvSpPr>
          <p:spPr>
            <a:xfrm rot="16200000">
              <a:off x="9487997" y="4342028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5" name="Rectangle 184"/>
            <p:cNvSpPr/>
            <p:nvPr/>
          </p:nvSpPr>
          <p:spPr>
            <a:xfrm rot="18900000">
              <a:off x="9550068" y="4367739"/>
              <a:ext cx="32918" cy="32918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6" name="Oval 185"/>
            <p:cNvSpPr/>
            <p:nvPr/>
          </p:nvSpPr>
          <p:spPr>
            <a:xfrm>
              <a:off x="9429841" y="4371654"/>
              <a:ext cx="149230" cy="149230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7" name="Oval 186"/>
            <p:cNvSpPr/>
            <p:nvPr/>
          </p:nvSpPr>
          <p:spPr>
            <a:xfrm>
              <a:off x="9471538" y="4413351"/>
              <a:ext cx="65836" cy="65836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8" name="Oval 187"/>
            <p:cNvSpPr/>
            <p:nvPr/>
          </p:nvSpPr>
          <p:spPr>
            <a:xfrm>
              <a:off x="9471538" y="4413351"/>
              <a:ext cx="65836" cy="658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90" name="TextBox 189"/>
          <p:cNvSpPr txBox="1"/>
          <p:nvPr/>
        </p:nvSpPr>
        <p:spPr>
          <a:xfrm>
            <a:off x="9731227" y="4206240"/>
            <a:ext cx="1747509" cy="516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9" b="0" i="0">
                <a:solidFill>
                  <a:srgbClr val="404041"/>
                </a:solidFill>
                <a:latin typeface="Arial"/>
                <a:cs typeface="Arial"/>
              </a:rPr>
              <a:t>System and process improvements documented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48640" y="4937759"/>
            <a:ext cx="11094689" cy="786384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48640" y="4937759"/>
            <a:ext cx="45720" cy="78638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768096" y="5029199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cap="all" spc="120">
                <a:solidFill>
                  <a:srgbClr val="213063"/>
                </a:solidFill>
                <a:latin typeface="Arial"/>
                <a:cs typeface="Arial"/>
              </a:rPr>
              <a:t>Accountability chain</a:t>
            </a:r>
          </a:p>
        </p:txBody>
      </p:sp>
      <p:grpSp>
        <p:nvGrpSpPr>
          <p:cNvPr id="198" name="chip:person"/>
          <p:cNvGrpSpPr/>
          <p:nvPr/>
        </p:nvGrpSpPr>
        <p:grpSpPr>
          <a:xfrm>
            <a:off x="850392" y="5202936"/>
            <a:ext cx="384048" cy="384048"/>
            <a:chOff x="850392" y="5202936"/>
            <a:chExt cx="384048" cy="384048"/>
          </a:xfrm>
        </p:grpSpPr>
        <p:sp>
          <p:nvSpPr>
            <p:cNvPr id="194" name="Oval 193"/>
            <p:cNvSpPr/>
            <p:nvPr/>
          </p:nvSpPr>
          <p:spPr>
            <a:xfrm>
              <a:off x="850392" y="5202936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97" name="icon:person"/>
            <p:cNvGrpSpPr/>
            <p:nvPr/>
          </p:nvGrpSpPr>
          <p:grpSpPr>
            <a:xfrm>
              <a:off x="973287" y="5306628"/>
              <a:ext cx="138257" cy="176662"/>
              <a:chOff x="973287" y="5306628"/>
              <a:chExt cx="138257" cy="176662"/>
            </a:xfrm>
          </p:grpSpPr>
          <p:sp>
            <p:nvSpPr>
              <p:cNvPr id="195" name="Oval 194"/>
              <p:cNvSpPr/>
              <p:nvPr/>
            </p:nvSpPr>
            <p:spPr>
              <a:xfrm>
                <a:off x="1000170" y="5306628"/>
                <a:ext cx="84490" cy="8449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Round Same Side Corner Rectangle 195"/>
              <p:cNvSpPr/>
              <p:nvPr/>
            </p:nvSpPr>
            <p:spPr>
              <a:xfrm>
                <a:off x="973287" y="5391119"/>
                <a:ext cx="138257" cy="92171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99" name="TextBox 198"/>
          <p:cNvSpPr txBox="1"/>
          <p:nvPr/>
        </p:nvSpPr>
        <p:spPr>
          <a:xfrm>
            <a:off x="1316736" y="5193792"/>
            <a:ext cx="14032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374EA2"/>
                </a:solidFill>
                <a:latin typeface="Arial"/>
                <a:cs typeface="Arial"/>
              </a:rPr>
              <a:t>Data Producer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316736" y="5422392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0" i="0">
                <a:solidFill>
                  <a:srgbClr val="5B5B5E"/>
                </a:solidFill>
                <a:latin typeface="Arial"/>
                <a:cs typeface="Arial"/>
              </a:rPr>
              <a:t>Collects and reports data accurately</a:t>
            </a:r>
          </a:p>
        </p:txBody>
      </p:sp>
      <p:sp>
        <p:nvSpPr>
          <p:cNvPr id="201" name="Right Arrow 200"/>
          <p:cNvSpPr/>
          <p:nvPr/>
        </p:nvSpPr>
        <p:spPr>
          <a:xfrm>
            <a:off x="2770321" y="5352166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10" name="chip:people"/>
          <p:cNvGrpSpPr/>
          <p:nvPr/>
        </p:nvGrpSpPr>
        <p:grpSpPr>
          <a:xfrm>
            <a:off x="2966917" y="5202936"/>
            <a:ext cx="384048" cy="384048"/>
            <a:chOff x="2966917" y="5202936"/>
            <a:chExt cx="384048" cy="384048"/>
          </a:xfrm>
        </p:grpSpPr>
        <p:sp>
          <p:nvSpPr>
            <p:cNvPr id="202" name="Oval 201"/>
            <p:cNvSpPr/>
            <p:nvPr/>
          </p:nvSpPr>
          <p:spPr>
            <a:xfrm>
              <a:off x="2966917" y="5202936"/>
              <a:ext cx="384048" cy="384048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09" name="icon:people"/>
            <p:cNvGrpSpPr/>
            <p:nvPr/>
          </p:nvGrpSpPr>
          <p:grpSpPr>
            <a:xfrm>
              <a:off x="3059088" y="5302788"/>
              <a:ext cx="199705" cy="157459"/>
              <a:chOff x="3059088" y="5302788"/>
              <a:chExt cx="199705" cy="157459"/>
            </a:xfrm>
          </p:grpSpPr>
          <p:sp>
            <p:nvSpPr>
              <p:cNvPr id="203" name="Oval 202"/>
              <p:cNvSpPr/>
              <p:nvPr/>
            </p:nvSpPr>
            <p:spPr>
              <a:xfrm>
                <a:off x="3062929" y="5318150"/>
                <a:ext cx="49926" cy="499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Round Same Side Corner Rectangle 203"/>
              <p:cNvSpPr/>
              <p:nvPr/>
            </p:nvSpPr>
            <p:spPr>
              <a:xfrm>
                <a:off x="3059088" y="5375757"/>
                <a:ext cx="57607" cy="652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Oval 204"/>
              <p:cNvSpPr/>
              <p:nvPr/>
            </p:nvSpPr>
            <p:spPr>
              <a:xfrm>
                <a:off x="3205026" y="5318150"/>
                <a:ext cx="49926" cy="499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Round Same Side Corner Rectangle 205"/>
              <p:cNvSpPr/>
              <p:nvPr/>
            </p:nvSpPr>
            <p:spPr>
              <a:xfrm>
                <a:off x="3201186" y="5375757"/>
                <a:ext cx="57607" cy="65288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7" name="Oval 206"/>
              <p:cNvSpPr/>
              <p:nvPr/>
            </p:nvSpPr>
            <p:spPr>
              <a:xfrm>
                <a:off x="3126297" y="5302788"/>
                <a:ext cx="65288" cy="6528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Round Same Side Corner Rectangle 207"/>
              <p:cNvSpPr/>
              <p:nvPr/>
            </p:nvSpPr>
            <p:spPr>
              <a:xfrm>
                <a:off x="3114775" y="5375757"/>
                <a:ext cx="88331" cy="8449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11" name="TextBox 210"/>
          <p:cNvSpPr txBox="1"/>
          <p:nvPr/>
        </p:nvSpPr>
        <p:spPr>
          <a:xfrm>
            <a:off x="3433261" y="5193792"/>
            <a:ext cx="14032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0E8F9E"/>
                </a:solidFill>
                <a:latin typeface="Arial"/>
                <a:cs typeface="Arial"/>
              </a:rPr>
              <a:t>Partner / District Validator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433261" y="5422392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0" i="0">
                <a:solidFill>
                  <a:srgbClr val="5B5B5E"/>
                </a:solidFill>
                <a:latin typeface="Arial"/>
                <a:cs typeface="Arial"/>
              </a:rPr>
              <a:t>Validates and confirms data quality</a:t>
            </a:r>
          </a:p>
        </p:txBody>
      </p:sp>
      <p:sp>
        <p:nvSpPr>
          <p:cNvPr id="213" name="Right Arrow 212"/>
          <p:cNvSpPr/>
          <p:nvPr/>
        </p:nvSpPr>
        <p:spPr>
          <a:xfrm>
            <a:off x="4886846" y="5352166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19" name="chip:chart"/>
          <p:cNvGrpSpPr/>
          <p:nvPr/>
        </p:nvGrpSpPr>
        <p:grpSpPr>
          <a:xfrm>
            <a:off x="5083442" y="5202936"/>
            <a:ext cx="384048" cy="384048"/>
            <a:chOff x="5083442" y="5202936"/>
            <a:chExt cx="384048" cy="384048"/>
          </a:xfrm>
        </p:grpSpPr>
        <p:sp>
          <p:nvSpPr>
            <p:cNvPr id="214" name="Oval 213"/>
            <p:cNvSpPr/>
            <p:nvPr/>
          </p:nvSpPr>
          <p:spPr>
            <a:xfrm>
              <a:off x="5083442" y="5202936"/>
              <a:ext cx="384048" cy="38404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18" name="icon:chart"/>
            <p:cNvGrpSpPr/>
            <p:nvPr/>
          </p:nvGrpSpPr>
          <p:grpSpPr>
            <a:xfrm>
              <a:off x="5194816" y="5310469"/>
              <a:ext cx="157459" cy="165140"/>
              <a:chOff x="5194816" y="5310469"/>
              <a:chExt cx="157459" cy="165140"/>
            </a:xfrm>
          </p:grpSpPr>
          <p:sp>
            <p:nvSpPr>
              <p:cNvPr id="215" name="Rectangle 214"/>
              <p:cNvSpPr/>
              <p:nvPr/>
            </p:nvSpPr>
            <p:spPr>
              <a:xfrm>
                <a:off x="5194816" y="5391119"/>
                <a:ext cx="34564" cy="84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Rectangle 215"/>
              <p:cNvSpPr/>
              <p:nvPr/>
            </p:nvSpPr>
            <p:spPr>
              <a:xfrm>
                <a:off x="5256263" y="5348874"/>
                <a:ext cx="34564" cy="12673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5317711" y="5310469"/>
                <a:ext cx="34564" cy="16514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20" name="TextBox 219"/>
          <p:cNvSpPr txBox="1"/>
          <p:nvPr/>
        </p:nvSpPr>
        <p:spPr>
          <a:xfrm>
            <a:off x="5549786" y="5193792"/>
            <a:ext cx="14032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374EA2"/>
                </a:solidFill>
                <a:latin typeface="Arial"/>
                <a:cs typeface="Arial"/>
              </a:rPr>
              <a:t>Programme Specialist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549786" y="5422392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0" i="0">
                <a:solidFill>
                  <a:srgbClr val="5B5B5E"/>
                </a:solidFill>
                <a:latin typeface="Arial"/>
                <a:cs typeface="Arial"/>
              </a:rPr>
              <a:t>Reviews, analyses and uses the data</a:t>
            </a:r>
          </a:p>
        </p:txBody>
      </p:sp>
      <p:sp>
        <p:nvSpPr>
          <p:cNvPr id="222" name="Right Arrow 221"/>
          <p:cNvSpPr/>
          <p:nvPr/>
        </p:nvSpPr>
        <p:spPr>
          <a:xfrm>
            <a:off x="7003371" y="5352166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27" name="chip:award"/>
          <p:cNvGrpSpPr/>
          <p:nvPr/>
        </p:nvGrpSpPr>
        <p:grpSpPr>
          <a:xfrm>
            <a:off x="7199967" y="5202936"/>
            <a:ext cx="384048" cy="384048"/>
            <a:chOff x="7199967" y="5202936"/>
            <a:chExt cx="384048" cy="384048"/>
          </a:xfrm>
        </p:grpSpPr>
        <p:sp>
          <p:nvSpPr>
            <p:cNvPr id="223" name="Oval 222"/>
            <p:cNvSpPr/>
            <p:nvPr/>
          </p:nvSpPr>
          <p:spPr>
            <a:xfrm>
              <a:off x="7199967" y="5202936"/>
              <a:ext cx="384048" cy="38404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26" name="icon:award"/>
            <p:cNvGrpSpPr/>
            <p:nvPr/>
          </p:nvGrpSpPr>
          <p:grpSpPr>
            <a:xfrm>
              <a:off x="7322862" y="5302788"/>
              <a:ext cx="138257" cy="184343"/>
              <a:chOff x="7322862" y="5302788"/>
              <a:chExt cx="138257" cy="184343"/>
            </a:xfrm>
          </p:grpSpPr>
          <p:sp>
            <p:nvSpPr>
              <p:cNvPr id="224" name="Oval 223"/>
              <p:cNvSpPr/>
              <p:nvPr/>
            </p:nvSpPr>
            <p:spPr>
              <a:xfrm>
                <a:off x="7322862" y="5302788"/>
                <a:ext cx="138257" cy="138257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Freeform 224"/>
              <p:cNvSpPr/>
              <p:nvPr/>
            </p:nvSpPr>
            <p:spPr>
              <a:xfrm>
                <a:off x="7342065" y="5425683"/>
                <a:ext cx="99852" cy="61448"/>
              </a:xfrm>
              <a:custGeom>
                <a:avLst/>
                <a:gdLst/>
                <a:ahLst/>
                <a:cxnLst/>
                <a:rect l="l" t="t" r="r" b="b"/>
                <a:pathLst>
                  <a:path w="99852" h="61448">
                    <a:moveTo>
                      <a:pt x="0" y="0"/>
                    </a:moveTo>
                    <a:lnTo>
                      <a:pt x="0" y="61448"/>
                    </a:lnTo>
                    <a:lnTo>
                      <a:pt x="49926" y="34565"/>
                    </a:lnTo>
                    <a:lnTo>
                      <a:pt x="99852" y="61448"/>
                    </a:lnTo>
                    <a:lnTo>
                      <a:pt x="998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28" name="TextBox 227"/>
          <p:cNvSpPr txBox="1"/>
          <p:nvPr/>
        </p:nvSpPr>
        <p:spPr>
          <a:xfrm>
            <a:off x="7666311" y="5193792"/>
            <a:ext cx="14032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00833D"/>
                </a:solidFill>
                <a:latin typeface="Arial"/>
                <a:cs typeface="Arial"/>
              </a:rPr>
              <a:t>M&amp;E Quality Assurance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666311" y="5422392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0" i="0">
                <a:solidFill>
                  <a:srgbClr val="5B5B5E"/>
                </a:solidFill>
                <a:latin typeface="Arial"/>
                <a:cs typeface="Arial"/>
              </a:rPr>
              <a:t>Provides independent quality assurance</a:t>
            </a:r>
          </a:p>
        </p:txBody>
      </p:sp>
      <p:sp>
        <p:nvSpPr>
          <p:cNvPr id="230" name="Right Arrow 229"/>
          <p:cNvSpPr/>
          <p:nvPr/>
        </p:nvSpPr>
        <p:spPr>
          <a:xfrm>
            <a:off x="9119896" y="5352166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36" name="chip:signpost"/>
          <p:cNvGrpSpPr/>
          <p:nvPr/>
        </p:nvGrpSpPr>
        <p:grpSpPr>
          <a:xfrm>
            <a:off x="9316492" y="5202936"/>
            <a:ext cx="384048" cy="384048"/>
            <a:chOff x="9316492" y="5202936"/>
            <a:chExt cx="384048" cy="384048"/>
          </a:xfrm>
        </p:grpSpPr>
        <p:sp>
          <p:nvSpPr>
            <p:cNvPr id="231" name="Oval 230"/>
            <p:cNvSpPr/>
            <p:nvPr/>
          </p:nvSpPr>
          <p:spPr>
            <a:xfrm>
              <a:off x="9316492" y="5202936"/>
              <a:ext cx="384048" cy="384048"/>
            </a:xfrm>
            <a:prstGeom prst="ellipse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35" name="icon:signpost"/>
            <p:cNvGrpSpPr/>
            <p:nvPr/>
          </p:nvGrpSpPr>
          <p:grpSpPr>
            <a:xfrm>
              <a:off x="9424025" y="5306628"/>
              <a:ext cx="168981" cy="176662"/>
              <a:chOff x="9424025" y="5306628"/>
              <a:chExt cx="168981" cy="176662"/>
            </a:xfrm>
          </p:grpSpPr>
          <p:sp>
            <p:nvSpPr>
              <p:cNvPr id="232" name="Rectangle 231"/>
              <p:cNvSpPr/>
              <p:nvPr/>
            </p:nvSpPr>
            <p:spPr>
              <a:xfrm>
                <a:off x="9502755" y="5306628"/>
                <a:ext cx="11521" cy="17666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33" name="Freeform 232"/>
              <p:cNvSpPr/>
              <p:nvPr/>
            </p:nvSpPr>
            <p:spPr>
              <a:xfrm>
                <a:off x="9424025" y="5325831"/>
                <a:ext cx="168981" cy="46086"/>
              </a:xfrm>
              <a:custGeom>
                <a:avLst/>
                <a:gdLst/>
                <a:ahLst/>
                <a:cxnLst/>
                <a:rect l="l" t="t" r="r" b="b"/>
                <a:pathLst>
                  <a:path w="168981" h="46086">
                    <a:moveTo>
                      <a:pt x="0" y="0"/>
                    </a:moveTo>
                    <a:lnTo>
                      <a:pt x="142098" y="0"/>
                    </a:lnTo>
                    <a:lnTo>
                      <a:pt x="168981" y="23043"/>
                    </a:lnTo>
                    <a:lnTo>
                      <a:pt x="142098" y="46086"/>
                    </a:lnTo>
                    <a:lnTo>
                      <a:pt x="0" y="460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4" name="Freeform 233"/>
              <p:cNvSpPr/>
              <p:nvPr/>
            </p:nvSpPr>
            <p:spPr>
              <a:xfrm>
                <a:off x="9424025" y="5394959"/>
                <a:ext cx="168981" cy="46086"/>
              </a:xfrm>
              <a:custGeom>
                <a:avLst/>
                <a:gdLst/>
                <a:ahLst/>
                <a:cxnLst/>
                <a:rect l="l" t="t" r="r" b="b"/>
                <a:pathLst>
                  <a:path w="168981" h="46086">
                    <a:moveTo>
                      <a:pt x="168981" y="0"/>
                    </a:moveTo>
                    <a:lnTo>
                      <a:pt x="26884" y="0"/>
                    </a:lnTo>
                    <a:lnTo>
                      <a:pt x="0" y="23043"/>
                    </a:lnTo>
                    <a:lnTo>
                      <a:pt x="26884" y="46086"/>
                    </a:lnTo>
                    <a:lnTo>
                      <a:pt x="168981" y="460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37" name="TextBox 236"/>
          <p:cNvSpPr txBox="1"/>
          <p:nvPr/>
        </p:nvSpPr>
        <p:spPr>
          <a:xfrm>
            <a:off x="9782836" y="5193792"/>
            <a:ext cx="140329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213063"/>
                </a:solidFill>
                <a:latin typeface="Arial"/>
                <a:cs typeface="Arial"/>
              </a:rPr>
              <a:t>Management Use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9782836" y="5422392"/>
            <a:ext cx="140329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0" i="0">
                <a:solidFill>
                  <a:srgbClr val="5B5B5E"/>
                </a:solidFill>
                <a:latin typeface="Arial"/>
                <a:cs typeface="Arial"/>
              </a:rPr>
              <a:t>Informs decisions, strategy and resource allocation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48640" y="5815583"/>
            <a:ext cx="11094689" cy="530352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0" name="Rectangle 239"/>
          <p:cNvSpPr/>
          <p:nvPr/>
        </p:nvSpPr>
        <p:spPr>
          <a:xfrm>
            <a:off x="548640" y="5815583"/>
            <a:ext cx="68580" cy="53035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46" name="icon:clipboard"/>
          <p:cNvGrpSpPr/>
          <p:nvPr/>
        </p:nvGrpSpPr>
        <p:grpSpPr>
          <a:xfrm>
            <a:off x="948415" y="5888736"/>
            <a:ext cx="261152" cy="368685"/>
            <a:chOff x="948415" y="5888736"/>
            <a:chExt cx="261152" cy="368685"/>
          </a:xfrm>
        </p:grpSpPr>
        <p:sp>
          <p:nvSpPr>
            <p:cNvPr id="241" name="Rounded Rectangle 240"/>
            <p:cNvSpPr/>
            <p:nvPr/>
          </p:nvSpPr>
          <p:spPr>
            <a:xfrm>
              <a:off x="948415" y="5919459"/>
              <a:ext cx="261152" cy="337962"/>
            </a:xfrm>
            <a:prstGeom prst="roundRect">
              <a:avLst>
                <a:gd name="adj" fmla="val 8823"/>
              </a:avLst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1017544" y="5888736"/>
              <a:ext cx="122895" cy="61447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09863" y="6034674"/>
              <a:ext cx="138257" cy="1728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009863" y="6096121"/>
              <a:ext cx="138257" cy="1728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1009863" y="6157569"/>
              <a:ext cx="138257" cy="1728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47" name="TextBox 246"/>
          <p:cNvSpPr txBox="1"/>
          <p:nvPr/>
        </p:nvSpPr>
        <p:spPr>
          <a:xfrm>
            <a:off x="1463039" y="580644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Standard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944368" y="5980175"/>
            <a:ext cx="9144" cy="201167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3108960" y="5907023"/>
            <a:ext cx="8260049" cy="3474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>
                <a:solidFill>
                  <a:srgbClr val="FFFFFF"/>
                </a:solidFill>
                <a:latin typeface="Arial"/>
                <a:cs typeface="Arial"/>
              </a:rPr>
              <a:t>Every critical indicator should have a definition, a source, a frequency, an accountable owner, a quality standard and a documented verification trail.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4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4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grpId="0" nodeType="withEffect">
                                  <p:stCondLst>
                                    <p:cond delay="26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34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4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4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4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3" presetClass="entr" presetSubtype="16" fill="hold" grpId="0" nodeType="withEffect">
                                  <p:stCondLst>
                                    <p:cond delay="35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4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4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4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4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3" presetClass="entr" presetSubtype="16" fill="hold" grpId="0" nodeType="withEffect">
                                  <p:stCondLst>
                                    <p:cond delay="44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4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34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4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4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4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3" presetClass="entr" presetSubtype="16" fill="hold" grpId="0" nodeType="withEffect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4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34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4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16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4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34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4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3" presetClass="entr" presetSubtype="16" fill="hold" grpId="0" nodeType="withEffect">
                                  <p:stCondLst>
                                    <p:cond delay="6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3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3" presetClass="entr" presetSubtype="16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4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4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4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3" presetClass="entr" presetSubtype="16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4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34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4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38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2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38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38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96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38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38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38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8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38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8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38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38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8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38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8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38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38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38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38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38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38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38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38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32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38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8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96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38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38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38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6" dur="38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0" dur="38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38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38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8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8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38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8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38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38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8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8" dur="38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2" dur="38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8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6" dur="38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0" dur="38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38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32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8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0" dur="38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8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4" dur="38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96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8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8" dur="38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8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2" dur="38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8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6" dur="38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8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0" dur="38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8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4" dur="38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8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8" dur="38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8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2" dur="38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6" dur="38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8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0" dur="38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8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4" dur="38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8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8" dur="38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8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2" dur="38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8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6" dur="38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8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0" dur="38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8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4" dur="38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4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34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4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34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4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34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4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34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34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34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4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4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4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34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4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34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34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34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4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34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4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34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7" dur="52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2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3" dur="52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4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6" dur="5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9" dur="52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2" dur="52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9" grpId="0"/>
      <p:bldP spid="10" grpId="0" animBg="1"/>
      <p:bldP spid="11" grpId="0" animBg="1"/>
      <p:bldP spid="16" grpId="0" animBg="1"/>
      <p:bldP spid="17" grpId="0" animBg="1"/>
      <p:bldP spid="18" grpId="0"/>
      <p:bldP spid="21" grpId="0"/>
      <p:bldP spid="22" grpId="0"/>
      <p:bldP spid="28" grpId="0"/>
      <p:bldP spid="29" grpId="0"/>
      <p:bldP spid="39" grpId="0"/>
      <p:bldP spid="40" grpId="0"/>
      <p:bldP spid="45" grpId="0"/>
      <p:bldP spid="46" grpId="0"/>
      <p:bldP spid="52" grpId="0"/>
      <p:bldP spid="53" grpId="0"/>
      <p:bldP spid="56" grpId="0"/>
      <p:bldP spid="57" grpId="0"/>
      <p:bldP spid="58" grpId="0" animBg="1"/>
      <p:bldP spid="59" grpId="0"/>
      <p:bldP spid="60" grpId="0" animBg="1"/>
      <p:bldP spid="61" grpId="0" animBg="1"/>
      <p:bldP spid="62" grpId="0" animBg="1"/>
      <p:bldP spid="63" grpId="0"/>
      <p:bldP spid="68" grpId="0"/>
      <p:bldP spid="69" grpId="0"/>
      <p:bldP spid="70" grpId="0" animBg="1"/>
      <p:bldP spid="81" grpId="0"/>
      <p:bldP spid="82" grpId="0"/>
      <p:bldP spid="83" grpId="0" animBg="1"/>
      <p:bldP spid="90" grpId="0"/>
      <p:bldP spid="91" grpId="0"/>
      <p:bldP spid="92" grpId="0" animBg="1"/>
      <p:bldP spid="99" grpId="0"/>
      <p:bldP spid="100" grpId="0"/>
      <p:bldP spid="101" grpId="0" animBg="1"/>
      <p:bldP spid="104" grpId="0"/>
      <p:bldP spid="105" grpId="0"/>
      <p:bldP spid="106" grpId="0" animBg="1"/>
      <p:bldP spid="107" grpId="0" animBg="1"/>
      <p:bldP spid="113" grpId="0"/>
      <p:bldP spid="114" grpId="0"/>
      <p:bldP spid="118" grpId="0"/>
      <p:bldP spid="119" grpId="0"/>
      <p:bldP spid="120" grpId="0" animBg="1"/>
      <p:bldP spid="124" grpId="0"/>
      <p:bldP spid="125" grpId="0"/>
      <p:bldP spid="126" grpId="0" animBg="1"/>
      <p:bldP spid="131" grpId="0"/>
      <p:bldP spid="132" grpId="0"/>
      <p:bldP spid="133" grpId="0" animBg="1"/>
      <p:bldP spid="136" grpId="0"/>
      <p:bldP spid="137" grpId="0"/>
      <p:bldP spid="138" grpId="0" animBg="1"/>
      <p:bldP spid="145" grpId="0"/>
      <p:bldP spid="146" grpId="0"/>
      <p:bldP spid="147" grpId="0" animBg="1"/>
      <p:bldP spid="148" grpId="0" animBg="1"/>
      <p:bldP spid="152" grpId="0"/>
      <p:bldP spid="153" grpId="0"/>
      <p:bldP spid="161" grpId="0"/>
      <p:bldP spid="162" grpId="0"/>
      <p:bldP spid="163" grpId="0" animBg="1"/>
      <p:bldP spid="169" grpId="0"/>
      <p:bldP spid="170" grpId="0"/>
      <p:bldP spid="171" grpId="0" animBg="1"/>
      <p:bldP spid="172" grpId="0" animBg="1"/>
      <p:bldP spid="173" grpId="0"/>
      <p:bldP spid="174" grpId="0" animBg="1"/>
      <p:bldP spid="175" grpId="0" animBg="1"/>
      <p:bldP spid="176" grpId="0"/>
      <p:bldP spid="177" grpId="0" animBg="1"/>
      <p:bldP spid="189" grpId="0"/>
      <p:bldP spid="190" grpId="0"/>
      <p:bldP spid="191" grpId="0" animBg="1"/>
      <p:bldP spid="192" grpId="0" animBg="1"/>
      <p:bldP spid="193" grpId="0"/>
      <p:bldP spid="198" grpId="0"/>
      <p:bldP spid="199" grpId="0"/>
      <p:bldP spid="200" grpId="0"/>
      <p:bldP spid="201" grpId="0" animBg="1"/>
      <p:bldP spid="210" grpId="0"/>
      <p:bldP spid="211" grpId="0"/>
      <p:bldP spid="212" grpId="0"/>
      <p:bldP spid="213" grpId="0" animBg="1"/>
      <p:bldP spid="219" grpId="0"/>
      <p:bldP spid="220" grpId="0"/>
      <p:bldP spid="221" grpId="0"/>
      <p:bldP spid="222" grpId="0" animBg="1"/>
      <p:bldP spid="227" grpId="0"/>
      <p:bldP spid="228" grpId="0"/>
      <p:bldP spid="229" grpId="0"/>
      <p:bldP spid="230" grpId="0" animBg="1"/>
      <p:bldP spid="236" grpId="0"/>
      <p:bldP spid="237" grpId="0"/>
      <p:bldP spid="238" grpId="0"/>
      <p:bldP spid="239" grpId="0" animBg="1"/>
      <p:bldP spid="240" grpId="0" animBg="1"/>
      <p:bldP spid="246" grpId="0"/>
      <p:bldP spid="247" grpId="0"/>
      <p:bldP spid="248" grpId="0" animBg="1"/>
      <p:bldP spid="2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Commissioning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30352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spc="-35">
                <a:solidFill>
                  <a:srgbClr val="213063"/>
                </a:solidFill>
                <a:latin typeface="Arial"/>
                <a:cs typeface="Arial"/>
              </a:rPr>
              <a:t>Commission and Manage External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Consultants provide technical capacity. UNICEF retains accountability for quality and use.</a:t>
            </a:r>
          </a:p>
        </p:txBody>
      </p:sp>
      <p:grpSp>
        <p:nvGrpSpPr>
          <p:cNvPr id="9" name="icon:handshake"/>
          <p:cNvGrpSpPr/>
          <p:nvPr/>
        </p:nvGrpSpPr>
        <p:grpSpPr>
          <a:xfrm>
            <a:off x="11048969" y="634593"/>
            <a:ext cx="566927" cy="340156"/>
            <a:chOff x="11048969" y="634593"/>
            <a:chExt cx="566927" cy="340156"/>
          </a:xfrm>
        </p:grpSpPr>
        <p:sp>
          <p:nvSpPr>
            <p:cNvPr id="7" name="Oval 6"/>
            <p:cNvSpPr/>
            <p:nvPr/>
          </p:nvSpPr>
          <p:spPr>
            <a:xfrm>
              <a:off x="11048969" y="634593"/>
              <a:ext cx="340156" cy="340156"/>
            </a:xfrm>
            <a:prstGeom prst="ellipse">
              <a:avLst/>
            </a:prstGeom>
            <a:noFill/>
            <a:ln w="19050">
              <a:solidFill>
                <a:srgbClr val="C9C6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11275740" y="634593"/>
              <a:ext cx="340156" cy="340156"/>
            </a:xfrm>
            <a:prstGeom prst="ellipse">
              <a:avLst/>
            </a:prstGeom>
            <a:noFill/>
            <a:ln w="19050">
              <a:solidFill>
                <a:srgbClr val="C9C6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0" name="Rectangle 9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05 / 09</a:t>
            </a:r>
          </a:p>
        </p:txBody>
      </p:sp>
      <p:grpSp>
        <p:nvGrpSpPr>
          <p:cNvPr id="21" name="icon:clipboard"/>
          <p:cNvGrpSpPr/>
          <p:nvPr/>
        </p:nvGrpSpPr>
        <p:grpSpPr>
          <a:xfrm>
            <a:off x="741761" y="1627632"/>
            <a:ext cx="198973" cy="280903"/>
            <a:chOff x="741761" y="1627632"/>
            <a:chExt cx="198973" cy="280903"/>
          </a:xfrm>
        </p:grpSpPr>
        <p:sp>
          <p:nvSpPr>
            <p:cNvPr id="16" name="Rounded Rectangle 15"/>
            <p:cNvSpPr/>
            <p:nvPr/>
          </p:nvSpPr>
          <p:spPr>
            <a:xfrm>
              <a:off x="741761" y="1651040"/>
              <a:ext cx="198973" cy="257495"/>
            </a:xfrm>
            <a:prstGeom prst="roundRect">
              <a:avLst>
                <a:gd name="adj" fmla="val 8823"/>
              </a:avLst>
            </a:prstGeom>
            <a:noFill/>
            <a:ln w="1905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94430" y="1627632"/>
              <a:ext cx="93634" cy="4681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88578" y="1738823"/>
              <a:ext cx="105338" cy="1316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88578" y="1785640"/>
              <a:ext cx="105338" cy="1316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88578" y="1832457"/>
              <a:ext cx="105338" cy="1316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2" name="Chevron 21"/>
          <p:cNvSpPr/>
          <p:nvPr/>
        </p:nvSpPr>
        <p:spPr>
          <a:xfrm>
            <a:off x="548640" y="1975104"/>
            <a:ext cx="1742434" cy="384048"/>
          </a:xfrm>
          <a:prstGeom prst="chevron">
            <a:avLst>
              <a:gd name="adj" fmla="val 14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1975104"/>
            <a:ext cx="15229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50">
                <a:solidFill>
                  <a:srgbClr val="FFFFFF"/>
                </a:solidFill>
                <a:latin typeface="Arial"/>
                <a:cs typeface="Arial"/>
              </a:rPr>
              <a:t>1  </a:t>
            </a:r>
            <a:r>
              <a:rPr lang="en-GB" sz="880" b="1" i="0" cap="all" spc="50">
                <a:solidFill>
                  <a:srgbClr val="FFFFFF"/>
                </a:solidFill>
                <a:latin typeface="Arial"/>
                <a:cs typeface="Arial"/>
              </a:rPr>
              <a:t>Scope / ToR</a:t>
            </a:r>
          </a:p>
        </p:txBody>
      </p:sp>
      <p:grpSp>
        <p:nvGrpSpPr>
          <p:cNvPr id="29" name="icon:searchbar"/>
          <p:cNvGrpSpPr/>
          <p:nvPr/>
        </p:nvGrpSpPr>
        <p:grpSpPr>
          <a:xfrm>
            <a:off x="2577099" y="1639336"/>
            <a:ext cx="204825" cy="280903"/>
            <a:chOff x="2577099" y="1639336"/>
            <a:chExt cx="204825" cy="280903"/>
          </a:xfrm>
        </p:grpSpPr>
        <p:sp>
          <p:nvSpPr>
            <p:cNvPr id="24" name="Oval 23"/>
            <p:cNvSpPr/>
            <p:nvPr/>
          </p:nvSpPr>
          <p:spPr>
            <a:xfrm>
              <a:off x="2577099" y="1639336"/>
              <a:ext cx="204825" cy="204825"/>
            </a:xfrm>
            <a:prstGeom prst="ellipse">
              <a:avLst/>
            </a:prstGeom>
            <a:noFill/>
            <a:ln w="19050">
              <a:solidFill>
                <a:srgbClr val="0E8F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 rot="18900000">
              <a:off x="2752664" y="1820753"/>
              <a:ext cx="29260" cy="99486"/>
            </a:xfrm>
            <a:prstGeom prst="rect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23916" y="1756379"/>
              <a:ext cx="20482" cy="52669"/>
            </a:xfrm>
            <a:prstGeom prst="rect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659029" y="1727118"/>
              <a:ext cx="20482" cy="81930"/>
            </a:xfrm>
            <a:prstGeom prst="rect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694142" y="1697857"/>
              <a:ext cx="20482" cy="111191"/>
            </a:xfrm>
            <a:prstGeom prst="rect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30" name="Chevron 29"/>
          <p:cNvSpPr/>
          <p:nvPr/>
        </p:nvSpPr>
        <p:spPr>
          <a:xfrm>
            <a:off x="2419090" y="1975104"/>
            <a:ext cx="1742434" cy="384048"/>
          </a:xfrm>
          <a:prstGeom prst="chevron">
            <a:avLst>
              <a:gd name="adj" fmla="val 14000"/>
            </a:avLst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5394" y="1975104"/>
            <a:ext cx="15229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50">
                <a:solidFill>
                  <a:srgbClr val="FFFFFF"/>
                </a:solidFill>
                <a:latin typeface="Arial"/>
                <a:cs typeface="Arial"/>
              </a:rPr>
              <a:t>2  </a:t>
            </a:r>
            <a:r>
              <a:rPr lang="en-GB" sz="880" b="1" i="0" cap="all" spc="50">
                <a:solidFill>
                  <a:srgbClr val="FFFFFF"/>
                </a:solidFill>
                <a:latin typeface="Arial"/>
                <a:cs typeface="Arial"/>
              </a:rPr>
              <a:t>Procure</a:t>
            </a:r>
          </a:p>
        </p:txBody>
      </p:sp>
      <p:grpSp>
        <p:nvGrpSpPr>
          <p:cNvPr id="35" name="icon:bulb"/>
          <p:cNvGrpSpPr/>
          <p:nvPr/>
        </p:nvGrpSpPr>
        <p:grpSpPr>
          <a:xfrm>
            <a:off x="4482663" y="1633484"/>
            <a:ext cx="198973" cy="248716"/>
            <a:chOff x="4482663" y="1633484"/>
            <a:chExt cx="198973" cy="248716"/>
          </a:xfrm>
        </p:grpSpPr>
        <p:sp>
          <p:nvSpPr>
            <p:cNvPr id="32" name="Oval 31"/>
            <p:cNvSpPr/>
            <p:nvPr/>
          </p:nvSpPr>
          <p:spPr>
            <a:xfrm>
              <a:off x="4482663" y="1633484"/>
              <a:ext cx="198973" cy="198973"/>
            </a:xfrm>
            <a:prstGeom prst="ellipse">
              <a:avLst/>
            </a:prstGeom>
            <a:noFill/>
            <a:ln w="19050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541184" y="1826605"/>
              <a:ext cx="81930" cy="20482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549962" y="1861718"/>
              <a:ext cx="64373" cy="20482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36" name="Chevron 35"/>
          <p:cNvSpPr/>
          <p:nvPr/>
        </p:nvSpPr>
        <p:spPr>
          <a:xfrm>
            <a:off x="4289541" y="1975104"/>
            <a:ext cx="1742434" cy="384048"/>
          </a:xfrm>
          <a:prstGeom prst="chevron">
            <a:avLst>
              <a:gd name="adj" fmla="val 14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5845" y="1975104"/>
            <a:ext cx="15229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50">
                <a:solidFill>
                  <a:srgbClr val="FFFFFF"/>
                </a:solidFill>
                <a:latin typeface="Arial"/>
                <a:cs typeface="Arial"/>
              </a:rPr>
              <a:t>3  </a:t>
            </a:r>
            <a:r>
              <a:rPr lang="en-GB" sz="880" b="1" i="0" cap="all" spc="50">
                <a:solidFill>
                  <a:srgbClr val="FFFFFF"/>
                </a:solidFill>
                <a:latin typeface="Arial"/>
                <a:cs typeface="Arial"/>
              </a:rPr>
              <a:t>Inception</a:t>
            </a:r>
          </a:p>
        </p:txBody>
      </p:sp>
      <p:grpSp>
        <p:nvGrpSpPr>
          <p:cNvPr id="49" name="icon:gear"/>
          <p:cNvGrpSpPr/>
          <p:nvPr/>
        </p:nvGrpSpPr>
        <p:grpSpPr>
          <a:xfrm>
            <a:off x="6313611" y="1634947"/>
            <a:ext cx="277978" cy="277977"/>
            <a:chOff x="6313611" y="1634947"/>
            <a:chExt cx="277978" cy="277977"/>
          </a:xfrm>
        </p:grpSpPr>
        <p:sp>
          <p:nvSpPr>
            <p:cNvPr id="38" name="Rectangle 37"/>
            <p:cNvSpPr/>
            <p:nvPr/>
          </p:nvSpPr>
          <p:spPr>
            <a:xfrm>
              <a:off x="6547698" y="1751990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 rot="2700000">
              <a:off x="6513417" y="1834752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6430655" y="1869033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1" name="Rectangle 40"/>
            <p:cNvSpPr/>
            <p:nvPr/>
          </p:nvSpPr>
          <p:spPr>
            <a:xfrm rot="8100000">
              <a:off x="6347893" y="1834752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 rot="10800000">
              <a:off x="6313611" y="1751990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 rot="13500000">
              <a:off x="6347893" y="1669228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6430655" y="1634947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5" name="Rectangle 44"/>
            <p:cNvSpPr/>
            <p:nvPr/>
          </p:nvSpPr>
          <p:spPr>
            <a:xfrm rot="18900000">
              <a:off x="6513417" y="1669228"/>
              <a:ext cx="43891" cy="4389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6" name="Oval 45"/>
            <p:cNvSpPr/>
            <p:nvPr/>
          </p:nvSpPr>
          <p:spPr>
            <a:xfrm>
              <a:off x="6353114" y="1674449"/>
              <a:ext cx="198973" cy="198973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7" name="Oval 46"/>
            <p:cNvSpPr/>
            <p:nvPr/>
          </p:nvSpPr>
          <p:spPr>
            <a:xfrm>
              <a:off x="6408709" y="1730044"/>
              <a:ext cx="87782" cy="87782"/>
            </a:xfrm>
            <a:prstGeom prst="ellipse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8" name="Oval 47"/>
            <p:cNvSpPr/>
            <p:nvPr/>
          </p:nvSpPr>
          <p:spPr>
            <a:xfrm>
              <a:off x="6408709" y="1730044"/>
              <a:ext cx="87782" cy="8778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50" name="Chevron 49"/>
          <p:cNvSpPr/>
          <p:nvPr/>
        </p:nvSpPr>
        <p:spPr>
          <a:xfrm>
            <a:off x="6159992" y="1975104"/>
            <a:ext cx="1742434" cy="384048"/>
          </a:xfrm>
          <a:prstGeom prst="chevron">
            <a:avLst>
              <a:gd name="adj" fmla="val 14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6296" y="1975104"/>
            <a:ext cx="15229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50">
                <a:solidFill>
                  <a:srgbClr val="FFFFFF"/>
                </a:solidFill>
                <a:latin typeface="Arial"/>
                <a:cs typeface="Arial"/>
              </a:rPr>
              <a:t>4  </a:t>
            </a:r>
            <a:r>
              <a:rPr lang="en-GB" sz="880" b="1" i="0" cap="all" spc="50">
                <a:solidFill>
                  <a:srgbClr val="FFFFFF"/>
                </a:solidFill>
                <a:latin typeface="Arial"/>
                <a:cs typeface="Arial"/>
              </a:rPr>
              <a:t>Implement</a:t>
            </a:r>
          </a:p>
        </p:txBody>
      </p:sp>
      <p:sp>
        <p:nvSpPr>
          <p:cNvPr id="52" name="Freeform 51"/>
          <p:cNvSpPr/>
          <p:nvPr/>
        </p:nvSpPr>
        <p:spPr>
          <a:xfrm>
            <a:off x="8200156" y="1645188"/>
            <a:ext cx="245791" cy="269199"/>
          </a:xfrm>
          <a:custGeom>
            <a:avLst/>
            <a:gdLst/>
            <a:ahLst/>
            <a:cxnLst/>
            <a:rect l="l" t="t" r="r" b="b"/>
            <a:pathLst>
              <a:path w="245791" h="269199">
                <a:moveTo>
                  <a:pt x="0" y="0"/>
                </a:moveTo>
                <a:lnTo>
                  <a:pt x="245791" y="0"/>
                </a:lnTo>
                <a:lnTo>
                  <a:pt x="245791" y="146304"/>
                </a:lnTo>
                <a:lnTo>
                  <a:pt x="122895" y="269199"/>
                </a:lnTo>
                <a:lnTo>
                  <a:pt x="0" y="146304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hevron 52"/>
          <p:cNvSpPr/>
          <p:nvPr/>
        </p:nvSpPr>
        <p:spPr>
          <a:xfrm>
            <a:off x="8030443" y="1975104"/>
            <a:ext cx="1742434" cy="384048"/>
          </a:xfrm>
          <a:prstGeom prst="chevron">
            <a:avLst>
              <a:gd name="adj" fmla="val 14000"/>
            </a:avLst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76747" y="1975104"/>
            <a:ext cx="15229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50">
                <a:solidFill>
                  <a:srgbClr val="FFFFFF"/>
                </a:solidFill>
                <a:latin typeface="Arial"/>
                <a:cs typeface="Arial"/>
              </a:rPr>
              <a:t>5  </a:t>
            </a:r>
            <a:r>
              <a:rPr lang="en-GB" sz="880" b="1" i="0" cap="all" spc="50">
                <a:solidFill>
                  <a:srgbClr val="FFFFFF"/>
                </a:solidFill>
                <a:latin typeface="Arial"/>
                <a:cs typeface="Arial"/>
              </a:rPr>
              <a:t>Assure quality</a:t>
            </a:r>
          </a:p>
        </p:txBody>
      </p:sp>
      <p:sp>
        <p:nvSpPr>
          <p:cNvPr id="55" name="Freeform 54"/>
          <p:cNvSpPr/>
          <p:nvPr/>
        </p:nvSpPr>
        <p:spPr>
          <a:xfrm>
            <a:off x="10058902" y="1674449"/>
            <a:ext cx="251643" cy="234086"/>
          </a:xfrm>
          <a:custGeom>
            <a:avLst/>
            <a:gdLst/>
            <a:ahLst/>
            <a:cxnLst/>
            <a:rect l="l" t="t" r="r" b="b"/>
            <a:pathLst>
              <a:path w="251643" h="234086">
                <a:moveTo>
                  <a:pt x="0" y="187269"/>
                </a:moveTo>
                <a:lnTo>
                  <a:pt x="93635" y="81930"/>
                </a:lnTo>
                <a:lnTo>
                  <a:pt x="152157" y="140452"/>
                </a:lnTo>
                <a:lnTo>
                  <a:pt x="251643" y="0"/>
                </a:lnTo>
                <a:lnTo>
                  <a:pt x="251643" y="76078"/>
                </a:lnTo>
                <a:lnTo>
                  <a:pt x="152157" y="216530"/>
                </a:lnTo>
                <a:lnTo>
                  <a:pt x="93635" y="158008"/>
                </a:lnTo>
                <a:lnTo>
                  <a:pt x="0" y="234086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hevron 55"/>
          <p:cNvSpPr/>
          <p:nvPr/>
        </p:nvSpPr>
        <p:spPr>
          <a:xfrm>
            <a:off x="9900894" y="1975104"/>
            <a:ext cx="1742434" cy="384048"/>
          </a:xfrm>
          <a:prstGeom prst="chevron">
            <a:avLst>
              <a:gd name="adj" fmla="val 14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047198" y="1975104"/>
            <a:ext cx="152297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50">
                <a:solidFill>
                  <a:srgbClr val="FFFFFF"/>
                </a:solidFill>
                <a:latin typeface="Arial"/>
                <a:cs typeface="Arial"/>
              </a:rPr>
              <a:t>6  </a:t>
            </a:r>
            <a:r>
              <a:rPr lang="en-GB" sz="880" b="1" i="0" cap="all" spc="50">
                <a:solidFill>
                  <a:srgbClr val="FFFFFF"/>
                </a:solidFill>
                <a:latin typeface="Arial"/>
                <a:cs typeface="Arial"/>
              </a:rPr>
              <a:t>Accept and use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2468880"/>
            <a:ext cx="174243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2468880"/>
            <a:ext cx="1742434" cy="36576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4944" y="2615184"/>
            <a:ext cx="1468114" cy="179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>
                <a:solidFill>
                  <a:srgbClr val="374EA2"/>
                </a:solidFill>
                <a:latin typeface="Arial"/>
                <a:cs typeface="Arial"/>
              </a:rPr>
              <a:t>Define:</a:t>
            </a:r>
          </a:p>
        </p:txBody>
      </p:sp>
      <p:sp>
        <p:nvSpPr>
          <p:cNvPr id="61" name="Freeform 60"/>
          <p:cNvSpPr/>
          <p:nvPr/>
        </p:nvSpPr>
        <p:spPr>
          <a:xfrm>
            <a:off x="703722" y="3011835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6112" y="2904286"/>
            <a:ext cx="1266946" cy="356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Clear decision and evidence question</a:t>
            </a:r>
          </a:p>
        </p:txBody>
      </p:sp>
      <p:sp>
        <p:nvSpPr>
          <p:cNvPr id="63" name="Freeform 62"/>
          <p:cNvSpPr/>
          <p:nvPr/>
        </p:nvSpPr>
        <p:spPr>
          <a:xfrm>
            <a:off x="703722" y="3368116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7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7"/>
                </a:lnTo>
                <a:lnTo>
                  <a:pt x="0" y="96561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6112" y="3260567"/>
            <a:ext cx="1266946" cy="356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Methodological expectations</a:t>
            </a:r>
          </a:p>
        </p:txBody>
      </p:sp>
      <p:sp>
        <p:nvSpPr>
          <p:cNvPr id="65" name="Freeform 64"/>
          <p:cNvSpPr/>
          <p:nvPr/>
        </p:nvSpPr>
        <p:spPr>
          <a:xfrm>
            <a:off x="703722" y="3724397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7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6112" y="3616848"/>
            <a:ext cx="1266946" cy="356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Deliverables and milestones</a:t>
            </a:r>
          </a:p>
        </p:txBody>
      </p:sp>
      <p:sp>
        <p:nvSpPr>
          <p:cNvPr id="67" name="Freeform 66"/>
          <p:cNvSpPr/>
          <p:nvPr/>
        </p:nvSpPr>
        <p:spPr>
          <a:xfrm>
            <a:off x="703722" y="4080678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7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6112" y="3973129"/>
            <a:ext cx="1266946" cy="356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Ethics and data protection requirements</a:t>
            </a:r>
          </a:p>
        </p:txBody>
      </p:sp>
      <p:sp>
        <p:nvSpPr>
          <p:cNvPr id="69" name="Freeform 68"/>
          <p:cNvSpPr/>
          <p:nvPr/>
        </p:nvSpPr>
        <p:spPr>
          <a:xfrm>
            <a:off x="703722" y="4384852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40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96112" y="4329410"/>
            <a:ext cx="1266946" cy="2520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Required expertise</a:t>
            </a:r>
          </a:p>
        </p:txBody>
      </p:sp>
      <p:sp>
        <p:nvSpPr>
          <p:cNvPr id="71" name="Freeform 70"/>
          <p:cNvSpPr/>
          <p:nvPr/>
        </p:nvSpPr>
        <p:spPr>
          <a:xfrm>
            <a:off x="703722" y="4689027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6112" y="4581479"/>
            <a:ext cx="1266946" cy="356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Data ownership and dissemination provisions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19090" y="2468880"/>
            <a:ext cx="174243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19090" y="2468880"/>
            <a:ext cx="1742434" cy="36576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565394" y="2615184"/>
            <a:ext cx="1468114" cy="179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>
                <a:solidFill>
                  <a:srgbClr val="0E8F9E"/>
                </a:solidFill>
                <a:latin typeface="Arial"/>
                <a:cs typeface="Arial"/>
              </a:rPr>
              <a:t>Assess:</a:t>
            </a:r>
          </a:p>
        </p:txBody>
      </p:sp>
      <p:sp>
        <p:nvSpPr>
          <p:cNvPr id="76" name="Freeform 75"/>
          <p:cNvSpPr/>
          <p:nvPr/>
        </p:nvSpPr>
        <p:spPr>
          <a:xfrm>
            <a:off x="2574173" y="2992800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766562" y="2904286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Technical quality</a:t>
            </a:r>
          </a:p>
        </p:txBody>
      </p:sp>
      <p:sp>
        <p:nvSpPr>
          <p:cNvPr id="78" name="Freeform 77"/>
          <p:cNvSpPr/>
          <p:nvPr/>
        </p:nvSpPr>
        <p:spPr>
          <a:xfrm>
            <a:off x="2574173" y="3311011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766562" y="3222498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Relevant experience</a:t>
            </a:r>
          </a:p>
        </p:txBody>
      </p:sp>
      <p:sp>
        <p:nvSpPr>
          <p:cNvPr id="80" name="Freeform 79"/>
          <p:cNvSpPr/>
          <p:nvPr/>
        </p:nvSpPr>
        <p:spPr>
          <a:xfrm>
            <a:off x="2574173" y="3629223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7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66562" y="3540709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Team capability</a:t>
            </a:r>
          </a:p>
        </p:txBody>
      </p:sp>
      <p:sp>
        <p:nvSpPr>
          <p:cNvPr id="82" name="Freeform 81"/>
          <p:cNvSpPr/>
          <p:nvPr/>
        </p:nvSpPr>
        <p:spPr>
          <a:xfrm>
            <a:off x="2574173" y="3947434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7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66562" y="3858920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Methodology</a:t>
            </a:r>
          </a:p>
        </p:txBody>
      </p:sp>
      <p:sp>
        <p:nvSpPr>
          <p:cNvPr id="84" name="Freeform 83"/>
          <p:cNvSpPr/>
          <p:nvPr/>
        </p:nvSpPr>
        <p:spPr>
          <a:xfrm>
            <a:off x="2574173" y="4265645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766562" y="4177131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Value for money</a:t>
            </a:r>
          </a:p>
        </p:txBody>
      </p:sp>
      <p:sp>
        <p:nvSpPr>
          <p:cNvPr id="86" name="Freeform 85"/>
          <p:cNvSpPr/>
          <p:nvPr/>
        </p:nvSpPr>
        <p:spPr>
          <a:xfrm>
            <a:off x="2574173" y="4583856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7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766562" y="4495342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Independence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89541" y="2468880"/>
            <a:ext cx="174243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89541" y="2468880"/>
            <a:ext cx="1742434" cy="36576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435845" y="2615184"/>
            <a:ext cx="1468114" cy="179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>
                <a:solidFill>
                  <a:srgbClr val="F26A21"/>
                </a:solidFill>
                <a:latin typeface="Arial"/>
                <a:cs typeface="Arial"/>
              </a:rPr>
              <a:t>Approve:</a:t>
            </a:r>
          </a:p>
        </p:txBody>
      </p:sp>
      <p:sp>
        <p:nvSpPr>
          <p:cNvPr id="91" name="Freeform 90"/>
          <p:cNvSpPr/>
          <p:nvPr/>
        </p:nvSpPr>
        <p:spPr>
          <a:xfrm>
            <a:off x="4444624" y="2970843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6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637013" y="2904286"/>
            <a:ext cx="1266946" cy="274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Refined methodology</a:t>
            </a:r>
          </a:p>
        </p:txBody>
      </p:sp>
      <p:sp>
        <p:nvSpPr>
          <p:cNvPr id="93" name="Freeform 92"/>
          <p:cNvSpPr/>
          <p:nvPr/>
        </p:nvSpPr>
        <p:spPr>
          <a:xfrm>
            <a:off x="4444624" y="3301839"/>
            <a:ext cx="125821" cy="128748"/>
          </a:xfrm>
          <a:custGeom>
            <a:avLst/>
            <a:gdLst/>
            <a:ahLst/>
            <a:cxnLst/>
            <a:rect l="l" t="t" r="r" b="b"/>
            <a:pathLst>
              <a:path w="125821" h="128748">
                <a:moveTo>
                  <a:pt x="0" y="58522"/>
                </a:moveTo>
                <a:lnTo>
                  <a:pt x="32186" y="90709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637013" y="3178582"/>
            <a:ext cx="1266946" cy="3876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Sampling framework where relevant</a:t>
            </a:r>
          </a:p>
        </p:txBody>
      </p:sp>
      <p:sp>
        <p:nvSpPr>
          <p:cNvPr id="95" name="Freeform 94"/>
          <p:cNvSpPr/>
          <p:nvPr/>
        </p:nvSpPr>
        <p:spPr>
          <a:xfrm>
            <a:off x="4444624" y="3632836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6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637013" y="3566279"/>
            <a:ext cx="1266946" cy="274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Tools</a:t>
            </a:r>
          </a:p>
        </p:txBody>
      </p:sp>
      <p:sp>
        <p:nvSpPr>
          <p:cNvPr id="97" name="Freeform 96"/>
          <p:cNvSpPr/>
          <p:nvPr/>
        </p:nvSpPr>
        <p:spPr>
          <a:xfrm>
            <a:off x="4444624" y="3907132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6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637013" y="3840575"/>
            <a:ext cx="1266946" cy="274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Analysis plan</a:t>
            </a:r>
          </a:p>
        </p:txBody>
      </p:sp>
      <p:sp>
        <p:nvSpPr>
          <p:cNvPr id="99" name="Freeform 98"/>
          <p:cNvSpPr/>
          <p:nvPr/>
        </p:nvSpPr>
        <p:spPr>
          <a:xfrm>
            <a:off x="4444624" y="4181428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6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637013" y="4114871"/>
            <a:ext cx="1266946" cy="274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Workplan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4444624" y="4455724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6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637013" y="4389167"/>
            <a:ext cx="1266946" cy="274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Quality assurance plan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4444624" y="4730020"/>
            <a:ext cx="125821" cy="128747"/>
          </a:xfrm>
          <a:custGeom>
            <a:avLst/>
            <a:gdLst/>
            <a:ahLst/>
            <a:cxnLst/>
            <a:rect l="l" t="t" r="r" b="b"/>
            <a:pathLst>
              <a:path w="125821" h="128747">
                <a:moveTo>
                  <a:pt x="0" y="58521"/>
                </a:moveTo>
                <a:lnTo>
                  <a:pt x="32186" y="90708"/>
                </a:lnTo>
                <a:lnTo>
                  <a:pt x="125821" y="0"/>
                </a:lnTo>
                <a:lnTo>
                  <a:pt x="125821" y="38039"/>
                </a:lnTo>
                <a:lnTo>
                  <a:pt x="32186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637013" y="4663463"/>
            <a:ext cx="1266946" cy="274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Ethics protocol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59992" y="2468880"/>
            <a:ext cx="174243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6159992" y="2468880"/>
            <a:ext cx="1742434" cy="3657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306296" y="2615184"/>
            <a:ext cx="1468114" cy="179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>
                <a:solidFill>
                  <a:srgbClr val="1CABE2"/>
                </a:solidFill>
                <a:latin typeface="Arial"/>
                <a:cs typeface="Arial"/>
              </a:rPr>
              <a:t>UNICEF actively monitors: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6315074" y="2992227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507464" y="2904286"/>
            <a:ext cx="1266946" cy="317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Training and piloting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6315074" y="3374834"/>
            <a:ext cx="125822" cy="128747"/>
          </a:xfrm>
          <a:custGeom>
            <a:avLst/>
            <a:gdLst/>
            <a:ahLst/>
            <a:cxnLst/>
            <a:rect l="l" t="t" r="r" b="b"/>
            <a:pathLst>
              <a:path w="125822" h="128747">
                <a:moveTo>
                  <a:pt x="0" y="58521"/>
                </a:moveTo>
                <a:lnTo>
                  <a:pt x="32187" y="90708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507464" y="3221351"/>
            <a:ext cx="1266946" cy="4481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Fieldwork and data collection</a:t>
            </a:r>
          </a:p>
        </p:txBody>
      </p:sp>
      <p:sp>
        <p:nvSpPr>
          <p:cNvPr id="112" name="Freeform 111"/>
          <p:cNvSpPr/>
          <p:nvPr/>
        </p:nvSpPr>
        <p:spPr>
          <a:xfrm>
            <a:off x="6315074" y="3757440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507464" y="3669499"/>
            <a:ext cx="1266946" cy="317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Data quality indicators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6315074" y="4074505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507464" y="3986564"/>
            <a:ext cx="1266946" cy="317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Protocol compliance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6315074" y="4391570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507464" y="4303629"/>
            <a:ext cx="1266946" cy="317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Emerging risks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6315074" y="4708635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507464" y="4620694"/>
            <a:ext cx="1266946" cy="3170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Preliminary analysis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30443" y="2468880"/>
            <a:ext cx="174243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8030443" y="2468880"/>
            <a:ext cx="1742434" cy="36576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176747" y="2615184"/>
            <a:ext cx="1468114" cy="303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>
                <a:solidFill>
                  <a:srgbClr val="00833D"/>
                </a:solidFill>
                <a:latin typeface="Arial"/>
                <a:cs typeface="Arial"/>
              </a:rPr>
              <a:t>Quality checks at key points: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8185525" y="3117311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377915" y="3028797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Review of tools and data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8185525" y="3435522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377915" y="3347008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Routine progress reviews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8185525" y="3819512"/>
            <a:ext cx="125822" cy="128747"/>
          </a:xfrm>
          <a:custGeom>
            <a:avLst/>
            <a:gdLst/>
            <a:ahLst/>
            <a:cxnLst/>
            <a:rect l="l" t="t" r="r" b="b"/>
            <a:pathLst>
              <a:path w="125822" h="128747">
                <a:moveTo>
                  <a:pt x="0" y="58521"/>
                </a:moveTo>
                <a:lnTo>
                  <a:pt x="32187" y="90708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377915" y="3665220"/>
            <a:ext cx="1266946" cy="4497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Back checks and verification</a:t>
            </a:r>
          </a:p>
        </p:txBody>
      </p:sp>
      <p:sp>
        <p:nvSpPr>
          <p:cNvPr id="129" name="Freeform 128"/>
          <p:cNvSpPr/>
          <p:nvPr/>
        </p:nvSpPr>
        <p:spPr>
          <a:xfrm>
            <a:off x="8185525" y="4203501"/>
            <a:ext cx="125822" cy="128748"/>
          </a:xfrm>
          <a:custGeom>
            <a:avLst/>
            <a:gdLst/>
            <a:ahLst/>
            <a:cxnLst/>
            <a:rect l="l" t="t" r="r" b="b"/>
            <a:pathLst>
              <a:path w="125822" h="128748">
                <a:moveTo>
                  <a:pt x="0" y="58522"/>
                </a:moveTo>
                <a:lnTo>
                  <a:pt x="32187" y="90709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8"/>
                </a:lnTo>
                <a:lnTo>
                  <a:pt x="0" y="96561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377915" y="4114987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Data and analysis review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8185525" y="4521713"/>
            <a:ext cx="125822" cy="128747"/>
          </a:xfrm>
          <a:custGeom>
            <a:avLst/>
            <a:gdLst/>
            <a:ahLst/>
            <a:cxnLst/>
            <a:rect l="l" t="t" r="r" b="b"/>
            <a:pathLst>
              <a:path w="125822" h="128747">
                <a:moveTo>
                  <a:pt x="0" y="58521"/>
                </a:moveTo>
                <a:lnTo>
                  <a:pt x="32187" y="90708"/>
                </a:lnTo>
                <a:lnTo>
                  <a:pt x="125822" y="0"/>
                </a:lnTo>
                <a:lnTo>
                  <a:pt x="125822" y="38039"/>
                </a:lnTo>
                <a:lnTo>
                  <a:pt x="32187" y="128747"/>
                </a:lnTo>
                <a:lnTo>
                  <a:pt x="0" y="96560"/>
                </a:lnTo>
                <a:close/>
              </a:path>
            </a:pathLst>
          </a:cu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377915" y="4433199"/>
            <a:ext cx="1266946" cy="3182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404041"/>
                </a:solidFill>
                <a:latin typeface="Arial"/>
                <a:cs typeface="Arial"/>
              </a:rPr>
              <a:t>Technical advisory input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900894" y="2468880"/>
            <a:ext cx="1742434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9900894" y="2468880"/>
            <a:ext cx="1742434" cy="36576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047198" y="2615184"/>
            <a:ext cx="1468114" cy="179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>
                <a:solidFill>
                  <a:srgbClr val="6A1E74"/>
                </a:solidFill>
                <a:latin typeface="Arial"/>
                <a:cs typeface="Arial"/>
              </a:rPr>
              <a:t>From evidence to action: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028910" y="2867710"/>
            <a:ext cx="148640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43" name="icon:db"/>
          <p:cNvGrpSpPr/>
          <p:nvPr/>
        </p:nvGrpSpPr>
        <p:grpSpPr>
          <a:xfrm>
            <a:off x="10114864" y="2924952"/>
            <a:ext cx="138988" cy="159836"/>
            <a:chOff x="10114864" y="2924952"/>
            <a:chExt cx="138988" cy="159836"/>
          </a:xfrm>
        </p:grpSpPr>
        <p:sp>
          <p:nvSpPr>
            <p:cNvPr id="137" name="Rectangle 136"/>
            <p:cNvSpPr/>
            <p:nvPr/>
          </p:nvSpPr>
          <p:spPr>
            <a:xfrm>
              <a:off x="10114864" y="2945800"/>
              <a:ext cx="138988" cy="118140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8" name="Oval 137"/>
            <p:cNvSpPr/>
            <p:nvPr/>
          </p:nvSpPr>
          <p:spPr>
            <a:xfrm>
              <a:off x="10114864" y="2924952"/>
              <a:ext cx="138988" cy="41696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9" name="Oval 138"/>
            <p:cNvSpPr/>
            <p:nvPr/>
          </p:nvSpPr>
          <p:spPr>
            <a:xfrm>
              <a:off x="10125288" y="2935376"/>
              <a:ext cx="118140" cy="208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0" name="Oval 139"/>
            <p:cNvSpPr/>
            <p:nvPr/>
          </p:nvSpPr>
          <p:spPr>
            <a:xfrm>
              <a:off x="10114864" y="2987497"/>
              <a:ext cx="138988" cy="382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1" name="Oval 140"/>
            <p:cNvSpPr/>
            <p:nvPr/>
          </p:nvSpPr>
          <p:spPr>
            <a:xfrm>
              <a:off x="10114864" y="3032668"/>
              <a:ext cx="138988" cy="382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2" name="Oval 141"/>
            <p:cNvSpPr/>
            <p:nvPr/>
          </p:nvSpPr>
          <p:spPr>
            <a:xfrm>
              <a:off x="10114864" y="3043092"/>
              <a:ext cx="138988" cy="41696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10321518" y="2867710"/>
            <a:ext cx="113893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 b="0" i="0">
                <a:solidFill>
                  <a:srgbClr val="404041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766625" y="3142030"/>
            <a:ext cx="10972" cy="73152"/>
          </a:xfrm>
          <a:prstGeom prst="rect">
            <a:avLst/>
          </a:prstGeom>
          <a:solidFill>
            <a:srgbClr val="C6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0028910" y="3215182"/>
            <a:ext cx="148640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0" name="icon:chart"/>
          <p:cNvGrpSpPr/>
          <p:nvPr/>
        </p:nvGrpSpPr>
        <p:grpSpPr>
          <a:xfrm>
            <a:off x="10111389" y="3275898"/>
            <a:ext cx="142463" cy="149413"/>
            <a:chOff x="10111389" y="3275898"/>
            <a:chExt cx="142463" cy="149413"/>
          </a:xfrm>
        </p:grpSpPr>
        <p:sp>
          <p:nvSpPr>
            <p:cNvPr id="147" name="Rectangle 146"/>
            <p:cNvSpPr/>
            <p:nvPr/>
          </p:nvSpPr>
          <p:spPr>
            <a:xfrm>
              <a:off x="10111389" y="3348868"/>
              <a:ext cx="31272" cy="76443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0166985" y="3310646"/>
              <a:ext cx="31272" cy="114665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0222580" y="3275898"/>
              <a:ext cx="31272" cy="149412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10321518" y="3215182"/>
            <a:ext cx="113893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 b="0" i="0">
                <a:solidFill>
                  <a:srgbClr val="404041"/>
                </a:solidFill>
                <a:latin typeface="Arial"/>
                <a:cs typeface="Arial"/>
              </a:rPr>
              <a:t>Analysis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0766625" y="3489502"/>
            <a:ext cx="10972" cy="73152"/>
          </a:xfrm>
          <a:prstGeom prst="rect">
            <a:avLst/>
          </a:prstGeom>
          <a:solidFill>
            <a:srgbClr val="C6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028910" y="3562654"/>
            <a:ext cx="148640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8" name="icon:doc"/>
          <p:cNvGrpSpPr/>
          <p:nvPr/>
        </p:nvGrpSpPr>
        <p:grpSpPr>
          <a:xfrm>
            <a:off x="10128763" y="3619896"/>
            <a:ext cx="114665" cy="159837"/>
            <a:chOff x="10128763" y="3619896"/>
            <a:chExt cx="114665" cy="159837"/>
          </a:xfrm>
        </p:grpSpPr>
        <p:sp>
          <p:nvSpPr>
            <p:cNvPr id="154" name="Freeform 153"/>
            <p:cNvSpPr/>
            <p:nvPr/>
          </p:nvSpPr>
          <p:spPr>
            <a:xfrm>
              <a:off x="10128763" y="3619896"/>
              <a:ext cx="114665" cy="159837"/>
            </a:xfrm>
            <a:custGeom>
              <a:avLst/>
              <a:gdLst/>
              <a:ahLst/>
              <a:cxnLst/>
              <a:rect l="l" t="t" r="r" b="b"/>
              <a:pathLst>
                <a:path w="114665" h="159837">
                  <a:moveTo>
                    <a:pt x="0" y="0"/>
                  </a:moveTo>
                  <a:lnTo>
                    <a:pt x="79918" y="0"/>
                  </a:lnTo>
                  <a:lnTo>
                    <a:pt x="114665" y="38222"/>
                  </a:lnTo>
                  <a:lnTo>
                    <a:pt x="114665" y="159837"/>
                  </a:lnTo>
                  <a:lnTo>
                    <a:pt x="0" y="159837"/>
                  </a:lnTo>
                  <a:close/>
                </a:path>
              </a:pathLst>
            </a:custGeom>
            <a:noFill/>
            <a:ln w="12700">
              <a:solidFill>
                <a:srgbClr val="6A1E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0149611" y="3682441"/>
              <a:ext cx="69494" cy="7818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149611" y="3710238"/>
              <a:ext cx="69494" cy="7818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0149611" y="3738036"/>
              <a:ext cx="48646" cy="7818"/>
            </a:xfrm>
            <a:prstGeom prst="rect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59" name="TextBox 158"/>
          <p:cNvSpPr txBox="1"/>
          <p:nvPr/>
        </p:nvSpPr>
        <p:spPr>
          <a:xfrm>
            <a:off x="10321518" y="3562654"/>
            <a:ext cx="113893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 b="0" i="0">
                <a:solidFill>
                  <a:srgbClr val="404041"/>
                </a:solidFill>
                <a:latin typeface="Arial"/>
                <a:cs typeface="Arial"/>
              </a:rPr>
              <a:t>Draft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766625" y="3836974"/>
            <a:ext cx="10972" cy="73152"/>
          </a:xfrm>
          <a:prstGeom prst="rect">
            <a:avLst/>
          </a:prstGeom>
          <a:solidFill>
            <a:srgbClr val="C6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0028910" y="3910126"/>
            <a:ext cx="148640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68" name="icon:people"/>
          <p:cNvGrpSpPr/>
          <p:nvPr/>
        </p:nvGrpSpPr>
        <p:grpSpPr>
          <a:xfrm>
            <a:off x="10094015" y="3963893"/>
            <a:ext cx="180685" cy="142463"/>
            <a:chOff x="10094015" y="3963893"/>
            <a:chExt cx="180685" cy="142463"/>
          </a:xfrm>
        </p:grpSpPr>
        <p:sp>
          <p:nvSpPr>
            <p:cNvPr id="162" name="Oval 161"/>
            <p:cNvSpPr/>
            <p:nvPr/>
          </p:nvSpPr>
          <p:spPr>
            <a:xfrm>
              <a:off x="10097490" y="3977792"/>
              <a:ext cx="45171" cy="45171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3" name="Round Same Side Corner Rectangle 162"/>
            <p:cNvSpPr/>
            <p:nvPr/>
          </p:nvSpPr>
          <p:spPr>
            <a:xfrm>
              <a:off x="10094015" y="4029913"/>
              <a:ext cx="52120" cy="5907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4" name="Oval 163"/>
            <p:cNvSpPr/>
            <p:nvPr/>
          </p:nvSpPr>
          <p:spPr>
            <a:xfrm>
              <a:off x="10226055" y="3977792"/>
              <a:ext cx="45171" cy="45171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5" name="Round Same Side Corner Rectangle 164"/>
            <p:cNvSpPr/>
            <p:nvPr/>
          </p:nvSpPr>
          <p:spPr>
            <a:xfrm>
              <a:off x="10222580" y="4029913"/>
              <a:ext cx="52120" cy="5907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6" name="Oval 165"/>
            <p:cNvSpPr/>
            <p:nvPr/>
          </p:nvSpPr>
          <p:spPr>
            <a:xfrm>
              <a:off x="10154823" y="3963893"/>
              <a:ext cx="59070" cy="59070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7" name="Round Same Side Corner Rectangle 166"/>
            <p:cNvSpPr/>
            <p:nvPr/>
          </p:nvSpPr>
          <p:spPr>
            <a:xfrm>
              <a:off x="10144399" y="4029913"/>
              <a:ext cx="79918" cy="7644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10321518" y="3910126"/>
            <a:ext cx="113893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 b="0" i="0">
                <a:solidFill>
                  <a:srgbClr val="404041"/>
                </a:solidFill>
                <a:latin typeface="Arial"/>
                <a:cs typeface="Arial"/>
              </a:rPr>
              <a:t>Validation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66625" y="4184446"/>
            <a:ext cx="10972" cy="73152"/>
          </a:xfrm>
          <a:prstGeom prst="rect">
            <a:avLst/>
          </a:prstGeom>
          <a:solidFill>
            <a:srgbClr val="C6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0028910" y="4257598"/>
            <a:ext cx="1486402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74" name="icon:book"/>
          <p:cNvGrpSpPr/>
          <p:nvPr/>
        </p:nvGrpSpPr>
        <p:grpSpPr>
          <a:xfrm>
            <a:off x="10104440" y="4335688"/>
            <a:ext cx="159837" cy="128565"/>
            <a:chOff x="10104440" y="4335688"/>
            <a:chExt cx="159837" cy="128565"/>
          </a:xfrm>
        </p:grpSpPr>
        <p:sp>
          <p:nvSpPr>
            <p:cNvPr id="172" name="Freeform 171"/>
            <p:cNvSpPr/>
            <p:nvPr/>
          </p:nvSpPr>
          <p:spPr>
            <a:xfrm>
              <a:off x="10104440" y="4335688"/>
              <a:ext cx="76443" cy="128565"/>
            </a:xfrm>
            <a:custGeom>
              <a:avLst/>
              <a:gdLst/>
              <a:ahLst/>
              <a:cxnLst/>
              <a:rect l="l" t="t" r="r" b="b"/>
              <a:pathLst>
                <a:path w="76443" h="128565">
                  <a:moveTo>
                    <a:pt x="0" y="0"/>
                  </a:moveTo>
                  <a:lnTo>
                    <a:pt x="76443" y="13899"/>
                  </a:lnTo>
                  <a:lnTo>
                    <a:pt x="76443" y="128565"/>
                  </a:lnTo>
                  <a:lnTo>
                    <a:pt x="0" y="114666"/>
                  </a:lnTo>
                  <a:close/>
                </a:path>
              </a:pathLst>
            </a:custGeom>
            <a:noFill/>
            <a:ln w="12700">
              <a:solidFill>
                <a:srgbClr val="6A1E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10187833" y="4335688"/>
              <a:ext cx="76444" cy="128565"/>
            </a:xfrm>
            <a:custGeom>
              <a:avLst/>
              <a:gdLst/>
              <a:ahLst/>
              <a:cxnLst/>
              <a:rect l="l" t="t" r="r" b="b"/>
              <a:pathLst>
                <a:path w="76444" h="128565">
                  <a:moveTo>
                    <a:pt x="76444" y="0"/>
                  </a:moveTo>
                  <a:lnTo>
                    <a:pt x="0" y="13899"/>
                  </a:lnTo>
                  <a:lnTo>
                    <a:pt x="0" y="128565"/>
                  </a:lnTo>
                  <a:lnTo>
                    <a:pt x="76444" y="114666"/>
                  </a:lnTo>
                  <a:close/>
                </a:path>
              </a:pathLst>
            </a:custGeom>
            <a:noFill/>
            <a:ln w="12700">
              <a:solidFill>
                <a:srgbClr val="6A1E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75" name="TextBox 174"/>
          <p:cNvSpPr txBox="1"/>
          <p:nvPr/>
        </p:nvSpPr>
        <p:spPr>
          <a:xfrm>
            <a:off x="10321518" y="4257598"/>
            <a:ext cx="113893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 b="0" i="0">
                <a:solidFill>
                  <a:srgbClr val="404041"/>
                </a:solidFill>
                <a:latin typeface="Arial"/>
                <a:cs typeface="Arial"/>
              </a:rPr>
              <a:t>Final products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766625" y="4531918"/>
            <a:ext cx="10972" cy="73152"/>
          </a:xfrm>
          <a:prstGeom prst="rect">
            <a:avLst/>
          </a:prstGeom>
          <a:solidFill>
            <a:srgbClr val="C6B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028910" y="4605070"/>
            <a:ext cx="1486402" cy="347472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80" name="icon:flag"/>
          <p:cNvGrpSpPr/>
          <p:nvPr/>
        </p:nvGrpSpPr>
        <p:grpSpPr>
          <a:xfrm>
            <a:off x="10121813" y="4698888"/>
            <a:ext cx="132040" cy="159837"/>
            <a:chOff x="10121813" y="4698888"/>
            <a:chExt cx="132040" cy="159837"/>
          </a:xfrm>
        </p:grpSpPr>
        <p:sp>
          <p:nvSpPr>
            <p:cNvPr id="178" name="Rectangle 177"/>
            <p:cNvSpPr/>
            <p:nvPr/>
          </p:nvSpPr>
          <p:spPr>
            <a:xfrm>
              <a:off x="10121813" y="4698888"/>
              <a:ext cx="12161" cy="159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10133975" y="4705837"/>
              <a:ext cx="119878" cy="55596"/>
            </a:xfrm>
            <a:custGeom>
              <a:avLst/>
              <a:gdLst/>
              <a:ahLst/>
              <a:cxnLst/>
              <a:rect l="l" t="t" r="r" b="b"/>
              <a:pathLst>
                <a:path w="119878" h="55596">
                  <a:moveTo>
                    <a:pt x="0" y="0"/>
                  </a:moveTo>
                  <a:lnTo>
                    <a:pt x="119878" y="27798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81" name="TextBox 180"/>
          <p:cNvSpPr txBox="1"/>
          <p:nvPr/>
        </p:nvSpPr>
        <p:spPr>
          <a:xfrm>
            <a:off x="10321518" y="4605070"/>
            <a:ext cx="113893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90" b="1" i="0">
                <a:solidFill>
                  <a:srgbClr val="FFFFFF"/>
                </a:solidFill>
                <a:latin typeface="Arial"/>
                <a:cs typeface="Arial"/>
              </a:rPr>
              <a:t>Management response and action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48640" y="5175504"/>
            <a:ext cx="11094689" cy="58521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548640" y="5175504"/>
            <a:ext cx="45720" cy="585216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68096" y="5175504"/>
            <a:ext cx="157276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cap="all" spc="90">
                <a:solidFill>
                  <a:srgbClr val="213063"/>
                </a:solidFill>
                <a:latin typeface="Arial"/>
                <a:cs typeface="Arial"/>
              </a:rPr>
              <a:t>UNICEF retains responsibility for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432304" y="5294376"/>
            <a:ext cx="9144" cy="347472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99" name="chip:gear"/>
          <p:cNvGrpSpPr/>
          <p:nvPr/>
        </p:nvGrpSpPr>
        <p:grpSpPr>
          <a:xfrm>
            <a:off x="2642616" y="5294376"/>
            <a:ext cx="347472" cy="347472"/>
            <a:chOff x="2642616" y="5294376"/>
            <a:chExt cx="347472" cy="347472"/>
          </a:xfrm>
        </p:grpSpPr>
        <p:sp>
          <p:nvSpPr>
            <p:cNvPr id="186" name="Oval 185"/>
            <p:cNvSpPr/>
            <p:nvPr/>
          </p:nvSpPr>
          <p:spPr>
            <a:xfrm>
              <a:off x="2642616" y="529437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98" name="icon:gear"/>
            <p:cNvGrpSpPr/>
            <p:nvPr/>
          </p:nvGrpSpPr>
          <p:grpSpPr>
            <a:xfrm>
              <a:off x="2733827" y="5385587"/>
              <a:ext cx="165049" cy="165049"/>
              <a:chOff x="2733827" y="5385587"/>
              <a:chExt cx="165049" cy="165049"/>
            </a:xfrm>
          </p:grpSpPr>
          <p:sp>
            <p:nvSpPr>
              <p:cNvPr id="187" name="Rectangle 186"/>
              <p:cNvSpPr/>
              <p:nvPr/>
            </p:nvSpPr>
            <p:spPr>
              <a:xfrm>
                <a:off x="2872816" y="5455081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Rectangle 187"/>
              <p:cNvSpPr/>
              <p:nvPr/>
            </p:nvSpPr>
            <p:spPr>
              <a:xfrm rot="2700000">
                <a:off x="2852461" y="5504221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Rectangle 188"/>
              <p:cNvSpPr/>
              <p:nvPr/>
            </p:nvSpPr>
            <p:spPr>
              <a:xfrm rot="5400000">
                <a:off x="2803321" y="5524576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Rectangle 189"/>
              <p:cNvSpPr/>
              <p:nvPr/>
            </p:nvSpPr>
            <p:spPr>
              <a:xfrm rot="8100000">
                <a:off x="2754181" y="5504221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Rectangle 190"/>
              <p:cNvSpPr/>
              <p:nvPr/>
            </p:nvSpPr>
            <p:spPr>
              <a:xfrm rot="10800000">
                <a:off x="2733827" y="5455081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Rectangle 191"/>
              <p:cNvSpPr/>
              <p:nvPr/>
            </p:nvSpPr>
            <p:spPr>
              <a:xfrm rot="13500000">
                <a:off x="2754181" y="5405941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Rectangle 192"/>
              <p:cNvSpPr/>
              <p:nvPr/>
            </p:nvSpPr>
            <p:spPr>
              <a:xfrm rot="16200000">
                <a:off x="2803321" y="5385587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Rectangle 193"/>
              <p:cNvSpPr/>
              <p:nvPr/>
            </p:nvSpPr>
            <p:spPr>
              <a:xfrm rot="18900000">
                <a:off x="2852461" y="5405941"/>
                <a:ext cx="26060" cy="260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Oval 194"/>
              <p:cNvSpPr/>
              <p:nvPr/>
            </p:nvSpPr>
            <p:spPr>
              <a:xfrm>
                <a:off x="2757281" y="5409041"/>
                <a:ext cx="118140" cy="11814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Oval 195"/>
              <p:cNvSpPr/>
              <p:nvPr/>
            </p:nvSpPr>
            <p:spPr>
              <a:xfrm>
                <a:off x="2790291" y="5442051"/>
                <a:ext cx="52120" cy="52120"/>
              </a:xfrm>
              <a:prstGeom prst="ellipse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Oval 196"/>
              <p:cNvSpPr/>
              <p:nvPr/>
            </p:nvSpPr>
            <p:spPr>
              <a:xfrm>
                <a:off x="2790291" y="5442051"/>
                <a:ext cx="52120" cy="5212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00" name="TextBox 199"/>
          <p:cNvSpPr txBox="1"/>
          <p:nvPr/>
        </p:nvSpPr>
        <p:spPr>
          <a:xfrm>
            <a:off x="3044952" y="5175504"/>
            <a:ext cx="105053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Technical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oversight</a:t>
            </a:r>
          </a:p>
        </p:txBody>
      </p:sp>
      <p:grpSp>
        <p:nvGrpSpPr>
          <p:cNvPr id="208" name="chip:scales"/>
          <p:cNvGrpSpPr/>
          <p:nvPr/>
        </p:nvGrpSpPr>
        <p:grpSpPr>
          <a:xfrm>
            <a:off x="4150354" y="5294376"/>
            <a:ext cx="347472" cy="347472"/>
            <a:chOff x="4150354" y="5294376"/>
            <a:chExt cx="347472" cy="347472"/>
          </a:xfrm>
        </p:grpSpPr>
        <p:sp>
          <p:nvSpPr>
            <p:cNvPr id="201" name="Oval 200"/>
            <p:cNvSpPr/>
            <p:nvPr/>
          </p:nvSpPr>
          <p:spPr>
            <a:xfrm>
              <a:off x="4150354" y="529437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07" name="icon:scales"/>
            <p:cNvGrpSpPr/>
            <p:nvPr/>
          </p:nvGrpSpPr>
          <p:grpSpPr>
            <a:xfrm>
              <a:off x="4247647" y="5391668"/>
              <a:ext cx="152887" cy="154624"/>
              <a:chOff x="4247647" y="5391668"/>
              <a:chExt cx="152887" cy="154624"/>
            </a:xfrm>
          </p:grpSpPr>
          <p:sp>
            <p:nvSpPr>
              <p:cNvPr id="202" name="Rectangle 201"/>
              <p:cNvSpPr/>
              <p:nvPr/>
            </p:nvSpPr>
            <p:spPr>
              <a:xfrm>
                <a:off x="4320616" y="5391668"/>
                <a:ext cx="7818" cy="1528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4247647" y="5409041"/>
                <a:ext cx="152887" cy="78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Freeform 203"/>
              <p:cNvSpPr/>
              <p:nvPr/>
            </p:nvSpPr>
            <p:spPr>
              <a:xfrm>
                <a:off x="4247647" y="5415991"/>
                <a:ext cx="48646" cy="41696"/>
              </a:xfrm>
              <a:custGeom>
                <a:avLst/>
                <a:gdLst/>
                <a:ahLst/>
                <a:cxnLst/>
                <a:rect l="l" t="t" r="r" b="b"/>
                <a:pathLst>
                  <a:path w="48646" h="41696">
                    <a:moveTo>
                      <a:pt x="0" y="41696"/>
                    </a:moveTo>
                    <a:lnTo>
                      <a:pt x="48646" y="41696"/>
                    </a:lnTo>
                    <a:lnTo>
                      <a:pt x="243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Freeform 204"/>
              <p:cNvSpPr/>
              <p:nvPr/>
            </p:nvSpPr>
            <p:spPr>
              <a:xfrm>
                <a:off x="4351888" y="5415991"/>
                <a:ext cx="48646" cy="41696"/>
              </a:xfrm>
              <a:custGeom>
                <a:avLst/>
                <a:gdLst/>
                <a:ahLst/>
                <a:cxnLst/>
                <a:rect l="l" t="t" r="r" b="b"/>
                <a:pathLst>
                  <a:path w="48646" h="41696">
                    <a:moveTo>
                      <a:pt x="0" y="41696"/>
                    </a:moveTo>
                    <a:lnTo>
                      <a:pt x="48646" y="41696"/>
                    </a:lnTo>
                    <a:lnTo>
                      <a:pt x="243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4285869" y="5537606"/>
                <a:ext cx="76443" cy="86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09" name="TextBox 208"/>
          <p:cNvSpPr txBox="1"/>
          <p:nvPr/>
        </p:nvSpPr>
        <p:spPr>
          <a:xfrm>
            <a:off x="4552690" y="5175504"/>
            <a:ext cx="105053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Ethical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compliance</a:t>
            </a:r>
          </a:p>
        </p:txBody>
      </p:sp>
      <p:grpSp>
        <p:nvGrpSpPr>
          <p:cNvPr id="214" name="chip:award"/>
          <p:cNvGrpSpPr/>
          <p:nvPr/>
        </p:nvGrpSpPr>
        <p:grpSpPr>
          <a:xfrm>
            <a:off x="5658093" y="5294376"/>
            <a:ext cx="347472" cy="347472"/>
            <a:chOff x="5658093" y="5294376"/>
            <a:chExt cx="347472" cy="347472"/>
          </a:xfrm>
        </p:grpSpPr>
        <p:sp>
          <p:nvSpPr>
            <p:cNvPr id="210" name="Oval 209"/>
            <p:cNvSpPr/>
            <p:nvPr/>
          </p:nvSpPr>
          <p:spPr>
            <a:xfrm>
              <a:off x="5658093" y="529437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13" name="icon:award"/>
            <p:cNvGrpSpPr/>
            <p:nvPr/>
          </p:nvGrpSpPr>
          <p:grpSpPr>
            <a:xfrm>
              <a:off x="5769284" y="5384718"/>
              <a:ext cx="125089" cy="166787"/>
              <a:chOff x="5769284" y="5384718"/>
              <a:chExt cx="125089" cy="166787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5769284" y="5384718"/>
                <a:ext cx="125089" cy="125089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Freeform 211"/>
              <p:cNvSpPr/>
              <p:nvPr/>
            </p:nvSpPr>
            <p:spPr>
              <a:xfrm>
                <a:off x="5786658" y="5495909"/>
                <a:ext cx="90343" cy="55596"/>
              </a:xfrm>
              <a:custGeom>
                <a:avLst/>
                <a:gdLst/>
                <a:ahLst/>
                <a:cxnLst/>
                <a:rect l="l" t="t" r="r" b="b"/>
                <a:pathLst>
                  <a:path w="90343" h="55596">
                    <a:moveTo>
                      <a:pt x="0" y="0"/>
                    </a:moveTo>
                    <a:lnTo>
                      <a:pt x="0" y="55596"/>
                    </a:lnTo>
                    <a:lnTo>
                      <a:pt x="45171" y="31273"/>
                    </a:lnTo>
                    <a:lnTo>
                      <a:pt x="90343" y="55596"/>
                    </a:lnTo>
                    <a:lnTo>
                      <a:pt x="903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15" name="TextBox 214"/>
          <p:cNvSpPr txBox="1"/>
          <p:nvPr/>
        </p:nvSpPr>
        <p:spPr>
          <a:xfrm>
            <a:off x="6060429" y="5175504"/>
            <a:ext cx="105053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Quality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assurance</a:t>
            </a:r>
          </a:p>
        </p:txBody>
      </p:sp>
      <p:grpSp>
        <p:nvGrpSpPr>
          <p:cNvPr id="225" name="chip:bank"/>
          <p:cNvGrpSpPr/>
          <p:nvPr/>
        </p:nvGrpSpPr>
        <p:grpSpPr>
          <a:xfrm>
            <a:off x="7165832" y="5294376"/>
            <a:ext cx="347472" cy="347472"/>
            <a:chOff x="7165832" y="5294376"/>
            <a:chExt cx="347472" cy="347472"/>
          </a:xfrm>
        </p:grpSpPr>
        <p:sp>
          <p:nvSpPr>
            <p:cNvPr id="216" name="Oval 215"/>
            <p:cNvSpPr/>
            <p:nvPr/>
          </p:nvSpPr>
          <p:spPr>
            <a:xfrm>
              <a:off x="7165832" y="529437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24" name="icon:bank"/>
            <p:cNvGrpSpPr/>
            <p:nvPr/>
          </p:nvGrpSpPr>
          <p:grpSpPr>
            <a:xfrm>
              <a:off x="7256175" y="5384718"/>
              <a:ext cx="166786" cy="163311"/>
              <a:chOff x="7256175" y="5384718"/>
              <a:chExt cx="166786" cy="163311"/>
            </a:xfrm>
          </p:grpSpPr>
          <p:sp>
            <p:nvSpPr>
              <p:cNvPr id="217" name="Isosceles Triangle 216"/>
              <p:cNvSpPr/>
              <p:nvPr/>
            </p:nvSpPr>
            <p:spPr>
              <a:xfrm>
                <a:off x="7256175" y="5384718"/>
                <a:ext cx="166786" cy="52120"/>
              </a:xfrm>
              <a:prstGeom prst="triangl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7256175" y="5440314"/>
                <a:ext cx="166786" cy="86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Rectangle 218"/>
              <p:cNvSpPr/>
              <p:nvPr/>
            </p:nvSpPr>
            <p:spPr>
              <a:xfrm>
                <a:off x="7277023" y="5457687"/>
                <a:ext cx="15636" cy="694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Rectangle 219"/>
              <p:cNvSpPr/>
              <p:nvPr/>
            </p:nvSpPr>
            <p:spPr>
              <a:xfrm>
                <a:off x="7316983" y="5457687"/>
                <a:ext cx="15636" cy="694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Rectangle 220"/>
              <p:cNvSpPr/>
              <p:nvPr/>
            </p:nvSpPr>
            <p:spPr>
              <a:xfrm>
                <a:off x="7356942" y="5457687"/>
                <a:ext cx="15636" cy="694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Rectangle 221"/>
              <p:cNvSpPr/>
              <p:nvPr/>
            </p:nvSpPr>
            <p:spPr>
              <a:xfrm>
                <a:off x="7393426" y="5457687"/>
                <a:ext cx="15636" cy="694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Rectangle 222"/>
              <p:cNvSpPr/>
              <p:nvPr/>
            </p:nvSpPr>
            <p:spPr>
              <a:xfrm>
                <a:off x="7256175" y="5530656"/>
                <a:ext cx="166786" cy="1737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26" name="TextBox 225"/>
          <p:cNvSpPr txBox="1"/>
          <p:nvPr/>
        </p:nvSpPr>
        <p:spPr>
          <a:xfrm>
            <a:off x="7568168" y="5175504"/>
            <a:ext cx="105053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Government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coordination</a:t>
            </a:r>
          </a:p>
        </p:txBody>
      </p:sp>
      <p:grpSp>
        <p:nvGrpSpPr>
          <p:cNvPr id="233" name="chip:doc"/>
          <p:cNvGrpSpPr/>
          <p:nvPr/>
        </p:nvGrpSpPr>
        <p:grpSpPr>
          <a:xfrm>
            <a:off x="8673571" y="5294376"/>
            <a:ext cx="347472" cy="347472"/>
            <a:chOff x="8673571" y="5294376"/>
            <a:chExt cx="347472" cy="347472"/>
          </a:xfrm>
        </p:grpSpPr>
        <p:sp>
          <p:nvSpPr>
            <p:cNvPr id="227" name="Oval 226"/>
            <p:cNvSpPr/>
            <p:nvPr/>
          </p:nvSpPr>
          <p:spPr>
            <a:xfrm>
              <a:off x="8673571" y="529437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32" name="icon:doc"/>
            <p:cNvGrpSpPr/>
            <p:nvPr/>
          </p:nvGrpSpPr>
          <p:grpSpPr>
            <a:xfrm>
              <a:off x="8791712" y="5388193"/>
              <a:ext cx="114665" cy="159837"/>
              <a:chOff x="8791712" y="5388193"/>
              <a:chExt cx="114665" cy="159837"/>
            </a:xfrm>
          </p:grpSpPr>
          <p:sp>
            <p:nvSpPr>
              <p:cNvPr id="228" name="Freeform 227"/>
              <p:cNvSpPr/>
              <p:nvPr/>
            </p:nvSpPr>
            <p:spPr>
              <a:xfrm>
                <a:off x="8791712" y="5388193"/>
                <a:ext cx="114665" cy="159837"/>
              </a:xfrm>
              <a:custGeom>
                <a:avLst/>
                <a:gdLst/>
                <a:ahLst/>
                <a:cxnLst/>
                <a:rect l="l" t="t" r="r" b="b"/>
                <a:pathLst>
                  <a:path w="114665" h="159837">
                    <a:moveTo>
                      <a:pt x="0" y="0"/>
                    </a:moveTo>
                    <a:lnTo>
                      <a:pt x="79918" y="0"/>
                    </a:lnTo>
                    <a:lnTo>
                      <a:pt x="114665" y="38222"/>
                    </a:lnTo>
                    <a:lnTo>
                      <a:pt x="114665" y="159837"/>
                    </a:lnTo>
                    <a:lnTo>
                      <a:pt x="0" y="159837"/>
                    </a:lnTo>
                    <a:close/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Rectangle 228"/>
              <p:cNvSpPr/>
              <p:nvPr/>
            </p:nvSpPr>
            <p:spPr>
              <a:xfrm>
                <a:off x="8812560" y="5450738"/>
                <a:ext cx="69494" cy="78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30" name="Rectangle 229"/>
              <p:cNvSpPr/>
              <p:nvPr/>
            </p:nvSpPr>
            <p:spPr>
              <a:xfrm>
                <a:off x="8812560" y="5478536"/>
                <a:ext cx="69494" cy="78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31" name="Rectangle 230"/>
              <p:cNvSpPr/>
              <p:nvPr/>
            </p:nvSpPr>
            <p:spPr>
              <a:xfrm>
                <a:off x="8812560" y="5506333"/>
                <a:ext cx="48646" cy="781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34" name="TextBox 233"/>
          <p:cNvSpPr txBox="1"/>
          <p:nvPr/>
        </p:nvSpPr>
        <p:spPr>
          <a:xfrm>
            <a:off x="9075907" y="5175504"/>
            <a:ext cx="105053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Acceptance of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deliverables</a:t>
            </a:r>
          </a:p>
        </p:txBody>
      </p:sp>
      <p:grpSp>
        <p:nvGrpSpPr>
          <p:cNvPr id="240" name="chip:bulb"/>
          <p:cNvGrpSpPr/>
          <p:nvPr/>
        </p:nvGrpSpPr>
        <p:grpSpPr>
          <a:xfrm>
            <a:off x="10181310" y="5294376"/>
            <a:ext cx="347472" cy="347472"/>
            <a:chOff x="10181310" y="5294376"/>
            <a:chExt cx="347472" cy="347472"/>
          </a:xfrm>
        </p:grpSpPr>
        <p:sp>
          <p:nvSpPr>
            <p:cNvPr id="235" name="Oval 234"/>
            <p:cNvSpPr/>
            <p:nvPr/>
          </p:nvSpPr>
          <p:spPr>
            <a:xfrm>
              <a:off x="10181310" y="5294376"/>
              <a:ext cx="347472" cy="347472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39" name="icon:bulb"/>
            <p:cNvGrpSpPr/>
            <p:nvPr/>
          </p:nvGrpSpPr>
          <p:grpSpPr>
            <a:xfrm>
              <a:off x="10295976" y="5384718"/>
              <a:ext cx="118140" cy="147675"/>
              <a:chOff x="10295976" y="5384718"/>
              <a:chExt cx="118140" cy="147675"/>
            </a:xfrm>
          </p:grpSpPr>
          <p:sp>
            <p:nvSpPr>
              <p:cNvPr id="236" name="Oval 235"/>
              <p:cNvSpPr/>
              <p:nvPr/>
            </p:nvSpPr>
            <p:spPr>
              <a:xfrm>
                <a:off x="10295976" y="5384718"/>
                <a:ext cx="118140" cy="118140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37" name="Rectangle 236"/>
              <p:cNvSpPr/>
              <p:nvPr/>
            </p:nvSpPr>
            <p:spPr>
              <a:xfrm>
                <a:off x="10330723" y="5499384"/>
                <a:ext cx="48646" cy="121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38" name="Rectangle 237"/>
              <p:cNvSpPr/>
              <p:nvPr/>
            </p:nvSpPr>
            <p:spPr>
              <a:xfrm>
                <a:off x="10335935" y="5520232"/>
                <a:ext cx="38221" cy="121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41" name="TextBox 240"/>
          <p:cNvSpPr txBox="1"/>
          <p:nvPr/>
        </p:nvSpPr>
        <p:spPr>
          <a:xfrm>
            <a:off x="10583646" y="5175504"/>
            <a:ext cx="105053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Evidence use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48640" y="5870448"/>
            <a:ext cx="11094689" cy="47548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3" name="Rectangle 242"/>
          <p:cNvSpPr/>
          <p:nvPr/>
        </p:nvSpPr>
        <p:spPr>
          <a:xfrm>
            <a:off x="548640" y="5870448"/>
            <a:ext cx="68580" cy="4754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47" name="icon:target"/>
          <p:cNvGrpSpPr/>
          <p:nvPr/>
        </p:nvGrpSpPr>
        <p:grpSpPr>
          <a:xfrm>
            <a:off x="886968" y="5916168"/>
            <a:ext cx="384048" cy="384048"/>
            <a:chOff x="886968" y="5916168"/>
            <a:chExt cx="384048" cy="384048"/>
          </a:xfrm>
        </p:grpSpPr>
        <p:sp>
          <p:nvSpPr>
            <p:cNvPr id="244" name="Oval 243"/>
            <p:cNvSpPr/>
            <p:nvPr/>
          </p:nvSpPr>
          <p:spPr>
            <a:xfrm>
              <a:off x="886968" y="5916168"/>
              <a:ext cx="384048" cy="384048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5" name="Oval 244"/>
            <p:cNvSpPr/>
            <p:nvPr/>
          </p:nvSpPr>
          <p:spPr>
            <a:xfrm>
              <a:off x="963777" y="5992977"/>
              <a:ext cx="230428" cy="230428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46" name="Oval 245"/>
            <p:cNvSpPr/>
            <p:nvPr/>
          </p:nvSpPr>
          <p:spPr>
            <a:xfrm>
              <a:off x="1036746" y="6065946"/>
              <a:ext cx="84490" cy="84490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1463039" y="5833872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Outcome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2944368" y="6035040"/>
            <a:ext cx="9144" cy="146304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3108960" y="5961888"/>
            <a:ext cx="826004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Fit for purpose evidence, delivered with quality and used for better programme decisions for children.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5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3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38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3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3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3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71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3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3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3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3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3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4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34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2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34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4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4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34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4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34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4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34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4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34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4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34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4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34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4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34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4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34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4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34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42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4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34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4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34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4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34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4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34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4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34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22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4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34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44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4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34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4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34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4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34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4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4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4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34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4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34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4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34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4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34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4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34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42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4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34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4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4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4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34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4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34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4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34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22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4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34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44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34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34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4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6" dur="34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34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0" dur="34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34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4" dur="34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4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8" dur="34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4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2" dur="34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4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6" dur="34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4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0" dur="34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34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4" dur="34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242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4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8" dur="34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4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2" dur="34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4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6" dur="34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4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0" dur="34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4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4" dur="34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4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8" dur="34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34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4" dur="34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22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4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8" dur="34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44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4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2" dur="34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4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6" dur="34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4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0" dur="34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4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4" dur="34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4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8" dur="34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4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2" dur="34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4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6" dur="34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4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0" dur="34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4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4" dur="34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242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4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8" dur="34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4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2" dur="34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34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6" dur="34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4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0" dur="34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4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6" dur="34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22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34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0" dur="34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1" presetID="10" presetClass="entr" presetSubtype="0" fill="hold" grpId="0" nodeType="withEffect">
                                  <p:stCondLst>
                                    <p:cond delay="44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4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4" dur="34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4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8" dur="34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34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2" dur="34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3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34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6" dur="34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34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0" dur="34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34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4" dur="34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34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8" dur="34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34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2" dur="34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34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6" dur="34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10" presetClass="entr" presetSubtype="0" fill="hold" grpId="0" nodeType="withEffect">
                                  <p:stCondLst>
                                    <p:cond delay="242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34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0" dur="34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1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34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4" dur="34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34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0" dur="34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22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34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4" dur="34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44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34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8" dur="34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9" presetID="10" presetClass="entr" presetSubtype="0" fill="hold" grpId="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34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2" dur="34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34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6" dur="34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10" presetClass="entr" presetSubtype="0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34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0" dur="34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34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4" dur="34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154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34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8" dur="34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34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2" dur="34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3" presetID="10" presetClass="entr" presetSubtype="0" fill="hold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34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6" dur="34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34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0" dur="34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242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34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4" dur="34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34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8" dur="34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34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2" dur="34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34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6" dur="34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34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0" dur="34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34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4" dur="34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374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34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8" dur="34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9" presetID="10" presetClass="entr" presetSubtype="0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34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2" dur="34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418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34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6" dur="34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34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0" dur="34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10" presetClass="entr" presetSubtype="0" fill="hold" grpId="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34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4" dur="34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484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34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8" dur="34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grpId="0" nodeType="withEffect">
                                  <p:stCondLst>
                                    <p:cond delay="506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34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2" dur="34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34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6" dur="34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34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0" dur="34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34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28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34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34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84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34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34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34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34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196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34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34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34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34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34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34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34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392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34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34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5" dur="52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8" dur="52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9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1" dur="52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4" dur="52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7" dur="52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0" dur="52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9" grpId="0"/>
      <p:bldP spid="10" grpId="0" animBg="1"/>
      <p:bldP spid="11" grpId="0" animBg="1"/>
      <p:bldP spid="21" grpId="0"/>
      <p:bldP spid="22" grpId="0" animBg="1"/>
      <p:bldP spid="23" grpId="0"/>
      <p:bldP spid="29" grpId="0"/>
      <p:bldP spid="30" grpId="0" animBg="1"/>
      <p:bldP spid="31" grpId="0"/>
      <p:bldP spid="35" grpId="0"/>
      <p:bldP spid="36" grpId="0" animBg="1"/>
      <p:bldP spid="37" grpId="0"/>
      <p:bldP spid="49" grpId="0"/>
      <p:bldP spid="50" grpId="0" animBg="1"/>
      <p:bldP spid="51" grpId="0"/>
      <p:bldP spid="52" grpId="0" animBg="1"/>
      <p:bldP spid="53" grpId="0" animBg="1"/>
      <p:bldP spid="54" grpId="0"/>
      <p:bldP spid="55" grpId="0" animBg="1"/>
      <p:bldP spid="56" grpId="0" animBg="1"/>
      <p:bldP spid="57" grpId="0"/>
      <p:bldP spid="58" grpId="0" animBg="1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 animBg="1"/>
      <p:bldP spid="66" grpId="0"/>
      <p:bldP spid="67" grpId="0" animBg="1"/>
      <p:bldP spid="68" grpId="0"/>
      <p:bldP spid="69" grpId="0" animBg="1"/>
      <p:bldP spid="70" grpId="0"/>
      <p:bldP spid="71" grpId="0" animBg="1"/>
      <p:bldP spid="72" grpId="0"/>
      <p:bldP spid="73" grpId="0" animBg="1"/>
      <p:bldP spid="74" grpId="0" animBg="1"/>
      <p:bldP spid="75" grpId="0"/>
      <p:bldP spid="76" grpId="0" animBg="1"/>
      <p:bldP spid="77" grpId="0"/>
      <p:bldP spid="78" grpId="0" animBg="1"/>
      <p:bldP spid="79" grpId="0"/>
      <p:bldP spid="80" grpId="0" animBg="1"/>
      <p:bldP spid="81" grpId="0"/>
      <p:bldP spid="82" grpId="0" animBg="1"/>
      <p:bldP spid="83" grpId="0"/>
      <p:bldP spid="84" grpId="0" animBg="1"/>
      <p:bldP spid="85" grpId="0"/>
      <p:bldP spid="86" grpId="0" animBg="1"/>
      <p:bldP spid="87" grpId="0"/>
      <p:bldP spid="88" grpId="0" animBg="1"/>
      <p:bldP spid="89" grpId="0" animBg="1"/>
      <p:bldP spid="90" grpId="0"/>
      <p:bldP spid="91" grpId="0" animBg="1"/>
      <p:bldP spid="92" grpId="0"/>
      <p:bldP spid="93" grpId="0" animBg="1"/>
      <p:bldP spid="94" grpId="0"/>
      <p:bldP spid="95" grpId="0" animBg="1"/>
      <p:bldP spid="96" grpId="0"/>
      <p:bldP spid="97" grpId="0" animBg="1"/>
      <p:bldP spid="98" grpId="0"/>
      <p:bldP spid="99" grpId="0" animBg="1"/>
      <p:bldP spid="100" grpId="0"/>
      <p:bldP spid="101" grpId="0" animBg="1"/>
      <p:bldP spid="102" grpId="0"/>
      <p:bldP spid="103" grpId="0" animBg="1"/>
      <p:bldP spid="104" grpId="0"/>
      <p:bldP spid="105" grpId="0" animBg="1"/>
      <p:bldP spid="106" grpId="0" animBg="1"/>
      <p:bldP spid="107" grpId="0"/>
      <p:bldP spid="108" grpId="0" animBg="1"/>
      <p:bldP spid="109" grpId="0"/>
      <p:bldP spid="110" grpId="0" animBg="1"/>
      <p:bldP spid="111" grpId="0"/>
      <p:bldP spid="112" grpId="0" animBg="1"/>
      <p:bldP spid="113" grpId="0"/>
      <p:bldP spid="114" grpId="0" animBg="1"/>
      <p:bldP spid="115" grpId="0"/>
      <p:bldP spid="116" grpId="0" animBg="1"/>
      <p:bldP spid="117" grpId="0"/>
      <p:bldP spid="118" grpId="0" animBg="1"/>
      <p:bldP spid="119" grpId="0"/>
      <p:bldP spid="120" grpId="0" animBg="1"/>
      <p:bldP spid="121" grpId="0" animBg="1"/>
      <p:bldP spid="122" grpId="0"/>
      <p:bldP spid="123" grpId="0" animBg="1"/>
      <p:bldP spid="124" grpId="0"/>
      <p:bldP spid="125" grpId="0" animBg="1"/>
      <p:bldP spid="126" grpId="0"/>
      <p:bldP spid="127" grpId="0" animBg="1"/>
      <p:bldP spid="128" grpId="0"/>
      <p:bldP spid="129" grpId="0" animBg="1"/>
      <p:bldP spid="130" grpId="0"/>
      <p:bldP spid="131" grpId="0" animBg="1"/>
      <p:bldP spid="132" grpId="0"/>
      <p:bldP spid="133" grpId="0" animBg="1"/>
      <p:bldP spid="134" grpId="0" animBg="1"/>
      <p:bldP spid="135" grpId="0"/>
      <p:bldP spid="136" grpId="0" animBg="1"/>
      <p:bldP spid="143" grpId="0"/>
      <p:bldP spid="144" grpId="0"/>
      <p:bldP spid="145" grpId="0" animBg="1"/>
      <p:bldP spid="146" grpId="0" animBg="1"/>
      <p:bldP spid="150" grpId="0"/>
      <p:bldP spid="151" grpId="0"/>
      <p:bldP spid="152" grpId="0" animBg="1"/>
      <p:bldP spid="153" grpId="0" animBg="1"/>
      <p:bldP spid="158" grpId="0"/>
      <p:bldP spid="159" grpId="0"/>
      <p:bldP spid="160" grpId="0" animBg="1"/>
      <p:bldP spid="161" grpId="0" animBg="1"/>
      <p:bldP spid="168" grpId="0"/>
      <p:bldP spid="169" grpId="0"/>
      <p:bldP spid="170" grpId="0" animBg="1"/>
      <p:bldP spid="171" grpId="0" animBg="1"/>
      <p:bldP spid="174" grpId="0"/>
      <p:bldP spid="175" grpId="0"/>
      <p:bldP spid="176" grpId="0" animBg="1"/>
      <p:bldP spid="177" grpId="0" animBg="1"/>
      <p:bldP spid="180" grpId="0"/>
      <p:bldP spid="181" grpId="0"/>
      <p:bldP spid="182" grpId="0" animBg="1"/>
      <p:bldP spid="183" grpId="0" animBg="1"/>
      <p:bldP spid="184" grpId="0"/>
      <p:bldP spid="185" grpId="0" animBg="1"/>
      <p:bldP spid="199" grpId="0"/>
      <p:bldP spid="200" grpId="0"/>
      <p:bldP spid="208" grpId="0"/>
      <p:bldP spid="209" grpId="0"/>
      <p:bldP spid="214" grpId="0"/>
      <p:bldP spid="215" grpId="0"/>
      <p:bldP spid="225" grpId="0"/>
      <p:bldP spid="226" grpId="0"/>
      <p:bldP spid="233" grpId="0"/>
      <p:bldP spid="234" grpId="0"/>
      <p:bldP spid="240" grpId="0"/>
      <p:bldP spid="241" grpId="0"/>
      <p:bldP spid="242" grpId="0" animBg="1"/>
      <p:bldP spid="243" grpId="0" animBg="1"/>
      <p:bldP spid="247" grpId="0"/>
      <p:bldP spid="248" grpId="0"/>
      <p:bldP spid="249" grpId="0" animBg="1"/>
      <p:bldP spid="2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Ownership and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41324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spc="-35">
                <a:solidFill>
                  <a:srgbClr val="213063"/>
                </a:solidFill>
                <a:latin typeface="Arial"/>
                <a:cs typeface="Arial"/>
              </a:rPr>
              <a:t>Government Ownership, Stakeholder Engagement and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Build the response with the national system, not parallel to it.</a:t>
            </a:r>
          </a:p>
        </p:txBody>
      </p:sp>
      <p:grpSp>
        <p:nvGrpSpPr>
          <p:cNvPr id="13" name="icon:network"/>
          <p:cNvGrpSpPr/>
          <p:nvPr/>
        </p:nvGrpSpPr>
        <p:grpSpPr>
          <a:xfrm>
            <a:off x="11071646" y="532546"/>
            <a:ext cx="521573" cy="532912"/>
            <a:chOff x="11071646" y="532546"/>
            <a:chExt cx="521573" cy="532912"/>
          </a:xfrm>
        </p:grpSpPr>
        <p:sp>
          <p:nvSpPr>
            <p:cNvPr id="7" name="Oval 6"/>
            <p:cNvSpPr/>
            <p:nvPr/>
          </p:nvSpPr>
          <p:spPr>
            <a:xfrm>
              <a:off x="11264402" y="532546"/>
              <a:ext cx="136062" cy="136062"/>
            </a:xfrm>
            <a:prstGeom prst="ellipse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11071646" y="929396"/>
              <a:ext cx="136062" cy="136062"/>
            </a:xfrm>
            <a:prstGeom prst="ellipse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Oval 8"/>
            <p:cNvSpPr/>
            <p:nvPr/>
          </p:nvSpPr>
          <p:spPr>
            <a:xfrm>
              <a:off x="11457157" y="929396"/>
              <a:ext cx="136062" cy="136062"/>
            </a:xfrm>
            <a:prstGeom prst="ellipse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 rot="3480000">
              <a:off x="11219047" y="668609"/>
              <a:ext cx="107716" cy="25511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 rot="18120000">
              <a:off x="11343772" y="668609"/>
              <a:ext cx="107716" cy="25511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207709" y="986088"/>
              <a:ext cx="249448" cy="25511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" name="Rectangle 13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06 / 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1847088"/>
            <a:ext cx="2595364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1847088"/>
            <a:ext cx="2595364" cy="786384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32" name="chip:bank"/>
          <p:cNvGrpSpPr/>
          <p:nvPr/>
        </p:nvGrpSpPr>
        <p:grpSpPr>
          <a:xfrm>
            <a:off x="772668" y="1504188"/>
            <a:ext cx="685800" cy="685800"/>
            <a:chOff x="772668" y="1504188"/>
            <a:chExt cx="685800" cy="685800"/>
          </a:xfrm>
        </p:grpSpPr>
        <p:sp>
          <p:nvSpPr>
            <p:cNvPr id="22" name="Oval 21"/>
            <p:cNvSpPr/>
            <p:nvPr/>
          </p:nvSpPr>
          <p:spPr>
            <a:xfrm>
              <a:off x="772668" y="1504188"/>
              <a:ext cx="685800" cy="685800"/>
            </a:xfrm>
            <a:prstGeom prst="ellipse">
              <a:avLst/>
            </a:prstGeom>
            <a:noFill/>
            <a:ln w="1270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3" name="Oval 22"/>
            <p:cNvSpPr/>
            <p:nvPr/>
          </p:nvSpPr>
          <p:spPr>
            <a:xfrm>
              <a:off x="832103" y="1563624"/>
              <a:ext cx="566928" cy="566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31" name="icon:bank"/>
            <p:cNvGrpSpPr/>
            <p:nvPr/>
          </p:nvGrpSpPr>
          <p:grpSpPr>
            <a:xfrm>
              <a:off x="979505" y="1711025"/>
              <a:ext cx="272125" cy="266456"/>
              <a:chOff x="979505" y="1711025"/>
              <a:chExt cx="272125" cy="266456"/>
            </a:xfrm>
          </p:grpSpPr>
          <p:sp>
            <p:nvSpPr>
              <p:cNvPr id="24" name="Isosceles Triangle 23"/>
              <p:cNvSpPr/>
              <p:nvPr/>
            </p:nvSpPr>
            <p:spPr>
              <a:xfrm>
                <a:off x="979505" y="1711025"/>
                <a:ext cx="272125" cy="85039"/>
              </a:xfrm>
              <a:prstGeom prst="triangle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979505" y="1801733"/>
                <a:ext cx="272125" cy="14173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1013520" y="1830080"/>
                <a:ext cx="25511" cy="113385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078717" y="1830080"/>
                <a:ext cx="25511" cy="113385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143914" y="1830080"/>
                <a:ext cx="25511" cy="113385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203441" y="1830080"/>
                <a:ext cx="25511" cy="113385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979505" y="1949135"/>
                <a:ext cx="272125" cy="28346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33" name="TextBox 32"/>
          <p:cNvSpPr txBox="1"/>
          <p:nvPr/>
        </p:nvSpPr>
        <p:spPr>
          <a:xfrm>
            <a:off x="1517904" y="1883664"/>
            <a:ext cx="14797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70">
                <a:solidFill>
                  <a:srgbClr val="FFFFFF"/>
                </a:solidFill>
                <a:latin typeface="Arial"/>
                <a:cs typeface="Arial"/>
              </a:rPr>
              <a:t>1.  Government</a:t>
            </a:r>
          </a:p>
        </p:txBody>
      </p:sp>
      <p:sp>
        <p:nvSpPr>
          <p:cNvPr id="34" name="Freeform 33"/>
          <p:cNvSpPr/>
          <p:nvPr/>
        </p:nvSpPr>
        <p:spPr>
          <a:xfrm>
            <a:off x="746516" y="2824172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5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" y="2761488"/>
            <a:ext cx="1900420" cy="289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Co-define information needs</a:t>
            </a:r>
          </a:p>
        </p:txBody>
      </p:sp>
      <p:sp>
        <p:nvSpPr>
          <p:cNvPr id="36" name="Freeform 35"/>
          <p:cNvSpPr/>
          <p:nvPr/>
        </p:nvSpPr>
        <p:spPr>
          <a:xfrm>
            <a:off x="746516" y="3161370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6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" y="3051082"/>
            <a:ext cx="1900420" cy="3848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Align indicators with national frameworks</a:t>
            </a:r>
          </a:p>
        </p:txBody>
      </p:sp>
      <p:sp>
        <p:nvSpPr>
          <p:cNvPr id="38" name="Freeform 37"/>
          <p:cNvSpPr/>
          <p:nvPr/>
        </p:nvSpPr>
        <p:spPr>
          <a:xfrm>
            <a:off x="746516" y="3546171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3435884"/>
            <a:ext cx="1900420" cy="3848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Use existing administrative systems wherever feasible</a:t>
            </a:r>
          </a:p>
        </p:txBody>
      </p:sp>
      <p:sp>
        <p:nvSpPr>
          <p:cNvPr id="40" name="Freeform 39"/>
          <p:cNvSpPr/>
          <p:nvPr/>
        </p:nvSpPr>
        <p:spPr>
          <a:xfrm>
            <a:off x="746516" y="3930972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" y="3820685"/>
            <a:ext cx="1900420" cy="3848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Joint validation and interpretation</a:t>
            </a:r>
          </a:p>
        </p:txBody>
      </p:sp>
      <p:sp>
        <p:nvSpPr>
          <p:cNvPr id="42" name="Freeform 41"/>
          <p:cNvSpPr/>
          <p:nvPr/>
        </p:nvSpPr>
        <p:spPr>
          <a:xfrm>
            <a:off x="746516" y="4315774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5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87552" y="4205486"/>
            <a:ext cx="1900420" cy="3848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Strengthen sustainable government capacity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1748" y="1847088"/>
            <a:ext cx="2595364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81748" y="1847088"/>
            <a:ext cx="2595364" cy="786384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1" name="chip:handshake"/>
          <p:cNvGrpSpPr/>
          <p:nvPr/>
        </p:nvGrpSpPr>
        <p:grpSpPr>
          <a:xfrm>
            <a:off x="3605776" y="1504188"/>
            <a:ext cx="685800" cy="685800"/>
            <a:chOff x="3605776" y="1504188"/>
            <a:chExt cx="685800" cy="685800"/>
          </a:xfrm>
        </p:grpSpPr>
        <p:sp>
          <p:nvSpPr>
            <p:cNvPr id="46" name="Oval 45"/>
            <p:cNvSpPr/>
            <p:nvPr/>
          </p:nvSpPr>
          <p:spPr>
            <a:xfrm>
              <a:off x="3605776" y="1504188"/>
              <a:ext cx="685800" cy="685800"/>
            </a:xfrm>
            <a:prstGeom prst="ellipse">
              <a:avLst/>
            </a:prstGeom>
            <a:noFill/>
            <a:ln w="12700">
              <a:solidFill>
                <a:srgbClr val="0E8F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7" name="Oval 46"/>
            <p:cNvSpPr/>
            <p:nvPr/>
          </p:nvSpPr>
          <p:spPr>
            <a:xfrm>
              <a:off x="3665212" y="1563624"/>
              <a:ext cx="566928" cy="566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50" name="icon:handshake"/>
            <p:cNvGrpSpPr/>
            <p:nvPr/>
          </p:nvGrpSpPr>
          <p:grpSpPr>
            <a:xfrm>
              <a:off x="3806944" y="1762048"/>
              <a:ext cx="283463" cy="170078"/>
              <a:chOff x="3806944" y="1762048"/>
              <a:chExt cx="283463" cy="170078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3806944" y="1762048"/>
                <a:ext cx="170078" cy="170078"/>
              </a:xfrm>
              <a:prstGeom prst="ellipse">
                <a:avLst/>
              </a:prstGeom>
              <a:noFill/>
              <a:ln w="15875">
                <a:solidFill>
                  <a:srgbClr val="0E8F9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3920329" y="1762048"/>
                <a:ext cx="170078" cy="170078"/>
              </a:xfrm>
              <a:prstGeom prst="ellipse">
                <a:avLst/>
              </a:prstGeom>
              <a:noFill/>
              <a:ln w="15875">
                <a:solidFill>
                  <a:srgbClr val="0E8F9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2" name="TextBox 51"/>
          <p:cNvSpPr txBox="1"/>
          <p:nvPr/>
        </p:nvSpPr>
        <p:spPr>
          <a:xfrm>
            <a:off x="4351012" y="1883664"/>
            <a:ext cx="14797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70">
                <a:solidFill>
                  <a:srgbClr val="FFFFFF"/>
                </a:solidFill>
                <a:latin typeface="Arial"/>
                <a:cs typeface="Arial"/>
              </a:rPr>
              <a:t>2.  UNICEF and implementing partners</a:t>
            </a:r>
          </a:p>
        </p:txBody>
      </p:sp>
      <p:sp>
        <p:nvSpPr>
          <p:cNvPr id="53" name="Freeform 52"/>
          <p:cNvSpPr/>
          <p:nvPr/>
        </p:nvSpPr>
        <p:spPr>
          <a:xfrm>
            <a:off x="3579624" y="2907974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820660" y="2761488"/>
            <a:ext cx="19004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Programme Sections define decision needs</a:t>
            </a:r>
          </a:p>
        </p:txBody>
      </p:sp>
      <p:sp>
        <p:nvSpPr>
          <p:cNvPr id="55" name="Freeform 54"/>
          <p:cNvSpPr/>
          <p:nvPr/>
        </p:nvSpPr>
        <p:spPr>
          <a:xfrm>
            <a:off x="3579624" y="3365174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20660" y="3218688"/>
            <a:ext cx="19004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M&amp;E provides methodological and quality leadership</a:t>
            </a:r>
          </a:p>
        </p:txBody>
      </p:sp>
      <p:sp>
        <p:nvSpPr>
          <p:cNvPr id="57" name="Freeform 56"/>
          <p:cNvSpPr/>
          <p:nvPr/>
        </p:nvSpPr>
        <p:spPr>
          <a:xfrm>
            <a:off x="3579624" y="3822374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820660" y="3675887"/>
            <a:ext cx="19004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Partners strengthen reporting and verification</a:t>
            </a:r>
          </a:p>
        </p:txBody>
      </p:sp>
      <p:sp>
        <p:nvSpPr>
          <p:cNvPr id="59" name="Freeform 58"/>
          <p:cNvSpPr/>
          <p:nvPr/>
        </p:nvSpPr>
        <p:spPr>
          <a:xfrm>
            <a:off x="3579624" y="4279574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820660" y="4133087"/>
            <a:ext cx="1900420" cy="4571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Management reviews evidence and agrees actions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4856" y="1847088"/>
            <a:ext cx="2595364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14856" y="1847088"/>
            <a:ext cx="2595364" cy="786384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71" name="chip:child"/>
          <p:cNvGrpSpPr/>
          <p:nvPr/>
        </p:nvGrpSpPr>
        <p:grpSpPr>
          <a:xfrm>
            <a:off x="6438884" y="1504188"/>
            <a:ext cx="685800" cy="685800"/>
            <a:chOff x="6438884" y="1504188"/>
            <a:chExt cx="685800" cy="685800"/>
          </a:xfrm>
        </p:grpSpPr>
        <p:sp>
          <p:nvSpPr>
            <p:cNvPr id="63" name="Oval 62"/>
            <p:cNvSpPr/>
            <p:nvPr/>
          </p:nvSpPr>
          <p:spPr>
            <a:xfrm>
              <a:off x="6438884" y="1504188"/>
              <a:ext cx="685800" cy="685800"/>
            </a:xfrm>
            <a:prstGeom prst="ellipse">
              <a:avLst/>
            </a:prstGeom>
            <a:noFill/>
            <a:ln w="12700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4" name="Oval 63"/>
            <p:cNvSpPr/>
            <p:nvPr/>
          </p:nvSpPr>
          <p:spPr>
            <a:xfrm>
              <a:off x="6498320" y="1563624"/>
              <a:ext cx="566928" cy="566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70" name="icon:child"/>
            <p:cNvGrpSpPr/>
            <p:nvPr/>
          </p:nvGrpSpPr>
          <p:grpSpPr>
            <a:xfrm>
              <a:off x="6685406" y="1711025"/>
              <a:ext cx="192755" cy="272125"/>
              <a:chOff x="6685406" y="1711025"/>
              <a:chExt cx="192755" cy="272125"/>
            </a:xfrm>
          </p:grpSpPr>
          <p:sp>
            <p:nvSpPr>
              <p:cNvPr id="65" name="Oval 64"/>
              <p:cNvSpPr/>
              <p:nvPr/>
            </p:nvSpPr>
            <p:spPr>
              <a:xfrm>
                <a:off x="6742099" y="1711025"/>
                <a:ext cx="79369" cy="79369"/>
              </a:xfrm>
              <a:prstGeom prst="ellipse">
                <a:avLst/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769028" y="1796064"/>
                <a:ext cx="25511" cy="96377"/>
              </a:xfrm>
              <a:prstGeom prst="rect">
                <a:avLst/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6685406" y="1807403"/>
                <a:ext cx="192755" cy="19842"/>
              </a:xfrm>
              <a:prstGeom prst="rect">
                <a:avLst/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Rectangle 67"/>
              <p:cNvSpPr/>
              <p:nvPr/>
            </p:nvSpPr>
            <p:spPr>
              <a:xfrm rot="840000">
                <a:off x="6719422" y="1892442"/>
                <a:ext cx="25511" cy="90708"/>
              </a:xfrm>
              <a:prstGeom prst="rect">
                <a:avLst/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Rectangle 68"/>
              <p:cNvSpPr/>
              <p:nvPr/>
            </p:nvSpPr>
            <p:spPr>
              <a:xfrm rot="20760000">
                <a:off x="6818635" y="1892442"/>
                <a:ext cx="25511" cy="90708"/>
              </a:xfrm>
              <a:prstGeom prst="rect">
                <a:avLst/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72" name="TextBox 71"/>
          <p:cNvSpPr txBox="1"/>
          <p:nvPr/>
        </p:nvSpPr>
        <p:spPr>
          <a:xfrm>
            <a:off x="7184120" y="1883664"/>
            <a:ext cx="14797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70">
                <a:solidFill>
                  <a:srgbClr val="FFFFFF"/>
                </a:solidFill>
                <a:latin typeface="Arial"/>
                <a:cs typeface="Arial"/>
              </a:rPr>
              <a:t>3.  Children, adolescents and communities</a:t>
            </a:r>
          </a:p>
        </p:txBody>
      </p:sp>
      <p:sp>
        <p:nvSpPr>
          <p:cNvPr id="73" name="Freeform 72"/>
          <p:cNvSpPr/>
          <p:nvPr/>
        </p:nvSpPr>
        <p:spPr>
          <a:xfrm>
            <a:off x="6412732" y="2940247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5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53768" y="2761488"/>
            <a:ext cx="1900420" cy="521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Meaningful participation where appropriate</a:t>
            </a:r>
          </a:p>
        </p:txBody>
      </p:sp>
      <p:sp>
        <p:nvSpPr>
          <p:cNvPr id="75" name="Freeform 74"/>
          <p:cNvSpPr/>
          <p:nvPr/>
        </p:nvSpPr>
        <p:spPr>
          <a:xfrm>
            <a:off x="6412732" y="3461991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53768" y="3283232"/>
            <a:ext cx="1900420" cy="521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Inclusive and accessible approaches</a:t>
            </a:r>
          </a:p>
        </p:txBody>
      </p:sp>
      <p:sp>
        <p:nvSpPr>
          <p:cNvPr id="77" name="Freeform 76"/>
          <p:cNvSpPr/>
          <p:nvPr/>
        </p:nvSpPr>
        <p:spPr>
          <a:xfrm>
            <a:off x="6412732" y="3919191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53768" y="3804976"/>
            <a:ext cx="1900420" cy="3926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Feedback loops to communities</a:t>
            </a:r>
          </a:p>
        </p:txBody>
      </p:sp>
      <p:sp>
        <p:nvSpPr>
          <p:cNvPr id="79" name="Freeform 78"/>
          <p:cNvSpPr/>
          <p:nvPr/>
        </p:nvSpPr>
        <p:spPr>
          <a:xfrm>
            <a:off x="6412732" y="4311847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5"/>
                </a:lnTo>
                <a:close/>
              </a:path>
            </a:pathLst>
          </a:cu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653768" y="4197632"/>
            <a:ext cx="1900420" cy="3926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Do no harm principle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47965" y="1847088"/>
            <a:ext cx="2595364" cy="2889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047965" y="1847088"/>
            <a:ext cx="2595364" cy="786384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88" name="chip:lock"/>
          <p:cNvGrpSpPr/>
          <p:nvPr/>
        </p:nvGrpSpPr>
        <p:grpSpPr>
          <a:xfrm>
            <a:off x="9271993" y="1504188"/>
            <a:ext cx="685800" cy="685800"/>
            <a:chOff x="9271993" y="1504188"/>
            <a:chExt cx="685800" cy="685800"/>
          </a:xfrm>
        </p:grpSpPr>
        <p:sp>
          <p:nvSpPr>
            <p:cNvPr id="83" name="Oval 82"/>
            <p:cNvSpPr/>
            <p:nvPr/>
          </p:nvSpPr>
          <p:spPr>
            <a:xfrm>
              <a:off x="9271993" y="1504188"/>
              <a:ext cx="685800" cy="685800"/>
            </a:xfrm>
            <a:prstGeom prst="ellipse">
              <a:avLst/>
            </a:prstGeom>
            <a:noFill/>
            <a:ln w="12700">
              <a:solidFill>
                <a:srgbClr val="6A1E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4" name="Oval 83"/>
            <p:cNvSpPr/>
            <p:nvPr/>
          </p:nvSpPr>
          <p:spPr>
            <a:xfrm>
              <a:off x="9331429" y="1563624"/>
              <a:ext cx="566928" cy="5669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87" name="icon:lock"/>
            <p:cNvGrpSpPr/>
            <p:nvPr/>
          </p:nvGrpSpPr>
          <p:grpSpPr>
            <a:xfrm>
              <a:off x="9507176" y="1711025"/>
              <a:ext cx="215432" cy="266456"/>
              <a:chOff x="9507176" y="1711025"/>
              <a:chExt cx="215432" cy="266456"/>
            </a:xfrm>
          </p:grpSpPr>
          <p:sp>
            <p:nvSpPr>
              <p:cNvPr id="85" name="Round Same Side Corner Rectangle 84"/>
              <p:cNvSpPr/>
              <p:nvPr/>
            </p:nvSpPr>
            <p:spPr>
              <a:xfrm>
                <a:off x="9541192" y="1711025"/>
                <a:ext cx="147401" cy="13039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15875">
                <a:solidFill>
                  <a:srgbClr val="6A1E7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Rounded Rectangle 85"/>
              <p:cNvSpPr/>
              <p:nvPr/>
            </p:nvSpPr>
            <p:spPr>
              <a:xfrm>
                <a:off x="9507176" y="1813072"/>
                <a:ext cx="215432" cy="164409"/>
              </a:xfrm>
              <a:prstGeom prst="roundRect">
                <a:avLst>
                  <a:gd name="adj" fmla="val 8620"/>
                </a:avLst>
              </a:prstGeom>
              <a:solidFill>
                <a:srgbClr val="6A1E7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89" name="TextBox 88"/>
          <p:cNvSpPr txBox="1"/>
          <p:nvPr/>
        </p:nvSpPr>
        <p:spPr>
          <a:xfrm>
            <a:off x="10017229" y="1883664"/>
            <a:ext cx="147979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0" cap="all" spc="70">
                <a:solidFill>
                  <a:srgbClr val="FFFFFF"/>
                </a:solidFill>
                <a:latin typeface="Arial"/>
                <a:cs typeface="Arial"/>
              </a:rPr>
              <a:t>4.  Ethics and data protection</a:t>
            </a:r>
          </a:p>
        </p:txBody>
      </p:sp>
      <p:sp>
        <p:nvSpPr>
          <p:cNvPr id="90" name="Freeform 89"/>
          <p:cNvSpPr/>
          <p:nvPr/>
        </p:nvSpPr>
        <p:spPr>
          <a:xfrm>
            <a:off x="9245841" y="2832124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6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486877" y="2761488"/>
            <a:ext cx="1900420" cy="30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Ethical review where required</a:t>
            </a:r>
          </a:p>
        </p:txBody>
      </p:sp>
      <p:sp>
        <p:nvSpPr>
          <p:cNvPr id="92" name="Freeform 91"/>
          <p:cNvSpPr/>
          <p:nvPr/>
        </p:nvSpPr>
        <p:spPr>
          <a:xfrm>
            <a:off x="9245841" y="3137623"/>
            <a:ext cx="149413" cy="152887"/>
          </a:xfrm>
          <a:custGeom>
            <a:avLst/>
            <a:gdLst/>
            <a:ahLst/>
            <a:cxnLst/>
            <a:rect l="l" t="t" r="r" b="b"/>
            <a:pathLst>
              <a:path w="149413" h="152887">
                <a:moveTo>
                  <a:pt x="0" y="69494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7"/>
                </a:lnTo>
                <a:lnTo>
                  <a:pt x="0" y="114665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486877" y="3066986"/>
            <a:ext cx="1900420" cy="30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Informed consent and assent</a:t>
            </a:r>
          </a:p>
        </p:txBody>
      </p:sp>
      <p:sp>
        <p:nvSpPr>
          <p:cNvPr id="94" name="Freeform 93"/>
          <p:cNvSpPr/>
          <p:nvPr/>
        </p:nvSpPr>
        <p:spPr>
          <a:xfrm>
            <a:off x="9245841" y="3493339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6"/>
                </a:lnTo>
                <a:lnTo>
                  <a:pt x="149413" y="0"/>
                </a:lnTo>
                <a:lnTo>
                  <a:pt x="149413" y="45171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486877" y="3372485"/>
            <a:ext cx="1900420" cy="405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Confidentiality and secure data management</a:t>
            </a:r>
          </a:p>
        </p:txBody>
      </p:sp>
      <p:sp>
        <p:nvSpPr>
          <p:cNvPr id="96" name="Freeform 95"/>
          <p:cNvSpPr/>
          <p:nvPr/>
        </p:nvSpPr>
        <p:spPr>
          <a:xfrm>
            <a:off x="9245841" y="3899273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86877" y="3778419"/>
            <a:ext cx="1900420" cy="405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Safeguarding and referral protocols</a:t>
            </a:r>
          </a:p>
        </p:txBody>
      </p:sp>
      <p:sp>
        <p:nvSpPr>
          <p:cNvPr id="98" name="Freeform 97"/>
          <p:cNvSpPr/>
          <p:nvPr/>
        </p:nvSpPr>
        <p:spPr>
          <a:xfrm>
            <a:off x="9245841" y="4305207"/>
            <a:ext cx="149413" cy="152888"/>
          </a:xfrm>
          <a:custGeom>
            <a:avLst/>
            <a:gdLst/>
            <a:ahLst/>
            <a:cxnLst/>
            <a:rect l="l" t="t" r="r" b="b"/>
            <a:pathLst>
              <a:path w="149413" h="152888">
                <a:moveTo>
                  <a:pt x="0" y="69495"/>
                </a:moveTo>
                <a:lnTo>
                  <a:pt x="38222" y="107717"/>
                </a:lnTo>
                <a:lnTo>
                  <a:pt x="149413" y="0"/>
                </a:lnTo>
                <a:lnTo>
                  <a:pt x="149413" y="45172"/>
                </a:lnTo>
                <a:lnTo>
                  <a:pt x="38222" y="152888"/>
                </a:lnTo>
                <a:lnTo>
                  <a:pt x="0" y="114666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486877" y="4184353"/>
            <a:ext cx="1900420" cy="4059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Data minimization and controlled access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4882896"/>
            <a:ext cx="11094689" cy="713232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5" name="chip:handshake"/>
          <p:cNvGrpSpPr/>
          <p:nvPr/>
        </p:nvGrpSpPr>
        <p:grpSpPr>
          <a:xfrm>
            <a:off x="832103" y="5029199"/>
            <a:ext cx="420624" cy="420624"/>
            <a:chOff x="832103" y="5029199"/>
            <a:chExt cx="420624" cy="420624"/>
          </a:xfrm>
        </p:grpSpPr>
        <p:sp>
          <p:nvSpPr>
            <p:cNvPr id="101" name="Oval 100"/>
            <p:cNvSpPr/>
            <p:nvPr/>
          </p:nvSpPr>
          <p:spPr>
            <a:xfrm>
              <a:off x="832103" y="5029199"/>
              <a:ext cx="420624" cy="420624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04" name="icon:handshake"/>
            <p:cNvGrpSpPr/>
            <p:nvPr/>
          </p:nvGrpSpPr>
          <p:grpSpPr>
            <a:xfrm>
              <a:off x="937259" y="5176418"/>
              <a:ext cx="210312" cy="126187"/>
              <a:chOff x="937259" y="5176418"/>
              <a:chExt cx="210312" cy="126187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937259" y="5176418"/>
                <a:ext cx="126187" cy="126187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1021384" y="5176418"/>
                <a:ext cx="126187" cy="126187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6" name="TextBox 105"/>
          <p:cNvSpPr txBox="1"/>
          <p:nvPr/>
        </p:nvSpPr>
        <p:spPr>
          <a:xfrm>
            <a:off x="1371600" y="5029200"/>
            <a:ext cx="184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cap="all" spc="90">
                <a:solidFill>
                  <a:srgbClr val="374EA2"/>
                </a:solidFill>
                <a:latin typeface="Arial"/>
                <a:cs typeface="Arial"/>
              </a:rPr>
              <a:t>Align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71600" y="5285232"/>
            <a:ext cx="1840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Align with national systems and priorities</a:t>
            </a:r>
          </a:p>
        </p:txBody>
      </p:sp>
      <p:sp>
        <p:nvSpPr>
          <p:cNvPr id="108" name="Right Arrow 107"/>
          <p:cNvSpPr/>
          <p:nvPr/>
        </p:nvSpPr>
        <p:spPr>
          <a:xfrm>
            <a:off x="3276592" y="5193426"/>
            <a:ext cx="128016" cy="92171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17" name="chip:people"/>
          <p:cNvGrpSpPr/>
          <p:nvPr/>
        </p:nvGrpSpPr>
        <p:grpSpPr>
          <a:xfrm>
            <a:off x="3496048" y="5029199"/>
            <a:ext cx="420624" cy="420624"/>
            <a:chOff x="3496048" y="5029199"/>
            <a:chExt cx="420624" cy="420624"/>
          </a:xfrm>
        </p:grpSpPr>
        <p:sp>
          <p:nvSpPr>
            <p:cNvPr id="109" name="Oval 108"/>
            <p:cNvSpPr/>
            <p:nvPr/>
          </p:nvSpPr>
          <p:spPr>
            <a:xfrm>
              <a:off x="3496048" y="5029199"/>
              <a:ext cx="420624" cy="420624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16" name="icon:people"/>
            <p:cNvGrpSpPr/>
            <p:nvPr/>
          </p:nvGrpSpPr>
          <p:grpSpPr>
            <a:xfrm>
              <a:off x="3596998" y="5138562"/>
              <a:ext cx="218724" cy="172455"/>
              <a:chOff x="3596998" y="5138562"/>
              <a:chExt cx="218724" cy="172455"/>
            </a:xfrm>
          </p:grpSpPr>
          <p:sp>
            <p:nvSpPr>
              <p:cNvPr id="110" name="Oval 109"/>
              <p:cNvSpPr/>
              <p:nvPr/>
            </p:nvSpPr>
            <p:spPr>
              <a:xfrm>
                <a:off x="3601204" y="5155387"/>
                <a:ext cx="54681" cy="5468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Round Same Side Corner Rectangle 110"/>
              <p:cNvSpPr/>
              <p:nvPr/>
            </p:nvSpPr>
            <p:spPr>
              <a:xfrm>
                <a:off x="3596998" y="5218480"/>
                <a:ext cx="63093" cy="7150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3756835" y="5155387"/>
                <a:ext cx="54681" cy="5468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Round Same Side Corner Rectangle 112"/>
              <p:cNvSpPr/>
              <p:nvPr/>
            </p:nvSpPr>
            <p:spPr>
              <a:xfrm>
                <a:off x="3752629" y="5218480"/>
                <a:ext cx="63093" cy="71506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3670607" y="5138562"/>
                <a:ext cx="71506" cy="7150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Round Same Side Corner Rectangle 114"/>
              <p:cNvSpPr/>
              <p:nvPr/>
            </p:nvSpPr>
            <p:spPr>
              <a:xfrm>
                <a:off x="3657988" y="5218480"/>
                <a:ext cx="96743" cy="9253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18" name="TextBox 117"/>
          <p:cNvSpPr txBox="1"/>
          <p:nvPr/>
        </p:nvSpPr>
        <p:spPr>
          <a:xfrm>
            <a:off x="4035544" y="5029200"/>
            <a:ext cx="184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cap="all" spc="90">
                <a:solidFill>
                  <a:srgbClr val="0E8F9E"/>
                </a:solidFill>
                <a:latin typeface="Arial"/>
                <a:cs typeface="Arial"/>
              </a:rPr>
              <a:t>Participate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35544" y="5285232"/>
            <a:ext cx="1840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Engage stakeholders meaningfully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5940536" y="5193426"/>
            <a:ext cx="128016" cy="92171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3" name="chip:shieldcheck"/>
          <p:cNvGrpSpPr/>
          <p:nvPr/>
        </p:nvGrpSpPr>
        <p:grpSpPr>
          <a:xfrm>
            <a:off x="6159992" y="5029199"/>
            <a:ext cx="420624" cy="420624"/>
            <a:chOff x="6159992" y="5029199"/>
            <a:chExt cx="420624" cy="420624"/>
          </a:xfrm>
        </p:grpSpPr>
        <p:sp>
          <p:nvSpPr>
            <p:cNvPr id="121" name="Oval 120"/>
            <p:cNvSpPr/>
            <p:nvPr/>
          </p:nvSpPr>
          <p:spPr>
            <a:xfrm>
              <a:off x="6159992" y="5029199"/>
              <a:ext cx="420624" cy="420624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6281973" y="5146974"/>
              <a:ext cx="176662" cy="193487"/>
            </a:xfrm>
            <a:custGeom>
              <a:avLst/>
              <a:gdLst/>
              <a:ahLst/>
              <a:cxnLst/>
              <a:rect l="l" t="t" r="r" b="b"/>
              <a:pathLst>
                <a:path w="176662" h="193487">
                  <a:moveTo>
                    <a:pt x="0" y="0"/>
                  </a:moveTo>
                  <a:lnTo>
                    <a:pt x="176662" y="0"/>
                  </a:lnTo>
                  <a:lnTo>
                    <a:pt x="176662" y="105156"/>
                  </a:lnTo>
                  <a:lnTo>
                    <a:pt x="88331" y="193487"/>
                  </a:lnTo>
                  <a:lnTo>
                    <a:pt x="0" y="105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4" name="TextBox 123"/>
          <p:cNvSpPr txBox="1"/>
          <p:nvPr/>
        </p:nvSpPr>
        <p:spPr>
          <a:xfrm>
            <a:off x="6699488" y="5029200"/>
            <a:ext cx="184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cap="all" spc="90">
                <a:solidFill>
                  <a:srgbClr val="F26A21"/>
                </a:solidFill>
                <a:latin typeface="Arial"/>
                <a:cs typeface="Arial"/>
              </a:rPr>
              <a:t>Protect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99488" y="5285232"/>
            <a:ext cx="1840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Uphold ethics, do no harm and protect data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8604481" y="5193426"/>
            <a:ext cx="128016" cy="92171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9" name="chip:trend"/>
          <p:cNvGrpSpPr/>
          <p:nvPr/>
        </p:nvGrpSpPr>
        <p:grpSpPr>
          <a:xfrm>
            <a:off x="8823937" y="5029199"/>
            <a:ext cx="420624" cy="420624"/>
            <a:chOff x="8823937" y="5029199"/>
            <a:chExt cx="420624" cy="420624"/>
          </a:xfrm>
        </p:grpSpPr>
        <p:sp>
          <p:nvSpPr>
            <p:cNvPr id="127" name="Oval 126"/>
            <p:cNvSpPr/>
            <p:nvPr/>
          </p:nvSpPr>
          <p:spPr>
            <a:xfrm>
              <a:off x="8823937" y="5029199"/>
              <a:ext cx="420624" cy="420624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8" name="Freeform 127"/>
            <p:cNvSpPr/>
            <p:nvPr/>
          </p:nvSpPr>
          <p:spPr>
            <a:xfrm>
              <a:off x="8937505" y="5168005"/>
              <a:ext cx="180868" cy="168250"/>
            </a:xfrm>
            <a:custGeom>
              <a:avLst/>
              <a:gdLst/>
              <a:ahLst/>
              <a:cxnLst/>
              <a:rect l="l" t="t" r="r" b="b"/>
              <a:pathLst>
                <a:path w="180868" h="168250">
                  <a:moveTo>
                    <a:pt x="0" y="134600"/>
                  </a:moveTo>
                  <a:lnTo>
                    <a:pt x="67300" y="58888"/>
                  </a:lnTo>
                  <a:lnTo>
                    <a:pt x="109362" y="100950"/>
                  </a:lnTo>
                  <a:lnTo>
                    <a:pt x="180868" y="0"/>
                  </a:lnTo>
                  <a:lnTo>
                    <a:pt x="180868" y="54682"/>
                  </a:lnTo>
                  <a:lnTo>
                    <a:pt x="109362" y="155631"/>
                  </a:lnTo>
                  <a:lnTo>
                    <a:pt x="67300" y="113569"/>
                  </a:lnTo>
                  <a:lnTo>
                    <a:pt x="0" y="1682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9363433" y="5029200"/>
            <a:ext cx="184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cap="all" spc="90">
                <a:solidFill>
                  <a:srgbClr val="6A1E74"/>
                </a:solidFill>
                <a:latin typeface="Arial"/>
                <a:cs typeface="Arial"/>
              </a:rPr>
              <a:t>Strengthen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63433" y="5285232"/>
            <a:ext cx="184098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Strengthen systems and capacity for sustainability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8640" y="5705856"/>
            <a:ext cx="11094689" cy="512064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548640" y="5705856"/>
            <a:ext cx="68580" cy="51206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7" name="icon:target"/>
          <p:cNvGrpSpPr/>
          <p:nvPr/>
        </p:nvGrpSpPr>
        <p:grpSpPr>
          <a:xfrm>
            <a:off x="886968" y="5769864"/>
            <a:ext cx="384048" cy="384048"/>
            <a:chOff x="886968" y="5769864"/>
            <a:chExt cx="384048" cy="384048"/>
          </a:xfrm>
        </p:grpSpPr>
        <p:sp>
          <p:nvSpPr>
            <p:cNvPr id="134" name="Oval 133"/>
            <p:cNvSpPr/>
            <p:nvPr/>
          </p:nvSpPr>
          <p:spPr>
            <a:xfrm>
              <a:off x="886968" y="5769864"/>
              <a:ext cx="384048" cy="384048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5" name="Oval 134"/>
            <p:cNvSpPr/>
            <p:nvPr/>
          </p:nvSpPr>
          <p:spPr>
            <a:xfrm>
              <a:off x="963777" y="5846673"/>
              <a:ext cx="230428" cy="230428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6" name="Oval 135"/>
            <p:cNvSpPr/>
            <p:nvPr/>
          </p:nvSpPr>
          <p:spPr>
            <a:xfrm>
              <a:off x="1036746" y="5919642"/>
              <a:ext cx="84490" cy="84490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38" name="TextBox 137"/>
          <p:cNvSpPr txBox="1"/>
          <p:nvPr/>
        </p:nvSpPr>
        <p:spPr>
          <a:xfrm>
            <a:off x="1463039" y="5687568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Key message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944368" y="5870448"/>
            <a:ext cx="9144" cy="182880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108960" y="5797296"/>
            <a:ext cx="826004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>
                <a:solidFill>
                  <a:srgbClr val="FFFFFF"/>
                </a:solidFill>
                <a:latin typeface="Arial"/>
                <a:cs typeface="Arial"/>
              </a:rPr>
              <a:t>The aim is not to create another UNICEF reporting system. It is to strengthen national systems while meeting UNICEF evidence and accountability requirements.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3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3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3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4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3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3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3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38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38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38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38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38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38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8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38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38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38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8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38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38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4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38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38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38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38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96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38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38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8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38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38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38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38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28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38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38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84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8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38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38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8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38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8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38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96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8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38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8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38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8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38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8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38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8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38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8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38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8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8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38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8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84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8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38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38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8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38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6" dur="38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196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8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0" dur="38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38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252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38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8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38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38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38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34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34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4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34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4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34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4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34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34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34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34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4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4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34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34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34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9" dur="52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2" dur="52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5" dur="52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8" dur="52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1" dur="52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4" dur="52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13" grpId="0"/>
      <p:bldP spid="14" grpId="0" animBg="1"/>
      <p:bldP spid="15" grpId="0" animBg="1"/>
      <p:bldP spid="20" grpId="0" animBg="1"/>
      <p:bldP spid="21" grpId="0" animBg="1"/>
      <p:bldP spid="32" grpId="0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 animBg="1"/>
      <p:bldP spid="51" grpId="0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59" grpId="0" animBg="1"/>
      <p:bldP spid="60" grpId="0"/>
      <p:bldP spid="61" grpId="0" animBg="1"/>
      <p:bldP spid="62" grpId="0" animBg="1"/>
      <p:bldP spid="71" grpId="0"/>
      <p:bldP spid="72" grpId="0"/>
      <p:bldP spid="73" grpId="0" animBg="1"/>
      <p:bldP spid="74" grpId="0"/>
      <p:bldP spid="75" grpId="0" animBg="1"/>
      <p:bldP spid="76" grpId="0"/>
      <p:bldP spid="77" grpId="0" animBg="1"/>
      <p:bldP spid="78" grpId="0"/>
      <p:bldP spid="79" grpId="0" animBg="1"/>
      <p:bldP spid="80" grpId="0"/>
      <p:bldP spid="81" grpId="0" animBg="1"/>
      <p:bldP spid="82" grpId="0" animBg="1"/>
      <p:bldP spid="88" grpId="0"/>
      <p:bldP spid="89" grpId="0"/>
      <p:bldP spid="90" grpId="0" animBg="1"/>
      <p:bldP spid="91" grpId="0"/>
      <p:bldP spid="92" grpId="0" animBg="1"/>
      <p:bldP spid="93" grpId="0"/>
      <p:bldP spid="94" grpId="0" animBg="1"/>
      <p:bldP spid="95" grpId="0"/>
      <p:bldP spid="96" grpId="0" animBg="1"/>
      <p:bldP spid="97" grpId="0"/>
      <p:bldP spid="98" grpId="0" animBg="1"/>
      <p:bldP spid="99" grpId="0"/>
      <p:bldP spid="100" grpId="0" animBg="1"/>
      <p:bldP spid="105" grpId="0"/>
      <p:bldP spid="106" grpId="0"/>
      <p:bldP spid="107" grpId="0"/>
      <p:bldP spid="108" grpId="0" animBg="1"/>
      <p:bldP spid="117" grpId="0"/>
      <p:bldP spid="118" grpId="0"/>
      <p:bldP spid="119" grpId="0"/>
      <p:bldP spid="120" grpId="0" animBg="1"/>
      <p:bldP spid="123" grpId="0"/>
      <p:bldP spid="124" grpId="0"/>
      <p:bldP spid="125" grpId="0"/>
      <p:bldP spid="126" grpId="0" animBg="1"/>
      <p:bldP spid="129" grpId="0"/>
      <p:bldP spid="130" grpId="0"/>
      <p:bldP spid="131" grpId="0"/>
      <p:bldP spid="132" grpId="0" animBg="1"/>
      <p:bldP spid="133" grpId="0" animBg="1"/>
      <p:bldP spid="137" grpId="0"/>
      <p:bldP spid="138" grpId="0"/>
      <p:bldP spid="139" grpId="0" animBg="1"/>
      <p:bldP spid="1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30352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spc="-35">
                <a:solidFill>
                  <a:srgbClr val="213063"/>
                </a:solidFill>
                <a:latin typeface="Arial"/>
                <a:cs typeface="Arial"/>
              </a:rPr>
              <a:t>Manage Delivery: Timeline, Resources 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A stage gated implementation approach.</a:t>
            </a:r>
          </a:p>
        </p:txBody>
      </p:sp>
      <p:grpSp>
        <p:nvGrpSpPr>
          <p:cNvPr id="17" name="icon:calendar"/>
          <p:cNvGrpSpPr/>
          <p:nvPr/>
        </p:nvGrpSpPr>
        <p:grpSpPr>
          <a:xfrm>
            <a:off x="11082985" y="543885"/>
            <a:ext cx="498896" cy="498896"/>
            <a:chOff x="11082985" y="543885"/>
            <a:chExt cx="498896" cy="498896"/>
          </a:xfrm>
        </p:grpSpPr>
        <p:sp>
          <p:nvSpPr>
            <p:cNvPr id="7" name="Rounded Rectangle 6"/>
            <p:cNvSpPr/>
            <p:nvPr/>
          </p:nvSpPr>
          <p:spPr>
            <a:xfrm>
              <a:off x="11082985" y="611916"/>
              <a:ext cx="498896" cy="430865"/>
            </a:xfrm>
            <a:prstGeom prst="roundRect">
              <a:avLst>
                <a:gd name="adj" fmla="val 6578"/>
              </a:avLst>
            </a:prstGeom>
            <a:noFill/>
            <a:ln w="19050">
              <a:solidFill>
                <a:srgbClr val="C9C6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1082985" y="611916"/>
              <a:ext cx="498896" cy="90708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173693" y="543885"/>
              <a:ext cx="45354" cy="102047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45819" y="543885"/>
              <a:ext cx="45354" cy="102047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162355" y="770656"/>
              <a:ext cx="68031" cy="39684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275740" y="770656"/>
              <a:ext cx="68031" cy="39684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389126" y="770656"/>
              <a:ext cx="68031" cy="39684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162355" y="872703"/>
              <a:ext cx="68031" cy="39684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275740" y="872703"/>
              <a:ext cx="68031" cy="39684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389126" y="872703"/>
              <a:ext cx="68031" cy="39684"/>
            </a:xfrm>
            <a:prstGeom prst="rect">
              <a:avLst/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8" name="Rectangle 17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07 / 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0172" y="1819656"/>
            <a:ext cx="9611624" cy="10972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33" name="chip:searchbar"/>
          <p:cNvGrpSpPr/>
          <p:nvPr/>
        </p:nvGrpSpPr>
        <p:grpSpPr>
          <a:xfrm>
            <a:off x="1020424" y="1549907"/>
            <a:ext cx="539496" cy="539496"/>
            <a:chOff x="1020424" y="1549907"/>
            <a:chExt cx="539496" cy="539496"/>
          </a:xfrm>
        </p:grpSpPr>
        <p:sp>
          <p:nvSpPr>
            <p:cNvPr id="25" name="Oval 24"/>
            <p:cNvSpPr/>
            <p:nvPr/>
          </p:nvSpPr>
          <p:spPr>
            <a:xfrm>
              <a:off x="1020424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6" name="Oval 25"/>
            <p:cNvSpPr/>
            <p:nvPr/>
          </p:nvSpPr>
          <p:spPr>
            <a:xfrm>
              <a:off x="1079860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32" name="icon:searchbar"/>
            <p:cNvGrpSpPr/>
            <p:nvPr/>
          </p:nvGrpSpPr>
          <p:grpSpPr>
            <a:xfrm>
              <a:off x="1193429" y="1722912"/>
              <a:ext cx="147218" cy="201899"/>
              <a:chOff x="1193429" y="1722912"/>
              <a:chExt cx="147218" cy="201899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1193429" y="1722912"/>
                <a:ext cx="147218" cy="147218"/>
              </a:xfrm>
              <a:prstGeom prst="ellipse">
                <a:avLst/>
              </a:prstGeom>
              <a:noFill/>
              <a:ln w="15875">
                <a:solidFill>
                  <a:srgbClr val="374EA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ectangle 27"/>
              <p:cNvSpPr/>
              <p:nvPr/>
            </p:nvSpPr>
            <p:spPr>
              <a:xfrm rot="18900000">
                <a:off x="1319616" y="1853305"/>
                <a:ext cx="21031" cy="71506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227079" y="1807037"/>
                <a:ext cx="14721" cy="37856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252316" y="1786006"/>
                <a:ext cx="14721" cy="58887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1277553" y="1764974"/>
                <a:ext cx="14721" cy="79918"/>
              </a:xfrm>
              <a:prstGeom prst="rect">
                <a:avLst/>
              </a:prstGeom>
              <a:solidFill>
                <a:srgbClr val="374EA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34" name="Rectangle 33"/>
          <p:cNvSpPr/>
          <p:nvPr/>
        </p:nvSpPr>
        <p:spPr>
          <a:xfrm>
            <a:off x="548640" y="2084832"/>
            <a:ext cx="1483065" cy="274320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W1 to W2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Diagnostic and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information needs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031705" y="1776862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47" name="chip:clipboard"/>
          <p:cNvGrpSpPr/>
          <p:nvPr/>
        </p:nvGrpSpPr>
        <p:grpSpPr>
          <a:xfrm>
            <a:off x="2622362" y="1549907"/>
            <a:ext cx="539496" cy="539496"/>
            <a:chOff x="2622362" y="1549907"/>
            <a:chExt cx="539496" cy="539496"/>
          </a:xfrm>
        </p:grpSpPr>
        <p:sp>
          <p:nvSpPr>
            <p:cNvPr id="39" name="Oval 38"/>
            <p:cNvSpPr/>
            <p:nvPr/>
          </p:nvSpPr>
          <p:spPr>
            <a:xfrm>
              <a:off x="2622362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0E8F9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2681798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46" name="icon:clipboard"/>
            <p:cNvGrpSpPr/>
            <p:nvPr/>
          </p:nvGrpSpPr>
          <p:grpSpPr>
            <a:xfrm>
              <a:off x="2820603" y="1714500"/>
              <a:ext cx="143012" cy="201898"/>
              <a:chOff x="2820603" y="1714500"/>
              <a:chExt cx="143012" cy="201898"/>
            </a:xfrm>
          </p:grpSpPr>
          <p:sp>
            <p:nvSpPr>
              <p:cNvPr id="41" name="Rounded Rectangle 40"/>
              <p:cNvSpPr/>
              <p:nvPr/>
            </p:nvSpPr>
            <p:spPr>
              <a:xfrm>
                <a:off x="2820603" y="1731324"/>
                <a:ext cx="143012" cy="185074"/>
              </a:xfrm>
              <a:prstGeom prst="roundRect">
                <a:avLst>
                  <a:gd name="adj" fmla="val 8823"/>
                </a:avLst>
              </a:prstGeom>
              <a:noFill/>
              <a:ln w="15875">
                <a:solidFill>
                  <a:srgbClr val="0E8F9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2858460" y="1714500"/>
                <a:ext cx="67299" cy="33649"/>
              </a:xfrm>
              <a:prstGeom prst="rect">
                <a:avLst/>
              </a:prstGeom>
              <a:solidFill>
                <a:srgbClr val="0E8F9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2854253" y="1794418"/>
                <a:ext cx="75712" cy="9464"/>
              </a:xfrm>
              <a:prstGeom prst="rect">
                <a:avLst/>
              </a:prstGeom>
              <a:solidFill>
                <a:srgbClr val="0E8F9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2854253" y="1828068"/>
                <a:ext cx="75712" cy="9464"/>
              </a:xfrm>
              <a:prstGeom prst="rect">
                <a:avLst/>
              </a:prstGeom>
              <a:solidFill>
                <a:srgbClr val="0E8F9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2854253" y="1861718"/>
                <a:ext cx="75712" cy="9464"/>
              </a:xfrm>
              <a:prstGeom prst="rect">
                <a:avLst/>
              </a:prstGeom>
              <a:solidFill>
                <a:srgbClr val="0E8F9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48" name="Rectangle 47"/>
          <p:cNvSpPr/>
          <p:nvPr/>
        </p:nvSpPr>
        <p:spPr>
          <a:xfrm>
            <a:off x="2150577" y="2084832"/>
            <a:ext cx="1483065" cy="274320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50577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W2 to W4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50577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23729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Design, ToR and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procurement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3633642" y="1776862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67" name="chip:gear"/>
          <p:cNvGrpSpPr/>
          <p:nvPr/>
        </p:nvGrpSpPr>
        <p:grpSpPr>
          <a:xfrm>
            <a:off x="4224299" y="1549907"/>
            <a:ext cx="539496" cy="539496"/>
            <a:chOff x="4224299" y="1549907"/>
            <a:chExt cx="539496" cy="539496"/>
          </a:xfrm>
        </p:grpSpPr>
        <p:sp>
          <p:nvSpPr>
            <p:cNvPr id="53" name="Oval 52"/>
            <p:cNvSpPr/>
            <p:nvPr/>
          </p:nvSpPr>
          <p:spPr>
            <a:xfrm>
              <a:off x="4224299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4" name="Oval 53"/>
            <p:cNvSpPr/>
            <p:nvPr/>
          </p:nvSpPr>
          <p:spPr>
            <a:xfrm>
              <a:off x="4283735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66" name="icon:gear"/>
            <p:cNvGrpSpPr/>
            <p:nvPr/>
          </p:nvGrpSpPr>
          <p:grpSpPr>
            <a:xfrm>
              <a:off x="4394149" y="1719757"/>
              <a:ext cx="199795" cy="199796"/>
              <a:chOff x="4394149" y="1719757"/>
              <a:chExt cx="199795" cy="199796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4562398" y="1803882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Rectangle 55"/>
              <p:cNvSpPr/>
              <p:nvPr/>
            </p:nvSpPr>
            <p:spPr>
              <a:xfrm rot="2700000">
                <a:off x="4537759" y="1863367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Rectangle 56"/>
              <p:cNvSpPr/>
              <p:nvPr/>
            </p:nvSpPr>
            <p:spPr>
              <a:xfrm rot="5400000">
                <a:off x="4478274" y="1888007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ectangle 57"/>
              <p:cNvSpPr/>
              <p:nvPr/>
            </p:nvSpPr>
            <p:spPr>
              <a:xfrm rot="8100000">
                <a:off x="4418788" y="1863367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Rectangle 58"/>
              <p:cNvSpPr/>
              <p:nvPr/>
            </p:nvSpPr>
            <p:spPr>
              <a:xfrm rot="10800000">
                <a:off x="4394149" y="1803882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ectangle 59"/>
              <p:cNvSpPr/>
              <p:nvPr/>
            </p:nvSpPr>
            <p:spPr>
              <a:xfrm rot="13500000">
                <a:off x="4418788" y="1744397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Rectangle 60"/>
              <p:cNvSpPr/>
              <p:nvPr/>
            </p:nvSpPr>
            <p:spPr>
              <a:xfrm rot="16200000">
                <a:off x="4478274" y="1719757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Rectangle 61"/>
              <p:cNvSpPr/>
              <p:nvPr/>
            </p:nvSpPr>
            <p:spPr>
              <a:xfrm rot="18900000">
                <a:off x="4537759" y="1744397"/>
                <a:ext cx="31546" cy="31546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4422541" y="1748149"/>
                <a:ext cx="143012" cy="143012"/>
              </a:xfrm>
              <a:prstGeom prst="ellipse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4462500" y="1788109"/>
                <a:ext cx="63093" cy="63093"/>
              </a:xfrm>
              <a:prstGeom prst="ellipse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4462500" y="1788109"/>
                <a:ext cx="63093" cy="6309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68" name="Rectangle 67"/>
          <p:cNvSpPr/>
          <p:nvPr/>
        </p:nvSpPr>
        <p:spPr>
          <a:xfrm>
            <a:off x="3752514" y="2084832"/>
            <a:ext cx="1483065" cy="274320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52514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W4 to W6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52514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825666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Inception, tools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and pilot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5235580" y="1776862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78" name="chip:person"/>
          <p:cNvGrpSpPr/>
          <p:nvPr/>
        </p:nvGrpSpPr>
        <p:grpSpPr>
          <a:xfrm>
            <a:off x="5826236" y="1549907"/>
            <a:ext cx="539496" cy="539496"/>
            <a:chOff x="5826236" y="1549907"/>
            <a:chExt cx="539496" cy="539496"/>
          </a:xfrm>
        </p:grpSpPr>
        <p:sp>
          <p:nvSpPr>
            <p:cNvPr id="73" name="Oval 72"/>
            <p:cNvSpPr/>
            <p:nvPr/>
          </p:nvSpPr>
          <p:spPr>
            <a:xfrm>
              <a:off x="5826236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4" name="Oval 73"/>
            <p:cNvSpPr/>
            <p:nvPr/>
          </p:nvSpPr>
          <p:spPr>
            <a:xfrm>
              <a:off x="5885672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77" name="icon:person"/>
            <p:cNvGrpSpPr/>
            <p:nvPr/>
          </p:nvGrpSpPr>
          <p:grpSpPr>
            <a:xfrm>
              <a:off x="6020272" y="1722912"/>
              <a:ext cx="151424" cy="193486"/>
              <a:chOff x="6020272" y="1722912"/>
              <a:chExt cx="151424" cy="193486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6049716" y="1722912"/>
                <a:ext cx="92537" cy="92537"/>
              </a:xfrm>
              <a:prstGeom prst="ellipse">
                <a:avLst/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Round Same Side Corner Rectangle 75"/>
              <p:cNvSpPr/>
              <p:nvPr/>
            </p:nvSpPr>
            <p:spPr>
              <a:xfrm>
                <a:off x="6020272" y="1815449"/>
                <a:ext cx="151424" cy="10094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26A2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79" name="Rectangle 78"/>
          <p:cNvSpPr/>
          <p:nvPr/>
        </p:nvSpPr>
        <p:spPr>
          <a:xfrm>
            <a:off x="5354452" y="2084832"/>
            <a:ext cx="1483065" cy="27432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354452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W6 to W9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54452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27604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Implementation and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data collection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6837517" y="1776862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0" name="chip:chart"/>
          <p:cNvGrpSpPr/>
          <p:nvPr/>
        </p:nvGrpSpPr>
        <p:grpSpPr>
          <a:xfrm>
            <a:off x="7428174" y="1549907"/>
            <a:ext cx="539496" cy="539496"/>
            <a:chOff x="7428174" y="1549907"/>
            <a:chExt cx="539496" cy="539496"/>
          </a:xfrm>
        </p:grpSpPr>
        <p:sp>
          <p:nvSpPr>
            <p:cNvPr id="84" name="Oval 83"/>
            <p:cNvSpPr/>
            <p:nvPr/>
          </p:nvSpPr>
          <p:spPr>
            <a:xfrm>
              <a:off x="7428174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6A1E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5" name="Oval 84"/>
            <p:cNvSpPr/>
            <p:nvPr/>
          </p:nvSpPr>
          <p:spPr>
            <a:xfrm>
              <a:off x="7487610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89" name="icon:chart"/>
            <p:cNvGrpSpPr/>
            <p:nvPr/>
          </p:nvGrpSpPr>
          <p:grpSpPr>
            <a:xfrm>
              <a:off x="7609591" y="1727118"/>
              <a:ext cx="172455" cy="180868"/>
              <a:chOff x="7609591" y="1727118"/>
              <a:chExt cx="172455" cy="180868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7609591" y="1815449"/>
                <a:ext cx="37856" cy="92537"/>
              </a:xfrm>
              <a:prstGeom prst="rect">
                <a:avLst/>
              </a:prstGeom>
              <a:solidFill>
                <a:srgbClr val="6A1E7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7676890" y="1769181"/>
                <a:ext cx="37856" cy="138805"/>
              </a:xfrm>
              <a:prstGeom prst="rect">
                <a:avLst/>
              </a:prstGeom>
              <a:solidFill>
                <a:srgbClr val="6A1E7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7744190" y="1727118"/>
                <a:ext cx="37856" cy="180868"/>
              </a:xfrm>
              <a:prstGeom prst="rect">
                <a:avLst/>
              </a:prstGeom>
              <a:solidFill>
                <a:srgbClr val="6A1E7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91" name="Rectangle 90"/>
          <p:cNvSpPr/>
          <p:nvPr/>
        </p:nvSpPr>
        <p:spPr>
          <a:xfrm>
            <a:off x="6956389" y="2084832"/>
            <a:ext cx="1483065" cy="274320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956389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W9 to W11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56389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29541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Analysis and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validation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8439454" y="1776862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2" name="chip:target"/>
          <p:cNvGrpSpPr/>
          <p:nvPr/>
        </p:nvGrpSpPr>
        <p:grpSpPr>
          <a:xfrm>
            <a:off x="9030111" y="1549907"/>
            <a:ext cx="539496" cy="539496"/>
            <a:chOff x="9030111" y="1549907"/>
            <a:chExt cx="539496" cy="539496"/>
          </a:xfrm>
        </p:grpSpPr>
        <p:sp>
          <p:nvSpPr>
            <p:cNvPr id="96" name="Oval 95"/>
            <p:cNvSpPr/>
            <p:nvPr/>
          </p:nvSpPr>
          <p:spPr>
            <a:xfrm>
              <a:off x="9030111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213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7" name="Oval 96"/>
            <p:cNvSpPr/>
            <p:nvPr/>
          </p:nvSpPr>
          <p:spPr>
            <a:xfrm>
              <a:off x="9089547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01" name="icon:target"/>
            <p:cNvGrpSpPr/>
            <p:nvPr/>
          </p:nvGrpSpPr>
          <p:grpSpPr>
            <a:xfrm>
              <a:off x="9194703" y="1714500"/>
              <a:ext cx="210312" cy="210312"/>
              <a:chOff x="9194703" y="1714500"/>
              <a:chExt cx="210312" cy="210312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9194703" y="1714500"/>
                <a:ext cx="210312" cy="210312"/>
              </a:xfrm>
              <a:prstGeom prst="ellipse">
                <a:avLst/>
              </a:prstGeom>
              <a:noFill/>
              <a:ln w="15875">
                <a:solidFill>
                  <a:srgbClr val="21306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9236765" y="1756562"/>
                <a:ext cx="126187" cy="126187"/>
              </a:xfrm>
              <a:prstGeom prst="ellipse">
                <a:avLst/>
              </a:prstGeom>
              <a:noFill/>
              <a:ln w="15875">
                <a:solidFill>
                  <a:srgbClr val="21306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9276725" y="1796521"/>
                <a:ext cx="46268" cy="46268"/>
              </a:xfrm>
              <a:prstGeom prst="ellipse">
                <a:avLst/>
              </a:prstGeom>
              <a:solidFill>
                <a:srgbClr val="21306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3" name="Rectangle 102"/>
          <p:cNvSpPr/>
          <p:nvPr/>
        </p:nvSpPr>
        <p:spPr>
          <a:xfrm>
            <a:off x="8558326" y="2084832"/>
            <a:ext cx="1483065" cy="274320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8558326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W12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58326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631478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Management decision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and action plan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10041392" y="1776862"/>
            <a:ext cx="118872" cy="85587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14" name="chip:cycle"/>
          <p:cNvGrpSpPr/>
          <p:nvPr/>
        </p:nvGrpSpPr>
        <p:grpSpPr>
          <a:xfrm>
            <a:off x="10632048" y="1549907"/>
            <a:ext cx="539496" cy="539496"/>
            <a:chOff x="10632048" y="1549907"/>
            <a:chExt cx="539496" cy="539496"/>
          </a:xfrm>
        </p:grpSpPr>
        <p:sp>
          <p:nvSpPr>
            <p:cNvPr id="108" name="Oval 107"/>
            <p:cNvSpPr/>
            <p:nvPr/>
          </p:nvSpPr>
          <p:spPr>
            <a:xfrm>
              <a:off x="10632048" y="1549907"/>
              <a:ext cx="539496" cy="539496"/>
            </a:xfrm>
            <a:prstGeom prst="ellipse">
              <a:avLst/>
            </a:prstGeom>
            <a:noFill/>
            <a:ln w="12700">
              <a:solidFill>
                <a:srgbClr val="7777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9" name="Oval 108"/>
            <p:cNvSpPr/>
            <p:nvPr/>
          </p:nvSpPr>
          <p:spPr>
            <a:xfrm>
              <a:off x="10691484" y="1609344"/>
              <a:ext cx="420624" cy="4206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13" name="icon:cycle"/>
            <p:cNvGrpSpPr/>
            <p:nvPr/>
          </p:nvGrpSpPr>
          <p:grpSpPr>
            <a:xfrm>
              <a:off x="10788228" y="1710293"/>
              <a:ext cx="227137" cy="218725"/>
              <a:chOff x="10788228" y="1710293"/>
              <a:chExt cx="227137" cy="218725"/>
            </a:xfrm>
          </p:grpSpPr>
          <p:sp>
            <p:nvSpPr>
              <p:cNvPr id="110" name="Donut 109"/>
              <p:cNvSpPr/>
              <p:nvPr/>
            </p:nvSpPr>
            <p:spPr>
              <a:xfrm>
                <a:off x="10809259" y="1727118"/>
                <a:ext cx="185074" cy="185074"/>
              </a:xfrm>
              <a:prstGeom prst="donut">
                <a:avLst>
                  <a:gd name="adj" fmla="val 19000"/>
                </a:avLst>
              </a:prstGeom>
              <a:solidFill>
                <a:srgbClr val="7777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Freeform 110"/>
              <p:cNvSpPr/>
              <p:nvPr/>
            </p:nvSpPr>
            <p:spPr>
              <a:xfrm>
                <a:off x="10935446" y="1710293"/>
                <a:ext cx="79919" cy="92538"/>
              </a:xfrm>
              <a:custGeom>
                <a:avLst/>
                <a:gdLst/>
                <a:ahLst/>
                <a:cxnLst/>
                <a:rect l="l" t="t" r="r" b="b"/>
                <a:pathLst>
                  <a:path w="79919" h="92538">
                    <a:moveTo>
                      <a:pt x="0" y="0"/>
                    </a:moveTo>
                    <a:lnTo>
                      <a:pt x="79919" y="46269"/>
                    </a:lnTo>
                    <a:lnTo>
                      <a:pt x="0" y="92538"/>
                    </a:lnTo>
                    <a:close/>
                  </a:path>
                </a:pathLst>
              </a:custGeom>
              <a:solidFill>
                <a:srgbClr val="7777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Freeform 111"/>
              <p:cNvSpPr/>
              <p:nvPr/>
            </p:nvSpPr>
            <p:spPr>
              <a:xfrm>
                <a:off x="10788228" y="1836480"/>
                <a:ext cx="79918" cy="92538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92538">
                    <a:moveTo>
                      <a:pt x="79918" y="92538"/>
                    </a:moveTo>
                    <a:lnTo>
                      <a:pt x="0" y="46269"/>
                    </a:lnTo>
                    <a:lnTo>
                      <a:pt x="79918" y="0"/>
                    </a:lnTo>
                    <a:close/>
                  </a:path>
                </a:pathLst>
              </a:custGeom>
              <a:solidFill>
                <a:srgbClr val="77777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15" name="Rectangle 114"/>
          <p:cNvSpPr/>
          <p:nvPr/>
        </p:nvSpPr>
        <p:spPr>
          <a:xfrm>
            <a:off x="10160264" y="2084832"/>
            <a:ext cx="1483065" cy="274320"/>
          </a:xfrm>
          <a:prstGeom prst="rect">
            <a:avLst/>
          </a:prstGeom>
          <a:solidFill>
            <a:srgbClr val="777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160264" y="2084832"/>
            <a:ext cx="148306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spc="30">
                <a:solidFill>
                  <a:srgbClr val="FFFFFF"/>
                </a:solidFill>
                <a:latin typeface="Arial"/>
                <a:cs typeface="Arial"/>
              </a:rPr>
              <a:t>Ongoing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60264" y="2359152"/>
            <a:ext cx="1483065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0233416" y="2359152"/>
            <a:ext cx="1336761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Monitor, learn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404041"/>
                </a:solidFill>
                <a:latin typeface="Arial"/>
                <a:cs typeface="Arial"/>
              </a:rPr>
              <a:t>and adapt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3090672"/>
            <a:ext cx="11094689" cy="347472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24128" y="309067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cap="all" spc="120">
                <a:solidFill>
                  <a:srgbClr val="FFFFFF"/>
                </a:solidFill>
                <a:latin typeface="Arial"/>
                <a:cs typeface="Arial"/>
              </a:rPr>
              <a:t>Critical risk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03520" y="3090672"/>
            <a:ext cx="624836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cap="all" spc="120">
                <a:solidFill>
                  <a:srgbClr val="FFFFFF"/>
                </a:solidFill>
                <a:latin typeface="Arial"/>
                <a:cs typeface="Arial"/>
              </a:rPr>
              <a:t>Management response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3438144"/>
            <a:ext cx="11094689" cy="28803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5" name="icon:hourglass"/>
          <p:cNvGrpSpPr/>
          <p:nvPr/>
        </p:nvGrpSpPr>
        <p:grpSpPr>
          <a:xfrm>
            <a:off x="748344" y="3481212"/>
            <a:ext cx="149231" cy="201899"/>
            <a:chOff x="748344" y="3481212"/>
            <a:chExt cx="149231" cy="201899"/>
          </a:xfrm>
        </p:grpSpPr>
        <p:sp>
          <p:nvSpPr>
            <p:cNvPr id="123" name="Freeform 122"/>
            <p:cNvSpPr/>
            <p:nvPr/>
          </p:nvSpPr>
          <p:spPr>
            <a:xfrm>
              <a:off x="748344" y="3481212"/>
              <a:ext cx="149231" cy="201899"/>
            </a:xfrm>
            <a:custGeom>
              <a:avLst/>
              <a:gdLst/>
              <a:ahLst/>
              <a:cxnLst/>
              <a:rect l="l" t="t" r="r" b="b"/>
              <a:pathLst>
                <a:path w="149231" h="201899">
                  <a:moveTo>
                    <a:pt x="0" y="0"/>
                  </a:moveTo>
                  <a:lnTo>
                    <a:pt x="149231" y="0"/>
                  </a:lnTo>
                  <a:lnTo>
                    <a:pt x="85588" y="100950"/>
                  </a:lnTo>
                  <a:lnTo>
                    <a:pt x="149231" y="201899"/>
                  </a:lnTo>
                  <a:lnTo>
                    <a:pt x="0" y="201899"/>
                  </a:lnTo>
                  <a:lnTo>
                    <a:pt x="63643" y="100950"/>
                  </a:lnTo>
                  <a:close/>
                </a:path>
              </a:pathLst>
            </a:custGeom>
            <a:noFill/>
            <a:ln w="15240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770290" y="3503157"/>
              <a:ext cx="105339" cy="70226"/>
            </a:xfrm>
            <a:custGeom>
              <a:avLst/>
              <a:gdLst/>
              <a:ahLst/>
              <a:cxnLst/>
              <a:rect l="l" t="t" r="r" b="b"/>
              <a:pathLst>
                <a:path w="105339" h="70226">
                  <a:moveTo>
                    <a:pt x="0" y="0"/>
                  </a:moveTo>
                  <a:lnTo>
                    <a:pt x="105339" y="0"/>
                  </a:lnTo>
                  <a:lnTo>
                    <a:pt x="52669" y="70226"/>
                  </a:lnTo>
                  <a:close/>
                </a:path>
              </a:pathLst>
            </a:cu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1024128" y="3438144"/>
            <a:ext cx="3877056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Procurement and implementation delays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303520" y="3438144"/>
            <a:ext cx="6211793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5B5B5E"/>
                </a:solidFill>
                <a:latin typeface="Arial"/>
                <a:cs typeface="Arial"/>
              </a:rPr>
              <a:t>Early planning, realistic milestones, stage gates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8640" y="3726180"/>
            <a:ext cx="1109468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2" name="icon:warning"/>
          <p:cNvGrpSpPr/>
          <p:nvPr/>
        </p:nvGrpSpPr>
        <p:grpSpPr>
          <a:xfrm>
            <a:off x="717621" y="3769248"/>
            <a:ext cx="210677" cy="188732"/>
            <a:chOff x="717621" y="3769248"/>
            <a:chExt cx="210677" cy="188732"/>
          </a:xfrm>
        </p:grpSpPr>
        <p:sp>
          <p:nvSpPr>
            <p:cNvPr id="129" name="Freeform 128"/>
            <p:cNvSpPr/>
            <p:nvPr/>
          </p:nvSpPr>
          <p:spPr>
            <a:xfrm>
              <a:off x="717621" y="3769248"/>
              <a:ext cx="210677" cy="188732"/>
            </a:xfrm>
            <a:custGeom>
              <a:avLst/>
              <a:gdLst/>
              <a:ahLst/>
              <a:cxnLst/>
              <a:rect l="l" t="t" r="r" b="b"/>
              <a:pathLst>
                <a:path w="210677" h="188732">
                  <a:moveTo>
                    <a:pt x="105338" y="0"/>
                  </a:moveTo>
                  <a:lnTo>
                    <a:pt x="210677" y="188732"/>
                  </a:lnTo>
                  <a:lnTo>
                    <a:pt x="0" y="188732"/>
                  </a:lnTo>
                  <a:close/>
                </a:path>
              </a:pathLst>
            </a:custGeom>
            <a:noFill/>
            <a:ln w="15240">
              <a:solidFill>
                <a:srgbClr val="E223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814181" y="3826306"/>
              <a:ext cx="17556" cy="74615"/>
            </a:xfrm>
            <a:prstGeom prst="rect">
              <a:avLst/>
            </a:prstGeom>
            <a:solidFill>
              <a:srgbClr val="E223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814181" y="3916283"/>
              <a:ext cx="17556" cy="19751"/>
            </a:xfrm>
            <a:prstGeom prst="rect">
              <a:avLst/>
            </a:prstGeom>
            <a:solidFill>
              <a:srgbClr val="E223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1024128" y="3726180"/>
            <a:ext cx="3877056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Poor data quality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03520" y="3726180"/>
            <a:ext cx="6211793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5B5B5E"/>
                </a:solidFill>
                <a:latin typeface="Arial"/>
                <a:cs typeface="Arial"/>
              </a:rPr>
              <a:t>Pilot, validation rules, field quality assurance, independent verification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48640" y="4014216"/>
            <a:ext cx="1109468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548640" y="4014215"/>
            <a:ext cx="11094689" cy="28803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43" name="icon:people"/>
          <p:cNvGrpSpPr/>
          <p:nvPr/>
        </p:nvGrpSpPr>
        <p:grpSpPr>
          <a:xfrm>
            <a:off x="708842" y="4052895"/>
            <a:ext cx="228234" cy="179953"/>
            <a:chOff x="708842" y="4052895"/>
            <a:chExt cx="228234" cy="179953"/>
          </a:xfrm>
        </p:grpSpPr>
        <p:sp>
          <p:nvSpPr>
            <p:cNvPr id="137" name="Oval 136"/>
            <p:cNvSpPr/>
            <p:nvPr/>
          </p:nvSpPr>
          <p:spPr>
            <a:xfrm>
              <a:off x="713231" y="4070451"/>
              <a:ext cx="57058" cy="5705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8" name="Round Same Side Corner Rectangle 137"/>
            <p:cNvSpPr/>
            <p:nvPr/>
          </p:nvSpPr>
          <p:spPr>
            <a:xfrm>
              <a:off x="708842" y="4136288"/>
              <a:ext cx="65836" cy="7461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9" name="Oval 138"/>
            <p:cNvSpPr/>
            <p:nvPr/>
          </p:nvSpPr>
          <p:spPr>
            <a:xfrm>
              <a:off x="875629" y="4070451"/>
              <a:ext cx="57058" cy="5705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0" name="Round Same Side Corner Rectangle 139"/>
            <p:cNvSpPr/>
            <p:nvPr/>
          </p:nvSpPr>
          <p:spPr>
            <a:xfrm>
              <a:off x="871240" y="4136288"/>
              <a:ext cx="65836" cy="7461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1" name="Oval 140"/>
            <p:cNvSpPr/>
            <p:nvPr/>
          </p:nvSpPr>
          <p:spPr>
            <a:xfrm>
              <a:off x="785652" y="4052895"/>
              <a:ext cx="74615" cy="74615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2" name="Round Same Side Corner Rectangle 141"/>
            <p:cNvSpPr/>
            <p:nvPr/>
          </p:nvSpPr>
          <p:spPr>
            <a:xfrm>
              <a:off x="772485" y="4136288"/>
              <a:ext cx="100949" cy="965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1024128" y="4014215"/>
            <a:ext cx="3877056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Low government or partner ownership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303520" y="4014215"/>
            <a:ext cx="6211793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5B5B5E"/>
                </a:solidFill>
                <a:latin typeface="Arial"/>
                <a:cs typeface="Arial"/>
              </a:rPr>
              <a:t>Joint design, governance structure, regular reviews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48640" y="4302252"/>
            <a:ext cx="1109468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Freeform 146"/>
          <p:cNvSpPr/>
          <p:nvPr/>
        </p:nvSpPr>
        <p:spPr>
          <a:xfrm>
            <a:off x="730788" y="4349709"/>
            <a:ext cx="184343" cy="201899"/>
          </a:xfrm>
          <a:custGeom>
            <a:avLst/>
            <a:gdLst/>
            <a:ahLst/>
            <a:cxnLst/>
            <a:rect l="l" t="t" r="r" b="b"/>
            <a:pathLst>
              <a:path w="184343" h="201899">
                <a:moveTo>
                  <a:pt x="0" y="0"/>
                </a:moveTo>
                <a:lnTo>
                  <a:pt x="184343" y="0"/>
                </a:lnTo>
                <a:lnTo>
                  <a:pt x="184343" y="109728"/>
                </a:lnTo>
                <a:lnTo>
                  <a:pt x="92171" y="201899"/>
                </a:lnTo>
                <a:lnTo>
                  <a:pt x="0" y="109728"/>
                </a:lnTo>
                <a:close/>
              </a:path>
            </a:pathLst>
          </a:cu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24128" y="4302252"/>
            <a:ext cx="3877056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Ethical and safeguarding risk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03520" y="4302252"/>
            <a:ext cx="6211793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5B5B5E"/>
                </a:solidFill>
                <a:latin typeface="Arial"/>
                <a:cs typeface="Arial"/>
              </a:rPr>
              <a:t>Ethics review, trained teams, referral protocols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8640" y="4590288"/>
            <a:ext cx="1109468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548640" y="4590288"/>
            <a:ext cx="11094689" cy="288036"/>
          </a:xfrm>
          <a:prstGeom prst="rect">
            <a:avLst/>
          </a:prstGeom>
          <a:solidFill>
            <a:srgbClr val="F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5" name="icon:coins"/>
          <p:cNvGrpSpPr/>
          <p:nvPr/>
        </p:nvGrpSpPr>
        <p:grpSpPr>
          <a:xfrm>
            <a:off x="726399" y="4655301"/>
            <a:ext cx="193121" cy="144841"/>
            <a:chOff x="726399" y="4655301"/>
            <a:chExt cx="193121" cy="144841"/>
          </a:xfrm>
        </p:grpSpPr>
        <p:sp>
          <p:nvSpPr>
            <p:cNvPr id="152" name="Oval 151"/>
            <p:cNvSpPr/>
            <p:nvPr/>
          </p:nvSpPr>
          <p:spPr>
            <a:xfrm>
              <a:off x="726399" y="4743084"/>
              <a:ext cx="193121" cy="57058"/>
            </a:xfrm>
            <a:prstGeom prst="ellipse">
              <a:avLst/>
            </a:prstGeom>
            <a:noFill/>
            <a:ln w="15240">
              <a:solidFill>
                <a:srgbClr val="961A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3" name="Oval 152"/>
            <p:cNvSpPr/>
            <p:nvPr/>
          </p:nvSpPr>
          <p:spPr>
            <a:xfrm>
              <a:off x="726399" y="4699193"/>
              <a:ext cx="193121" cy="57058"/>
            </a:xfrm>
            <a:prstGeom prst="ellipse">
              <a:avLst/>
            </a:prstGeom>
            <a:noFill/>
            <a:ln w="15240">
              <a:solidFill>
                <a:srgbClr val="961A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4" name="Oval 153"/>
            <p:cNvSpPr/>
            <p:nvPr/>
          </p:nvSpPr>
          <p:spPr>
            <a:xfrm>
              <a:off x="726399" y="4655301"/>
              <a:ext cx="193121" cy="57058"/>
            </a:xfrm>
            <a:prstGeom prst="ellipse">
              <a:avLst/>
            </a:prstGeom>
            <a:noFill/>
            <a:ln w="15240">
              <a:solidFill>
                <a:srgbClr val="961A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56" name="TextBox 155"/>
          <p:cNvSpPr txBox="1"/>
          <p:nvPr/>
        </p:nvSpPr>
        <p:spPr>
          <a:xfrm>
            <a:off x="1024128" y="4590288"/>
            <a:ext cx="3877056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Scope creep and cost escalation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303520" y="4590288"/>
            <a:ext cx="6211793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5B5B5E"/>
                </a:solidFill>
                <a:latin typeface="Arial"/>
                <a:cs typeface="Arial"/>
              </a:rPr>
              <a:t>Clear ToR, change control, milestone based payments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48640" y="4878324"/>
            <a:ext cx="11094689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62" name="icon:clock"/>
          <p:cNvGrpSpPr/>
          <p:nvPr/>
        </p:nvGrpSpPr>
        <p:grpSpPr>
          <a:xfrm>
            <a:off x="717621" y="4917003"/>
            <a:ext cx="210677" cy="210677"/>
            <a:chOff x="717621" y="4917003"/>
            <a:chExt cx="210677" cy="210677"/>
          </a:xfrm>
        </p:grpSpPr>
        <p:sp>
          <p:nvSpPr>
            <p:cNvPr id="159" name="Oval 158"/>
            <p:cNvSpPr/>
            <p:nvPr/>
          </p:nvSpPr>
          <p:spPr>
            <a:xfrm>
              <a:off x="717621" y="4917003"/>
              <a:ext cx="210677" cy="210677"/>
            </a:xfrm>
            <a:prstGeom prst="ellipse">
              <a:avLst/>
            </a:prstGeom>
            <a:noFill/>
            <a:ln w="15240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816376" y="4947726"/>
              <a:ext cx="13167" cy="83393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18570" y="5017952"/>
              <a:ext cx="65836" cy="13167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63" name="TextBox 162"/>
          <p:cNvSpPr txBox="1"/>
          <p:nvPr/>
        </p:nvSpPr>
        <p:spPr>
          <a:xfrm>
            <a:off x="1024128" y="4878324"/>
            <a:ext cx="3877056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Findings arrive too late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303520" y="4878324"/>
            <a:ext cx="6211793" cy="2880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5B5B5E"/>
                </a:solidFill>
                <a:latin typeface="Arial"/>
                <a:cs typeface="Arial"/>
              </a:rPr>
              <a:t>Rapid interim products and a rolling dashboard with briefs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48640" y="5166360"/>
            <a:ext cx="11094689" cy="10972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5029200" y="3090672"/>
            <a:ext cx="10972" cy="2075688"/>
          </a:xfrm>
          <a:prstGeom prst="rect">
            <a:avLst/>
          </a:prstGeom>
          <a:solidFill>
            <a:srgbClr val="D8D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548640" y="5303520"/>
            <a:ext cx="11094689" cy="49377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548640" y="5303520"/>
            <a:ext cx="45720" cy="49377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49808" y="5303520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i="0" cap="all" spc="90">
                <a:solidFill>
                  <a:srgbClr val="213063"/>
                </a:solidFill>
                <a:latin typeface="Arial"/>
                <a:cs typeface="Arial"/>
              </a:rPr>
              <a:t>Management mechanisms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304288" y="5404104"/>
            <a:ext cx="9144" cy="292608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78" name="icon:checklist"/>
          <p:cNvGrpSpPr/>
          <p:nvPr/>
        </p:nvGrpSpPr>
        <p:grpSpPr>
          <a:xfrm>
            <a:off x="2570927" y="5450555"/>
            <a:ext cx="161665" cy="209214"/>
            <a:chOff x="2570927" y="5450555"/>
            <a:chExt cx="161665" cy="209214"/>
          </a:xfrm>
        </p:grpSpPr>
        <p:sp>
          <p:nvSpPr>
            <p:cNvPr id="171" name="Rounded Rectangle 170"/>
            <p:cNvSpPr/>
            <p:nvPr/>
          </p:nvSpPr>
          <p:spPr>
            <a:xfrm>
              <a:off x="2570927" y="5450555"/>
              <a:ext cx="161665" cy="209214"/>
            </a:xfrm>
            <a:prstGeom prst="roundRect">
              <a:avLst>
                <a:gd name="adj" fmla="val 8823"/>
              </a:avLst>
            </a:pr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2599456" y="5488594"/>
              <a:ext cx="47549" cy="52304"/>
            </a:xfrm>
            <a:custGeom>
              <a:avLst/>
              <a:gdLst/>
              <a:ahLst/>
              <a:cxnLst/>
              <a:rect l="l" t="t" r="r" b="b"/>
              <a:pathLst>
                <a:path w="47549" h="52304">
                  <a:moveTo>
                    <a:pt x="0" y="19020"/>
                  </a:moveTo>
                  <a:lnTo>
                    <a:pt x="16642" y="35662"/>
                  </a:lnTo>
                  <a:lnTo>
                    <a:pt x="47549" y="0"/>
                  </a:lnTo>
                  <a:lnTo>
                    <a:pt x="47549" y="16642"/>
                  </a:lnTo>
                  <a:lnTo>
                    <a:pt x="16642" y="52304"/>
                  </a:lnTo>
                  <a:lnTo>
                    <a:pt x="0" y="35662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2663647" y="5509991"/>
              <a:ext cx="52303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2599456" y="5536143"/>
              <a:ext cx="47549" cy="52304"/>
            </a:xfrm>
            <a:custGeom>
              <a:avLst/>
              <a:gdLst/>
              <a:ahLst/>
              <a:cxnLst/>
              <a:rect l="l" t="t" r="r" b="b"/>
              <a:pathLst>
                <a:path w="47549" h="52304">
                  <a:moveTo>
                    <a:pt x="0" y="19019"/>
                  </a:moveTo>
                  <a:lnTo>
                    <a:pt x="16642" y="35661"/>
                  </a:lnTo>
                  <a:lnTo>
                    <a:pt x="47549" y="0"/>
                  </a:lnTo>
                  <a:lnTo>
                    <a:pt x="47549" y="16642"/>
                  </a:lnTo>
                  <a:lnTo>
                    <a:pt x="16642" y="52304"/>
                  </a:lnTo>
                  <a:lnTo>
                    <a:pt x="0" y="35661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2663647" y="5557540"/>
              <a:ext cx="52303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2599456" y="5583692"/>
              <a:ext cx="47549" cy="52303"/>
            </a:xfrm>
            <a:custGeom>
              <a:avLst/>
              <a:gdLst/>
              <a:ahLst/>
              <a:cxnLst/>
              <a:rect l="l" t="t" r="r" b="b"/>
              <a:pathLst>
                <a:path w="47549" h="52303">
                  <a:moveTo>
                    <a:pt x="0" y="19019"/>
                  </a:moveTo>
                  <a:lnTo>
                    <a:pt x="16642" y="35661"/>
                  </a:lnTo>
                  <a:lnTo>
                    <a:pt x="47549" y="0"/>
                  </a:lnTo>
                  <a:lnTo>
                    <a:pt x="47549" y="16642"/>
                  </a:lnTo>
                  <a:lnTo>
                    <a:pt x="16642" y="52303"/>
                  </a:lnTo>
                  <a:lnTo>
                    <a:pt x="0" y="35661"/>
                  </a:lnTo>
                  <a:close/>
                </a:path>
              </a:pathLst>
            </a:cu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2663647" y="5605089"/>
              <a:ext cx="52303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79" name="TextBox 178"/>
          <p:cNvSpPr txBox="1"/>
          <p:nvPr/>
        </p:nvSpPr>
        <p:spPr>
          <a:xfrm>
            <a:off x="2843784" y="5303520"/>
            <a:ext cx="116331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Workplan and RACI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943090" y="5404104"/>
            <a:ext cx="7315" cy="292608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85" name="icon:doc"/>
          <p:cNvGrpSpPr/>
          <p:nvPr/>
        </p:nvGrpSpPr>
        <p:grpSpPr>
          <a:xfrm>
            <a:off x="4104756" y="5441045"/>
            <a:ext cx="156911" cy="218725"/>
            <a:chOff x="4104756" y="5441045"/>
            <a:chExt cx="156911" cy="218725"/>
          </a:xfrm>
        </p:grpSpPr>
        <p:sp>
          <p:nvSpPr>
            <p:cNvPr id="181" name="Freeform 180"/>
            <p:cNvSpPr/>
            <p:nvPr/>
          </p:nvSpPr>
          <p:spPr>
            <a:xfrm>
              <a:off x="4104756" y="5441045"/>
              <a:ext cx="156911" cy="218725"/>
            </a:xfrm>
            <a:custGeom>
              <a:avLst/>
              <a:gdLst/>
              <a:ahLst/>
              <a:cxnLst/>
              <a:rect l="l" t="t" r="r" b="b"/>
              <a:pathLst>
                <a:path w="156911" h="218725">
                  <a:moveTo>
                    <a:pt x="0" y="0"/>
                  </a:moveTo>
                  <a:lnTo>
                    <a:pt x="109363" y="0"/>
                  </a:lnTo>
                  <a:lnTo>
                    <a:pt x="156911" y="52304"/>
                  </a:lnTo>
                  <a:lnTo>
                    <a:pt x="156911" y="218725"/>
                  </a:lnTo>
                  <a:lnTo>
                    <a:pt x="0" y="218725"/>
                  </a:lnTo>
                  <a:close/>
                </a:path>
              </a:pathLst>
            </a:cu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4133286" y="5526633"/>
              <a:ext cx="95097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4133286" y="5564672"/>
              <a:ext cx="95097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133286" y="5602711"/>
              <a:ext cx="66568" cy="10698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86" name="TextBox 185"/>
          <p:cNvSpPr txBox="1"/>
          <p:nvPr/>
        </p:nvSpPr>
        <p:spPr>
          <a:xfrm>
            <a:off x="4372858" y="5303520"/>
            <a:ext cx="116331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Deliverable tracker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5472165" y="5404104"/>
            <a:ext cx="7315" cy="292608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91" name="icon:warning"/>
          <p:cNvGrpSpPr/>
          <p:nvPr/>
        </p:nvGrpSpPr>
        <p:grpSpPr>
          <a:xfrm>
            <a:off x="5595792" y="5441045"/>
            <a:ext cx="228234" cy="204460"/>
            <a:chOff x="5595792" y="5441045"/>
            <a:chExt cx="228234" cy="204460"/>
          </a:xfrm>
        </p:grpSpPr>
        <p:sp>
          <p:nvSpPr>
            <p:cNvPr id="188" name="Freeform 187"/>
            <p:cNvSpPr/>
            <p:nvPr/>
          </p:nvSpPr>
          <p:spPr>
            <a:xfrm>
              <a:off x="5595792" y="5441045"/>
              <a:ext cx="228234" cy="204460"/>
            </a:xfrm>
            <a:custGeom>
              <a:avLst/>
              <a:gdLst/>
              <a:ahLst/>
              <a:cxnLst/>
              <a:rect l="l" t="t" r="r" b="b"/>
              <a:pathLst>
                <a:path w="228234" h="204460">
                  <a:moveTo>
                    <a:pt x="114117" y="0"/>
                  </a:moveTo>
                  <a:lnTo>
                    <a:pt x="228234" y="204460"/>
                  </a:lnTo>
                  <a:lnTo>
                    <a:pt x="0" y="204460"/>
                  </a:lnTo>
                  <a:close/>
                </a:path>
              </a:pathLst>
            </a:cu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700400" y="5502859"/>
              <a:ext cx="19019" cy="80832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5700400" y="5600334"/>
              <a:ext cx="19019" cy="21396"/>
            </a:xfrm>
            <a:prstGeom prst="rect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92" name="TextBox 191"/>
          <p:cNvSpPr txBox="1"/>
          <p:nvPr/>
        </p:nvSpPr>
        <p:spPr>
          <a:xfrm>
            <a:off x="5901933" y="5303520"/>
            <a:ext cx="116331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Risk register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001240" y="5404104"/>
            <a:ext cx="7315" cy="292608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97" name="icon:coins"/>
          <p:cNvGrpSpPr/>
          <p:nvPr/>
        </p:nvGrpSpPr>
        <p:grpSpPr>
          <a:xfrm>
            <a:off x="7134377" y="5464820"/>
            <a:ext cx="209214" cy="156910"/>
            <a:chOff x="7134377" y="5464820"/>
            <a:chExt cx="209214" cy="156910"/>
          </a:xfrm>
        </p:grpSpPr>
        <p:sp>
          <p:nvSpPr>
            <p:cNvPr id="194" name="Oval 193"/>
            <p:cNvSpPr/>
            <p:nvPr/>
          </p:nvSpPr>
          <p:spPr>
            <a:xfrm>
              <a:off x="7134377" y="5559917"/>
              <a:ext cx="209214" cy="61813"/>
            </a:xfrm>
            <a:prstGeom prst="ellipse">
              <a:avLst/>
            </a:pr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95" name="Oval 194"/>
            <p:cNvSpPr/>
            <p:nvPr/>
          </p:nvSpPr>
          <p:spPr>
            <a:xfrm>
              <a:off x="7134377" y="5512368"/>
              <a:ext cx="209214" cy="61813"/>
            </a:xfrm>
            <a:prstGeom prst="ellipse">
              <a:avLst/>
            </a:pr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96" name="Oval 195"/>
            <p:cNvSpPr/>
            <p:nvPr/>
          </p:nvSpPr>
          <p:spPr>
            <a:xfrm>
              <a:off x="7134377" y="5464820"/>
              <a:ext cx="209214" cy="61813"/>
            </a:xfrm>
            <a:prstGeom prst="ellipse">
              <a:avLst/>
            </a:pr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98" name="TextBox 197"/>
          <p:cNvSpPr txBox="1"/>
          <p:nvPr/>
        </p:nvSpPr>
        <p:spPr>
          <a:xfrm>
            <a:off x="7431008" y="5303520"/>
            <a:ext cx="116331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Budget monitoring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30315" y="5404104"/>
            <a:ext cx="7315" cy="292608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Freeform 199"/>
          <p:cNvSpPr/>
          <p:nvPr/>
        </p:nvSpPr>
        <p:spPr>
          <a:xfrm>
            <a:off x="8668207" y="5445800"/>
            <a:ext cx="199705" cy="218725"/>
          </a:xfrm>
          <a:custGeom>
            <a:avLst/>
            <a:gdLst/>
            <a:ahLst/>
            <a:cxnLst/>
            <a:rect l="l" t="t" r="r" b="b"/>
            <a:pathLst>
              <a:path w="199705" h="218725">
                <a:moveTo>
                  <a:pt x="0" y="0"/>
                </a:moveTo>
                <a:lnTo>
                  <a:pt x="199705" y="0"/>
                </a:lnTo>
                <a:lnTo>
                  <a:pt x="199705" y="118872"/>
                </a:lnTo>
                <a:lnTo>
                  <a:pt x="99852" y="218725"/>
                </a:lnTo>
                <a:lnTo>
                  <a:pt x="0" y="118872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8960083" y="5303520"/>
            <a:ext cx="116331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Quality checkpoints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0059390" y="5404104"/>
            <a:ext cx="7315" cy="292608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3" name="Freeform 202"/>
          <p:cNvSpPr/>
          <p:nvPr/>
        </p:nvSpPr>
        <p:spPr>
          <a:xfrm>
            <a:off x="10187772" y="5469575"/>
            <a:ext cx="204460" cy="190195"/>
          </a:xfrm>
          <a:custGeom>
            <a:avLst/>
            <a:gdLst/>
            <a:ahLst/>
            <a:cxnLst/>
            <a:rect l="l" t="t" r="r" b="b"/>
            <a:pathLst>
              <a:path w="204460" h="190195">
                <a:moveTo>
                  <a:pt x="0" y="152156"/>
                </a:moveTo>
                <a:lnTo>
                  <a:pt x="76078" y="66568"/>
                </a:lnTo>
                <a:lnTo>
                  <a:pt x="123627" y="114117"/>
                </a:lnTo>
                <a:lnTo>
                  <a:pt x="204460" y="0"/>
                </a:lnTo>
                <a:lnTo>
                  <a:pt x="204460" y="61813"/>
                </a:lnTo>
                <a:lnTo>
                  <a:pt x="123627" y="175930"/>
                </a:lnTo>
                <a:lnTo>
                  <a:pt x="76078" y="128381"/>
                </a:lnTo>
                <a:lnTo>
                  <a:pt x="0" y="190195"/>
                </a:lnTo>
                <a:close/>
              </a:path>
            </a:pathLst>
          </a:cu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0489158" y="5303520"/>
            <a:ext cx="116331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0" i="0">
                <a:solidFill>
                  <a:srgbClr val="404041"/>
                </a:solidFill>
                <a:latin typeface="Arial"/>
                <a:cs typeface="Arial"/>
              </a:rPr>
              <a:t>Escalation protocol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48640" y="5907024"/>
            <a:ext cx="11094689" cy="47548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548640" y="5907024"/>
            <a:ext cx="68580" cy="4754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10" name="icon:target"/>
          <p:cNvGrpSpPr/>
          <p:nvPr/>
        </p:nvGrpSpPr>
        <p:grpSpPr>
          <a:xfrm>
            <a:off x="886968" y="5952744"/>
            <a:ext cx="384048" cy="384048"/>
            <a:chOff x="886968" y="5952744"/>
            <a:chExt cx="384048" cy="384048"/>
          </a:xfrm>
        </p:grpSpPr>
        <p:sp>
          <p:nvSpPr>
            <p:cNvPr id="207" name="Oval 206"/>
            <p:cNvSpPr/>
            <p:nvPr/>
          </p:nvSpPr>
          <p:spPr>
            <a:xfrm>
              <a:off x="886968" y="5952744"/>
              <a:ext cx="384048" cy="384048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08" name="Oval 207"/>
            <p:cNvSpPr/>
            <p:nvPr/>
          </p:nvSpPr>
          <p:spPr>
            <a:xfrm>
              <a:off x="963777" y="6029553"/>
              <a:ext cx="230428" cy="230428"/>
            </a:xfrm>
            <a:prstGeom prst="ellipse">
              <a:avLst/>
            </a:prstGeom>
            <a:noFill/>
            <a:ln w="1905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09" name="Oval 208"/>
            <p:cNvSpPr/>
            <p:nvPr/>
          </p:nvSpPr>
          <p:spPr>
            <a:xfrm>
              <a:off x="1036746" y="6102522"/>
              <a:ext cx="84490" cy="84490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11" name="TextBox 210"/>
          <p:cNvSpPr txBox="1"/>
          <p:nvPr/>
        </p:nvSpPr>
        <p:spPr>
          <a:xfrm>
            <a:off x="1463039" y="5870448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Principle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944368" y="6071616"/>
            <a:ext cx="9144" cy="146304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3108960" y="5998464"/>
            <a:ext cx="826004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I would manage against milestones and decision points, not simply against the consultant contract end date.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3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3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3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3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3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3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3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3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3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3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3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3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32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32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32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3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32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32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32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32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32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32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32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32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32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32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32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5" dur="32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9" dur="32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32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7" dur="32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1" dur="32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5" dur="32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3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9" dur="32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3" dur="32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7" dur="32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2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1" dur="32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2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5" dur="32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2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9" dur="32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2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3" dur="32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7" dur="32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6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6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36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6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36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7" dur="3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162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3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184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3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206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6" dur="3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228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9" dur="3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268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2" dur="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3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1" dur="3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374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4" dur="3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7" dur="3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418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0" dur="3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3" dur="3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6" dur="3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3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grpId="0" nodeType="withEffect">
                                  <p:stCondLst>
                                    <p:cond delay="524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2" dur="3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grpId="0" nodeType="withEffect">
                                  <p:stCondLst>
                                    <p:cond delay="546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5" dur="3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568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8" dur="3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grpId="0" nodeType="withEffect">
                                  <p:stCondLst>
                                    <p:cond delay="608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1" dur="3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4" dur="3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652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7" dur="3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674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3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8" fill="hold" grpId="0" nodeType="withEffect">
                                  <p:stCondLst>
                                    <p:cond delay="696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3" dur="3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8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6" dur="3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8" fill="hold" grpId="0" nodeType="withEffect">
                                  <p:stCondLst>
                                    <p:cond delay="758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9" dur="3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2" dur="3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4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34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4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34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4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125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34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34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34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4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34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34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275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34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4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325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34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34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34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34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34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34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34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34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2" dur="5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5" dur="5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8" dur="5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1" dur="5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4" dur="5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7" dur="5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17" grpId="0"/>
      <p:bldP spid="18" grpId="0" animBg="1"/>
      <p:bldP spid="19" grpId="0" animBg="1"/>
      <p:bldP spid="24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67" grpId="0"/>
      <p:bldP spid="68" grpId="0" animBg="1"/>
      <p:bldP spid="69" grpId="0"/>
      <p:bldP spid="70" grpId="0" animBg="1"/>
      <p:bldP spid="71" grpId="0"/>
      <p:bldP spid="72" grpId="0" animBg="1"/>
      <p:bldP spid="78" grpId="0"/>
      <p:bldP spid="79" grpId="0" animBg="1"/>
      <p:bldP spid="80" grpId="0"/>
      <p:bldP spid="81" grpId="0" animBg="1"/>
      <p:bldP spid="82" grpId="0"/>
      <p:bldP spid="83" grpId="0" animBg="1"/>
      <p:bldP spid="90" grpId="0"/>
      <p:bldP spid="91" grpId="0" animBg="1"/>
      <p:bldP spid="92" grpId="0"/>
      <p:bldP spid="93" grpId="0" animBg="1"/>
      <p:bldP spid="94" grpId="0"/>
      <p:bldP spid="95" grpId="0" animBg="1"/>
      <p:bldP spid="102" grpId="0"/>
      <p:bldP spid="103" grpId="0" animBg="1"/>
      <p:bldP spid="104" grpId="0"/>
      <p:bldP spid="105" grpId="0" animBg="1"/>
      <p:bldP spid="106" grpId="0"/>
      <p:bldP spid="107" grpId="0" animBg="1"/>
      <p:bldP spid="114" grpId="0"/>
      <p:bldP spid="115" grpId="0" animBg="1"/>
      <p:bldP spid="116" grpId="0"/>
      <p:bldP spid="117" grpId="0" animBg="1"/>
      <p:bldP spid="118" grpId="0"/>
      <p:bldP spid="119" grpId="0" animBg="1"/>
      <p:bldP spid="120" grpId="0"/>
      <p:bldP spid="121" grpId="0"/>
      <p:bldP spid="122" grpId="0" animBg="1"/>
      <p:bldP spid="125" grpId="0"/>
      <p:bldP spid="126" grpId="0"/>
      <p:bldP spid="127" grpId="0"/>
      <p:bldP spid="128" grpId="0" animBg="1"/>
      <p:bldP spid="132" grpId="0"/>
      <p:bldP spid="133" grpId="0"/>
      <p:bldP spid="134" grpId="0"/>
      <p:bldP spid="135" grpId="0" animBg="1"/>
      <p:bldP spid="136" grpId="0" animBg="1"/>
      <p:bldP spid="143" grpId="0"/>
      <p:bldP spid="144" grpId="0"/>
      <p:bldP spid="145" grpId="0"/>
      <p:bldP spid="146" grpId="0" animBg="1"/>
      <p:bldP spid="147" grpId="0" animBg="1"/>
      <p:bldP spid="148" grpId="0"/>
      <p:bldP spid="149" grpId="0"/>
      <p:bldP spid="150" grpId="0" animBg="1"/>
      <p:bldP spid="151" grpId="0" animBg="1"/>
      <p:bldP spid="155" grpId="0"/>
      <p:bldP spid="156" grpId="0"/>
      <p:bldP spid="157" grpId="0"/>
      <p:bldP spid="158" grpId="0" animBg="1"/>
      <p:bldP spid="162" grpId="0"/>
      <p:bldP spid="163" grpId="0"/>
      <p:bldP spid="164" grpId="0"/>
      <p:bldP spid="165" grpId="0" animBg="1"/>
      <p:bldP spid="166" grpId="0" animBg="1"/>
      <p:bldP spid="167" grpId="0" animBg="1"/>
      <p:bldP spid="168" grpId="0" animBg="1"/>
      <p:bldP spid="169" grpId="0"/>
      <p:bldP spid="170" grpId="0" animBg="1"/>
      <p:bldP spid="178" grpId="0"/>
      <p:bldP spid="179" grpId="0"/>
      <p:bldP spid="180" grpId="0" animBg="1"/>
      <p:bldP spid="185" grpId="0"/>
      <p:bldP spid="186" grpId="0"/>
      <p:bldP spid="187" grpId="0" animBg="1"/>
      <p:bldP spid="191" grpId="0"/>
      <p:bldP spid="192" grpId="0"/>
      <p:bldP spid="193" grpId="0" animBg="1"/>
      <p:bldP spid="197" grpId="0"/>
      <p:bldP spid="198" grpId="0"/>
      <p:bldP spid="199" grpId="0" animBg="1"/>
      <p:bldP spid="200" grpId="0" animBg="1"/>
      <p:bldP spid="201" grpId="0"/>
      <p:bldP spid="202" grpId="0" animBg="1"/>
      <p:bldP spid="203" grpId="0" animBg="1"/>
      <p:bldP spid="204" grpId="0"/>
      <p:bldP spid="205" grpId="0" animBg="1"/>
      <p:bldP spid="206" grpId="0" animBg="1"/>
      <p:bldP spid="210" grpId="0"/>
      <p:bldP spid="211" grpId="0"/>
      <p:bldP spid="212" grpId="0" animBg="1"/>
      <p:bldP spid="2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61188"/>
            <a:ext cx="50292" cy="89611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5669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>
                <a:solidFill>
                  <a:srgbClr val="C9C6C0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"/>
            <a:ext cx="1036316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60">
                <a:solidFill>
                  <a:srgbClr val="1CABE2"/>
                </a:solidFill>
                <a:latin typeface="Arial"/>
                <a:cs typeface="Arial"/>
              </a:rPr>
              <a:t>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530352"/>
            <a:ext cx="922016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spc="-35">
                <a:solidFill>
                  <a:srgbClr val="213063"/>
                </a:solidFill>
                <a:latin typeface="Arial"/>
                <a:cs typeface="Arial"/>
              </a:rPr>
              <a:t>Evidence, Decision,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92658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>
                <a:solidFill>
                  <a:srgbClr val="5B5B5E"/>
                </a:solidFill>
                <a:latin typeface="Arial"/>
                <a:cs typeface="Arial"/>
              </a:rPr>
              <a:t>The measure of success is not the report. It is what changes because of the evidence.</a:t>
            </a:r>
          </a:p>
        </p:txBody>
      </p:sp>
      <p:grpSp>
        <p:nvGrpSpPr>
          <p:cNvPr id="10" name="icon:cycle"/>
          <p:cNvGrpSpPr/>
          <p:nvPr/>
        </p:nvGrpSpPr>
        <p:grpSpPr>
          <a:xfrm>
            <a:off x="11026292" y="509869"/>
            <a:ext cx="612282" cy="589605"/>
            <a:chOff x="11026292" y="509869"/>
            <a:chExt cx="612282" cy="589605"/>
          </a:xfrm>
        </p:grpSpPr>
        <p:sp>
          <p:nvSpPr>
            <p:cNvPr id="7" name="Donut 6"/>
            <p:cNvSpPr/>
            <p:nvPr/>
          </p:nvSpPr>
          <p:spPr>
            <a:xfrm>
              <a:off x="11082985" y="555223"/>
              <a:ext cx="498896" cy="498896"/>
            </a:xfrm>
            <a:prstGeom prst="donut">
              <a:avLst>
                <a:gd name="adj" fmla="val 19000"/>
              </a:avLst>
            </a:pr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Freeform 7"/>
            <p:cNvSpPr/>
            <p:nvPr/>
          </p:nvSpPr>
          <p:spPr>
            <a:xfrm>
              <a:off x="11423142" y="509869"/>
              <a:ext cx="215432" cy="249448"/>
            </a:xfrm>
            <a:custGeom>
              <a:avLst/>
              <a:gdLst/>
              <a:ahLst/>
              <a:cxnLst/>
              <a:rect l="l" t="t" r="r" b="b"/>
              <a:pathLst>
                <a:path w="215432" h="249448">
                  <a:moveTo>
                    <a:pt x="0" y="0"/>
                  </a:moveTo>
                  <a:lnTo>
                    <a:pt x="215432" y="124724"/>
                  </a:lnTo>
                  <a:lnTo>
                    <a:pt x="0" y="249448"/>
                  </a:lnTo>
                  <a:close/>
                </a:path>
              </a:pathLst>
            </a:cu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Freeform 8"/>
            <p:cNvSpPr/>
            <p:nvPr/>
          </p:nvSpPr>
          <p:spPr>
            <a:xfrm>
              <a:off x="11026292" y="850026"/>
              <a:ext cx="215433" cy="249448"/>
            </a:xfrm>
            <a:custGeom>
              <a:avLst/>
              <a:gdLst/>
              <a:ahLst/>
              <a:cxnLst/>
              <a:rect l="l" t="t" r="r" b="b"/>
              <a:pathLst>
                <a:path w="215433" h="249448">
                  <a:moveTo>
                    <a:pt x="215433" y="249448"/>
                  </a:moveTo>
                  <a:lnTo>
                    <a:pt x="0" y="124724"/>
                  </a:lnTo>
                  <a:lnTo>
                    <a:pt x="215433" y="0"/>
                  </a:lnTo>
                  <a:close/>
                </a:path>
              </a:pathLst>
            </a:custGeom>
            <a:solidFill>
              <a:srgbClr val="C9C6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" name="Rectangle 10"/>
          <p:cNvSpPr/>
          <p:nvPr/>
        </p:nvSpPr>
        <p:spPr>
          <a:xfrm>
            <a:off x="548640" y="1408176"/>
            <a:ext cx="11094689" cy="12801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1408176"/>
            <a:ext cx="1325880" cy="12801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08 / 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1572768"/>
            <a:ext cx="11094689" cy="420624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1572768"/>
            <a:ext cx="54864" cy="42062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1572768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0" i="0">
                <a:solidFill>
                  <a:srgbClr val="FFFFFF"/>
                </a:solidFill>
                <a:latin typeface="Arial"/>
                <a:cs typeface="Arial"/>
              </a:rPr>
              <a:t>Evidence that management can act on is</a:t>
            </a:r>
          </a:p>
        </p:txBody>
      </p:sp>
      <p:grpSp>
        <p:nvGrpSpPr>
          <p:cNvPr id="23" name="icon:clock"/>
          <p:cNvGrpSpPr/>
          <p:nvPr/>
        </p:nvGrpSpPr>
        <p:grpSpPr>
          <a:xfrm>
            <a:off x="5421020" y="1668962"/>
            <a:ext cx="228234" cy="228234"/>
            <a:chOff x="5421020" y="1668962"/>
            <a:chExt cx="228234" cy="228234"/>
          </a:xfrm>
        </p:grpSpPr>
        <p:sp>
          <p:nvSpPr>
            <p:cNvPr id="20" name="Oval 19"/>
            <p:cNvSpPr/>
            <p:nvPr/>
          </p:nvSpPr>
          <p:spPr>
            <a:xfrm>
              <a:off x="5421020" y="1668962"/>
              <a:ext cx="228234" cy="228234"/>
            </a:xfrm>
            <a:prstGeom prst="ellipse">
              <a:avLst/>
            </a:prstGeom>
            <a:noFill/>
            <a:ln w="15875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28005" y="1702247"/>
              <a:ext cx="14264" cy="9034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530382" y="1778325"/>
              <a:ext cx="71323" cy="14264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718017" y="1572768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1" i="0" cap="all" spc="90">
                <a:solidFill>
                  <a:srgbClr val="FFFFFF"/>
                </a:solidFill>
                <a:latin typeface="Arial"/>
                <a:cs typeface="Arial"/>
              </a:rPr>
              <a:t>Timely</a:t>
            </a:r>
          </a:p>
        </p:txBody>
      </p:sp>
      <p:grpSp>
        <p:nvGrpSpPr>
          <p:cNvPr id="28" name="icon:target"/>
          <p:cNvGrpSpPr/>
          <p:nvPr/>
        </p:nvGrpSpPr>
        <p:grpSpPr>
          <a:xfrm>
            <a:off x="6989033" y="1664207"/>
            <a:ext cx="237744" cy="237744"/>
            <a:chOff x="6989033" y="1664207"/>
            <a:chExt cx="237744" cy="237744"/>
          </a:xfrm>
        </p:grpSpPr>
        <p:sp>
          <p:nvSpPr>
            <p:cNvPr id="25" name="Oval 24"/>
            <p:cNvSpPr/>
            <p:nvPr/>
          </p:nvSpPr>
          <p:spPr>
            <a:xfrm>
              <a:off x="6989033" y="1664207"/>
              <a:ext cx="237744" cy="237744"/>
            </a:xfrm>
            <a:prstGeom prst="ellipse">
              <a:avLst/>
            </a:prstGeom>
            <a:noFill/>
            <a:ln w="15875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6" name="Oval 25"/>
            <p:cNvSpPr/>
            <p:nvPr/>
          </p:nvSpPr>
          <p:spPr>
            <a:xfrm>
              <a:off x="7036582" y="1711756"/>
              <a:ext cx="142646" cy="142646"/>
            </a:xfrm>
            <a:prstGeom prst="ellipse">
              <a:avLst/>
            </a:prstGeom>
            <a:noFill/>
            <a:ln w="15875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7081753" y="1756928"/>
              <a:ext cx="52303" cy="52303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290785" y="1572768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1" i="0" cap="all" spc="90">
                <a:solidFill>
                  <a:srgbClr val="FFFFFF"/>
                </a:solidFill>
                <a:latin typeface="Arial"/>
                <a:cs typeface="Arial"/>
              </a:rPr>
              <a:t>Relevant</a:t>
            </a:r>
          </a:p>
        </p:txBody>
      </p:sp>
      <p:grpSp>
        <p:nvGrpSpPr>
          <p:cNvPr id="32" name="icon:shield"/>
          <p:cNvGrpSpPr/>
          <p:nvPr/>
        </p:nvGrpSpPr>
        <p:grpSpPr>
          <a:xfrm>
            <a:off x="8585575" y="1673717"/>
            <a:ext cx="190196" cy="223480"/>
            <a:chOff x="8585575" y="1673717"/>
            <a:chExt cx="190196" cy="223480"/>
          </a:xfrm>
        </p:grpSpPr>
        <p:sp>
          <p:nvSpPr>
            <p:cNvPr id="30" name="Freeform 29"/>
            <p:cNvSpPr/>
            <p:nvPr/>
          </p:nvSpPr>
          <p:spPr>
            <a:xfrm>
              <a:off x="8585575" y="1673717"/>
              <a:ext cx="190196" cy="223480"/>
            </a:xfrm>
            <a:custGeom>
              <a:avLst/>
              <a:gdLst/>
              <a:ahLst/>
              <a:cxnLst/>
              <a:rect l="l" t="t" r="r" b="b"/>
              <a:pathLst>
                <a:path w="190196" h="223480">
                  <a:moveTo>
                    <a:pt x="0" y="0"/>
                  </a:moveTo>
                  <a:lnTo>
                    <a:pt x="190196" y="0"/>
                  </a:lnTo>
                  <a:lnTo>
                    <a:pt x="190196" y="121250"/>
                  </a:lnTo>
                  <a:lnTo>
                    <a:pt x="95098" y="223480"/>
                  </a:lnTo>
                  <a:lnTo>
                    <a:pt x="0" y="121250"/>
                  </a:lnTo>
                  <a:close/>
                </a:path>
              </a:pathLst>
            </a:custGeom>
            <a:noFill/>
            <a:ln w="15875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Freeform 30"/>
            <p:cNvSpPr/>
            <p:nvPr/>
          </p:nvSpPr>
          <p:spPr>
            <a:xfrm>
              <a:off x="8640257" y="1745040"/>
              <a:ext cx="85587" cy="104608"/>
            </a:xfrm>
            <a:custGeom>
              <a:avLst/>
              <a:gdLst/>
              <a:ahLst/>
              <a:cxnLst/>
              <a:rect l="l" t="t" r="r" b="b"/>
              <a:pathLst>
                <a:path w="85587" h="104608">
                  <a:moveTo>
                    <a:pt x="0" y="38040"/>
                  </a:moveTo>
                  <a:lnTo>
                    <a:pt x="28529" y="71324"/>
                  </a:lnTo>
                  <a:lnTo>
                    <a:pt x="85587" y="0"/>
                  </a:lnTo>
                  <a:lnTo>
                    <a:pt x="85587" y="33285"/>
                  </a:lnTo>
                  <a:lnTo>
                    <a:pt x="28529" y="104608"/>
                  </a:lnTo>
                  <a:lnTo>
                    <a:pt x="0" y="71324"/>
                  </a:lnTo>
                  <a:close/>
                </a:path>
              </a:pathLst>
            </a:cu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8863553" y="1572768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1" i="0" cap="all" spc="90">
                <a:solidFill>
                  <a:srgbClr val="FFFFFF"/>
                </a:solidFill>
                <a:latin typeface="Arial"/>
                <a:cs typeface="Arial"/>
              </a:rPr>
              <a:t>Trusted</a:t>
            </a:r>
          </a:p>
        </p:txBody>
      </p:sp>
      <p:grpSp>
        <p:nvGrpSpPr>
          <p:cNvPr id="39" name="icon:child"/>
          <p:cNvGrpSpPr/>
          <p:nvPr/>
        </p:nvGrpSpPr>
        <p:grpSpPr>
          <a:xfrm>
            <a:off x="10172608" y="1668962"/>
            <a:ext cx="161665" cy="228235"/>
            <a:chOff x="10172608" y="1668962"/>
            <a:chExt cx="161665" cy="228235"/>
          </a:xfrm>
        </p:grpSpPr>
        <p:sp>
          <p:nvSpPr>
            <p:cNvPr id="34" name="Oval 33"/>
            <p:cNvSpPr/>
            <p:nvPr/>
          </p:nvSpPr>
          <p:spPr>
            <a:xfrm>
              <a:off x="10220157" y="1668962"/>
              <a:ext cx="66568" cy="66568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242743" y="1740286"/>
              <a:ext cx="21396" cy="8083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172608" y="1749795"/>
              <a:ext cx="161665" cy="16642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 rot="840000">
              <a:off x="10201137" y="1821119"/>
              <a:ext cx="21396" cy="76078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 rot="20760000">
              <a:off x="10284348" y="1821119"/>
              <a:ext cx="21396" cy="76078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0436321" y="1572768"/>
            <a:ext cx="111556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1" i="0" cap="all" spc="90">
                <a:solidFill>
                  <a:srgbClr val="FFFFFF"/>
                </a:solidFill>
                <a:latin typeface="Arial"/>
                <a:cs typeface="Arial"/>
              </a:rPr>
              <a:t>For children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01929" y="2414015"/>
            <a:ext cx="9588111" cy="10972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48640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2633472"/>
            <a:ext cx="1506578" cy="42062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3" name="chip:db"/>
          <p:cNvGrpSpPr/>
          <p:nvPr/>
        </p:nvGrpSpPr>
        <p:grpSpPr>
          <a:xfrm>
            <a:off x="1004749" y="2116835"/>
            <a:ext cx="594360" cy="594360"/>
            <a:chOff x="1004749" y="2116835"/>
            <a:chExt cx="594360" cy="594360"/>
          </a:xfrm>
        </p:grpSpPr>
        <p:sp>
          <p:nvSpPr>
            <p:cNvPr id="44" name="Oval 43"/>
            <p:cNvSpPr/>
            <p:nvPr/>
          </p:nvSpPr>
          <p:spPr>
            <a:xfrm>
              <a:off x="1004749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5" name="Oval 44"/>
            <p:cNvSpPr/>
            <p:nvPr/>
          </p:nvSpPr>
          <p:spPr>
            <a:xfrm>
              <a:off x="1064185" y="2176272"/>
              <a:ext cx="475488" cy="47548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52" name="icon:db"/>
            <p:cNvGrpSpPr/>
            <p:nvPr/>
          </p:nvGrpSpPr>
          <p:grpSpPr>
            <a:xfrm>
              <a:off x="1206831" y="2304653"/>
              <a:ext cx="190195" cy="218724"/>
              <a:chOff x="1206831" y="2304653"/>
              <a:chExt cx="190195" cy="218724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1206831" y="2333183"/>
                <a:ext cx="190195" cy="1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1206831" y="2304653"/>
                <a:ext cx="190195" cy="5705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221096" y="2318918"/>
                <a:ext cx="161665" cy="2852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1206831" y="2390241"/>
                <a:ext cx="190195" cy="5230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206831" y="2452055"/>
                <a:ext cx="190195" cy="5230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206831" y="2466319"/>
                <a:ext cx="190195" cy="5705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4" name="TextBox 53"/>
          <p:cNvSpPr txBox="1"/>
          <p:nvPr/>
        </p:nvSpPr>
        <p:spPr>
          <a:xfrm>
            <a:off x="640080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374EA2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374EA2"/>
                </a:solidFill>
                <a:latin typeface="Arial"/>
                <a:cs typeface="Arial"/>
              </a:rPr>
              <a:t>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Routine monitoring,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assessments and evaluations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2046074" y="2374513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146658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146658" y="2633472"/>
            <a:ext cx="1506578" cy="42062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68" name="chip:searchbar"/>
          <p:cNvGrpSpPr/>
          <p:nvPr/>
        </p:nvGrpSpPr>
        <p:grpSpPr>
          <a:xfrm>
            <a:off x="2602767" y="2116835"/>
            <a:ext cx="594360" cy="594360"/>
            <a:chOff x="2602767" y="2116835"/>
            <a:chExt cx="594360" cy="594360"/>
          </a:xfrm>
        </p:grpSpPr>
        <p:sp>
          <p:nvSpPr>
            <p:cNvPr id="60" name="Oval 59"/>
            <p:cNvSpPr/>
            <p:nvPr/>
          </p:nvSpPr>
          <p:spPr>
            <a:xfrm>
              <a:off x="2602767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1" name="Oval 60"/>
            <p:cNvSpPr/>
            <p:nvPr/>
          </p:nvSpPr>
          <p:spPr>
            <a:xfrm>
              <a:off x="2662203" y="2176272"/>
              <a:ext cx="475488" cy="475488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67" name="icon:searchbar"/>
            <p:cNvGrpSpPr/>
            <p:nvPr/>
          </p:nvGrpSpPr>
          <p:grpSpPr>
            <a:xfrm>
              <a:off x="2790585" y="2304653"/>
              <a:ext cx="166420" cy="228234"/>
              <a:chOff x="2790585" y="2304653"/>
              <a:chExt cx="166420" cy="228234"/>
            </a:xfrm>
          </p:grpSpPr>
          <p:sp>
            <p:nvSpPr>
              <p:cNvPr id="62" name="Oval 61"/>
              <p:cNvSpPr/>
              <p:nvPr/>
            </p:nvSpPr>
            <p:spPr>
              <a:xfrm>
                <a:off x="2790585" y="2304653"/>
                <a:ext cx="166420" cy="166420"/>
              </a:xfrm>
              <a:prstGeom prst="ellipse">
                <a:avLst/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Rectangle 62"/>
              <p:cNvSpPr/>
              <p:nvPr/>
            </p:nvSpPr>
            <p:spPr>
              <a:xfrm rot="18900000">
                <a:off x="2933231" y="2452055"/>
                <a:ext cx="23774" cy="808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2828624" y="2399751"/>
                <a:ext cx="16642" cy="427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2857153" y="2375976"/>
                <a:ext cx="16642" cy="665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885683" y="2352202"/>
                <a:ext cx="16642" cy="903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69" name="TextBox 68"/>
          <p:cNvSpPr txBox="1"/>
          <p:nvPr/>
        </p:nvSpPr>
        <p:spPr>
          <a:xfrm>
            <a:off x="2238098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0E8F9E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38098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0E8F9E"/>
                </a:solidFill>
                <a:latin typeface="Arial"/>
                <a:cs typeface="Arial"/>
              </a:rPr>
              <a:t>Insight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38098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Analyse trends, equity gaps,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bottlenecks and drivers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3644093" y="2374513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744677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744677" y="2633472"/>
            <a:ext cx="1506578" cy="42062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84" name="chip:people"/>
          <p:cNvGrpSpPr/>
          <p:nvPr/>
        </p:nvGrpSpPr>
        <p:grpSpPr>
          <a:xfrm>
            <a:off x="4200786" y="2116835"/>
            <a:ext cx="594360" cy="594360"/>
            <a:chOff x="4200786" y="2116835"/>
            <a:chExt cx="594360" cy="594360"/>
          </a:xfrm>
        </p:grpSpPr>
        <p:sp>
          <p:nvSpPr>
            <p:cNvPr id="75" name="Oval 74"/>
            <p:cNvSpPr/>
            <p:nvPr/>
          </p:nvSpPr>
          <p:spPr>
            <a:xfrm>
              <a:off x="4200786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6" name="Oval 75"/>
            <p:cNvSpPr/>
            <p:nvPr/>
          </p:nvSpPr>
          <p:spPr>
            <a:xfrm>
              <a:off x="4260222" y="2176272"/>
              <a:ext cx="475488" cy="47548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83" name="icon:people"/>
            <p:cNvGrpSpPr/>
            <p:nvPr/>
          </p:nvGrpSpPr>
          <p:grpSpPr>
            <a:xfrm>
              <a:off x="4374339" y="2299898"/>
              <a:ext cx="247253" cy="194950"/>
              <a:chOff x="4374339" y="2299898"/>
              <a:chExt cx="247253" cy="194950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4379094" y="2318918"/>
                <a:ext cx="61813" cy="618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Round Same Side Corner Rectangle 77"/>
              <p:cNvSpPr/>
              <p:nvPr/>
            </p:nvSpPr>
            <p:spPr>
              <a:xfrm>
                <a:off x="4374339" y="2390241"/>
                <a:ext cx="71323" cy="808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4555024" y="2318918"/>
                <a:ext cx="61813" cy="618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Round Same Side Corner Rectangle 79"/>
              <p:cNvSpPr/>
              <p:nvPr/>
            </p:nvSpPr>
            <p:spPr>
              <a:xfrm>
                <a:off x="4550269" y="2390241"/>
                <a:ext cx="71323" cy="808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4457549" y="2299898"/>
                <a:ext cx="80832" cy="8083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Round Same Side Corner Rectangle 81"/>
              <p:cNvSpPr/>
              <p:nvPr/>
            </p:nvSpPr>
            <p:spPr>
              <a:xfrm>
                <a:off x="4443285" y="2390241"/>
                <a:ext cx="109362" cy="10460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85" name="TextBox 84"/>
          <p:cNvSpPr txBox="1"/>
          <p:nvPr/>
        </p:nvSpPr>
        <p:spPr>
          <a:xfrm>
            <a:off x="3836117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00833D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36117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00833D"/>
                </a:solidFill>
                <a:latin typeface="Arial"/>
                <a:cs typeface="Arial"/>
              </a:rPr>
              <a:t>Interpret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36117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Joint programme and government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review: what does this mean?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5242111" y="2374513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342695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342695" y="2633472"/>
            <a:ext cx="1506578" cy="4206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4" name="chip:check"/>
          <p:cNvGrpSpPr/>
          <p:nvPr/>
        </p:nvGrpSpPr>
        <p:grpSpPr>
          <a:xfrm>
            <a:off x="5798804" y="2116835"/>
            <a:ext cx="594360" cy="594360"/>
            <a:chOff x="5798804" y="2116835"/>
            <a:chExt cx="594360" cy="594360"/>
          </a:xfrm>
        </p:grpSpPr>
        <p:sp>
          <p:nvSpPr>
            <p:cNvPr id="91" name="Oval 90"/>
            <p:cNvSpPr/>
            <p:nvPr/>
          </p:nvSpPr>
          <p:spPr>
            <a:xfrm>
              <a:off x="5798804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2" name="Oval 91"/>
            <p:cNvSpPr/>
            <p:nvPr/>
          </p:nvSpPr>
          <p:spPr>
            <a:xfrm>
              <a:off x="5858240" y="2176272"/>
              <a:ext cx="475488" cy="475488"/>
            </a:xfrm>
            <a:prstGeom prst="ellipse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3" name="Freeform 92"/>
            <p:cNvSpPr/>
            <p:nvPr/>
          </p:nvSpPr>
          <p:spPr>
            <a:xfrm>
              <a:off x="5991377" y="2314163"/>
              <a:ext cx="204460" cy="209215"/>
            </a:xfrm>
            <a:custGeom>
              <a:avLst/>
              <a:gdLst/>
              <a:ahLst/>
              <a:cxnLst/>
              <a:rect l="l" t="t" r="r" b="b"/>
              <a:pathLst>
                <a:path w="204460" h="209215">
                  <a:moveTo>
                    <a:pt x="0" y="95098"/>
                  </a:moveTo>
                  <a:lnTo>
                    <a:pt x="52304" y="147401"/>
                  </a:lnTo>
                  <a:lnTo>
                    <a:pt x="204460" y="0"/>
                  </a:lnTo>
                  <a:lnTo>
                    <a:pt x="204460" y="61813"/>
                  </a:lnTo>
                  <a:lnTo>
                    <a:pt x="52304" y="209215"/>
                  </a:lnTo>
                  <a:lnTo>
                    <a:pt x="0" y="1569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5434135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F26A21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34135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F26A21"/>
                </a:solidFill>
                <a:latin typeface="Arial"/>
                <a:cs typeface="Arial"/>
              </a:rPr>
              <a:t>Decide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34135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Agree what must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change</a:t>
            </a:r>
          </a:p>
        </p:txBody>
      </p:sp>
      <p:sp>
        <p:nvSpPr>
          <p:cNvPr id="98" name="Right Arrow 97"/>
          <p:cNvSpPr/>
          <p:nvPr/>
        </p:nvSpPr>
        <p:spPr>
          <a:xfrm>
            <a:off x="6840130" y="2374513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940714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940714" y="2633472"/>
            <a:ext cx="1506578" cy="42062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6" name="chip:person"/>
          <p:cNvGrpSpPr/>
          <p:nvPr/>
        </p:nvGrpSpPr>
        <p:grpSpPr>
          <a:xfrm>
            <a:off x="7396823" y="2116835"/>
            <a:ext cx="594360" cy="594360"/>
            <a:chOff x="7396823" y="2116835"/>
            <a:chExt cx="594360" cy="594360"/>
          </a:xfrm>
        </p:grpSpPr>
        <p:sp>
          <p:nvSpPr>
            <p:cNvPr id="101" name="Oval 100"/>
            <p:cNvSpPr/>
            <p:nvPr/>
          </p:nvSpPr>
          <p:spPr>
            <a:xfrm>
              <a:off x="7396823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2" name="Oval 101"/>
            <p:cNvSpPr/>
            <p:nvPr/>
          </p:nvSpPr>
          <p:spPr>
            <a:xfrm>
              <a:off x="7456259" y="2176272"/>
              <a:ext cx="475488" cy="475488"/>
            </a:xfrm>
            <a:prstGeom prst="ellipse">
              <a:avLst/>
            </a:prstGeom>
            <a:solidFill>
              <a:srgbClr val="6A1E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05" name="icon:person"/>
            <p:cNvGrpSpPr/>
            <p:nvPr/>
          </p:nvGrpSpPr>
          <p:grpSpPr>
            <a:xfrm>
              <a:off x="7608415" y="2304653"/>
              <a:ext cx="171175" cy="218725"/>
              <a:chOff x="7608415" y="2304653"/>
              <a:chExt cx="171175" cy="218725"/>
            </a:xfrm>
          </p:grpSpPr>
          <p:sp>
            <p:nvSpPr>
              <p:cNvPr id="103" name="Oval 102"/>
              <p:cNvSpPr/>
              <p:nvPr/>
            </p:nvSpPr>
            <p:spPr>
              <a:xfrm>
                <a:off x="7641699" y="2304653"/>
                <a:ext cx="104607" cy="10460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Round Same Side Corner Rectangle 103"/>
              <p:cNvSpPr/>
              <p:nvPr/>
            </p:nvSpPr>
            <p:spPr>
              <a:xfrm>
                <a:off x="7608415" y="2409261"/>
                <a:ext cx="171175" cy="114117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07" name="TextBox 106"/>
          <p:cNvSpPr txBox="1"/>
          <p:nvPr/>
        </p:nvSpPr>
        <p:spPr>
          <a:xfrm>
            <a:off x="7032154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6A1E74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32154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6A1E74"/>
                </a:solidFill>
                <a:latin typeface="Arial"/>
                <a:cs typeface="Arial"/>
              </a:rPr>
              <a:t>Act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32154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Owner, deadline, resource,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expected result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8438148" y="2374513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538732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538732" y="2633472"/>
            <a:ext cx="1506578" cy="42062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2" name="chip:monitor"/>
          <p:cNvGrpSpPr/>
          <p:nvPr/>
        </p:nvGrpSpPr>
        <p:grpSpPr>
          <a:xfrm>
            <a:off x="8994841" y="2116835"/>
            <a:ext cx="594360" cy="594360"/>
            <a:chOff x="8994841" y="2116835"/>
            <a:chExt cx="594360" cy="594360"/>
          </a:xfrm>
        </p:grpSpPr>
        <p:sp>
          <p:nvSpPr>
            <p:cNvPr id="113" name="Oval 112"/>
            <p:cNvSpPr/>
            <p:nvPr/>
          </p:nvSpPr>
          <p:spPr>
            <a:xfrm>
              <a:off x="8994841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4" name="Oval 113"/>
            <p:cNvSpPr/>
            <p:nvPr/>
          </p:nvSpPr>
          <p:spPr>
            <a:xfrm>
              <a:off x="9054277" y="2176272"/>
              <a:ext cx="475488" cy="475488"/>
            </a:xfrm>
            <a:prstGeom prst="ellipse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21" name="icon:monitor"/>
            <p:cNvGrpSpPr/>
            <p:nvPr/>
          </p:nvGrpSpPr>
          <p:grpSpPr>
            <a:xfrm>
              <a:off x="9177904" y="2318918"/>
              <a:ext cx="228234" cy="202082"/>
              <a:chOff x="9177904" y="2318918"/>
              <a:chExt cx="228234" cy="202082"/>
            </a:xfrm>
          </p:grpSpPr>
          <p:sp>
            <p:nvSpPr>
              <p:cNvPr id="115" name="Rounded Rectangle 114"/>
              <p:cNvSpPr/>
              <p:nvPr/>
            </p:nvSpPr>
            <p:spPr>
              <a:xfrm>
                <a:off x="9177904" y="2318918"/>
                <a:ext cx="228234" cy="147401"/>
              </a:xfrm>
              <a:prstGeom prst="roundRect">
                <a:avLst>
                  <a:gd name="adj" fmla="val 6451"/>
                </a:avLst>
              </a:prstGeom>
              <a:noFill/>
              <a:ln w="15875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9277757" y="2466319"/>
                <a:ext cx="28529" cy="3803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9230208" y="2504358"/>
                <a:ext cx="123626" cy="166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9220698" y="2390241"/>
                <a:ext cx="23774" cy="5230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9258737" y="2361712"/>
                <a:ext cx="23774" cy="808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9296776" y="2342692"/>
                <a:ext cx="23774" cy="9985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23" name="TextBox 122"/>
          <p:cNvSpPr txBox="1"/>
          <p:nvPr/>
        </p:nvSpPr>
        <p:spPr>
          <a:xfrm>
            <a:off x="8630172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213063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30172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213063"/>
                </a:solidFill>
                <a:latin typeface="Arial"/>
                <a:cs typeface="Arial"/>
              </a:rPr>
              <a:t>Track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30172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Dashboard monitors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implementation and results</a:t>
            </a:r>
          </a:p>
        </p:txBody>
      </p:sp>
      <p:sp>
        <p:nvSpPr>
          <p:cNvPr id="126" name="Right Arrow 125"/>
          <p:cNvSpPr/>
          <p:nvPr/>
        </p:nvSpPr>
        <p:spPr>
          <a:xfrm>
            <a:off x="10036167" y="2374513"/>
            <a:ext cx="109728" cy="79004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0136751" y="2633472"/>
            <a:ext cx="1506578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0136751" y="2633472"/>
            <a:ext cx="1506578" cy="42062"/>
          </a:xfrm>
          <a:prstGeom prst="rect">
            <a:avLst/>
          </a:prstGeom>
          <a:solidFill>
            <a:srgbClr val="0E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35" name="chip:cycle"/>
          <p:cNvGrpSpPr/>
          <p:nvPr/>
        </p:nvGrpSpPr>
        <p:grpSpPr>
          <a:xfrm>
            <a:off x="10592860" y="2116835"/>
            <a:ext cx="594360" cy="594360"/>
            <a:chOff x="10592860" y="2116835"/>
            <a:chExt cx="594360" cy="594360"/>
          </a:xfrm>
        </p:grpSpPr>
        <p:sp>
          <p:nvSpPr>
            <p:cNvPr id="129" name="Oval 128"/>
            <p:cNvSpPr/>
            <p:nvPr/>
          </p:nvSpPr>
          <p:spPr>
            <a:xfrm>
              <a:off x="10592860" y="2116835"/>
              <a:ext cx="594360" cy="594360"/>
            </a:xfrm>
            <a:prstGeom prst="ellipse">
              <a:avLst/>
            </a:prstGeom>
            <a:noFill/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0" name="Oval 129"/>
            <p:cNvSpPr/>
            <p:nvPr/>
          </p:nvSpPr>
          <p:spPr>
            <a:xfrm>
              <a:off x="10652296" y="2176272"/>
              <a:ext cx="475488" cy="475488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134" name="icon:cycle"/>
            <p:cNvGrpSpPr/>
            <p:nvPr/>
          </p:nvGrpSpPr>
          <p:grpSpPr>
            <a:xfrm>
              <a:off x="10761658" y="2290389"/>
              <a:ext cx="256764" cy="247253"/>
              <a:chOff x="10761658" y="2290389"/>
              <a:chExt cx="256764" cy="247253"/>
            </a:xfrm>
          </p:grpSpPr>
          <p:sp>
            <p:nvSpPr>
              <p:cNvPr id="131" name="Donut 130"/>
              <p:cNvSpPr/>
              <p:nvPr/>
            </p:nvSpPr>
            <p:spPr>
              <a:xfrm>
                <a:off x="10785432" y="2309408"/>
                <a:ext cx="209214" cy="209214"/>
              </a:xfrm>
              <a:prstGeom prst="donut">
                <a:avLst>
                  <a:gd name="adj" fmla="val 19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Freeform 131"/>
              <p:cNvSpPr/>
              <p:nvPr/>
            </p:nvSpPr>
            <p:spPr>
              <a:xfrm>
                <a:off x="10928079" y="2290389"/>
                <a:ext cx="90343" cy="104607"/>
              </a:xfrm>
              <a:custGeom>
                <a:avLst/>
                <a:gdLst/>
                <a:ahLst/>
                <a:cxnLst/>
                <a:rect l="l" t="t" r="r" b="b"/>
                <a:pathLst>
                  <a:path w="90343" h="104607">
                    <a:moveTo>
                      <a:pt x="0" y="0"/>
                    </a:moveTo>
                    <a:lnTo>
                      <a:pt x="90343" y="52303"/>
                    </a:lnTo>
                    <a:lnTo>
                      <a:pt x="0" y="10460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Freeform 132"/>
              <p:cNvSpPr/>
              <p:nvPr/>
            </p:nvSpPr>
            <p:spPr>
              <a:xfrm>
                <a:off x="10761658" y="2433035"/>
                <a:ext cx="90343" cy="104607"/>
              </a:xfrm>
              <a:custGeom>
                <a:avLst/>
                <a:gdLst/>
                <a:ahLst/>
                <a:cxnLst/>
                <a:rect l="l" t="t" r="r" b="b"/>
                <a:pathLst>
                  <a:path w="90343" h="104607">
                    <a:moveTo>
                      <a:pt x="90343" y="104607"/>
                    </a:moveTo>
                    <a:lnTo>
                      <a:pt x="0" y="52304"/>
                    </a:lnTo>
                    <a:lnTo>
                      <a:pt x="903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36" name="TextBox 135"/>
          <p:cNvSpPr txBox="1"/>
          <p:nvPr/>
        </p:nvSpPr>
        <p:spPr>
          <a:xfrm>
            <a:off x="10228191" y="2706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i="0">
                <a:solidFill>
                  <a:srgbClr val="0E8F9E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28191" y="2926079"/>
            <a:ext cx="13236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70">
                <a:solidFill>
                  <a:srgbClr val="0E8F9E"/>
                </a:solidFill>
                <a:latin typeface="Arial"/>
                <a:cs typeface="Arial"/>
              </a:rPr>
              <a:t>Adapt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28191" y="3182111"/>
            <a:ext cx="132369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Scale, correct, redesign, stop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0" i="0">
                <a:solidFill>
                  <a:srgbClr val="5B5B5E"/>
                </a:solidFill>
                <a:latin typeface="Arial"/>
                <a:cs typeface="Arial"/>
              </a:rPr>
              <a:t>or investigate further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48640" y="3986784"/>
            <a:ext cx="11094689" cy="566928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548640" y="3986784"/>
            <a:ext cx="45720" cy="56692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44" name="icon:cycle"/>
          <p:cNvGrpSpPr/>
          <p:nvPr/>
        </p:nvGrpSpPr>
        <p:grpSpPr>
          <a:xfrm>
            <a:off x="802843" y="4127601"/>
            <a:ext cx="296265" cy="285293"/>
            <a:chOff x="802843" y="4127601"/>
            <a:chExt cx="296265" cy="285293"/>
          </a:xfrm>
        </p:grpSpPr>
        <p:sp>
          <p:nvSpPr>
            <p:cNvPr id="141" name="Donut 140"/>
            <p:cNvSpPr/>
            <p:nvPr/>
          </p:nvSpPr>
          <p:spPr>
            <a:xfrm>
              <a:off x="830275" y="4149547"/>
              <a:ext cx="241401" cy="241401"/>
            </a:xfrm>
            <a:prstGeom prst="donut">
              <a:avLst>
                <a:gd name="adj" fmla="val 19000"/>
              </a:avLst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994867" y="4127601"/>
              <a:ext cx="104241" cy="120701"/>
            </a:xfrm>
            <a:custGeom>
              <a:avLst/>
              <a:gdLst/>
              <a:ahLst/>
              <a:cxnLst/>
              <a:rect l="l" t="t" r="r" b="b"/>
              <a:pathLst>
                <a:path w="104241" h="120701">
                  <a:moveTo>
                    <a:pt x="0" y="0"/>
                  </a:moveTo>
                  <a:lnTo>
                    <a:pt x="104241" y="60351"/>
                  </a:lnTo>
                  <a:lnTo>
                    <a:pt x="0" y="120701"/>
                  </a:lnTo>
                  <a:close/>
                </a:path>
              </a:pathLst>
            </a:cu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Freeform 142"/>
            <p:cNvSpPr/>
            <p:nvPr/>
          </p:nvSpPr>
          <p:spPr>
            <a:xfrm>
              <a:off x="802843" y="4292193"/>
              <a:ext cx="104241" cy="120701"/>
            </a:xfrm>
            <a:custGeom>
              <a:avLst/>
              <a:gdLst/>
              <a:ahLst/>
              <a:cxnLst/>
              <a:rect l="l" t="t" r="r" b="b"/>
              <a:pathLst>
                <a:path w="104241" h="120701">
                  <a:moveTo>
                    <a:pt x="104241" y="120701"/>
                  </a:moveTo>
                  <a:lnTo>
                    <a:pt x="0" y="60351"/>
                  </a:lnTo>
                  <a:lnTo>
                    <a:pt x="104241" y="0"/>
                  </a:lnTo>
                  <a:close/>
                </a:path>
              </a:pathLst>
            </a:cu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5" name="TextBox 144"/>
          <p:cNvSpPr txBox="1"/>
          <p:nvPr/>
        </p:nvSpPr>
        <p:spPr>
          <a:xfrm>
            <a:off x="1207007" y="3986784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60" b="1" i="0">
                <a:solidFill>
                  <a:srgbClr val="213063"/>
                </a:solidFill>
                <a:latin typeface="Arial"/>
                <a:cs typeface="Arial"/>
              </a:rPr>
              <a:t>Joint review and accountability</a:t>
            </a:r>
            <a:r>
              <a:rPr lang="en-GB" sz="960" b="0" i="0">
                <a:solidFill>
                  <a:srgbClr val="5B5B5E"/>
                </a:solidFill>
                <a:latin typeface="Arial"/>
                <a:cs typeface="Arial"/>
              </a:rPr>
              <a:t>  runs through every step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52159" y="4096512"/>
            <a:ext cx="9144" cy="347472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035040" y="3986784"/>
            <a:ext cx="533396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19" b="0" i="0">
                <a:solidFill>
                  <a:srgbClr val="404041"/>
                </a:solidFill>
                <a:latin typeface="Arial"/>
                <a:cs typeface="Arial"/>
              </a:rPr>
              <a:t>Government   ·   UNICEF   ·   Implementing partners   ·   Communities   ·   Children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48640" y="4663440"/>
            <a:ext cx="11094689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48640" y="4663440"/>
            <a:ext cx="11094689" cy="3657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68096" y="478231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 cap="all" spc="100">
                <a:solidFill>
                  <a:srgbClr val="213063"/>
                </a:solidFill>
                <a:latin typeface="Arial"/>
                <a:cs typeface="Arial"/>
              </a:rPr>
              <a:t>Examples: how evidence drives different actions</a:t>
            </a:r>
          </a:p>
        </p:txBody>
      </p:sp>
      <p:grpSp>
        <p:nvGrpSpPr>
          <p:cNvPr id="153" name="icon:pin"/>
          <p:cNvGrpSpPr/>
          <p:nvPr/>
        </p:nvGrpSpPr>
        <p:grpSpPr>
          <a:xfrm>
            <a:off x="845637" y="5162336"/>
            <a:ext cx="174101" cy="245791"/>
            <a:chOff x="845637" y="5162336"/>
            <a:chExt cx="174101" cy="245791"/>
          </a:xfrm>
        </p:grpSpPr>
        <p:sp>
          <p:nvSpPr>
            <p:cNvPr id="151" name="Freeform 150"/>
            <p:cNvSpPr/>
            <p:nvPr/>
          </p:nvSpPr>
          <p:spPr>
            <a:xfrm>
              <a:off x="845637" y="5162336"/>
              <a:ext cx="174101" cy="245791"/>
            </a:xfrm>
            <a:custGeom>
              <a:avLst/>
              <a:gdLst/>
              <a:ahLst/>
              <a:cxnLst/>
              <a:rect l="l" t="t" r="r" b="b"/>
              <a:pathLst>
                <a:path w="174101" h="245791">
                  <a:moveTo>
                    <a:pt x="87051" y="245791"/>
                  </a:moveTo>
                  <a:lnTo>
                    <a:pt x="0" y="97292"/>
                  </a:lnTo>
                  <a:lnTo>
                    <a:pt x="0" y="61448"/>
                  </a:lnTo>
                  <a:lnTo>
                    <a:pt x="87051" y="0"/>
                  </a:lnTo>
                  <a:lnTo>
                    <a:pt x="174101" y="61448"/>
                  </a:lnTo>
                  <a:lnTo>
                    <a:pt x="174101" y="97292"/>
                  </a:lnTo>
                  <a:close/>
                </a:path>
              </a:pathLst>
            </a:custGeom>
            <a:noFill/>
            <a:ln w="15875">
              <a:solidFill>
                <a:srgbClr val="374EA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Oval 151"/>
            <p:cNvSpPr/>
            <p:nvPr/>
          </p:nvSpPr>
          <p:spPr>
            <a:xfrm>
              <a:off x="899403" y="5203301"/>
              <a:ext cx="66568" cy="66568"/>
            </a:xfrm>
            <a:prstGeom prst="ellipse">
              <a:avLst/>
            </a:prstGeom>
            <a:solidFill>
              <a:srgbClr val="374E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54" name="TextBox 153"/>
          <p:cNvSpPr txBox="1"/>
          <p:nvPr/>
        </p:nvSpPr>
        <p:spPr>
          <a:xfrm>
            <a:off x="1133856" y="5065776"/>
            <a:ext cx="30215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374EA2"/>
                </a:solidFill>
                <a:latin typeface="Arial"/>
                <a:cs typeface="Arial"/>
              </a:rPr>
              <a:t>Underperforming district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33856" y="5266944"/>
            <a:ext cx="30215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>
                <a:solidFill>
                  <a:srgbClr val="374EA2"/>
                </a:solidFill>
                <a:latin typeface="Arial"/>
                <a:cs typeface="Arial"/>
              </a:rPr>
              <a:t>→  </a:t>
            </a: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targeted supervision and resources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28581" y="4992624"/>
            <a:ext cx="7315" cy="438912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63" name="icon:people"/>
          <p:cNvGrpSpPr/>
          <p:nvPr/>
        </p:nvGrpSpPr>
        <p:grpSpPr>
          <a:xfrm>
            <a:off x="4351477" y="5162336"/>
            <a:ext cx="266272" cy="209946"/>
            <a:chOff x="4351477" y="5162336"/>
            <a:chExt cx="266272" cy="209946"/>
          </a:xfrm>
        </p:grpSpPr>
        <p:sp>
          <p:nvSpPr>
            <p:cNvPr id="157" name="Oval 156"/>
            <p:cNvSpPr/>
            <p:nvPr/>
          </p:nvSpPr>
          <p:spPr>
            <a:xfrm>
              <a:off x="4356597" y="5182819"/>
              <a:ext cx="66568" cy="66568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8" name="Round Same Side Corner Rectangle 157"/>
            <p:cNvSpPr/>
            <p:nvPr/>
          </p:nvSpPr>
          <p:spPr>
            <a:xfrm>
              <a:off x="4351477" y="5259628"/>
              <a:ext cx="76809" cy="8705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9" name="Oval 158"/>
            <p:cNvSpPr/>
            <p:nvPr/>
          </p:nvSpPr>
          <p:spPr>
            <a:xfrm>
              <a:off x="4546061" y="5182819"/>
              <a:ext cx="66568" cy="66568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0" name="Round Same Side Corner Rectangle 159"/>
            <p:cNvSpPr/>
            <p:nvPr/>
          </p:nvSpPr>
          <p:spPr>
            <a:xfrm>
              <a:off x="4540940" y="5259628"/>
              <a:ext cx="76809" cy="8705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1" name="Oval 160"/>
            <p:cNvSpPr/>
            <p:nvPr/>
          </p:nvSpPr>
          <p:spPr>
            <a:xfrm>
              <a:off x="4441088" y="5162336"/>
              <a:ext cx="87050" cy="87050"/>
            </a:xfrm>
            <a:prstGeom prst="ellipse">
              <a:avLst/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2" name="Round Same Side Corner Rectangle 161"/>
            <p:cNvSpPr/>
            <p:nvPr/>
          </p:nvSpPr>
          <p:spPr>
            <a:xfrm>
              <a:off x="4425726" y="5259628"/>
              <a:ext cx="117774" cy="11265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E8F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64" name="TextBox 163"/>
          <p:cNvSpPr txBox="1"/>
          <p:nvPr/>
        </p:nvSpPr>
        <p:spPr>
          <a:xfrm>
            <a:off x="4685781" y="5065776"/>
            <a:ext cx="30215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0E8F9E"/>
                </a:solidFill>
                <a:latin typeface="Arial"/>
                <a:cs typeface="Arial"/>
              </a:rPr>
              <a:t>Persistent equity gap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685781" y="5266944"/>
            <a:ext cx="30215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>
                <a:solidFill>
                  <a:srgbClr val="0E8F9E"/>
                </a:solidFill>
                <a:latin typeface="Arial"/>
                <a:cs typeface="Arial"/>
              </a:rPr>
              <a:t>→  </a:t>
            </a: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redesign targeting and delivery approach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780507" y="4992624"/>
            <a:ext cx="7315" cy="438912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72" name="icon:clipboard"/>
          <p:cNvGrpSpPr/>
          <p:nvPr/>
        </p:nvGrpSpPr>
        <p:grpSpPr>
          <a:xfrm>
            <a:off x="7949488" y="5157216"/>
            <a:ext cx="174101" cy="245790"/>
            <a:chOff x="7949488" y="5157216"/>
            <a:chExt cx="174101" cy="245790"/>
          </a:xfrm>
        </p:grpSpPr>
        <p:sp>
          <p:nvSpPr>
            <p:cNvPr id="167" name="Rounded Rectangle 166"/>
            <p:cNvSpPr/>
            <p:nvPr/>
          </p:nvSpPr>
          <p:spPr>
            <a:xfrm>
              <a:off x="7949488" y="5177698"/>
              <a:ext cx="174101" cy="225308"/>
            </a:xfrm>
            <a:prstGeom prst="roundRect">
              <a:avLst>
                <a:gd name="adj" fmla="val 8823"/>
              </a:avLst>
            </a:prstGeom>
            <a:noFill/>
            <a:ln w="15875">
              <a:solidFill>
                <a:srgbClr val="F26A2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7995574" y="5157216"/>
              <a:ext cx="81930" cy="40965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7990453" y="5254508"/>
              <a:ext cx="92171" cy="1152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7990453" y="5295473"/>
              <a:ext cx="92171" cy="1152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7990453" y="5336438"/>
              <a:ext cx="92171" cy="11521"/>
            </a:xfrm>
            <a:prstGeom prst="rect">
              <a:avLst/>
            </a:prstGeom>
            <a:solidFill>
              <a:srgbClr val="F26A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8237707" y="5065776"/>
            <a:ext cx="3021573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F26A21"/>
                </a:solidFill>
                <a:latin typeface="Arial"/>
                <a:cs typeface="Arial"/>
              </a:rPr>
              <a:t>Intervention not producing expected results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37707" y="5266944"/>
            <a:ext cx="302157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>
                <a:solidFill>
                  <a:srgbClr val="F26A21"/>
                </a:solidFill>
                <a:latin typeface="Arial"/>
                <a:cs typeface="Arial"/>
              </a:rPr>
              <a:t>→  </a:t>
            </a:r>
            <a:r>
              <a:rPr lang="en-GB" sz="840" b="0" i="0">
                <a:solidFill>
                  <a:srgbClr val="5B5B5E"/>
                </a:solidFill>
                <a:latin typeface="Arial"/>
                <a:cs typeface="Arial"/>
              </a:rPr>
              <a:t>implementation study or evaluation, then programme adaptation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48640" y="5705856"/>
            <a:ext cx="11094689" cy="566928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548640" y="5705856"/>
            <a:ext cx="68580" cy="56692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79" name="icon:megaphone"/>
          <p:cNvGrpSpPr/>
          <p:nvPr/>
        </p:nvGrpSpPr>
        <p:grpSpPr>
          <a:xfrm>
            <a:off x="902329" y="5820338"/>
            <a:ext cx="307239" cy="330281"/>
            <a:chOff x="902329" y="5820338"/>
            <a:chExt cx="307239" cy="330281"/>
          </a:xfrm>
        </p:grpSpPr>
        <p:sp>
          <p:nvSpPr>
            <p:cNvPr id="177" name="Freeform 176"/>
            <p:cNvSpPr/>
            <p:nvPr/>
          </p:nvSpPr>
          <p:spPr>
            <a:xfrm>
              <a:off x="902329" y="5820338"/>
              <a:ext cx="307239" cy="291877"/>
            </a:xfrm>
            <a:custGeom>
              <a:avLst/>
              <a:gdLst/>
              <a:ahLst/>
              <a:cxnLst/>
              <a:rect l="l" t="t" r="r" b="b"/>
              <a:pathLst>
                <a:path w="307239" h="291877">
                  <a:moveTo>
                    <a:pt x="0" y="115215"/>
                  </a:moveTo>
                  <a:lnTo>
                    <a:pt x="138258" y="115215"/>
                  </a:lnTo>
                  <a:lnTo>
                    <a:pt x="307239" y="0"/>
                  </a:lnTo>
                  <a:lnTo>
                    <a:pt x="307239" y="291877"/>
                  </a:lnTo>
                  <a:lnTo>
                    <a:pt x="138258" y="199705"/>
                  </a:lnTo>
                  <a:lnTo>
                    <a:pt x="0" y="199705"/>
                  </a:lnTo>
                  <a:close/>
                </a:path>
              </a:pathLst>
            </a:cu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963777" y="6020043"/>
              <a:ext cx="69128" cy="130576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80" name="TextBox 179"/>
          <p:cNvSpPr txBox="1"/>
          <p:nvPr/>
        </p:nvSpPr>
        <p:spPr>
          <a:xfrm>
            <a:off x="1463039" y="5715000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cap="all" spc="140">
                <a:solidFill>
                  <a:srgbClr val="1CABE2"/>
                </a:solidFill>
                <a:latin typeface="Arial"/>
                <a:cs typeface="Arial"/>
              </a:rPr>
              <a:t>The test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2944368" y="5870448"/>
            <a:ext cx="9144" cy="237744"/>
          </a:xfrm>
          <a:prstGeom prst="rect">
            <a:avLst/>
          </a:prstGeom>
          <a:solidFill>
            <a:srgbClr val="3C4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3108960" y="5797296"/>
            <a:ext cx="826004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Evidence is only useful when it changes a </a:t>
            </a:r>
            <a:r>
              <a:rPr lang="en-GB" sz="1200" b="1" i="0">
                <a:solidFill>
                  <a:srgbClr val="1CABE2"/>
                </a:solidFill>
                <a:latin typeface="Arial"/>
                <a:cs typeface="Arial"/>
              </a:rPr>
              <a:t>decision</a:t>
            </a: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, an </a:t>
            </a:r>
            <a:r>
              <a:rPr lang="en-GB" sz="1200" b="1" i="0">
                <a:solidFill>
                  <a:srgbClr val="1CABE2"/>
                </a:solidFill>
                <a:latin typeface="Arial"/>
                <a:cs typeface="Arial"/>
              </a:rPr>
              <a:t>allocation</a:t>
            </a: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, an </a:t>
            </a:r>
            <a:r>
              <a:rPr lang="en-GB" sz="1200" b="1" i="0">
                <a:solidFill>
                  <a:srgbClr val="1CABE2"/>
                </a:solidFill>
                <a:latin typeface="Arial"/>
                <a:cs typeface="Arial"/>
              </a:rPr>
              <a:t>implementation approach</a:t>
            </a: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 or an </a:t>
            </a:r>
            <a:r>
              <a:rPr lang="en-GB" sz="1200" b="1" i="0">
                <a:solidFill>
                  <a:srgbClr val="1CABE2"/>
                </a:solidFill>
                <a:latin typeface="Arial"/>
                <a:cs typeface="Arial"/>
              </a:rPr>
              <a:t>accountability action</a:t>
            </a:r>
            <a:r>
              <a:rPr lang="en-GB" sz="1200" b="1" i="0">
                <a:solidFill>
                  <a:srgbClr val="FFFFFF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6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4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34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4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34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4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34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4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34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4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34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4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34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84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4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34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4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34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48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34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72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4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34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96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4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34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4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34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344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4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34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368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4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34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4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34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4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34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4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34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4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34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504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4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34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4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34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4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34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592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4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34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616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4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34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4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34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664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4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34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688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4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34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712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4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34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4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34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776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4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34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4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34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824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4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34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4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34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872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4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0" dur="34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896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4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4" dur="34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4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8" dur="34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4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2" dur="34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984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34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6" dur="34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4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0" dur="34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032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4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4" dur="34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4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8" dur="34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4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2" dur="34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1104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4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6" dur="34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1144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34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0" dur="34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1168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4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4" dur="34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1192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34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8" dur="34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1216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4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2" dur="34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34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6" dur="34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1264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4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0" dur="34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3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3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38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3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38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8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6" dur="38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38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0" dur="38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8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4" dur="38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38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8" dur="38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8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2" dur="38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8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6" dur="38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0" dur="3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8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4" dur="38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8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8" dur="38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38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2" dur="38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8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6" dur="38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3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0" dur="38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38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4" dur="38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8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8" dur="38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3" dur="52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22" presetClass="entr" presetSubtype="8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6" dur="52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9" dur="52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2" dur="52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5" dur="52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2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10" grpId="0"/>
      <p:bldP spid="11" grpId="0" animBg="1"/>
      <p:bldP spid="12" grpId="0" animBg="1"/>
      <p:bldP spid="17" grpId="0" animBg="1"/>
      <p:bldP spid="18" grpId="0" animBg="1"/>
      <p:bldP spid="19" grpId="0"/>
      <p:bldP spid="23" grpId="0"/>
      <p:bldP spid="24" grpId="0"/>
      <p:bldP spid="28" grpId="0"/>
      <p:bldP spid="29" grpId="0"/>
      <p:bldP spid="32" grpId="0"/>
      <p:bldP spid="33" grpId="0"/>
      <p:bldP spid="39" grpId="0"/>
      <p:bldP spid="40" grpId="0"/>
      <p:bldP spid="41" grpId="0" animBg="1"/>
      <p:bldP spid="42" grpId="0" animBg="1"/>
      <p:bldP spid="43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8" grpId="0"/>
      <p:bldP spid="69" grpId="0"/>
      <p:bldP spid="70" grpId="0"/>
      <p:bldP spid="71" grpId="0"/>
      <p:bldP spid="72" grpId="0" animBg="1"/>
      <p:bldP spid="73" grpId="0" animBg="1"/>
      <p:bldP spid="74" grpId="0" animBg="1"/>
      <p:bldP spid="84" grpId="0"/>
      <p:bldP spid="85" grpId="0"/>
      <p:bldP spid="86" grpId="0"/>
      <p:bldP spid="87" grpId="0"/>
      <p:bldP spid="88" grpId="0" animBg="1"/>
      <p:bldP spid="89" grpId="0" animBg="1"/>
      <p:bldP spid="90" grpId="0" animBg="1"/>
      <p:bldP spid="94" grpId="0"/>
      <p:bldP spid="95" grpId="0"/>
      <p:bldP spid="96" grpId="0"/>
      <p:bldP spid="97" grpId="0"/>
      <p:bldP spid="98" grpId="0" animBg="1"/>
      <p:bldP spid="99" grpId="0" animBg="1"/>
      <p:bldP spid="100" grpId="0" animBg="1"/>
      <p:bldP spid="106" grpId="0"/>
      <p:bldP spid="107" grpId="0"/>
      <p:bldP spid="108" grpId="0"/>
      <p:bldP spid="109" grpId="0"/>
      <p:bldP spid="110" grpId="0" animBg="1"/>
      <p:bldP spid="111" grpId="0" animBg="1"/>
      <p:bldP spid="112" grpId="0" animBg="1"/>
      <p:bldP spid="122" grpId="0"/>
      <p:bldP spid="123" grpId="0"/>
      <p:bldP spid="124" grpId="0"/>
      <p:bldP spid="125" grpId="0"/>
      <p:bldP spid="126" grpId="0" animBg="1"/>
      <p:bldP spid="127" grpId="0" animBg="1"/>
      <p:bldP spid="128" grpId="0" animBg="1"/>
      <p:bldP spid="135" grpId="0"/>
      <p:bldP spid="136" grpId="0"/>
      <p:bldP spid="137" grpId="0"/>
      <p:bldP spid="138" grpId="0"/>
      <p:bldP spid="139" grpId="0" animBg="1"/>
      <p:bldP spid="140" grpId="0" animBg="1"/>
      <p:bldP spid="144" grpId="0"/>
      <p:bldP spid="145" grpId="0"/>
      <p:bldP spid="146" grpId="0" animBg="1"/>
      <p:bldP spid="147" grpId="0"/>
      <p:bldP spid="148" grpId="0" animBg="1"/>
      <p:bldP spid="149" grpId="0" animBg="1"/>
      <p:bldP spid="150" grpId="0"/>
      <p:bldP spid="153" grpId="0"/>
      <p:bldP spid="154" grpId="0"/>
      <p:bldP spid="155" grpId="0"/>
      <p:bldP spid="156" grpId="0" animBg="1"/>
      <p:bldP spid="163" grpId="0"/>
      <p:bldP spid="164" grpId="0"/>
      <p:bldP spid="165" grpId="0"/>
      <p:bldP spid="166" grpId="0" animBg="1"/>
      <p:bldP spid="172" grpId="0"/>
      <p:bldP spid="173" grpId="0"/>
      <p:bldP spid="174" grpId="0"/>
      <p:bldP spid="175" grpId="0" animBg="1"/>
      <p:bldP spid="176" grpId="0" animBg="1"/>
      <p:bldP spid="179" grpId="0"/>
      <p:bldP spid="180" grpId="0"/>
      <p:bldP spid="181" grpId="0" animBg="1"/>
      <p:bldP spid="1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6428232"/>
            <a:ext cx="11094689" cy="9144"/>
          </a:xfrm>
          <a:prstGeom prst="rect">
            <a:avLst/>
          </a:prstGeom>
          <a:solidFill>
            <a:srgbClr val="DED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50138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>
                <a:solidFill>
                  <a:srgbClr val="1CABE2"/>
                </a:solidFill>
                <a:latin typeface="Arial"/>
                <a:cs typeface="Arial"/>
              </a:rPr>
              <a:t>unicef</a:t>
            </a:r>
            <a:r>
              <a:rPr lang="en-GB" sz="850" b="0" i="0">
                <a:solidFill>
                  <a:srgbClr val="8E8E90"/>
                </a:solidFill>
                <a:latin typeface="Arial"/>
                <a:cs typeface="Arial"/>
              </a:rPr>
              <a:t>   for every child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52881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0" i="0">
                <a:solidFill>
                  <a:srgbClr val="8E8E90"/>
                </a:solidFill>
                <a:latin typeface="Arial"/>
                <a:cs typeface="Arial"/>
              </a:rPr>
              <a:t>From Data to Decisions  |  Technical Assessment  |  Daniel Kalunga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6049" y="6501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>
                <a:solidFill>
                  <a:srgbClr val="213063"/>
                </a:solidFill>
                <a:latin typeface="Arial"/>
                <a:cs typeface="Arial"/>
              </a:rP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10946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cap="all" spc="220">
                <a:solidFill>
                  <a:srgbClr val="1CABE2"/>
                </a:solidFill>
                <a:latin typeface="Arial"/>
                <a:cs typeface="Arial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1109468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 spc="-40">
                <a:solidFill>
                  <a:srgbClr val="213063"/>
                </a:solidFill>
                <a:latin typeface="Arial"/>
                <a:cs typeface="Arial"/>
              </a:rPr>
              <a:t>From Reporting to Performance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5904" y="1389888"/>
            <a:ext cx="1280160" cy="38404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572768"/>
            <a:ext cx="743708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0" i="0">
                <a:solidFill>
                  <a:srgbClr val="5B5B5E"/>
                </a:solidFill>
                <a:latin typeface="Arial"/>
                <a:cs typeface="Arial"/>
              </a:rPr>
              <a:t>The measure of success is not the report. It is what </a:t>
            </a:r>
            <a:r>
              <a:rPr lang="en-GB" sz="1250" b="1" i="0">
                <a:solidFill>
                  <a:srgbClr val="374EA2"/>
                </a:solidFill>
                <a:latin typeface="Arial"/>
                <a:cs typeface="Arial"/>
              </a:rPr>
              <a:t>changes</a:t>
            </a:r>
            <a:r>
              <a:rPr lang="en-GB" sz="1250" b="0" i="0">
                <a:solidFill>
                  <a:srgbClr val="5B5B5E"/>
                </a:solidFill>
                <a:latin typeface="Arial"/>
                <a:cs typeface="Arial"/>
              </a:rPr>
              <a:t> because of the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67712"/>
            <a:ext cx="3490965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267712"/>
            <a:ext cx="3490965" cy="694944"/>
          </a:xfrm>
          <a:prstGeom prst="rect">
            <a:avLst/>
          </a:prstGeom>
          <a:solidFill>
            <a:srgbClr val="213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5" name="chip:shieldcheck"/>
          <p:cNvGrpSpPr/>
          <p:nvPr/>
        </p:nvGrpSpPr>
        <p:grpSpPr>
          <a:xfrm>
            <a:off x="1923790" y="1897380"/>
            <a:ext cx="740664" cy="740664"/>
            <a:chOff x="1923790" y="1897380"/>
            <a:chExt cx="740664" cy="740664"/>
          </a:xfrm>
        </p:grpSpPr>
        <p:sp>
          <p:nvSpPr>
            <p:cNvPr id="12" name="Oval 11"/>
            <p:cNvSpPr/>
            <p:nvPr/>
          </p:nvSpPr>
          <p:spPr>
            <a:xfrm>
              <a:off x="1923790" y="1897380"/>
              <a:ext cx="740664" cy="740664"/>
            </a:xfrm>
            <a:prstGeom prst="ellipse">
              <a:avLst/>
            </a:prstGeom>
            <a:noFill/>
            <a:ln w="12700">
              <a:solidFill>
                <a:srgbClr val="213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" name="Oval 12"/>
            <p:cNvSpPr/>
            <p:nvPr/>
          </p:nvSpPr>
          <p:spPr>
            <a:xfrm>
              <a:off x="1983226" y="1956816"/>
              <a:ext cx="621792" cy="6217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2163546" y="2130917"/>
              <a:ext cx="261153" cy="286025"/>
            </a:xfrm>
            <a:custGeom>
              <a:avLst/>
              <a:gdLst/>
              <a:ahLst/>
              <a:cxnLst/>
              <a:rect l="l" t="t" r="r" b="b"/>
              <a:pathLst>
                <a:path w="261153" h="286025">
                  <a:moveTo>
                    <a:pt x="0" y="0"/>
                  </a:moveTo>
                  <a:lnTo>
                    <a:pt x="261153" y="0"/>
                  </a:lnTo>
                  <a:lnTo>
                    <a:pt x="261153" y="155448"/>
                  </a:lnTo>
                  <a:lnTo>
                    <a:pt x="130576" y="286025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694944" y="2633472"/>
            <a:ext cx="319835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90">
                <a:solidFill>
                  <a:srgbClr val="FFFFFF"/>
                </a:solidFill>
                <a:latin typeface="Arial"/>
                <a:cs typeface="Arial"/>
              </a:rPr>
              <a:t>1.  Trust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017520"/>
            <a:ext cx="301547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dirty="0">
                <a:solidFill>
                  <a:srgbClr val="213063"/>
                </a:solidFill>
                <a:latin typeface="Arial"/>
                <a:cs typeface="Arial"/>
              </a:rPr>
              <a:t>Quality, reliability and accountability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474720"/>
            <a:ext cx="2576565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1" name="icon:award"/>
          <p:cNvGrpSpPr/>
          <p:nvPr/>
        </p:nvGrpSpPr>
        <p:grpSpPr>
          <a:xfrm>
            <a:off x="1134856" y="3590300"/>
            <a:ext cx="210677" cy="280903"/>
            <a:chOff x="1134856" y="3590300"/>
            <a:chExt cx="210677" cy="280903"/>
          </a:xfrm>
        </p:grpSpPr>
        <p:sp>
          <p:nvSpPr>
            <p:cNvPr id="19" name="Oval 18"/>
            <p:cNvSpPr/>
            <p:nvPr/>
          </p:nvSpPr>
          <p:spPr>
            <a:xfrm>
              <a:off x="1134856" y="3590300"/>
              <a:ext cx="210677" cy="210677"/>
            </a:xfrm>
            <a:prstGeom prst="ellipse">
              <a:avLst/>
            </a:prstGeom>
            <a:noFill/>
            <a:ln w="16510">
              <a:solidFill>
                <a:srgbClr val="213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4117" y="3777569"/>
              <a:ext cx="152156" cy="93634"/>
            </a:xfrm>
            <a:custGeom>
              <a:avLst/>
              <a:gdLst/>
              <a:ahLst/>
              <a:cxnLst/>
              <a:rect l="l" t="t" r="r" b="b"/>
              <a:pathLst>
                <a:path w="152156" h="93634">
                  <a:moveTo>
                    <a:pt x="0" y="0"/>
                  </a:moveTo>
                  <a:lnTo>
                    <a:pt x="0" y="93634"/>
                  </a:lnTo>
                  <a:lnTo>
                    <a:pt x="76078" y="52669"/>
                  </a:lnTo>
                  <a:lnTo>
                    <a:pt x="152156" y="93634"/>
                  </a:lnTo>
                  <a:lnTo>
                    <a:pt x="152156" y="0"/>
                  </a:lnTo>
                  <a:close/>
                </a:path>
              </a:pathLst>
            </a:cu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13232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Quality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assured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61672" y="3584448"/>
            <a:ext cx="7315" cy="54864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9" name="icon:searchbar"/>
          <p:cNvGrpSpPr/>
          <p:nvPr/>
        </p:nvGrpSpPr>
        <p:grpSpPr>
          <a:xfrm>
            <a:off x="2159523" y="3596152"/>
            <a:ext cx="204825" cy="280903"/>
            <a:chOff x="2159523" y="3596152"/>
            <a:chExt cx="204825" cy="280903"/>
          </a:xfrm>
        </p:grpSpPr>
        <p:sp>
          <p:nvSpPr>
            <p:cNvPr id="24" name="Oval 23"/>
            <p:cNvSpPr/>
            <p:nvPr/>
          </p:nvSpPr>
          <p:spPr>
            <a:xfrm>
              <a:off x="2159523" y="3596152"/>
              <a:ext cx="204825" cy="204825"/>
            </a:xfrm>
            <a:prstGeom prst="ellipse">
              <a:avLst/>
            </a:prstGeom>
            <a:noFill/>
            <a:ln w="16510">
              <a:solidFill>
                <a:srgbClr val="2130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 rot="18900000">
              <a:off x="2335088" y="3777569"/>
              <a:ext cx="29260" cy="99486"/>
            </a:xfrm>
            <a:prstGeom prst="rect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206340" y="3713195"/>
              <a:ext cx="20482" cy="52669"/>
            </a:xfrm>
            <a:prstGeom prst="rect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241453" y="3683934"/>
              <a:ext cx="20482" cy="81930"/>
            </a:xfrm>
            <a:prstGeom prst="rect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276566" y="3654673"/>
              <a:ext cx="20482" cy="111191"/>
            </a:xfrm>
            <a:prstGeom prst="rect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767159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Complete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and accurate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15600" y="3584448"/>
            <a:ext cx="7315" cy="54864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34" name="icon:person"/>
          <p:cNvGrpSpPr/>
          <p:nvPr/>
        </p:nvGrpSpPr>
        <p:grpSpPr>
          <a:xfrm>
            <a:off x="3242711" y="3596152"/>
            <a:ext cx="210677" cy="269198"/>
            <a:chOff x="3242711" y="3596152"/>
            <a:chExt cx="210677" cy="269198"/>
          </a:xfrm>
        </p:grpSpPr>
        <p:sp>
          <p:nvSpPr>
            <p:cNvPr id="32" name="Oval 31"/>
            <p:cNvSpPr/>
            <p:nvPr/>
          </p:nvSpPr>
          <p:spPr>
            <a:xfrm>
              <a:off x="3283676" y="3596152"/>
              <a:ext cx="128747" cy="128747"/>
            </a:xfrm>
            <a:prstGeom prst="ellipse">
              <a:avLst/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33" name="Round Same Side Corner Rectangle 32"/>
            <p:cNvSpPr/>
            <p:nvPr/>
          </p:nvSpPr>
          <p:spPr>
            <a:xfrm>
              <a:off x="3242711" y="3724899"/>
              <a:ext cx="210677" cy="14045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130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821086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Accountable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and transparent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34256"/>
            <a:ext cx="3490965" cy="58521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334256"/>
            <a:ext cx="3125205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213063"/>
                </a:solidFill>
                <a:latin typeface="Arial"/>
                <a:cs typeface="Arial"/>
              </a:rPr>
              <a:t>Build quality and confidence in the information we use.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103613" y="3500323"/>
            <a:ext cx="182880" cy="131673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50501" y="2267712"/>
            <a:ext cx="3490965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50501" y="2267712"/>
            <a:ext cx="3490965" cy="694944"/>
          </a:xfrm>
          <a:prstGeom prst="rect">
            <a:avLst/>
          </a:prstGeom>
          <a:solidFill>
            <a:srgbClr val="0E6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49" name="chip:searchbar"/>
          <p:cNvGrpSpPr/>
          <p:nvPr/>
        </p:nvGrpSpPr>
        <p:grpSpPr>
          <a:xfrm>
            <a:off x="5725652" y="1897380"/>
            <a:ext cx="740664" cy="740664"/>
            <a:chOff x="5725652" y="1897380"/>
            <a:chExt cx="740664" cy="740664"/>
          </a:xfrm>
        </p:grpSpPr>
        <p:sp>
          <p:nvSpPr>
            <p:cNvPr id="41" name="Oval 40"/>
            <p:cNvSpPr/>
            <p:nvPr/>
          </p:nvSpPr>
          <p:spPr>
            <a:xfrm>
              <a:off x="5725652" y="1897380"/>
              <a:ext cx="740664" cy="740664"/>
            </a:xfrm>
            <a:prstGeom prst="ellipse">
              <a:avLst/>
            </a:prstGeom>
            <a:noFill/>
            <a:ln w="12700">
              <a:solidFill>
                <a:srgbClr val="0E6F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42" name="Oval 41"/>
            <p:cNvSpPr/>
            <p:nvPr/>
          </p:nvSpPr>
          <p:spPr>
            <a:xfrm>
              <a:off x="5785088" y="1956816"/>
              <a:ext cx="621792" cy="6217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48" name="icon:searchbar"/>
            <p:cNvGrpSpPr/>
            <p:nvPr/>
          </p:nvGrpSpPr>
          <p:grpSpPr>
            <a:xfrm>
              <a:off x="5952972" y="2124699"/>
              <a:ext cx="217627" cy="298460"/>
              <a:chOff x="5952972" y="2124699"/>
              <a:chExt cx="217627" cy="298460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5952972" y="2124699"/>
                <a:ext cx="217627" cy="217627"/>
              </a:xfrm>
              <a:prstGeom prst="ellipse">
                <a:avLst/>
              </a:prstGeom>
              <a:noFill/>
              <a:ln w="15875">
                <a:solidFill>
                  <a:srgbClr val="0E6F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ectangle 43"/>
              <p:cNvSpPr/>
              <p:nvPr/>
            </p:nvSpPr>
            <p:spPr>
              <a:xfrm rot="18900000">
                <a:off x="6139510" y="2317455"/>
                <a:ext cx="31089" cy="105704"/>
              </a:xfrm>
              <a:prstGeom prst="rect">
                <a:avLst/>
              </a:prstGeom>
              <a:solidFill>
                <a:srgbClr val="0E6F7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6002715" y="2249058"/>
                <a:ext cx="21762" cy="55961"/>
              </a:xfrm>
              <a:prstGeom prst="rect">
                <a:avLst/>
              </a:prstGeom>
              <a:solidFill>
                <a:srgbClr val="0E6F7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6040023" y="2217968"/>
                <a:ext cx="21762" cy="87050"/>
              </a:xfrm>
              <a:prstGeom prst="rect">
                <a:avLst/>
              </a:prstGeom>
              <a:solidFill>
                <a:srgbClr val="0E6F7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6077331" y="2186879"/>
                <a:ext cx="21762" cy="118140"/>
              </a:xfrm>
              <a:prstGeom prst="rect">
                <a:avLst/>
              </a:prstGeom>
              <a:solidFill>
                <a:srgbClr val="0E6F7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50" name="TextBox 49"/>
          <p:cNvSpPr txBox="1"/>
          <p:nvPr/>
        </p:nvSpPr>
        <p:spPr>
          <a:xfrm>
            <a:off x="4496805" y="2633472"/>
            <a:ext cx="319835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90">
                <a:solidFill>
                  <a:srgbClr val="FFFFFF"/>
                </a:solidFill>
                <a:latin typeface="Arial"/>
                <a:cs typeface="Arial"/>
              </a:rPr>
              <a:t>2.  Understand the 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88245" y="3017520"/>
            <a:ext cx="301547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>
                <a:solidFill>
                  <a:srgbClr val="0E6F7E"/>
                </a:solidFill>
                <a:latin typeface="Arial"/>
                <a:cs typeface="Arial"/>
              </a:rPr>
              <a:t>Triangulate evidence and identify bottlenecks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7701" y="3474720"/>
            <a:ext cx="2576565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55" name="icon:puzzle"/>
          <p:cNvGrpSpPr/>
          <p:nvPr/>
        </p:nvGrpSpPr>
        <p:grpSpPr>
          <a:xfrm>
            <a:off x="4919162" y="3607856"/>
            <a:ext cx="245790" cy="245791"/>
            <a:chOff x="4919162" y="3607856"/>
            <a:chExt cx="245790" cy="245791"/>
          </a:xfrm>
        </p:grpSpPr>
        <p:sp>
          <p:nvSpPr>
            <p:cNvPr id="53" name="Freeform 52"/>
            <p:cNvSpPr/>
            <p:nvPr/>
          </p:nvSpPr>
          <p:spPr>
            <a:xfrm>
              <a:off x="4919162" y="3607856"/>
              <a:ext cx="245790" cy="245791"/>
            </a:xfrm>
            <a:custGeom>
              <a:avLst/>
              <a:gdLst/>
              <a:ahLst/>
              <a:cxnLst/>
              <a:rect l="l" t="t" r="r" b="b"/>
              <a:pathLst>
                <a:path w="245790" h="245791">
                  <a:moveTo>
                    <a:pt x="0" y="0"/>
                  </a:moveTo>
                  <a:lnTo>
                    <a:pt x="140451" y="0"/>
                  </a:lnTo>
                  <a:lnTo>
                    <a:pt x="140451" y="40965"/>
                  </a:lnTo>
                  <a:lnTo>
                    <a:pt x="181417" y="40965"/>
                  </a:lnTo>
                  <a:lnTo>
                    <a:pt x="181417" y="0"/>
                  </a:lnTo>
                  <a:lnTo>
                    <a:pt x="245790" y="0"/>
                  </a:lnTo>
                  <a:lnTo>
                    <a:pt x="245790" y="245791"/>
                  </a:lnTo>
                  <a:lnTo>
                    <a:pt x="0" y="245791"/>
                  </a:lnTo>
                  <a:close/>
                </a:path>
              </a:pathLst>
            </a:custGeom>
            <a:noFill/>
            <a:ln w="16510">
              <a:solidFill>
                <a:srgbClr val="0E6F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/>
            <p:cNvSpPr/>
            <p:nvPr/>
          </p:nvSpPr>
          <p:spPr>
            <a:xfrm>
              <a:off x="5042057" y="3695639"/>
              <a:ext cx="70225" cy="70225"/>
            </a:xfrm>
            <a:prstGeom prst="ellipse">
              <a:avLst/>
            </a:prstGeom>
            <a:solidFill>
              <a:srgbClr val="0E6F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4515093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Integrate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63534" y="3584448"/>
            <a:ext cx="7315" cy="54864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61" name="icon:target"/>
          <p:cNvGrpSpPr/>
          <p:nvPr/>
        </p:nvGrpSpPr>
        <p:grpSpPr>
          <a:xfrm>
            <a:off x="5949680" y="3584448"/>
            <a:ext cx="292608" cy="292608"/>
            <a:chOff x="5949680" y="3584448"/>
            <a:chExt cx="292608" cy="292608"/>
          </a:xfrm>
        </p:grpSpPr>
        <p:sp>
          <p:nvSpPr>
            <p:cNvPr id="58" name="Oval 57"/>
            <p:cNvSpPr/>
            <p:nvPr/>
          </p:nvSpPr>
          <p:spPr>
            <a:xfrm>
              <a:off x="5949680" y="3584448"/>
              <a:ext cx="292608" cy="292608"/>
            </a:xfrm>
            <a:prstGeom prst="ellipse">
              <a:avLst/>
            </a:prstGeom>
            <a:noFill/>
            <a:ln w="16510">
              <a:solidFill>
                <a:srgbClr val="0E6F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59" name="Oval 58"/>
            <p:cNvSpPr/>
            <p:nvPr/>
          </p:nvSpPr>
          <p:spPr>
            <a:xfrm>
              <a:off x="6008202" y="3642969"/>
              <a:ext cx="175564" cy="175564"/>
            </a:xfrm>
            <a:prstGeom prst="ellipse">
              <a:avLst/>
            </a:prstGeom>
            <a:noFill/>
            <a:ln w="16510">
              <a:solidFill>
                <a:srgbClr val="0E6F7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0" name="Oval 59"/>
            <p:cNvSpPr/>
            <p:nvPr/>
          </p:nvSpPr>
          <p:spPr>
            <a:xfrm>
              <a:off x="6063797" y="3698565"/>
              <a:ext cx="64373" cy="64373"/>
            </a:xfrm>
            <a:prstGeom prst="ellipse">
              <a:avLst/>
            </a:prstGeom>
            <a:solidFill>
              <a:srgbClr val="0E6F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5569021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Identify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gaps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17462" y="3584448"/>
            <a:ext cx="7315" cy="54864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Freeform 63"/>
          <p:cNvSpPr/>
          <p:nvPr/>
        </p:nvSpPr>
        <p:spPr>
          <a:xfrm>
            <a:off x="7015312" y="3613708"/>
            <a:ext cx="269199" cy="245791"/>
          </a:xfrm>
          <a:custGeom>
            <a:avLst/>
            <a:gdLst/>
            <a:ahLst/>
            <a:cxnLst/>
            <a:rect l="l" t="t" r="r" b="b"/>
            <a:pathLst>
              <a:path w="269199" h="245791">
                <a:moveTo>
                  <a:pt x="0" y="0"/>
                </a:moveTo>
                <a:lnTo>
                  <a:pt x="269199" y="0"/>
                </a:lnTo>
                <a:lnTo>
                  <a:pt x="163860" y="122896"/>
                </a:lnTo>
                <a:lnTo>
                  <a:pt x="163860" y="245791"/>
                </a:lnTo>
                <a:lnTo>
                  <a:pt x="105339" y="204826"/>
                </a:lnTo>
                <a:lnTo>
                  <a:pt x="105339" y="122896"/>
                </a:lnTo>
                <a:close/>
              </a:path>
            </a:pathLst>
          </a:custGeom>
          <a:noFill/>
          <a:ln w="16510">
            <a:solidFill>
              <a:srgbClr val="0E6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22948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Prioritise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bottlenecks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50501" y="4334256"/>
            <a:ext cx="3490965" cy="58521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33381" y="4334256"/>
            <a:ext cx="3125205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0E6F7E"/>
                </a:solidFill>
                <a:latin typeface="Arial"/>
                <a:cs typeface="Arial"/>
              </a:rPr>
              <a:t>Turn data into insight for better understanding.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7905475" y="3500323"/>
            <a:ext cx="182880" cy="131673"/>
          </a:xfrm>
          <a:prstGeom prst="rightArrow">
            <a:avLst>
              <a:gd name="adj1" fmla="val 45000"/>
              <a:gd name="adj2" fmla="val 50000"/>
            </a:avLst>
          </a:prstGeom>
          <a:solidFill>
            <a:srgbClr val="B2A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152363" y="2267712"/>
            <a:ext cx="3490965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CEA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152363" y="2267712"/>
            <a:ext cx="3490965" cy="694944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85" name="chip:gear"/>
          <p:cNvGrpSpPr/>
          <p:nvPr/>
        </p:nvGrpSpPr>
        <p:grpSpPr>
          <a:xfrm>
            <a:off x="9527514" y="1897380"/>
            <a:ext cx="740664" cy="740664"/>
            <a:chOff x="9527514" y="1897380"/>
            <a:chExt cx="740664" cy="740664"/>
          </a:xfrm>
        </p:grpSpPr>
        <p:sp>
          <p:nvSpPr>
            <p:cNvPr id="71" name="Oval 70"/>
            <p:cNvSpPr/>
            <p:nvPr/>
          </p:nvSpPr>
          <p:spPr>
            <a:xfrm>
              <a:off x="9527514" y="1897380"/>
              <a:ext cx="740664" cy="740664"/>
            </a:xfrm>
            <a:prstGeom prst="ellipse">
              <a:avLst/>
            </a:prstGeom>
            <a:noFill/>
            <a:ln w="1270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72" name="Oval 71"/>
            <p:cNvSpPr/>
            <p:nvPr/>
          </p:nvSpPr>
          <p:spPr>
            <a:xfrm>
              <a:off x="9586950" y="1956816"/>
              <a:ext cx="621792" cy="6217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84" name="icon:gear"/>
            <p:cNvGrpSpPr/>
            <p:nvPr/>
          </p:nvGrpSpPr>
          <p:grpSpPr>
            <a:xfrm>
              <a:off x="9750171" y="2120036"/>
              <a:ext cx="295350" cy="295351"/>
              <a:chOff x="9750171" y="2120036"/>
              <a:chExt cx="295350" cy="295351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9998887" y="2244394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Rectangle 73"/>
              <p:cNvSpPr/>
              <p:nvPr/>
            </p:nvSpPr>
            <p:spPr>
              <a:xfrm rot="2700000">
                <a:off x="9962464" y="2332329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Rectangle 74"/>
              <p:cNvSpPr/>
              <p:nvPr/>
            </p:nvSpPr>
            <p:spPr>
              <a:xfrm rot="5400000">
                <a:off x="9874529" y="2368753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Rectangle 75"/>
              <p:cNvSpPr/>
              <p:nvPr/>
            </p:nvSpPr>
            <p:spPr>
              <a:xfrm rot="8100000">
                <a:off x="9786594" y="2332329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Rectangle 76"/>
              <p:cNvSpPr/>
              <p:nvPr/>
            </p:nvSpPr>
            <p:spPr>
              <a:xfrm rot="10800000">
                <a:off x="9750171" y="2244394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Rectangle 77"/>
              <p:cNvSpPr/>
              <p:nvPr/>
            </p:nvSpPr>
            <p:spPr>
              <a:xfrm rot="13500000">
                <a:off x="9786594" y="2156460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Rectangle 78"/>
              <p:cNvSpPr/>
              <p:nvPr/>
            </p:nvSpPr>
            <p:spPr>
              <a:xfrm rot="16200000">
                <a:off x="9874529" y="2120036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Rectangle 79"/>
              <p:cNvSpPr/>
              <p:nvPr/>
            </p:nvSpPr>
            <p:spPr>
              <a:xfrm rot="18900000">
                <a:off x="9962464" y="2156460"/>
                <a:ext cx="46634" cy="46634"/>
              </a:xfrm>
              <a:prstGeom prst="rect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9792141" y="2162007"/>
                <a:ext cx="211409" cy="211409"/>
              </a:xfrm>
              <a:prstGeom prst="ellipse">
                <a:avLst/>
              </a:prstGeom>
              <a:solidFill>
                <a:srgbClr val="0083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9851212" y="2221077"/>
                <a:ext cx="93268" cy="93268"/>
              </a:xfrm>
              <a:prstGeom prst="ellipse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9851212" y="2221077"/>
                <a:ext cx="93268" cy="9326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86" name="TextBox 85"/>
          <p:cNvSpPr txBox="1"/>
          <p:nvPr/>
        </p:nvSpPr>
        <p:spPr>
          <a:xfrm>
            <a:off x="8298667" y="2633472"/>
            <a:ext cx="319835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b="1" i="0" cap="all" spc="90">
                <a:solidFill>
                  <a:srgbClr val="FFFFFF"/>
                </a:solidFill>
                <a:latin typeface="Arial"/>
                <a:cs typeface="Arial"/>
              </a:rPr>
              <a:t>3.  Act on the evidence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90107" y="3017520"/>
            <a:ext cx="301547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>
                <a:solidFill>
                  <a:srgbClr val="00833D"/>
                </a:solidFill>
                <a:latin typeface="Arial"/>
                <a:cs typeface="Arial"/>
              </a:rPr>
              <a:t>Decisions, owners, actions, follow up and adaptation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09563" y="3474720"/>
            <a:ext cx="2576565" cy="7315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95" name="icon:people"/>
          <p:cNvGrpSpPr/>
          <p:nvPr/>
        </p:nvGrpSpPr>
        <p:grpSpPr>
          <a:xfrm>
            <a:off x="8691763" y="3590300"/>
            <a:ext cx="304312" cy="239938"/>
            <a:chOff x="8691763" y="3590300"/>
            <a:chExt cx="304312" cy="239938"/>
          </a:xfrm>
        </p:grpSpPr>
        <p:sp>
          <p:nvSpPr>
            <p:cNvPr id="89" name="Oval 88"/>
            <p:cNvSpPr/>
            <p:nvPr/>
          </p:nvSpPr>
          <p:spPr>
            <a:xfrm>
              <a:off x="8697615" y="3613708"/>
              <a:ext cx="76078" cy="7607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0" name="Round Same Side Corner Rectangle 89"/>
            <p:cNvSpPr/>
            <p:nvPr/>
          </p:nvSpPr>
          <p:spPr>
            <a:xfrm>
              <a:off x="8691763" y="3701491"/>
              <a:ext cx="87782" cy="9948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1" name="Oval 90"/>
            <p:cNvSpPr/>
            <p:nvPr/>
          </p:nvSpPr>
          <p:spPr>
            <a:xfrm>
              <a:off x="8914145" y="3613708"/>
              <a:ext cx="76078" cy="76078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2" name="Round Same Side Corner Rectangle 91"/>
            <p:cNvSpPr/>
            <p:nvPr/>
          </p:nvSpPr>
          <p:spPr>
            <a:xfrm>
              <a:off x="8908293" y="3701491"/>
              <a:ext cx="87782" cy="9948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3" name="Oval 92"/>
            <p:cNvSpPr/>
            <p:nvPr/>
          </p:nvSpPr>
          <p:spPr>
            <a:xfrm>
              <a:off x="8794175" y="3590300"/>
              <a:ext cx="99486" cy="99486"/>
            </a:xfrm>
            <a:prstGeom prst="ellipse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4" name="Round Same Side Corner Rectangle 93"/>
            <p:cNvSpPr/>
            <p:nvPr/>
          </p:nvSpPr>
          <p:spPr>
            <a:xfrm>
              <a:off x="8776619" y="3701491"/>
              <a:ext cx="134599" cy="12874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316955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Decisions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and owners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365396" y="3584448"/>
            <a:ext cx="7315" cy="54864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3" name="icon:clipboard"/>
          <p:cNvGrpSpPr/>
          <p:nvPr/>
        </p:nvGrpSpPr>
        <p:grpSpPr>
          <a:xfrm>
            <a:off x="9798359" y="3584448"/>
            <a:ext cx="198973" cy="280903"/>
            <a:chOff x="9798359" y="3584448"/>
            <a:chExt cx="198973" cy="280903"/>
          </a:xfrm>
        </p:grpSpPr>
        <p:sp>
          <p:nvSpPr>
            <p:cNvPr id="98" name="Rounded Rectangle 97"/>
            <p:cNvSpPr/>
            <p:nvPr/>
          </p:nvSpPr>
          <p:spPr>
            <a:xfrm>
              <a:off x="9798359" y="3607856"/>
              <a:ext cx="198973" cy="257495"/>
            </a:xfrm>
            <a:prstGeom prst="roundRect">
              <a:avLst>
                <a:gd name="adj" fmla="val 8823"/>
              </a:avLst>
            </a:prstGeom>
            <a:noFill/>
            <a:ln w="16510">
              <a:solidFill>
                <a:srgbClr val="00833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851029" y="3584448"/>
              <a:ext cx="93634" cy="46817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9845177" y="3695639"/>
              <a:ext cx="105338" cy="13167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845177" y="3742456"/>
              <a:ext cx="105338" cy="13167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845177" y="3789273"/>
              <a:ext cx="105338" cy="13167"/>
            </a:xfrm>
            <a:prstGeom prst="rect">
              <a:avLst/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9370882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Actions and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follow up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419323" y="3584448"/>
            <a:ext cx="7315" cy="548640"/>
          </a:xfrm>
          <a:prstGeom prst="rect">
            <a:avLst/>
          </a:prstGeom>
          <a:solidFill>
            <a:srgbClr val="EC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09" name="icon:cycle"/>
          <p:cNvGrpSpPr/>
          <p:nvPr/>
        </p:nvGrpSpPr>
        <p:grpSpPr>
          <a:xfrm>
            <a:off x="10793765" y="3578595"/>
            <a:ext cx="316017" cy="304313"/>
            <a:chOff x="10793765" y="3578595"/>
            <a:chExt cx="316017" cy="304313"/>
          </a:xfrm>
        </p:grpSpPr>
        <p:sp>
          <p:nvSpPr>
            <p:cNvPr id="106" name="Donut 105"/>
            <p:cNvSpPr/>
            <p:nvPr/>
          </p:nvSpPr>
          <p:spPr>
            <a:xfrm>
              <a:off x="10823026" y="3602004"/>
              <a:ext cx="257495" cy="257495"/>
            </a:xfrm>
            <a:prstGeom prst="donut">
              <a:avLst>
                <a:gd name="adj" fmla="val 19000"/>
              </a:avLst>
            </a:pr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998591" y="3578595"/>
              <a:ext cx="111191" cy="128748"/>
            </a:xfrm>
            <a:custGeom>
              <a:avLst/>
              <a:gdLst/>
              <a:ahLst/>
              <a:cxnLst/>
              <a:rect l="l" t="t" r="r" b="b"/>
              <a:pathLst>
                <a:path w="111191" h="128748">
                  <a:moveTo>
                    <a:pt x="0" y="0"/>
                  </a:moveTo>
                  <a:lnTo>
                    <a:pt x="111191" y="64374"/>
                  </a:lnTo>
                  <a:lnTo>
                    <a:pt x="0" y="128748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793765" y="3754160"/>
              <a:ext cx="111191" cy="128748"/>
            </a:xfrm>
            <a:custGeom>
              <a:avLst/>
              <a:gdLst/>
              <a:ahLst/>
              <a:cxnLst/>
              <a:rect l="l" t="t" r="r" b="b"/>
              <a:pathLst>
                <a:path w="111191" h="128748">
                  <a:moveTo>
                    <a:pt x="111191" y="128748"/>
                  </a:moveTo>
                  <a:lnTo>
                    <a:pt x="0" y="64374"/>
                  </a:lnTo>
                  <a:lnTo>
                    <a:pt x="111191" y="0"/>
                  </a:lnTo>
                  <a:close/>
                </a:path>
              </a:pathLst>
            </a:custGeom>
            <a:solidFill>
              <a:srgbClr val="008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10424810" y="3913632"/>
            <a:ext cx="1053927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Continuous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i="0">
                <a:solidFill>
                  <a:srgbClr val="404041"/>
                </a:solidFill>
                <a:latin typeface="Arial"/>
                <a:cs typeface="Arial"/>
              </a:rPr>
              <a:t>adaptation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52363" y="4334256"/>
            <a:ext cx="3490965" cy="585216"/>
          </a:xfrm>
          <a:prstGeom prst="rect">
            <a:avLst/>
          </a:prstGeom>
          <a:solidFill>
            <a:srgbClr val="F3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8335243" y="4334256"/>
            <a:ext cx="3125205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i="0">
                <a:solidFill>
                  <a:srgbClr val="00833D"/>
                </a:solidFill>
                <a:latin typeface="Arial"/>
                <a:cs typeface="Arial"/>
              </a:rPr>
              <a:t>Ensure evidence leads to action, follow up and continuous improvement.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" y="5102352"/>
            <a:ext cx="11094689" cy="859536"/>
          </a:xfrm>
          <a:prstGeom prst="rect">
            <a:avLst/>
          </a:prstGeom>
          <a:solidFill>
            <a:srgbClr val="16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48640" y="5102352"/>
            <a:ext cx="68580" cy="85953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18" name="icon:target"/>
          <p:cNvGrpSpPr/>
          <p:nvPr/>
        </p:nvGrpSpPr>
        <p:grpSpPr>
          <a:xfrm>
            <a:off x="868680" y="5340096"/>
            <a:ext cx="384048" cy="384048"/>
            <a:chOff x="868680" y="5340096"/>
            <a:chExt cx="384048" cy="384048"/>
          </a:xfrm>
        </p:grpSpPr>
        <p:sp>
          <p:nvSpPr>
            <p:cNvPr id="115" name="Oval 114"/>
            <p:cNvSpPr/>
            <p:nvPr/>
          </p:nvSpPr>
          <p:spPr>
            <a:xfrm>
              <a:off x="868680" y="5340096"/>
              <a:ext cx="384048" cy="384048"/>
            </a:xfrm>
            <a:prstGeom prst="ellipse">
              <a:avLst/>
            </a:prstGeom>
            <a:noFill/>
            <a:ln w="2032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6" name="Oval 115"/>
            <p:cNvSpPr/>
            <p:nvPr/>
          </p:nvSpPr>
          <p:spPr>
            <a:xfrm>
              <a:off x="945489" y="5416905"/>
              <a:ext cx="230428" cy="230428"/>
            </a:xfrm>
            <a:prstGeom prst="ellipse">
              <a:avLst/>
            </a:prstGeom>
            <a:noFill/>
            <a:ln w="2032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17" name="Oval 116"/>
            <p:cNvSpPr/>
            <p:nvPr/>
          </p:nvSpPr>
          <p:spPr>
            <a:xfrm>
              <a:off x="1018458" y="5489874"/>
              <a:ext cx="84490" cy="84490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19" name="Rectangle 118"/>
          <p:cNvSpPr/>
          <p:nvPr/>
        </p:nvSpPr>
        <p:spPr>
          <a:xfrm>
            <a:off x="1444752" y="5266944"/>
            <a:ext cx="9144" cy="530352"/>
          </a:xfrm>
          <a:prstGeom prst="rect">
            <a:avLst/>
          </a:prstGeom>
          <a:solidFill>
            <a:srgbClr val="334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627631" y="5248656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>
                <a:solidFill>
                  <a:srgbClr val="FFFFFF"/>
                </a:solidFill>
                <a:latin typeface="Arial"/>
                <a:cs typeface="Arial"/>
              </a:rPr>
              <a:t>Evidence is only useful when it changes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627631" y="5559552"/>
            <a:ext cx="7223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i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lang="en-GB" sz="1300" b="1" i="0">
                <a:solidFill>
                  <a:srgbClr val="1CABE2"/>
                </a:solidFill>
                <a:latin typeface="Arial"/>
                <a:cs typeface="Arial"/>
              </a:rPr>
              <a:t>decision</a:t>
            </a:r>
            <a:r>
              <a:rPr lang="en-GB" sz="1300" b="1" i="0">
                <a:solidFill>
                  <a:srgbClr val="FFFFFF"/>
                </a:solidFill>
                <a:latin typeface="Arial"/>
                <a:cs typeface="Arial"/>
              </a:rPr>
              <a:t>, an </a:t>
            </a:r>
            <a:r>
              <a:rPr lang="en-GB" sz="1300" b="1" i="0">
                <a:solidFill>
                  <a:srgbClr val="1CABE2"/>
                </a:solidFill>
                <a:latin typeface="Arial"/>
                <a:cs typeface="Arial"/>
              </a:rPr>
              <a:t>allocation</a:t>
            </a:r>
            <a:r>
              <a:rPr lang="en-GB" sz="1300" b="1" i="0">
                <a:solidFill>
                  <a:srgbClr val="FFFFFF"/>
                </a:solidFill>
                <a:latin typeface="Arial"/>
                <a:cs typeface="Arial"/>
              </a:rPr>
              <a:t>, an </a:t>
            </a:r>
            <a:r>
              <a:rPr lang="en-GB" sz="1300" b="1" i="0">
                <a:solidFill>
                  <a:srgbClr val="1CABE2"/>
                </a:solidFill>
                <a:latin typeface="Arial"/>
                <a:cs typeface="Arial"/>
              </a:rPr>
              <a:t>implementation approach</a:t>
            </a:r>
            <a:r>
              <a:rPr lang="en-GB" sz="1300" b="1" i="0">
                <a:solidFill>
                  <a:srgbClr val="FFFFFF"/>
                </a:solidFill>
                <a:latin typeface="Arial"/>
                <a:cs typeface="Arial"/>
              </a:rPr>
              <a:t> or an </a:t>
            </a:r>
            <a:r>
              <a:rPr lang="en-GB" sz="1300" b="1" i="0">
                <a:solidFill>
                  <a:srgbClr val="1CABE2"/>
                </a:solidFill>
                <a:latin typeface="Arial"/>
                <a:cs typeface="Arial"/>
              </a:rPr>
              <a:t>accountability action</a:t>
            </a:r>
            <a:r>
              <a:rPr lang="en-GB" sz="1300" b="1" i="0">
                <a:solidFill>
                  <a:srgbClr val="FFFFFF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61119" y="5266944"/>
            <a:ext cx="9144" cy="530352"/>
          </a:xfrm>
          <a:prstGeom prst="rect">
            <a:avLst/>
          </a:prstGeom>
          <a:solidFill>
            <a:srgbClr val="3343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126" name="icon:clock"/>
          <p:cNvGrpSpPr/>
          <p:nvPr/>
        </p:nvGrpSpPr>
        <p:grpSpPr>
          <a:xfrm>
            <a:off x="9166311" y="5298399"/>
            <a:ext cx="193121" cy="193121"/>
            <a:chOff x="9166311" y="5298399"/>
            <a:chExt cx="193121" cy="193121"/>
          </a:xfrm>
        </p:grpSpPr>
        <p:sp>
          <p:nvSpPr>
            <p:cNvPr id="123" name="Oval 122"/>
            <p:cNvSpPr/>
            <p:nvPr/>
          </p:nvSpPr>
          <p:spPr>
            <a:xfrm>
              <a:off x="9166311" y="5298399"/>
              <a:ext cx="193121" cy="193121"/>
            </a:xfrm>
            <a:prstGeom prst="ellipse">
              <a:avLst/>
            </a:prstGeom>
            <a:noFill/>
            <a:ln w="1524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9256836" y="5326562"/>
              <a:ext cx="12070" cy="76443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9258848" y="5390936"/>
              <a:ext cx="60350" cy="12070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27" name="TextBox 126"/>
          <p:cNvSpPr txBox="1"/>
          <p:nvPr/>
        </p:nvSpPr>
        <p:spPr>
          <a:xfrm>
            <a:off x="9390888" y="5266944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 cap="all" spc="60">
                <a:solidFill>
                  <a:srgbClr val="FFFFFF"/>
                </a:solidFill>
                <a:latin typeface="Arial"/>
                <a:cs typeface="Arial"/>
              </a:rPr>
              <a:t>Timely</a:t>
            </a:r>
          </a:p>
        </p:txBody>
      </p:sp>
      <p:grpSp>
        <p:nvGrpSpPr>
          <p:cNvPr id="131" name="icon:target"/>
          <p:cNvGrpSpPr/>
          <p:nvPr/>
        </p:nvGrpSpPr>
        <p:grpSpPr>
          <a:xfrm>
            <a:off x="10332719" y="5294376"/>
            <a:ext cx="201168" cy="201168"/>
            <a:chOff x="10332719" y="5294376"/>
            <a:chExt cx="201168" cy="201168"/>
          </a:xfrm>
        </p:grpSpPr>
        <p:sp>
          <p:nvSpPr>
            <p:cNvPr id="128" name="Oval 127"/>
            <p:cNvSpPr/>
            <p:nvPr/>
          </p:nvSpPr>
          <p:spPr>
            <a:xfrm>
              <a:off x="10332719" y="5294376"/>
              <a:ext cx="201168" cy="201168"/>
            </a:xfrm>
            <a:prstGeom prst="ellipse">
              <a:avLst/>
            </a:prstGeom>
            <a:noFill/>
            <a:ln w="1524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9" name="Oval 128"/>
            <p:cNvSpPr/>
            <p:nvPr/>
          </p:nvSpPr>
          <p:spPr>
            <a:xfrm>
              <a:off x="10372953" y="5334609"/>
              <a:ext cx="120700" cy="120700"/>
            </a:xfrm>
            <a:prstGeom prst="ellipse">
              <a:avLst/>
            </a:prstGeom>
            <a:noFill/>
            <a:ln w="1524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0" name="Oval 129"/>
            <p:cNvSpPr/>
            <p:nvPr/>
          </p:nvSpPr>
          <p:spPr>
            <a:xfrm>
              <a:off x="10411175" y="5372831"/>
              <a:ext cx="44256" cy="44256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32" name="TextBox 131"/>
          <p:cNvSpPr txBox="1"/>
          <p:nvPr/>
        </p:nvSpPr>
        <p:spPr>
          <a:xfrm>
            <a:off x="10561319" y="5266944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 cap="all" spc="60">
                <a:solidFill>
                  <a:srgbClr val="FFFFFF"/>
                </a:solidFill>
                <a:latin typeface="Arial"/>
                <a:cs typeface="Arial"/>
              </a:rPr>
              <a:t>Relevant</a:t>
            </a:r>
          </a:p>
        </p:txBody>
      </p:sp>
      <p:grpSp>
        <p:nvGrpSpPr>
          <p:cNvPr id="135" name="icon:shield"/>
          <p:cNvGrpSpPr/>
          <p:nvPr/>
        </p:nvGrpSpPr>
        <p:grpSpPr>
          <a:xfrm>
            <a:off x="9182404" y="5595030"/>
            <a:ext cx="160935" cy="189098"/>
            <a:chOff x="9182404" y="5595030"/>
            <a:chExt cx="160935" cy="189098"/>
          </a:xfrm>
        </p:grpSpPr>
        <p:sp>
          <p:nvSpPr>
            <p:cNvPr id="133" name="Freeform 132"/>
            <p:cNvSpPr/>
            <p:nvPr/>
          </p:nvSpPr>
          <p:spPr>
            <a:xfrm>
              <a:off x="9182404" y="5595030"/>
              <a:ext cx="160935" cy="189098"/>
            </a:xfrm>
            <a:custGeom>
              <a:avLst/>
              <a:gdLst/>
              <a:ahLst/>
              <a:cxnLst/>
              <a:rect l="l" t="t" r="r" b="b"/>
              <a:pathLst>
                <a:path w="160935" h="189098">
                  <a:moveTo>
                    <a:pt x="0" y="0"/>
                  </a:moveTo>
                  <a:lnTo>
                    <a:pt x="160935" y="0"/>
                  </a:lnTo>
                  <a:lnTo>
                    <a:pt x="160935" y="102596"/>
                  </a:lnTo>
                  <a:lnTo>
                    <a:pt x="80468" y="189098"/>
                  </a:lnTo>
                  <a:lnTo>
                    <a:pt x="0" y="102596"/>
                  </a:lnTo>
                  <a:close/>
                </a:path>
              </a:pathLst>
            </a:custGeom>
            <a:noFill/>
            <a:ln w="15240">
              <a:solidFill>
                <a:srgbClr val="1C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9228673" y="5655381"/>
              <a:ext cx="72420" cy="88514"/>
            </a:xfrm>
            <a:custGeom>
              <a:avLst/>
              <a:gdLst/>
              <a:ahLst/>
              <a:cxnLst/>
              <a:rect l="l" t="t" r="r" b="b"/>
              <a:pathLst>
                <a:path w="72420" h="88514">
                  <a:moveTo>
                    <a:pt x="0" y="32187"/>
                  </a:moveTo>
                  <a:lnTo>
                    <a:pt x="24140" y="60350"/>
                  </a:lnTo>
                  <a:lnTo>
                    <a:pt x="72420" y="0"/>
                  </a:lnTo>
                  <a:lnTo>
                    <a:pt x="72420" y="28163"/>
                  </a:lnTo>
                  <a:lnTo>
                    <a:pt x="24140" y="88514"/>
                  </a:lnTo>
                  <a:lnTo>
                    <a:pt x="0" y="60350"/>
                  </a:lnTo>
                  <a:close/>
                </a:path>
              </a:pathLst>
            </a:cu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9390888" y="5559552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 cap="all" spc="60">
                <a:solidFill>
                  <a:srgbClr val="FFFFFF"/>
                </a:solidFill>
                <a:latin typeface="Arial"/>
                <a:cs typeface="Arial"/>
              </a:rPr>
              <a:t>Trusted</a:t>
            </a:r>
          </a:p>
        </p:txBody>
      </p:sp>
      <p:grpSp>
        <p:nvGrpSpPr>
          <p:cNvPr id="142" name="icon:child"/>
          <p:cNvGrpSpPr/>
          <p:nvPr/>
        </p:nvGrpSpPr>
        <p:grpSpPr>
          <a:xfrm>
            <a:off x="10364906" y="5591007"/>
            <a:ext cx="136794" cy="193120"/>
            <a:chOff x="10364906" y="5591007"/>
            <a:chExt cx="136794" cy="193120"/>
          </a:xfrm>
        </p:grpSpPr>
        <p:sp>
          <p:nvSpPr>
            <p:cNvPr id="137" name="Oval 136"/>
            <p:cNvSpPr/>
            <p:nvPr/>
          </p:nvSpPr>
          <p:spPr>
            <a:xfrm>
              <a:off x="10405140" y="5591007"/>
              <a:ext cx="56327" cy="56327"/>
            </a:xfrm>
            <a:prstGeom prst="ellipse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10424251" y="5651357"/>
              <a:ext cx="18105" cy="68397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10364906" y="5659404"/>
              <a:ext cx="136794" cy="14081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0" name="Rectangle 139"/>
            <p:cNvSpPr/>
            <p:nvPr/>
          </p:nvSpPr>
          <p:spPr>
            <a:xfrm rot="840000">
              <a:off x="10389047" y="5719754"/>
              <a:ext cx="18105" cy="64373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1" name="Rectangle 140"/>
            <p:cNvSpPr/>
            <p:nvPr/>
          </p:nvSpPr>
          <p:spPr>
            <a:xfrm rot="20760000">
              <a:off x="10459455" y="5719754"/>
              <a:ext cx="18105" cy="64373"/>
            </a:xfrm>
            <a:prstGeom prst="rect">
              <a:avLst/>
            </a:prstGeom>
            <a:solidFill>
              <a:srgbClr val="1C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10561319" y="5559552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b="1" i="0" cap="all" spc="60">
                <a:solidFill>
                  <a:srgbClr val="FFFFFF"/>
                </a:solidFill>
                <a:latin typeface="Arial"/>
                <a:cs typeface="Arial"/>
              </a:rPr>
              <a:t>For children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48640" y="6089904"/>
            <a:ext cx="1109468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0" i="0">
                <a:solidFill>
                  <a:srgbClr val="777779"/>
                </a:solidFill>
                <a:latin typeface="Arial"/>
                <a:cs typeface="Arial"/>
              </a:rPr>
              <a:t>Daniel Kalunga   ·   Monitoring and Evaluation Specialist   ·   UNICEF Malawi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4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82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38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26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4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82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338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4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26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4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78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4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04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4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4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156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182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4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4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4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286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4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4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338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4" dur="4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36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8" dur="4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2" dur="4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7" dur="56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0" dur="56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3" dur="56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105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6" dur="56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9" dur="56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175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2" dur="56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5" dur="56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4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295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4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4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4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4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4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4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565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4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605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/>
      <p:bldP spid="10" grpId="0" animBg="1"/>
      <p:bldP spid="11" grpId="0" animBg="1"/>
      <p:bldP spid="15" grpId="0"/>
      <p:bldP spid="16" grpId="0"/>
      <p:bldP spid="17" grpId="0"/>
      <p:bldP spid="18" grpId="0" animBg="1"/>
      <p:bldP spid="21" grpId="0"/>
      <p:bldP spid="22" grpId="0"/>
      <p:bldP spid="23" grpId="0" animBg="1"/>
      <p:bldP spid="29" grpId="0"/>
      <p:bldP spid="30" grpId="0"/>
      <p:bldP spid="31" grpId="0" animBg="1"/>
      <p:bldP spid="34" grpId="0"/>
      <p:bldP spid="35" grpId="0"/>
      <p:bldP spid="36" grpId="0" animBg="1"/>
      <p:bldP spid="37" grpId="0"/>
      <p:bldP spid="38" grpId="0" animBg="1"/>
      <p:bldP spid="39" grpId="0" animBg="1"/>
      <p:bldP spid="40" grpId="0" animBg="1"/>
      <p:bldP spid="49" grpId="0"/>
      <p:bldP spid="50" grpId="0"/>
      <p:bldP spid="51" grpId="0"/>
      <p:bldP spid="52" grpId="0" animBg="1"/>
      <p:bldP spid="55" grpId="0"/>
      <p:bldP spid="56" grpId="0"/>
      <p:bldP spid="57" grpId="0" animBg="1"/>
      <p:bldP spid="61" grpId="0"/>
      <p:bldP spid="62" grpId="0"/>
      <p:bldP spid="63" grpId="0" animBg="1"/>
      <p:bldP spid="64" grpId="0" animBg="1"/>
      <p:bldP spid="65" grpId="0"/>
      <p:bldP spid="66" grpId="0" animBg="1"/>
      <p:bldP spid="67" grpId="0"/>
      <p:bldP spid="68" grpId="0" animBg="1"/>
      <p:bldP spid="69" grpId="0" animBg="1"/>
      <p:bldP spid="70" grpId="0" animBg="1"/>
      <p:bldP spid="85" grpId="0"/>
      <p:bldP spid="86" grpId="0"/>
      <p:bldP spid="87" grpId="0"/>
      <p:bldP spid="88" grpId="0" animBg="1"/>
      <p:bldP spid="95" grpId="0"/>
      <p:bldP spid="96" grpId="0"/>
      <p:bldP spid="97" grpId="0" animBg="1"/>
      <p:bldP spid="103" grpId="0"/>
      <p:bldP spid="104" grpId="0"/>
      <p:bldP spid="105" grpId="0" animBg="1"/>
      <p:bldP spid="109" grpId="0"/>
      <p:bldP spid="110" grpId="0"/>
      <p:bldP spid="111" grpId="0" animBg="1"/>
      <p:bldP spid="112" grpId="0"/>
      <p:bldP spid="113" grpId="0" animBg="1"/>
      <p:bldP spid="114" grpId="0" animBg="1"/>
      <p:bldP spid="118" grpId="0"/>
      <p:bldP spid="119" grpId="0" animBg="1"/>
      <p:bldP spid="120" grpId="0"/>
      <p:bldP spid="121" grpId="0"/>
      <p:bldP spid="122" grpId="0" animBg="1"/>
      <p:bldP spid="126" grpId="0"/>
      <p:bldP spid="127" grpId="0"/>
      <p:bldP spid="131" grpId="0"/>
      <p:bldP spid="132" grpId="0"/>
      <p:bldP spid="135" grpId="0"/>
      <p:bldP spid="136" grpId="0"/>
      <p:bldP spid="142" grpId="0"/>
      <p:bldP spid="143" grpId="0"/>
      <p:bldP spid="1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6688514-7e81-4ce3-adb3-0e7b8a7575ad}" enabled="1" method="Standard" siteId="{33f3783f-cdd2-442a-a9d2-1183fd1c4316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3025</Words>
  <Application>Microsoft Office PowerPoint</Application>
  <PresentationFormat>Widescreen</PresentationFormat>
  <Paragraphs>522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Data to Decisions</dc:title>
  <dc:subject>Strengthening Performance Monitoring and Evidence Use</dc:subject>
  <dc:creator>Daniel Kalunga</dc:creator>
  <cp:keywords/>
  <dc:description>UNICEF Technical Assessment. Fully editable native PowerPoint shapes and text.</dc:description>
  <cp:lastModifiedBy>Chifundo Bita</cp:lastModifiedBy>
  <cp:revision>1</cp:revision>
  <dcterms:created xsi:type="dcterms:W3CDTF">2013-01-27T09:14:16Z</dcterms:created>
  <dcterms:modified xsi:type="dcterms:W3CDTF">2026-08-04T18:57:08Z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