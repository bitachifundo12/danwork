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40450f9-40ce-5e72-2bc0-31eaf1ae87cf}">
          <p14:sldIdLst>
            <p14:sldId id="256"/>
          </p14:sldIdLst>
        </p14:section>
        <p14:section name="The Evidence" id="{6b31fa90-389b-3c35-715a-7f6947c3735a}">
          <p14:sldIdLst>
            <p14:sldId id="257"/>
            <p14:sldId id="258"/>
            <p14:sldId id="259"/>
          </p14:sldIdLst>
        </p14:section>
        <p14:section name="Findings" id="{9025f959-9d85-e8c1-db3c-b66d2754e14e}">
          <p14:sldIdLst>
            <p14:sldId id="260"/>
            <p14:sldId id="261"/>
            <p14:sldId id="262"/>
          </p14:sldIdLst>
        </p14:section>
        <p14:section name="Implications" id="{0cebacb2-945c-f013-250a-1baeaa415b4c}">
          <p14:sldIdLst>
            <p14:sldId id="263"/>
          </p14:sldIdLst>
        </p14:section>
        <p14:section name="Closing" id="{4983248c-cfbc-c0fa-5486-378a0653298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8E52A3"/>
            </a:solidFill>
            <a:effectLst/>
          </c:spPr>
          <c:invertIfNegative val="0"/>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dPt>
            <c:idx val="0"/>
            <c:invertIfNegative val="0"/>
            <c:bubble3D val="0"/>
            <c:spPr>
              <a:solidFill>
                <a:srgbClr val="8E52A3"/>
              </a:solidFill>
              <a:effectLst/>
            </c:spPr>
          </c:dPt>
          <c:dPt>
            <c:idx val="1"/>
            <c:invertIfNegative val="0"/>
            <c:bubble3D val="0"/>
            <c:spPr>
              <a:solidFill>
                <a:srgbClr val="8E52A3"/>
              </a:solidFill>
              <a:effectLst/>
            </c:spPr>
          </c:dPt>
          <c:dPt>
            <c:idx val="2"/>
            <c:invertIfNegative val="0"/>
            <c:bubble3D val="0"/>
            <c:spPr>
              <a:solidFill>
                <a:srgbClr val="8E52A3"/>
              </a:solidFill>
              <a:effectLst/>
            </c:spPr>
          </c:dPt>
          <c:dPt>
            <c:idx val="3"/>
            <c:invertIfNegative val="0"/>
            <c:bubble3D val="0"/>
            <c:spPr>
              <a:solidFill>
                <a:srgbClr val="1A9DA8"/>
              </a:solidFill>
              <a:effectLst/>
            </c:spPr>
          </c:dPt>
          <c:dPt>
            <c:idx val="4"/>
            <c:invertIfNegative val="0"/>
            <c:bubble3D val="0"/>
            <c:spPr>
              <a:solidFill>
                <a:srgbClr val="1A9DA8"/>
              </a:solidFill>
              <a:effectLst/>
            </c:spPr>
          </c:dPt>
          <c:dPt>
            <c:idx val="5"/>
            <c:invertIfNegative val="0"/>
            <c:bubble3D val="0"/>
            <c:spPr>
              <a:solidFill>
                <a:srgbClr val="F08236"/>
              </a:solidFill>
              <a:effectLst/>
            </c:spPr>
          </c:dPt>
          <c:cat>
            <c:multiLvlStrRef>
              <c:f>Sheet1!$A$2:$A$7</c:f>
              <c:multiLvlStrCache>
                <c:ptCount val="6"/>
                <c:lvl>
                  <c:pt idx="0">
                    <c:v>Early sex</c:v>
                  </c:pt>
                  <c:pt idx="1">
                    <c:v>Having one child</c:v>
                  </c:pt>
                  <c:pt idx="2">
                    <c:v>Having two children</c:v>
                  </c:pt>
                  <c:pt idx="3">
                    <c:v>Child labour</c:v>
                  </c:pt>
                  <c:pt idx="4">
                    <c:v>Poverty</c:v>
                  </c:pt>
                  <c:pt idx="5">
                    <c:v>Orphanhood (double orphan)</c:v>
                  </c:pt>
                </c:lvl>
              </c:multiLvlStrCache>
            </c:multiLvlStrRef>
          </c:cat>
          <c:val>
            <c:numRef>
              <c:f>Sheet1!$B$2:$B$7</c:f>
              <c:numCache>
                <c:formatCode>General</c:formatCode>
                <c:ptCount val="6"/>
                <c:pt idx="0">
                  <c:v>5.14</c:v>
                </c:pt>
                <c:pt idx="1">
                  <c:v>4.81</c:v>
                </c:pt>
                <c:pt idx="2">
                  <c:v>5.96</c:v>
                </c:pt>
                <c:pt idx="3">
                  <c:v>2.14</c:v>
                </c:pt>
                <c:pt idx="4">
                  <c:v>1.94</c:v>
                </c:pt>
                <c:pt idx="5">
                  <c:v>1.47</c:v>
                </c:pt>
              </c:numCache>
            </c:numRef>
          </c:val>
        </c:ser>
        <c:dLbls>
          <c:numFmt formatCode="0.00" sourceLinked="0"/>
          <c:txPr>
            <a:bodyPr/>
            <a:lstStyle/>
            <a:p>
              <a:pPr>
                <a:defRPr b="1" i="0" strike="noStrike" sz="1100" u="none">
                  <a:solidFill>
                    <a:srgbClr val="1E2F5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14A5A"/>
                </a:solidFill>
                <a:latin typeface="+mn-lt"/>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Situation of Children in Malawi. Status report, qualitative findings, National Children's Commission, September 2026, prepared by PPM and UNICEF.
This briefing takes one part of that evidence: what the quantitative analysis tells us about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analysis. Three things: examine the factors associated with respondents reporting child marriage; identify patterns of vulnerability within the sampled population; and explore how child marriage intersects with early sexual activity, early childbearing, child labour, poverty and orphanhood.
How to read the results: as evidence for further investigation, programming discussions and hypothesis generation.
Key point: these findings identify associations within the study population. They do not establish causes of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numbers, three cautions.
One: do not treat the results as national prevalence. The analysis was conducted without sampling weights. Use language such as "among respondents", "in the sampled population", "the analysis found", "reported higher or lower levels". Avoid statements like "X% of children in Malawi experience…".
Two: an odds ratio is not causation. A high OR indicates a statistical association, not proof that one factor caused another.
Three: the findings are useful for identifying patterns and priorities: patterns within the sampled population, differences between sub-groups, associations between vulnerabilities, areas of concern requiring further investigation, and relationships that may inform programming and policy discussions.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findings were generated. A multi-stage sampling approach; data collected across 13 districts and a city; an analysis of the relationships between child marriage and selected characteristics and vulnerabilities; and regression analysis to estimate odds ratios.
An odds ratio compares the odds of reporting child marriage between two groups. In the example, the two groups are respondents who reported sex before age 18 and those who did not.
An OR of 5.14 means respondents who reported sex before 18 had approximately five times the odds of reporting child marriage.
It does not mean early sex causes child marriage. Odds ratios should be interpreted as associations rather than causal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regression analysis shows a cluster of interconnected factors.
Early sex: about 5.1 times the odds of reporting child marriage. Having one child: about 4.8 times. Having two children: about 6 times. Child labour: about 2.1 times. Poverty: about 1.9 times. And orphanhood, specifically double orphanhood, is significantly associated with child marriage, at 1.47.
These findings indicate that child marriage occurs within a broader pattern of interconnected vulnerabilities rather than being associated with a single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reproductive experiences are strongly associated with reported child marriage.
Early sex: respondents who reported sex before 18 had approximately 5.1 times the odds of reporting child marriage. Having one child before 18: approximately 4.8 times, compared with those who had no child. Having two children before 18: approximately 6 times, compared with those who had no children.
These findings demonstrate a strong overlap between child marriage, early sexual activity and early childbearing.
However, these relationships should not be interpreted as showing that early sex or childbearing independently causes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vulnerability is closely connected to child marriage.
Child labour: respondents involved in child labour had approximately 2.1 times the odds of reporting child marriage. Poverty: approximately 1.9 times. Double orphanhood was significantly associated with child marriage, at 1.47.
The qualitative evidence suggests how these factors may connect: economic hardship (poverty, hunger) leads to child labour and school disruption, which increases vulnerability, including through loss of parental protection, and leads to a higher risk of early marriage.
This represents an explanatory pathway emerging from the combined evidence; it should not be presented as a proven causal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Child marriage should be understood as part of a broader vulnerability system: economic vulnerability (poverty, hunger, child labour), education and protection vulnerability (school disruption, loss of parental protection, increased exposure to harmful environments), and sexual and reproductive vulnerability (early sexual activity, early pregnancy, early childbearing).
What the evidence can support: identifying priority vulnerabilities, generating research questions, strengthening programme design, identifying areas for qualitative investigation, and exploring convergence between quantitative and qualitative evidence.
What it should not be used for: national prevalence estimates, causal claims, or donor reporting of these figures as national statistics.
Key message: the quantitative findings provide important signals about who is more vulnerable and how vulnerabilities intersect, while qualitative evidence helps explain how and why these vulnerabilities may connect.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key message: the quantitative findings provide important signals about who is more vulnerable and how vulnerabilities intersect, while qualitative evidence helps explain how and why these vulnerabilities may connect.
Three things to carry away. These are associations, not causes. Child marriage sits within a cluster of interconnected vulnerabilities, not a single factor. And these are patterns among respondents, not national prevalence.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6382512"/>
            <a:ext cx="11094415" cy="0"/>
          </a:xfrm>
          <a:prstGeom prst="line">
            <a:avLst/>
          </a:prstGeom>
          <a:noFill/>
          <a:ln w="12700">
            <a:solidFill>
              <a:srgbClr val="E3E8EF"/>
            </a:solidFill>
            <a:prstDash val="solid"/>
          </a:ln>
        </p:spPr>
      </p:sp>
      <p:sp>
        <p:nvSpPr>
          <p:cNvPr id="3" name="Text 1"/>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4" name="Text 2"/>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5" name="Text 3"/>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48640" y="429768"/>
            <a:ext cx="45720" cy="868680"/>
          </a:xfrm>
          <a:prstGeom prst="rect">
            <a:avLst/>
          </a:prstGeom>
          <a:solidFill>
            <a:srgbClr val="1CABE2"/>
          </a:solidFill>
          <a:ln/>
        </p:spPr>
      </p:sp>
      <p:sp>
        <p:nvSpPr>
          <p:cNvPr id="3" name="Shape 1"/>
          <p:cNvSpPr/>
          <p:nvPr/>
        </p:nvSpPr>
        <p:spPr>
          <a:xfrm>
            <a:off x="548640" y="1481328"/>
            <a:ext cx="11094415" cy="0"/>
          </a:xfrm>
          <a:prstGeom prst="line">
            <a:avLst/>
          </a:prstGeom>
          <a:noFill/>
          <a:ln w="12700">
            <a:solidFill>
              <a:srgbClr val="E3E8EF"/>
            </a:solidFill>
            <a:prstDash val="solid"/>
          </a:ln>
        </p:spPr>
      </p:sp>
      <p:sp>
        <p:nvSpPr>
          <p:cNvPr id="4" name="Shape 2"/>
          <p:cNvSpPr/>
          <p:nvPr/>
        </p:nvSpPr>
        <p:spPr>
          <a:xfrm>
            <a:off x="548640" y="6382512"/>
            <a:ext cx="11094415" cy="0"/>
          </a:xfrm>
          <a:prstGeom prst="line">
            <a:avLst/>
          </a:prstGeom>
          <a:noFill/>
          <a:ln w="12700">
            <a:solidFill>
              <a:srgbClr val="E3E8EF"/>
            </a:solidFill>
            <a:prstDash val="solid"/>
          </a:ln>
        </p:spPr>
      </p:sp>
      <p:sp>
        <p:nvSpPr>
          <p:cNvPr id="5" name="Text 3"/>
          <p:cNvSpPr txBox="1"/>
          <p:nvPr/>
        </p:nvSpPr>
        <p:spPr>
          <a:xfrm>
            <a:off x="548640" y="6455664"/>
            <a:ext cx="640080" cy="256032"/>
          </a:xfrm>
          <a:prstGeom prst="rect">
            <a:avLst/>
          </a:prstGeom>
          <a:noFill/>
          <a:ln/>
        </p:spPr>
        <p:txBody>
          <a:bodyPr wrap="square" lIns="0" tIns="0" rIns="0" bIns="0" rtlCol="0" anchor="ctr"/>
          <a:lstStyle/>
          <a:p>
            <a:pPr indent="0" marL="0">
              <a:buNone/>
            </a:pPr>
            <a:r>
              <a:rPr lang="en-US" sz="1100" b="1" dirty="0">
                <a:solidFill>
                  <a:srgbClr val="1CABE2"/>
                </a:solidFill>
              </a:rPr>
              <a:t>unicef</a:t>
            </a:r>
            <a:endParaRPr lang="en-US" sz="1100" dirty="0"/>
          </a:p>
        </p:txBody>
      </p:sp>
      <p:sp>
        <p:nvSpPr>
          <p:cNvPr id="6" name="Text 4"/>
          <p:cNvSpPr txBox="1"/>
          <p:nvPr/>
        </p:nvSpPr>
        <p:spPr>
          <a:xfrm>
            <a:off x="1170432" y="6464808"/>
            <a:ext cx="1371600" cy="237744"/>
          </a:xfrm>
          <a:prstGeom prst="rect">
            <a:avLst/>
          </a:prstGeom>
          <a:noFill/>
          <a:ln/>
        </p:spPr>
        <p:txBody>
          <a:bodyPr wrap="square" lIns="0" tIns="0" rIns="0" bIns="0" rtlCol="0" anchor="ctr"/>
          <a:lstStyle/>
          <a:p>
            <a:pPr indent="0" marL="0">
              <a:buNone/>
            </a:pPr>
            <a:r>
              <a:rPr lang="en-US" sz="900" dirty="0">
                <a:solidFill>
                  <a:srgbClr val="8A93A3"/>
                </a:solidFill>
              </a:rPr>
              <a:t>for every child</a:t>
            </a:r>
            <a:endParaRPr lang="en-US" sz="900" dirty="0"/>
          </a:p>
        </p:txBody>
      </p:sp>
      <p:sp>
        <p:nvSpPr>
          <p:cNvPr id="7" name="Text 5"/>
          <p:cNvSpPr txBox="1"/>
          <p:nvPr/>
        </p:nvSpPr>
        <p:spPr>
          <a:xfrm>
            <a:off x="3383280" y="6464808"/>
            <a:ext cx="5422392" cy="237744"/>
          </a:xfrm>
          <a:prstGeom prst="rect">
            <a:avLst/>
          </a:prstGeom>
          <a:noFill/>
          <a:ln/>
        </p:spPr>
        <p:txBody>
          <a:bodyPr wrap="square" lIns="0" tIns="0" rIns="0" bIns="0" rtlCol="0" anchor="ctr"/>
          <a:lstStyle/>
          <a:p>
            <a:pPr algn="ctr" indent="0" marL="0">
              <a:buNone/>
            </a:pPr>
            <a:r>
              <a:rPr lang="en-US" sz="850" dirty="0">
                <a:solidFill>
                  <a:srgbClr val="8A93A3"/>
                </a:solidFill>
              </a:rPr>
              <a:t>Child Marriage: What the Quantitative Analysis Tells Us  |  Daniel Kalunga</a:t>
            </a:r>
            <a:endParaRPr lang="en-US" sz="850" dirty="0"/>
          </a:p>
        </p:txBody>
      </p:sp>
      <p:sp>
        <p:nvSpPr>
          <p:cNvPr id="8" name="Text 6"/>
          <p:cNvSpPr/>
          <p:nvPr>
            <p:ph idx="106" type="body" hasCustomPrompt="1"/>
          </p:nvPr>
        </p:nvSpPr>
        <p:spPr>
          <a:xfrm>
            <a:off x="1371600" y="402336"/>
            <a:ext cx="8778240" cy="237744"/>
          </a:xfrm>
          <a:prstGeom prst="rect">
            <a:avLst/>
          </a:prstGeom>
          <a:noFill/>
          <a:ln/>
        </p:spPr>
        <p:txBody>
          <a:bodyPr wrap="square" rtlCol="0"/>
          <a:lstStyle>
            <a:lvl1pPr indent="0" marL="0">
              <a:buNone/>
              <a:defRPr lang="en-US" sz="1000" b="1" spc="250" kern="0" dirty="0">
                <a:solidFill>
                  <a:srgbClr val="0B79A8"/>
                </a:solidFill>
              </a:defRPr>
            </a:lvl1pPr>
          </a:lstStyle>
          <a:p>
            <a:pPr indent="0" marL="0">
              <a:buNone/>
            </a:pPr>
            <a:endParaRPr lang="en-US" sz="1000" dirty="0"/>
          </a:p>
        </p:txBody>
      </p:sp>
      <p:sp>
        <p:nvSpPr>
          <p:cNvPr id="9" name="Text 6"/>
          <p:cNvSpPr/>
          <p:nvPr>
            <p:ph idx="107" type="title" hasCustomPrompt="1"/>
          </p:nvPr>
        </p:nvSpPr>
        <p:spPr>
          <a:xfrm>
            <a:off x="1371600" y="640080"/>
            <a:ext cx="9418320" cy="457200"/>
          </a:xfrm>
          <a:prstGeom prst="rect">
            <a:avLst/>
          </a:prstGeom>
          <a:noFill/>
          <a:ln/>
        </p:spPr>
        <p:txBody>
          <a:bodyPr wrap="square" rtlCol="0"/>
          <a:lstStyle>
            <a:lvl1pPr algn="l" indent="0" marL="0">
              <a:buNone/>
              <a:defRPr lang="en-US" sz="2600" b="1" dirty="0">
                <a:solidFill>
                  <a:srgbClr val="1E2F5C"/>
                </a:solidFill>
              </a:defRPr>
            </a:lvl1pPr>
          </a:lstStyle>
          <a:p>
            <a:pPr algn="l" indent="0" marL="0">
              <a:buNone/>
            </a:pPr>
            <a:endParaRPr lang="en-US" sz="2600" dirty="0"/>
          </a:p>
        </p:txBody>
      </p:sp>
      <p:sp>
        <p:nvSpPr>
          <p:cNvPr id="10" name="Text 6"/>
          <p:cNvSpPr/>
          <p:nvPr>
            <p:ph idx="108" type="body" hasCustomPrompt="1"/>
          </p:nvPr>
        </p:nvSpPr>
        <p:spPr>
          <a:xfrm>
            <a:off x="1371600" y="1069848"/>
            <a:ext cx="9418320" cy="274320"/>
          </a:xfrm>
          <a:prstGeom prst="rect">
            <a:avLst/>
          </a:prstGeom>
          <a:noFill/>
          <a:ln/>
        </p:spPr>
        <p:txBody>
          <a:bodyPr wrap="square" rtlCol="0"/>
          <a:lstStyle>
            <a:lvl1pPr indent="0" marL="0">
              <a:buNone/>
              <a:defRPr lang="en-US" sz="1300" dirty="0">
                <a:solidFill>
                  <a:srgbClr val="6B7383"/>
                </a:solidFill>
              </a:defRPr>
            </a:lvl1pPr>
          </a:lstStyle>
          <a:p>
            <a:pPr indent="0" marL="0">
              <a:buNone/>
            </a:pP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4.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4.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at of arms" descr="Coat of arms of the Republic of Malawi">    </p:cNvPr>
          <p:cNvPicPr>
            <a:picLocks noChangeAspect="1"/>
          </p:cNvPicPr>
          <p:nvPr/>
        </p:nvPicPr>
        <p:blipFill>
          <a:blip r:embed="rId1"/>
          <a:stretch>
            <a:fillRect/>
          </a:stretch>
        </p:blipFill>
        <p:spPr>
          <a:xfrm>
            <a:off x="548640" y="201168"/>
            <a:ext cx="1078992" cy="1024128"/>
          </a:xfrm>
          <a:prstGeom prst="rect">
            <a:avLst/>
          </a:prstGeom>
        </p:spPr>
      </p:pic>
      <p:sp>
        <p:nvSpPr>
          <p:cNvPr id="3" name="Header divider"/>
          <p:cNvSpPr/>
          <p:nvPr/>
        </p:nvSpPr>
        <p:spPr>
          <a:xfrm>
            <a:off x="1847088" y="310896"/>
            <a:ext cx="0" cy="822960"/>
          </a:xfrm>
          <a:prstGeom prst="line">
            <a:avLst/>
          </a:prstGeom>
          <a:noFill/>
          <a:ln w="15875">
            <a:solidFill>
              <a:srgbClr val="1F4FA0"/>
            </a:solidFill>
            <a:prstDash val="solid"/>
          </a:ln>
        </p:spPr>
      </p:sp>
      <p:sp>
        <p:nvSpPr>
          <p:cNvPr id="4" name="Commission"/>
          <p:cNvSpPr txBox="1"/>
          <p:nvPr/>
        </p:nvSpPr>
        <p:spPr>
          <a:xfrm>
            <a:off x="2029968" y="310896"/>
            <a:ext cx="4754880" cy="822960"/>
          </a:xfrm>
          <a:prstGeom prst="rect">
            <a:avLst/>
          </a:prstGeom>
          <a:noFill/>
          <a:ln/>
        </p:spPr>
        <p:txBody>
          <a:bodyPr wrap="square" lIns="0" tIns="0" rIns="0" bIns="0" rtlCol="0" anchor="ctr"/>
          <a:lstStyle/>
          <a:p>
            <a:pPr indent="0" marL="0">
              <a:spcAft>
                <a:spcPts val="400"/>
              </a:spcAft>
              <a:buNone/>
            </a:pPr>
            <a:r>
              <a:rPr lang="en-US" sz="1500" b="1" dirty="0">
                <a:solidFill>
                  <a:srgbClr val="1F4FA0"/>
                </a:solidFill>
              </a:rPr>
              <a:t>NATIONAL CHILDREN'S COMMISSION</a:t>
            </a:r>
            <a:endParaRPr lang="en-US" sz="1500" dirty="0"/>
          </a:p>
          <a:p>
            <a:pPr indent="0" marL="0">
              <a:spcAft>
                <a:spcPts val="400"/>
              </a:spcAft>
              <a:buNone/>
            </a:pPr>
            <a:r>
              <a:rPr lang="en-US" sz="1050" dirty="0">
                <a:solidFill>
                  <a:srgbClr val="6B7383"/>
                </a:solidFill>
              </a:rPr>
              <a:t>Promoting and Protecting Children's Rights</a:t>
            </a:r>
            <a:endParaRPr lang="en-US" sz="1500" dirty="0"/>
          </a:p>
        </p:txBody>
      </p:sp>
      <p:pic>
        <p:nvPicPr>
          <p:cNvPr id="5" name="Malawi map" descr="Map of Malawi in flag colours">    </p:cNvPr>
          <p:cNvPicPr>
            <a:picLocks noChangeAspect="1"/>
          </p:cNvPicPr>
          <p:nvPr/>
        </p:nvPicPr>
        <p:blipFill>
          <a:blip r:embed="rId2"/>
          <a:stretch>
            <a:fillRect/>
          </a:stretch>
        </p:blipFill>
        <p:spPr>
          <a:xfrm>
            <a:off x="9253728" y="146304"/>
            <a:ext cx="566928" cy="1115568"/>
          </a:xfrm>
          <a:prstGeom prst="rect">
            <a:avLst/>
          </a:prstGeom>
        </p:spPr>
      </p:pic>
      <p:sp>
        <p:nvSpPr>
          <p:cNvPr id="6" name="Vision divider"/>
          <p:cNvSpPr/>
          <p:nvPr/>
        </p:nvSpPr>
        <p:spPr>
          <a:xfrm>
            <a:off x="9985248" y="310896"/>
            <a:ext cx="0" cy="822960"/>
          </a:xfrm>
          <a:prstGeom prst="line">
            <a:avLst/>
          </a:prstGeom>
          <a:noFill/>
          <a:ln w="15875">
            <a:solidFill>
              <a:srgbClr val="1F4FA0"/>
            </a:solidFill>
            <a:prstDash val="solid"/>
          </a:ln>
        </p:spPr>
      </p:sp>
      <p:sp>
        <p:nvSpPr>
          <p:cNvPr id="7" name="Vision"/>
          <p:cNvSpPr txBox="1"/>
          <p:nvPr/>
        </p:nvSpPr>
        <p:spPr>
          <a:xfrm>
            <a:off x="10131552" y="274320"/>
            <a:ext cx="1600200" cy="914400"/>
          </a:xfrm>
          <a:prstGeom prst="rect">
            <a:avLst/>
          </a:prstGeom>
          <a:noFill/>
          <a:ln/>
        </p:spPr>
        <p:txBody>
          <a:bodyPr wrap="square" lIns="0" tIns="0" rIns="0" bIns="0" rtlCol="0" anchor="ctr"/>
          <a:lstStyle/>
          <a:p>
            <a:pPr indent="0" marL="0">
              <a:buNone/>
            </a:pPr>
            <a:r>
              <a:rPr lang="en-US" sz="950" dirty="0">
                <a:solidFill>
                  <a:srgbClr val="1F4FA0"/>
                </a:solidFill>
              </a:rPr>
              <a:t>A Malawi where every child is safe, healthy, educated and able to reach their full potential</a:t>
            </a:r>
            <a:endParaRPr lang="en-US" sz="950" dirty="0"/>
          </a:p>
        </p:txBody>
      </p:sp>
      <p:pic>
        <p:nvPicPr>
          <p:cNvPr id="8" name="Flag wave" descr="cv_wave_top.png">    </p:cNvPr>
          <p:cNvPicPr>
            <a:picLocks noChangeAspect="1"/>
          </p:cNvPicPr>
          <p:nvPr/>
        </p:nvPicPr>
        <p:blipFill>
          <a:blip r:embed="rId3"/>
          <a:stretch>
            <a:fillRect/>
          </a:stretch>
        </p:blipFill>
        <p:spPr>
          <a:xfrm>
            <a:off x="0" y="1261872"/>
            <a:ext cx="12191695" cy="548640"/>
          </a:xfrm>
          <a:prstGeom prst="rect">
            <a:avLst/>
          </a:prstGeom>
        </p:spPr>
      </p:pic>
      <p:sp>
        <p:nvSpPr>
          <p:cNvPr id="9" name="Title panel"/>
          <p:cNvSpPr/>
          <p:nvPr/>
        </p:nvSpPr>
        <p:spPr>
          <a:xfrm>
            <a:off x="0" y="1691640"/>
            <a:ext cx="6400800" cy="4069080"/>
          </a:xfrm>
          <a:prstGeom prst="rect">
            <a:avLst/>
          </a:prstGeom>
          <a:solidFill>
            <a:srgbClr val="1D3F7A"/>
          </a:solidFill>
          <a:ln/>
        </p:spPr>
      </p:sp>
      <p:pic>
        <p:nvPicPr>
          <p:cNvPr id="10" name="Chitenje pattern" descr="cv_pattern.png">    </p:cNvPr>
          <p:cNvPicPr>
            <a:picLocks noChangeAspect="1"/>
          </p:cNvPicPr>
          <p:nvPr/>
        </p:nvPicPr>
        <p:blipFill>
          <a:blip r:embed="rId4"/>
          <a:stretch>
            <a:fillRect/>
          </a:stretch>
        </p:blipFill>
        <p:spPr>
          <a:xfrm>
            <a:off x="0" y="1691640"/>
            <a:ext cx="475488" cy="4069080"/>
          </a:xfrm>
          <a:prstGeom prst="rect">
            <a:avLst/>
          </a:prstGeom>
        </p:spPr>
      </p:pic>
      <p:pic>
        <p:nvPicPr>
          <p:cNvPr id="11" name="Hero photo" descr="Smiling schoolchildren in a classroom">    </p:cNvPr>
          <p:cNvPicPr>
            <a:picLocks noChangeAspect="1"/>
          </p:cNvPicPr>
          <p:nvPr/>
        </p:nvPicPr>
        <p:blipFill>
          <a:blip r:embed="rId5"/>
          <a:srcRect l="0" r="0" t="0" b="0"/>
          <a:stretch/>
        </p:blipFill>
        <p:spPr>
          <a:xfrm>
            <a:off x="6400800" y="1691640"/>
            <a:ext cx="5790895" cy="4069080"/>
          </a:xfrm>
          <a:prstGeom prst="rect">
            <a:avLst/>
          </a:prstGeom>
        </p:spPr>
      </p:pic>
      <p:sp>
        <p:nvSpPr>
          <p:cNvPr id="12" name="Status report"/>
          <p:cNvSpPr txBox="1"/>
          <p:nvPr/>
        </p:nvSpPr>
        <p:spPr>
          <a:xfrm>
            <a:off x="914400" y="2039112"/>
            <a:ext cx="5120640" cy="329184"/>
          </a:xfrm>
          <a:prstGeom prst="rect">
            <a:avLst/>
          </a:prstGeom>
          <a:noFill/>
          <a:ln/>
        </p:spPr>
        <p:txBody>
          <a:bodyPr wrap="square" lIns="0" tIns="0" rIns="0" bIns="0" rtlCol="0" anchor="ctr"/>
          <a:lstStyle/>
          <a:p>
            <a:pPr indent="0" marL="0">
              <a:buNone/>
            </a:pPr>
            <a:r>
              <a:rPr lang="en-US" sz="1400" b="1" spc="150" kern="0" dirty="0">
                <a:solidFill>
                  <a:srgbClr val="5CC6EE"/>
                </a:solidFill>
              </a:rPr>
              <a:t>STATUS REPORT</a:t>
            </a:r>
            <a:endParaRPr lang="en-US" sz="1400" dirty="0"/>
          </a:p>
        </p:txBody>
      </p:sp>
      <p:sp>
        <p:nvSpPr>
          <p:cNvPr id="13" name="Report title"/>
          <p:cNvSpPr txBox="1"/>
          <p:nvPr/>
        </p:nvSpPr>
        <p:spPr>
          <a:xfrm>
            <a:off x="914400" y="2404872"/>
            <a:ext cx="5212080" cy="132588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rPr>
              <a:t>The Situation of Children in Malawi</a:t>
            </a:r>
            <a:endParaRPr lang="en-US" sz="3800" dirty="0"/>
          </a:p>
        </p:txBody>
      </p:sp>
      <p:sp>
        <p:nvSpPr>
          <p:cNvPr id="14" name="Title rule"/>
          <p:cNvSpPr/>
          <p:nvPr/>
        </p:nvSpPr>
        <p:spPr>
          <a:xfrm>
            <a:off x="932688" y="3822192"/>
            <a:ext cx="1188720" cy="54864"/>
          </a:xfrm>
          <a:prstGeom prst="rect">
            <a:avLst/>
          </a:prstGeom>
          <a:solidFill>
            <a:srgbClr val="1CABE2"/>
          </a:solidFill>
          <a:ln/>
        </p:spPr>
      </p:sp>
      <p:sp>
        <p:nvSpPr>
          <p:cNvPr id="15" name="Report subtitle"/>
          <p:cNvSpPr txBox="1"/>
          <p:nvPr/>
        </p:nvSpPr>
        <p:spPr>
          <a:xfrm>
            <a:off x="914400" y="3977640"/>
            <a:ext cx="5120640" cy="384048"/>
          </a:xfrm>
          <a:prstGeom prst="rect">
            <a:avLst/>
          </a:prstGeom>
          <a:noFill/>
          <a:ln/>
        </p:spPr>
        <p:txBody>
          <a:bodyPr wrap="square" lIns="0" tIns="0" rIns="0" bIns="0" rtlCol="0" anchor="ctr"/>
          <a:lstStyle/>
          <a:p>
            <a:pPr indent="0" marL="0">
              <a:buNone/>
            </a:pPr>
            <a:r>
              <a:rPr lang="en-US" sz="1700" dirty="0">
                <a:solidFill>
                  <a:srgbClr val="FFFFFF"/>
                </a:solidFill>
              </a:rPr>
              <a:t>Qualitative Findings Report</a:t>
            </a:r>
            <a:endParaRPr lang="en-US" sz="1700" dirty="0"/>
          </a:p>
        </p:txBody>
      </p:sp>
      <p:sp>
        <p:nvSpPr>
          <p:cNvPr id="16" name="Photo frame 1"/>
          <p:cNvSpPr/>
          <p:nvPr/>
        </p:nvSpPr>
        <p:spPr>
          <a:xfrm>
            <a:off x="877824" y="4526280"/>
            <a:ext cx="1261872" cy="1005840"/>
          </a:xfrm>
          <a:prstGeom prst="rect">
            <a:avLst/>
          </a:prstGeom>
          <a:solidFill>
            <a:srgbClr val="FFFFFF"/>
          </a:solidFill>
          <a:ln/>
        </p:spPr>
      </p:sp>
      <p:pic>
        <p:nvPicPr>
          <p:cNvPr id="17" name="Photo 1" descr="cv_sunset.png">    </p:cNvPr>
          <p:cNvPicPr>
            <a:picLocks noChangeAspect="1"/>
          </p:cNvPicPr>
          <p:nvPr/>
        </p:nvPicPr>
        <p:blipFill>
          <a:blip r:embed="rId6"/>
          <a:srcRect l="0" r="0" t="0" b="0"/>
          <a:stretch/>
        </p:blipFill>
        <p:spPr>
          <a:xfrm>
            <a:off x="914400" y="4562856"/>
            <a:ext cx="1188720" cy="932688"/>
          </a:xfrm>
          <a:prstGeom prst="rect">
            <a:avLst/>
          </a:prstGeom>
        </p:spPr>
      </p:pic>
      <p:sp>
        <p:nvSpPr>
          <p:cNvPr id="18" name="Photo frame 2"/>
          <p:cNvSpPr/>
          <p:nvPr/>
        </p:nvSpPr>
        <p:spPr>
          <a:xfrm>
            <a:off x="2185416" y="4526280"/>
            <a:ext cx="1261872" cy="1005840"/>
          </a:xfrm>
          <a:prstGeom prst="rect">
            <a:avLst/>
          </a:prstGeom>
          <a:solidFill>
            <a:srgbClr val="FFFFFF"/>
          </a:solidFill>
          <a:ln/>
        </p:spPr>
      </p:sp>
      <p:pic>
        <p:nvPicPr>
          <p:cNvPr id="19" name="Photo 2" descr="cv_boy.png">    </p:cNvPr>
          <p:cNvPicPr>
            <a:picLocks noChangeAspect="1"/>
          </p:cNvPicPr>
          <p:nvPr/>
        </p:nvPicPr>
        <p:blipFill>
          <a:blip r:embed="rId7"/>
          <a:srcRect l="0" r="0" t="0" b="0"/>
          <a:stretch/>
        </p:blipFill>
        <p:spPr>
          <a:xfrm>
            <a:off x="2221992" y="4562856"/>
            <a:ext cx="1188720" cy="932688"/>
          </a:xfrm>
          <a:prstGeom prst="rect">
            <a:avLst/>
          </a:prstGeom>
        </p:spPr>
      </p:pic>
      <p:sp>
        <p:nvSpPr>
          <p:cNvPr id="20" name="Photo frame 3"/>
          <p:cNvSpPr/>
          <p:nvPr/>
        </p:nvSpPr>
        <p:spPr>
          <a:xfrm>
            <a:off x="3493008" y="4526280"/>
            <a:ext cx="1261872" cy="1005840"/>
          </a:xfrm>
          <a:prstGeom prst="rect">
            <a:avLst/>
          </a:prstGeom>
          <a:solidFill>
            <a:srgbClr val="FFFFFF"/>
          </a:solidFill>
          <a:ln/>
        </p:spPr>
      </p:sp>
      <p:pic>
        <p:nvPicPr>
          <p:cNvPr id="21" name="Photo 3" descr="cv_mount.png">    </p:cNvPr>
          <p:cNvPicPr>
            <a:picLocks noChangeAspect="1"/>
          </p:cNvPicPr>
          <p:nvPr/>
        </p:nvPicPr>
        <p:blipFill>
          <a:blip r:embed="rId8"/>
          <a:srcRect l="0" r="0" t="0" b="0"/>
          <a:stretch/>
        </p:blipFill>
        <p:spPr>
          <a:xfrm>
            <a:off x="3529584" y="4562856"/>
            <a:ext cx="1188720" cy="932688"/>
          </a:xfrm>
          <a:prstGeom prst="rect">
            <a:avLst/>
          </a:prstGeom>
        </p:spPr>
      </p:pic>
      <p:sp>
        <p:nvSpPr>
          <p:cNvPr id="22" name="Photo frame 4"/>
          <p:cNvSpPr/>
          <p:nvPr/>
        </p:nvSpPr>
        <p:spPr>
          <a:xfrm>
            <a:off x="4800600" y="4526280"/>
            <a:ext cx="1261872" cy="1005840"/>
          </a:xfrm>
          <a:prstGeom prst="rect">
            <a:avLst/>
          </a:prstGeom>
          <a:solidFill>
            <a:srgbClr val="FFFFFF"/>
          </a:solidFill>
          <a:ln/>
        </p:spPr>
      </p:sp>
      <p:pic>
        <p:nvPicPr>
          <p:cNvPr id="23" name="Photo 4" descr="cv_girl.png">    </p:cNvPr>
          <p:cNvPicPr>
            <a:picLocks noChangeAspect="1"/>
          </p:cNvPicPr>
          <p:nvPr/>
        </p:nvPicPr>
        <p:blipFill>
          <a:blip r:embed="rId9"/>
          <a:srcRect l="0" r="0" t="0" b="0"/>
          <a:stretch/>
        </p:blipFill>
        <p:spPr>
          <a:xfrm>
            <a:off x="4837176" y="4562856"/>
            <a:ext cx="1188720" cy="932688"/>
          </a:xfrm>
          <a:prstGeom prst="rect">
            <a:avLst/>
          </a:prstGeom>
        </p:spPr>
      </p:pic>
      <p:pic>
        <p:nvPicPr>
          <p:cNvPr id="24" name="Base wave" descr="cv_wave_bot.png">    </p:cNvPr>
          <p:cNvPicPr>
            <a:picLocks noChangeAspect="1"/>
          </p:cNvPicPr>
          <p:nvPr/>
        </p:nvPicPr>
        <p:blipFill>
          <a:blip r:embed="rId10"/>
          <a:stretch>
            <a:fillRect/>
          </a:stretch>
        </p:blipFill>
        <p:spPr>
          <a:xfrm>
            <a:off x="0" y="5687568"/>
            <a:ext cx="12191695" cy="548640"/>
          </a:xfrm>
          <a:prstGeom prst="rect">
            <a:avLst/>
          </a:prstGeom>
        </p:spPr>
      </p:pic>
      <p:sp>
        <p:nvSpPr>
          <p:cNvPr id="25" name="Date"/>
          <p:cNvSpPr txBox="1"/>
          <p:nvPr/>
        </p:nvSpPr>
        <p:spPr>
          <a:xfrm>
            <a:off x="548640" y="6236208"/>
            <a:ext cx="2743200" cy="329184"/>
          </a:xfrm>
          <a:prstGeom prst="rect">
            <a:avLst/>
          </a:prstGeom>
          <a:noFill/>
          <a:ln/>
        </p:spPr>
        <p:txBody>
          <a:bodyPr wrap="square" lIns="0" tIns="0" rIns="0" bIns="0" rtlCol="0" anchor="ctr"/>
          <a:lstStyle/>
          <a:p>
            <a:pPr indent="0" marL="0">
              <a:buNone/>
            </a:pPr>
            <a:r>
              <a:rPr lang="en-US" sz="1500" b="1" dirty="0">
                <a:solidFill>
                  <a:srgbClr val="1D3F7A"/>
                </a:solidFill>
              </a:rPr>
              <a:t>September 2026</a:t>
            </a:r>
            <a:endParaRPr lang="en-US" sz="1500" dirty="0"/>
          </a:p>
        </p:txBody>
      </p:sp>
      <p:sp>
        <p:nvSpPr>
          <p:cNvPr id="26" name="Date rule"/>
          <p:cNvSpPr/>
          <p:nvPr/>
        </p:nvSpPr>
        <p:spPr>
          <a:xfrm>
            <a:off x="566928" y="6601968"/>
            <a:ext cx="777240" cy="45720"/>
          </a:xfrm>
          <a:prstGeom prst="rect">
            <a:avLst/>
          </a:prstGeom>
          <a:solidFill>
            <a:srgbClr val="1CABE2"/>
          </a:solidFill>
          <a:ln/>
        </p:spPr>
      </p:sp>
      <p:sp>
        <p:nvSpPr>
          <p:cNvPr id="27" name="Credit pill"/>
          <p:cNvSpPr/>
          <p:nvPr/>
        </p:nvSpPr>
        <p:spPr>
          <a:xfrm>
            <a:off x="8823960" y="6217920"/>
            <a:ext cx="2816352" cy="402336"/>
          </a:xfrm>
          <a:prstGeom prst="roundRect">
            <a:avLst>
              <a:gd name="adj" fmla="val 22727"/>
            </a:avLst>
          </a:prstGeom>
          <a:solidFill>
            <a:srgbClr val="DCEFFA"/>
          </a:solidFill>
          <a:ln/>
        </p:spPr>
      </p:sp>
      <p:sp>
        <p:nvSpPr>
          <p:cNvPr id="28" name="Credit"/>
          <p:cNvSpPr txBox="1"/>
          <p:nvPr/>
        </p:nvSpPr>
        <p:spPr>
          <a:xfrm>
            <a:off x="8823960" y="6217920"/>
            <a:ext cx="2816352" cy="402336"/>
          </a:xfrm>
          <a:prstGeom prst="rect">
            <a:avLst/>
          </a:prstGeom>
          <a:noFill/>
          <a:ln/>
        </p:spPr>
        <p:txBody>
          <a:bodyPr wrap="square" lIns="0" tIns="0" rIns="0" bIns="0" rtlCol="0" anchor="ctr"/>
          <a:lstStyle/>
          <a:p>
            <a:pPr algn="ctr" indent="0" marL="0">
              <a:buNone/>
            </a:pPr>
            <a:r>
              <a:rPr lang="en-US" sz="1150" dirty="0">
                <a:solidFill>
                  <a:srgbClr val="414A5A"/>
                </a:solidFill>
              </a:rPr>
              <a:t>Prepared by  </a:t>
            </a:r>
            <a:pPr algn="ctr" indent="0" marL="0">
              <a:buNone/>
            </a:pPr>
            <a:r>
              <a:rPr lang="en-US" sz="1150" b="1" dirty="0">
                <a:solidFill>
                  <a:srgbClr val="1D3F7A"/>
                </a:solidFill>
              </a:rPr>
              <a:t>PPM, UNICEF</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8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7" presetID="10"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450"/>
                                        <p:tgtEl>
                                          <p:spTgt spid="2"/>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450"/>
                                        <p:tgtEl>
                                          <p:spTgt spid="3"/>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50"/>
                                        <p:tgtEl>
                                          <p:spTgt spid="4"/>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50"/>
                                        <p:tgtEl>
                                          <p:spTgt spid="6"/>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50"/>
                                        <p:tgtEl>
                                          <p:spTgt spid="7"/>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50"/>
                                        <p:tgtEl>
                                          <p:spTgt spid="8"/>
                                        </p:tgtEl>
                                      </p:cBhvr>
                                    </p:animEffect>
                                  </p:childTnLst>
                                </p:cTn>
                              </p:par>
                              <p:par>
                                <p:cTn id="28" presetID="10" presetClass="entr" presetSubtype="0" fill="hold" grpId="0"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50"/>
                                        <p:tgtEl>
                                          <p:spTgt spid="9"/>
                                        </p:tgtEl>
                                      </p:cBhvr>
                                    </p:animEffect>
                                  </p:childTnLst>
                                </p:cTn>
                              </p:par>
                              <p:par>
                                <p:cTn id="31" presetID="10" presetClass="entr" presetSubtype="0" fill="hold" grpId="0"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50"/>
                                        <p:tgtEl>
                                          <p:spTgt spid="10"/>
                                        </p:tgtEl>
                                      </p:cBhvr>
                                    </p:animEffect>
                                  </p:childTnLst>
                                </p:cTn>
                              </p:par>
                              <p:par>
                                <p:cTn id="34" presetID="10" presetClass="entr" presetSubtype="0" fill="hold" grpId="0" nodeType="withEffect">
                                  <p:stCondLst>
                                    <p:cond delay="2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50"/>
                                        <p:tgtEl>
                                          <p:spTgt spid="11"/>
                                        </p:tgtEl>
                                      </p:cBhvr>
                                    </p:animEffect>
                                  </p:childTnLst>
                                </p:cTn>
                              </p:par>
                              <p:par>
                                <p:cTn id="39" presetID="42" presetClass="entr" presetSubtype="0" fill="hold" grpId="0" nodeType="withEffect">
                                  <p:stCondLst>
                                    <p:cond delay="4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anim calcmode="lin" valueType="num">
                                      <p:cBhvr>
                                        <p:cTn id="37" dur="550" decel="100000" fill="hold"/>
                                        <p:tgtEl>
                                          <p:spTgt spid="12"/>
                                        </p:tgtEl>
                                        <p:attrNameLst>
                                          <p:attrName>ppt_x</p:attrName>
                                        </p:attrNameLst>
                                      </p:cBhvr>
                                      <p:tavLst>
                                        <p:tav tm="0">
                                          <p:val>
                                            <p:strVal val="#ppt_x"/>
                                          </p:val>
                                        </p:tav>
                                        <p:tav tm="100000">
                                          <p:val>
                                            <p:strVal val="#ppt_x"/>
                                          </p:val>
                                        </p:tav>
                                      </p:tavLst>
                                    </p:anim>
                                    <p:anim calcmode="lin" valueType="num">
                                      <p:cBhvr>
                                        <p:cTn id="38" dur="550" decel="100000" fill="hold"/>
                                        <p:tgtEl>
                                          <p:spTgt spid="12"/>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550"/>
                                        <p:tgtEl>
                                          <p:spTgt spid="13"/>
                                        </p:tgtEl>
                                      </p:cBhvr>
                                    </p:animEffect>
                                    <p:anim calcmode="lin" valueType="num">
                                      <p:cBhvr>
                                        <p:cTn id="42" dur="550" decel="100000" fill="hold"/>
                                        <p:tgtEl>
                                          <p:spTgt spid="13"/>
                                        </p:tgtEl>
                                        <p:attrNameLst>
                                          <p:attrName>ppt_x</p:attrName>
                                        </p:attrNameLst>
                                      </p:cBhvr>
                                      <p:tavLst>
                                        <p:tav tm="0">
                                          <p:val>
                                            <p:strVal val="#ppt_x"/>
                                          </p:val>
                                        </p:tav>
                                        <p:tav tm="100000">
                                          <p:val>
                                            <p:strVal val="#ppt_x"/>
                                          </p:val>
                                        </p:tav>
                                      </p:tavLst>
                                    </p:anim>
                                    <p:anim calcmode="lin" valueType="num">
                                      <p:cBhvr>
                                        <p:cTn id="43" dur="550" decel="100000" fill="hold"/>
                                        <p:tgtEl>
                                          <p:spTgt spid="13"/>
                                        </p:tgtEl>
                                        <p:attrNameLst>
                                          <p:attrName>ppt_y</p:attrName>
                                        </p:attrNameLst>
                                      </p:cBhvr>
                                      <p:tavLst>
                                        <p:tav tm="0">
                                          <p:val>
                                            <p:strVal val="#ppt_y+0.03"/>
                                          </p:val>
                                        </p:tav>
                                        <p:tav tm="100000">
                                          <p:val>
                                            <p:strVal val="#ppt_y"/>
                                          </p:val>
                                        </p:tav>
                                      </p:tavLst>
                                    </p:anim>
                                  </p:childTnLst>
                                </p:cTn>
                              </p:par>
                              <p:par>
                                <p:cTn id="47" presetID="22" presetClass="entr" presetSubtype="8" fill="hold" grpId="0" nodeType="withEffect">
                                  <p:stCondLst>
                                    <p:cond delay="800"/>
                                  </p:stCondLst>
                                  <p:childTnLst>
                                    <p:set>
                                      <p:cBhvr>
                                        <p:cTn id="45" dur="1" fill="hold">
                                          <p:stCondLst>
                                            <p:cond delay="0"/>
                                          </p:stCondLst>
                                        </p:cTn>
                                        <p:tgtEl>
                                          <p:spTgt spid="14"/>
                                        </p:tgtEl>
                                        <p:attrNameLst>
                                          <p:attrName>style.visibility</p:attrName>
                                        </p:attrNameLst>
                                      </p:cBhvr>
                                      <p:to>
                                        <p:strVal val="visible"/>
                                      </p:to>
                                    </p:set>
                                    <p:animEffect transition="in" filter="wipe(left)">
                                      <p:cBhvr>
                                        <p:cTn id="46" dur="600"/>
                                        <p:tgtEl>
                                          <p:spTgt spid="14"/>
                                        </p:tgtEl>
                                      </p:cBhvr>
                                    </p:animEffect>
                                  </p:childTnLst>
                                </p:cTn>
                              </p:par>
                              <p:par>
                                <p:cTn id="52" presetID="42" presetClass="entr" presetSubtype="0" fill="hold" grpId="0" nodeType="withEffect">
                                  <p:stCondLst>
                                    <p:cond delay="9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50"/>
                                        <p:tgtEl>
                                          <p:spTgt spid="15"/>
                                        </p:tgtEl>
                                      </p:cBhvr>
                                    </p:animEffect>
                                    <p:anim calcmode="lin" valueType="num">
                                      <p:cBhvr>
                                        <p:cTn id="50" dur="550" decel="100000" fill="hold"/>
                                        <p:tgtEl>
                                          <p:spTgt spid="15"/>
                                        </p:tgtEl>
                                        <p:attrNameLst>
                                          <p:attrName>ppt_x</p:attrName>
                                        </p:attrNameLst>
                                      </p:cBhvr>
                                      <p:tavLst>
                                        <p:tav tm="0">
                                          <p:val>
                                            <p:strVal val="#ppt_x"/>
                                          </p:val>
                                        </p:tav>
                                        <p:tav tm="100000">
                                          <p:val>
                                            <p:strVal val="#ppt_x"/>
                                          </p:val>
                                        </p:tav>
                                      </p:tavLst>
                                    </p:anim>
                                    <p:anim calcmode="lin" valueType="num">
                                      <p:cBhvr>
                                        <p:cTn id="51" dur="550" decel="100000" fill="hold"/>
                                        <p:tgtEl>
                                          <p:spTgt spid="15"/>
                                        </p:tgtEl>
                                        <p:attrNameLst>
                                          <p:attrName>ppt_y</p:attrName>
                                        </p:attrNameLst>
                                      </p:cBhvr>
                                      <p:tavLst>
                                        <p:tav tm="0">
                                          <p:val>
                                            <p:strVal val="#ppt_y+0.03"/>
                                          </p:val>
                                        </p:tav>
                                        <p:tav tm="100000">
                                          <p:val>
                                            <p:strVal val="#ppt_y"/>
                                          </p:val>
                                        </p:tav>
                                      </p:tavLst>
                                    </p:anim>
                                  </p:childTnLst>
                                </p:cTn>
                              </p:par>
                              <p:par>
                                <p:cTn id="57" presetID="53" presetClass="entr" presetSubtype="16" fill="hold" grpId="0" nodeType="withEffect">
                                  <p:stCondLst>
                                    <p:cond delay="105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anim calcmode="lin" valueType="num">
                                      <p:cBhvr>
                                        <p:cTn id="55" dur="500" decel="100000" fill="hold"/>
                                        <p:tgtEl>
                                          <p:spTgt spid="16"/>
                                        </p:tgtEl>
                                        <p:attrNameLst>
                                          <p:attrName>ppt_w</p:attrName>
                                        </p:attrNameLst>
                                      </p:cBhvr>
                                      <p:tavLst>
                                        <p:tav tm="0">
                                          <p:val>
                                            <p:strVal val="#ppt_w*0.80"/>
                                          </p:val>
                                        </p:tav>
                                        <p:tav tm="100000">
                                          <p:val>
                                            <p:strVal val="#ppt_w"/>
                                          </p:val>
                                        </p:tav>
                                      </p:tavLst>
                                    </p:anim>
                                    <p:anim calcmode="lin" valueType="num">
                                      <p:cBhvr>
                                        <p:cTn id="56" dur="500" decel="100000" fill="hold"/>
                                        <p:tgtEl>
                                          <p:spTgt spid="16"/>
                                        </p:tgtEl>
                                        <p:attrNameLst>
                                          <p:attrName>ppt_h</p:attrName>
                                        </p:attrNameLst>
                                      </p:cBhvr>
                                      <p:tavLst>
                                        <p:tav tm="0">
                                          <p:val>
                                            <p:strVal val="#ppt_h*0.80"/>
                                          </p:val>
                                        </p:tav>
                                        <p:tav tm="100000">
                                          <p:val>
                                            <p:strVal val="#ppt_h"/>
                                          </p:val>
                                        </p:tav>
                                      </p:tavLst>
                                    </p:anim>
                                  </p:childTnLst>
                                </p:cTn>
                              </p:par>
                              <p:par>
                                <p:cTn id="62" presetID="53" presetClass="entr" presetSubtype="16" fill="hold" grpId="0" nodeType="withEffect">
                                  <p:stCondLst>
                                    <p:cond delay="105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anim calcmode="lin" valueType="num">
                                      <p:cBhvr>
                                        <p:cTn id="60" dur="500" decel="100000" fill="hold"/>
                                        <p:tgtEl>
                                          <p:spTgt spid="17"/>
                                        </p:tgtEl>
                                        <p:attrNameLst>
                                          <p:attrName>ppt_w</p:attrName>
                                        </p:attrNameLst>
                                      </p:cBhvr>
                                      <p:tavLst>
                                        <p:tav tm="0">
                                          <p:val>
                                            <p:strVal val="#ppt_w*0.80"/>
                                          </p:val>
                                        </p:tav>
                                        <p:tav tm="100000">
                                          <p:val>
                                            <p:strVal val="#ppt_w"/>
                                          </p:val>
                                        </p:tav>
                                      </p:tavLst>
                                    </p:anim>
                                    <p:anim calcmode="lin" valueType="num">
                                      <p:cBhvr>
                                        <p:cTn id="61" dur="500" decel="100000" fill="hold"/>
                                        <p:tgtEl>
                                          <p:spTgt spid="17"/>
                                        </p:tgtEl>
                                        <p:attrNameLst>
                                          <p:attrName>ppt_h</p:attrName>
                                        </p:attrNameLst>
                                      </p:cBhvr>
                                      <p:tavLst>
                                        <p:tav tm="0">
                                          <p:val>
                                            <p:strVal val="#ppt_h*0.80"/>
                                          </p:val>
                                        </p:tav>
                                        <p:tav tm="100000">
                                          <p:val>
                                            <p:strVal val="#ppt_h"/>
                                          </p:val>
                                        </p:tav>
                                      </p:tavLst>
                                    </p:anim>
                                  </p:childTnLst>
                                </p:cTn>
                              </p:par>
                              <p:par>
                                <p:cTn id="67" presetID="53" presetClass="entr" presetSubtype="16" fill="hold" grpId="0" nodeType="withEffect">
                                  <p:stCondLst>
                                    <p:cond delay="116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decel="100000" fill="hold"/>
                                        <p:tgtEl>
                                          <p:spTgt spid="18"/>
                                        </p:tgtEl>
                                        <p:attrNameLst>
                                          <p:attrName>ppt_w</p:attrName>
                                        </p:attrNameLst>
                                      </p:cBhvr>
                                      <p:tavLst>
                                        <p:tav tm="0">
                                          <p:val>
                                            <p:strVal val="#ppt_w*0.80"/>
                                          </p:val>
                                        </p:tav>
                                        <p:tav tm="100000">
                                          <p:val>
                                            <p:strVal val="#ppt_w"/>
                                          </p:val>
                                        </p:tav>
                                      </p:tavLst>
                                    </p:anim>
                                    <p:anim calcmode="lin" valueType="num">
                                      <p:cBhvr>
                                        <p:cTn id="66" dur="500" decel="100000" fill="hold"/>
                                        <p:tgtEl>
                                          <p:spTgt spid="18"/>
                                        </p:tgtEl>
                                        <p:attrNameLst>
                                          <p:attrName>ppt_h</p:attrName>
                                        </p:attrNameLst>
                                      </p:cBhvr>
                                      <p:tavLst>
                                        <p:tav tm="0">
                                          <p:val>
                                            <p:strVal val="#ppt_h*0.80"/>
                                          </p:val>
                                        </p:tav>
                                        <p:tav tm="100000">
                                          <p:val>
                                            <p:strVal val="#ppt_h"/>
                                          </p:val>
                                        </p:tav>
                                      </p:tavLst>
                                    </p:anim>
                                  </p:childTnLst>
                                </p:cTn>
                              </p:par>
                              <p:par>
                                <p:cTn id="72" presetID="53" presetClass="entr" presetSubtype="16" fill="hold" grpId="0" nodeType="withEffect">
                                  <p:stCondLst>
                                    <p:cond delay="116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anim calcmode="lin" valueType="num">
                                      <p:cBhvr>
                                        <p:cTn id="70" dur="500" decel="100000" fill="hold"/>
                                        <p:tgtEl>
                                          <p:spTgt spid="19"/>
                                        </p:tgtEl>
                                        <p:attrNameLst>
                                          <p:attrName>ppt_w</p:attrName>
                                        </p:attrNameLst>
                                      </p:cBhvr>
                                      <p:tavLst>
                                        <p:tav tm="0">
                                          <p:val>
                                            <p:strVal val="#ppt_w*0.80"/>
                                          </p:val>
                                        </p:tav>
                                        <p:tav tm="100000">
                                          <p:val>
                                            <p:strVal val="#ppt_w"/>
                                          </p:val>
                                        </p:tav>
                                      </p:tavLst>
                                    </p:anim>
                                    <p:anim calcmode="lin" valueType="num">
                                      <p:cBhvr>
                                        <p:cTn id="71" dur="500" decel="100000" fill="hold"/>
                                        <p:tgtEl>
                                          <p:spTgt spid="19"/>
                                        </p:tgtEl>
                                        <p:attrNameLst>
                                          <p:attrName>ppt_h</p:attrName>
                                        </p:attrNameLst>
                                      </p:cBhvr>
                                      <p:tavLst>
                                        <p:tav tm="0">
                                          <p:val>
                                            <p:strVal val="#ppt_h*0.80"/>
                                          </p:val>
                                        </p:tav>
                                        <p:tav tm="100000">
                                          <p:val>
                                            <p:strVal val="#ppt_h"/>
                                          </p:val>
                                        </p:tav>
                                      </p:tavLst>
                                    </p:anim>
                                  </p:childTnLst>
                                </p:cTn>
                              </p:par>
                              <p:par>
                                <p:cTn id="77" presetID="53" presetClass="entr" presetSubtype="16" fill="hold" grpId="0" nodeType="withEffect">
                                  <p:stCondLst>
                                    <p:cond delay="127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anim calcmode="lin" valueType="num">
                                      <p:cBhvr>
                                        <p:cTn id="75" dur="500" decel="100000" fill="hold"/>
                                        <p:tgtEl>
                                          <p:spTgt spid="20"/>
                                        </p:tgtEl>
                                        <p:attrNameLst>
                                          <p:attrName>ppt_w</p:attrName>
                                        </p:attrNameLst>
                                      </p:cBhvr>
                                      <p:tavLst>
                                        <p:tav tm="0">
                                          <p:val>
                                            <p:strVal val="#ppt_w*0.80"/>
                                          </p:val>
                                        </p:tav>
                                        <p:tav tm="100000">
                                          <p:val>
                                            <p:strVal val="#ppt_w"/>
                                          </p:val>
                                        </p:tav>
                                      </p:tavLst>
                                    </p:anim>
                                    <p:anim calcmode="lin" valueType="num">
                                      <p:cBhvr>
                                        <p:cTn id="76" dur="500" decel="100000" fill="hold"/>
                                        <p:tgtEl>
                                          <p:spTgt spid="20"/>
                                        </p:tgtEl>
                                        <p:attrNameLst>
                                          <p:attrName>ppt_h</p:attrName>
                                        </p:attrNameLst>
                                      </p:cBhvr>
                                      <p:tavLst>
                                        <p:tav tm="0">
                                          <p:val>
                                            <p:strVal val="#ppt_h*0.80"/>
                                          </p:val>
                                        </p:tav>
                                        <p:tav tm="100000">
                                          <p:val>
                                            <p:strVal val="#ppt_h"/>
                                          </p:val>
                                        </p:tav>
                                      </p:tavLst>
                                    </p:anim>
                                  </p:childTnLst>
                                </p:cTn>
                              </p:par>
                              <p:par>
                                <p:cTn id="82" presetID="53" presetClass="entr" presetSubtype="16" fill="hold" grpId="0" nodeType="withEffect">
                                  <p:stCondLst>
                                    <p:cond delay="127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anim calcmode="lin" valueType="num">
                                      <p:cBhvr>
                                        <p:cTn id="80" dur="500" decel="100000" fill="hold"/>
                                        <p:tgtEl>
                                          <p:spTgt spid="21"/>
                                        </p:tgtEl>
                                        <p:attrNameLst>
                                          <p:attrName>ppt_w</p:attrName>
                                        </p:attrNameLst>
                                      </p:cBhvr>
                                      <p:tavLst>
                                        <p:tav tm="0">
                                          <p:val>
                                            <p:strVal val="#ppt_w*0.80"/>
                                          </p:val>
                                        </p:tav>
                                        <p:tav tm="100000">
                                          <p:val>
                                            <p:strVal val="#ppt_w"/>
                                          </p:val>
                                        </p:tav>
                                      </p:tavLst>
                                    </p:anim>
                                    <p:anim calcmode="lin" valueType="num">
                                      <p:cBhvr>
                                        <p:cTn id="81" dur="500" decel="100000" fill="hold"/>
                                        <p:tgtEl>
                                          <p:spTgt spid="21"/>
                                        </p:tgtEl>
                                        <p:attrNameLst>
                                          <p:attrName>ppt_h</p:attrName>
                                        </p:attrNameLst>
                                      </p:cBhvr>
                                      <p:tavLst>
                                        <p:tav tm="0">
                                          <p:val>
                                            <p:strVal val="#ppt_h*0.80"/>
                                          </p:val>
                                        </p:tav>
                                        <p:tav tm="100000">
                                          <p:val>
                                            <p:strVal val="#ppt_h"/>
                                          </p:val>
                                        </p:tav>
                                      </p:tavLst>
                                    </p:anim>
                                  </p:childTnLst>
                                </p:cTn>
                              </p:par>
                              <p:par>
                                <p:cTn id="87" presetID="53" presetClass="entr" presetSubtype="16" fill="hold" grpId="0" nodeType="withEffect">
                                  <p:stCondLst>
                                    <p:cond delay="138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anim calcmode="lin" valueType="num">
                                      <p:cBhvr>
                                        <p:cTn id="85" dur="500" decel="100000" fill="hold"/>
                                        <p:tgtEl>
                                          <p:spTgt spid="22"/>
                                        </p:tgtEl>
                                        <p:attrNameLst>
                                          <p:attrName>ppt_w</p:attrName>
                                        </p:attrNameLst>
                                      </p:cBhvr>
                                      <p:tavLst>
                                        <p:tav tm="0">
                                          <p:val>
                                            <p:strVal val="#ppt_w*0.80"/>
                                          </p:val>
                                        </p:tav>
                                        <p:tav tm="100000">
                                          <p:val>
                                            <p:strVal val="#ppt_w"/>
                                          </p:val>
                                        </p:tav>
                                      </p:tavLst>
                                    </p:anim>
                                    <p:anim calcmode="lin" valueType="num">
                                      <p:cBhvr>
                                        <p:cTn id="86" dur="500" decel="100000" fill="hold"/>
                                        <p:tgtEl>
                                          <p:spTgt spid="22"/>
                                        </p:tgtEl>
                                        <p:attrNameLst>
                                          <p:attrName>ppt_h</p:attrName>
                                        </p:attrNameLst>
                                      </p:cBhvr>
                                      <p:tavLst>
                                        <p:tav tm="0">
                                          <p:val>
                                            <p:strVal val="#ppt_h*0.80"/>
                                          </p:val>
                                        </p:tav>
                                        <p:tav tm="100000">
                                          <p:val>
                                            <p:strVal val="#ppt_h"/>
                                          </p:val>
                                        </p:tav>
                                      </p:tavLst>
                                    </p:anim>
                                  </p:childTnLst>
                                </p:cTn>
                              </p:par>
                              <p:par>
                                <p:cTn id="92" presetID="53" presetClass="entr" presetSubtype="16" fill="hold" grpId="0" nodeType="withEffect">
                                  <p:stCondLst>
                                    <p:cond delay="138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anim calcmode="lin" valueType="num">
                                      <p:cBhvr>
                                        <p:cTn id="90" dur="500" decel="100000" fill="hold"/>
                                        <p:tgtEl>
                                          <p:spTgt spid="23"/>
                                        </p:tgtEl>
                                        <p:attrNameLst>
                                          <p:attrName>ppt_w</p:attrName>
                                        </p:attrNameLst>
                                      </p:cBhvr>
                                      <p:tavLst>
                                        <p:tav tm="0">
                                          <p:val>
                                            <p:strVal val="#ppt_w*0.80"/>
                                          </p:val>
                                        </p:tav>
                                        <p:tav tm="100000">
                                          <p:val>
                                            <p:strVal val="#ppt_w"/>
                                          </p:val>
                                        </p:tav>
                                      </p:tavLst>
                                    </p:anim>
                                    <p:anim calcmode="lin" valueType="num">
                                      <p:cBhvr>
                                        <p:cTn id="91" dur="500" decel="100000" fill="hold"/>
                                        <p:tgtEl>
                                          <p:spTgt spid="23"/>
                                        </p:tgtEl>
                                        <p:attrNameLst>
                                          <p:attrName>ppt_h</p:attrName>
                                        </p:attrNameLst>
                                      </p:cBhvr>
                                      <p:tavLst>
                                        <p:tav tm="0">
                                          <p:val>
                                            <p:strVal val="#ppt_h*0.80"/>
                                          </p:val>
                                        </p:tav>
                                        <p:tav tm="100000">
                                          <p:val>
                                            <p:strVal val="#ppt_h"/>
                                          </p:val>
                                        </p:tav>
                                      </p:tavLst>
                                    </p:anim>
                                  </p:childTnLst>
                                </p:cTn>
                              </p:par>
                              <p:par>
                                <p:cTn id="95" presetID="10" presetClass="entr" presetSubtype="0" fill="hold" grpId="0" nodeType="withEffect">
                                  <p:stCondLst>
                                    <p:cond delay="15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450"/>
                                        <p:tgtEl>
                                          <p:spTgt spid="24"/>
                                        </p:tgtEl>
                                      </p:cBhvr>
                                    </p:animEffect>
                                  </p:childTnLst>
                                </p:cTn>
                              </p:par>
                              <p:par>
                                <p:cTn id="100" presetID="42" presetClass="entr" presetSubtype="0" fill="hold" grpId="0" nodeType="withEffect">
                                  <p:stCondLst>
                                    <p:cond delay="16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50"/>
                                        <p:tgtEl>
                                          <p:spTgt spid="25"/>
                                        </p:tgtEl>
                                      </p:cBhvr>
                                    </p:animEffect>
                                    <p:anim calcmode="lin" valueType="num">
                                      <p:cBhvr>
                                        <p:cTn id="98" dur="550" decel="100000" fill="hold"/>
                                        <p:tgtEl>
                                          <p:spTgt spid="25"/>
                                        </p:tgtEl>
                                        <p:attrNameLst>
                                          <p:attrName>ppt_x</p:attrName>
                                        </p:attrNameLst>
                                      </p:cBhvr>
                                      <p:tavLst>
                                        <p:tav tm="0">
                                          <p:val>
                                            <p:strVal val="#ppt_x"/>
                                          </p:val>
                                        </p:tav>
                                        <p:tav tm="100000">
                                          <p:val>
                                            <p:strVal val="#ppt_x"/>
                                          </p:val>
                                        </p:tav>
                                      </p:tavLst>
                                    </p:anim>
                                    <p:anim calcmode="lin" valueType="num">
                                      <p:cBhvr>
                                        <p:cTn id="99" dur="550" decel="100000" fill="hold"/>
                                        <p:tgtEl>
                                          <p:spTgt spid="25"/>
                                        </p:tgtEl>
                                        <p:attrNameLst>
                                          <p:attrName>ppt_y</p:attrName>
                                        </p:attrNameLst>
                                      </p:cBhvr>
                                      <p:tavLst>
                                        <p:tav tm="0">
                                          <p:val>
                                            <p:strVal val="#ppt_y+0.03"/>
                                          </p:val>
                                        </p:tav>
                                        <p:tav tm="100000">
                                          <p:val>
                                            <p:strVal val="#ppt_y"/>
                                          </p:val>
                                        </p:tav>
                                      </p:tavLst>
                                    </p:anim>
                                  </p:childTnLst>
                                </p:cTn>
                              </p:par>
                              <p:par>
                                <p:cTn id="105" presetID="42" presetClass="entr" presetSubtype="0" fill="hold" grpId="0" nodeType="withEffect">
                                  <p:stCondLst>
                                    <p:cond delay="160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50"/>
                                        <p:tgtEl>
                                          <p:spTgt spid="26"/>
                                        </p:tgtEl>
                                      </p:cBhvr>
                                    </p:animEffect>
                                    <p:anim calcmode="lin" valueType="num">
                                      <p:cBhvr>
                                        <p:cTn id="103" dur="550" decel="100000" fill="hold"/>
                                        <p:tgtEl>
                                          <p:spTgt spid="26"/>
                                        </p:tgtEl>
                                        <p:attrNameLst>
                                          <p:attrName>ppt_x</p:attrName>
                                        </p:attrNameLst>
                                      </p:cBhvr>
                                      <p:tavLst>
                                        <p:tav tm="0">
                                          <p:val>
                                            <p:strVal val="#ppt_x"/>
                                          </p:val>
                                        </p:tav>
                                        <p:tav tm="100000">
                                          <p:val>
                                            <p:strVal val="#ppt_x"/>
                                          </p:val>
                                        </p:tav>
                                      </p:tavLst>
                                    </p:anim>
                                    <p:anim calcmode="lin" valueType="num">
                                      <p:cBhvr>
                                        <p:cTn id="104" dur="550" decel="100000" fill="hold"/>
                                        <p:tgtEl>
                                          <p:spTgt spid="26"/>
                                        </p:tgtEl>
                                        <p:attrNameLst>
                                          <p:attrName>ppt_y</p:attrName>
                                        </p:attrNameLst>
                                      </p:cBhvr>
                                      <p:tavLst>
                                        <p:tav tm="0">
                                          <p:val>
                                            <p:strVal val="#ppt_y+0.03"/>
                                          </p:val>
                                        </p:tav>
                                        <p:tav tm="100000">
                                          <p:val>
                                            <p:strVal val="#ppt_y"/>
                                          </p:val>
                                        </p:tav>
                                      </p:tavLst>
                                    </p:anim>
                                  </p:childTnLst>
                                </p:cTn>
                              </p:par>
                              <p:par>
                                <p:cTn id="110" presetID="42" presetClass="entr" presetSubtype="0" fill="hold" grpId="0" nodeType="withEffect">
                                  <p:stCondLst>
                                    <p:cond delay="160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50"/>
                                        <p:tgtEl>
                                          <p:spTgt spid="27"/>
                                        </p:tgtEl>
                                      </p:cBhvr>
                                    </p:animEffect>
                                    <p:anim calcmode="lin" valueType="num">
                                      <p:cBhvr>
                                        <p:cTn id="108" dur="550" decel="100000" fill="hold"/>
                                        <p:tgtEl>
                                          <p:spTgt spid="27"/>
                                        </p:tgtEl>
                                        <p:attrNameLst>
                                          <p:attrName>ppt_x</p:attrName>
                                        </p:attrNameLst>
                                      </p:cBhvr>
                                      <p:tavLst>
                                        <p:tav tm="0">
                                          <p:val>
                                            <p:strVal val="#ppt_x"/>
                                          </p:val>
                                        </p:tav>
                                        <p:tav tm="100000">
                                          <p:val>
                                            <p:strVal val="#ppt_x"/>
                                          </p:val>
                                        </p:tav>
                                      </p:tavLst>
                                    </p:anim>
                                    <p:anim calcmode="lin" valueType="num">
                                      <p:cBhvr>
                                        <p:cTn id="109" dur="550" decel="100000" fill="hold"/>
                                        <p:tgtEl>
                                          <p:spTgt spid="27"/>
                                        </p:tgtEl>
                                        <p:attrNameLst>
                                          <p:attrName>ppt_y</p:attrName>
                                        </p:attrNameLst>
                                      </p:cBhvr>
                                      <p:tavLst>
                                        <p:tav tm="0">
                                          <p:val>
                                            <p:strVal val="#ppt_y+0.03"/>
                                          </p:val>
                                        </p:tav>
                                        <p:tav tm="100000">
                                          <p:val>
                                            <p:strVal val="#ppt_y"/>
                                          </p:val>
                                        </p:tav>
                                      </p:tavLst>
                                    </p:anim>
                                  </p:childTnLst>
                                </p:cTn>
                              </p:par>
                              <p:par>
                                <p:cTn id="115" presetID="42" presetClass="entr" presetSubtype="0" fill="hold" grpId="0" nodeType="withEffect">
                                  <p:stCondLst>
                                    <p:cond delay="1600"/>
                                  </p:stCondLst>
                                  <p:childTnLst>
                                    <p:set>
                                      <p:cBhvr>
                                        <p:cTn id="111" dur="1" fill="hold">
                                          <p:stCondLst>
                                            <p:cond delay="0"/>
                                          </p:stCondLst>
                                        </p:cTn>
                                        <p:tgtEl>
                                          <p:spTgt spid="28"/>
                                        </p:tgtEl>
                                        <p:attrNameLst>
                                          <p:attrName>style.visibility</p:attrName>
                                        </p:attrNameLst>
                                      </p:cBhvr>
                                      <p:to>
                                        <p:strVal val="visible"/>
                                      </p:to>
                                    </p:set>
                                    <p:animEffect transition="in" filter="fade">
                                      <p:cBhvr>
                                        <p:cTn id="112" dur="550"/>
                                        <p:tgtEl>
                                          <p:spTgt spid="28"/>
                                        </p:tgtEl>
                                      </p:cBhvr>
                                    </p:animEffect>
                                    <p:anim calcmode="lin" valueType="num">
                                      <p:cBhvr>
                                        <p:cTn id="113" dur="550" decel="100000" fill="hold"/>
                                        <p:tgtEl>
                                          <p:spTgt spid="28"/>
                                        </p:tgtEl>
                                        <p:attrNameLst>
                                          <p:attrName>ppt_x</p:attrName>
                                        </p:attrNameLst>
                                      </p:cBhvr>
                                      <p:tavLst>
                                        <p:tav tm="0">
                                          <p:val>
                                            <p:strVal val="#ppt_x"/>
                                          </p:val>
                                        </p:tav>
                                        <p:tav tm="100000">
                                          <p:val>
                                            <p:strVal val="#ppt_x"/>
                                          </p:val>
                                        </p:tav>
                                      </p:tavLst>
                                    </p:anim>
                                    <p:anim calcmode="lin" valueType="num">
                                      <p:cBhvr>
                                        <p:cTn id="114" dur="550" decel="100000" fill="hold"/>
                                        <p:tgtEl>
                                          <p:spTgt spid="2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6" grpId="0" animBg="1"/>
      <p:bldP spid="7" grpId="0" animBg="1"/>
      <p:bldP spid="9" grpId="0" animBg="1"/>
      <p:bldP spid="12" grpId="0" animBg="1"/>
      <p:bldP spid="13" grpId="0" animBg="1"/>
      <p:bldP spid="14" grpId="0" animBg="1"/>
      <p:bldP spid="15" grpId="0" animBg="1"/>
      <p:bldP spid="16" grpId="0" animBg="1"/>
      <p:bldP spid="18" grpId="0" animBg="1"/>
      <p:bldP spid="20" grpId="0" animBg="1"/>
      <p:bldP spid="22" grpId="0" animBg="1"/>
      <p:bldP spid="25" grpId="0" animBg="1"/>
      <p:bldP spid="26" grpId="0" animBg="1"/>
      <p:bldP spid="27" grpId="0" animBg="1"/>
      <p:bldP spid="2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01</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UNDERSTANDING THE EVIDENCE</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What the Quantitative Analysis Tells Us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Why the analysis was done, and how its results should be understood.</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02 / 09</a:t>
            </a:r>
            <a:endParaRPr lang="en-US" sz="900" dirty="0"/>
          </a:p>
        </p:txBody>
      </p:sp>
      <p:sp>
        <p:nvSpPr>
          <p:cNvPr id="9" name="Purpose of the analysis card"/>
          <p:cNvSpPr/>
          <p:nvPr/>
        </p:nvSpPr>
        <p:spPr>
          <a:xfrm>
            <a:off x="548640" y="1737360"/>
            <a:ext cx="5486400"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Purpose of the analysis icon disc"/>
          <p:cNvSpPr/>
          <p:nvPr/>
        </p:nvSpPr>
        <p:spPr>
          <a:xfrm>
            <a:off x="804672" y="1956816"/>
            <a:ext cx="420624" cy="420624"/>
          </a:xfrm>
          <a:prstGeom prst="ellipse">
            <a:avLst/>
          </a:prstGeom>
          <a:solidFill>
            <a:srgbClr val="EBF0FA"/>
          </a:solidFill>
          <a:ln/>
        </p:spPr>
      </p:sp>
      <p:pic>
        <p:nvPicPr>
          <p:cNvPr id="11" name="Purpose of the analysis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Purpose of the analysis label"/>
          <p:cNvSpPr txBox="1"/>
          <p:nvPr/>
        </p:nvSpPr>
        <p:spPr>
          <a:xfrm>
            <a:off x="1353312" y="1956816"/>
            <a:ext cx="448056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PURPOSE OF THE ANALYSIS</a:t>
            </a:r>
            <a:endParaRPr lang="en-US" sz="1000" dirty="0"/>
          </a:p>
        </p:txBody>
      </p:sp>
      <p:sp>
        <p:nvSpPr>
          <p:cNvPr id="13" name="FaSearch disc"/>
          <p:cNvSpPr/>
          <p:nvPr/>
        </p:nvSpPr>
        <p:spPr>
          <a:xfrm>
            <a:off x="822960" y="2606040"/>
            <a:ext cx="457200" cy="457200"/>
          </a:xfrm>
          <a:prstGeom prst="ellipse">
            <a:avLst/>
          </a:prstGeom>
          <a:solidFill>
            <a:srgbClr val="EBF0FA"/>
          </a:solidFill>
          <a:ln/>
        </p:spPr>
      </p:sp>
      <p:pic>
        <p:nvPicPr>
          <p:cNvPr id="14" name="FaSearch" descr="preencoded.png">    </p:cNvPr>
          <p:cNvPicPr>
            <a:picLocks noChangeAspect="1"/>
          </p:cNvPicPr>
          <p:nvPr/>
        </p:nvPicPr>
        <p:blipFill>
          <a:blip r:embed="rId3"/>
          <a:stretch>
            <a:fillRect/>
          </a:stretch>
        </p:blipFill>
        <p:spPr>
          <a:xfrm>
            <a:off x="941832" y="2724912"/>
            <a:ext cx="219456" cy="219456"/>
          </a:xfrm>
          <a:prstGeom prst="rect">
            <a:avLst/>
          </a:prstGeom>
        </p:spPr>
      </p:pic>
      <p:sp>
        <p:nvSpPr>
          <p:cNvPr id="15" name="Text"/>
          <p:cNvSpPr txBox="1"/>
          <p:nvPr/>
        </p:nvSpPr>
        <p:spPr>
          <a:xfrm>
            <a:off x="1463040" y="2551176"/>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Examine factors</a:t>
            </a:r>
            <a:pPr indent="0" marL="0">
              <a:buNone/>
            </a:pPr>
            <a:r>
              <a:rPr lang="en-US" sz="1200" dirty="0">
                <a:solidFill>
                  <a:srgbClr val="414A5A"/>
                </a:solidFill>
              </a:rPr>
              <a:t> associated with respondents reporting child marriage.</a:t>
            </a:r>
            <a:endParaRPr lang="en-US" sz="1200" dirty="0"/>
          </a:p>
        </p:txBody>
      </p:sp>
      <p:sp>
        <p:nvSpPr>
          <p:cNvPr id="16" name="Divider"/>
          <p:cNvSpPr/>
          <p:nvPr/>
        </p:nvSpPr>
        <p:spPr>
          <a:xfrm>
            <a:off x="1463040" y="3191256"/>
            <a:ext cx="4297680" cy="0"/>
          </a:xfrm>
          <a:prstGeom prst="line">
            <a:avLst/>
          </a:prstGeom>
          <a:noFill/>
          <a:ln w="12700">
            <a:solidFill>
              <a:srgbClr val="E3E8EF"/>
            </a:solidFill>
            <a:prstDash val="solid"/>
          </a:ln>
        </p:spPr>
      </p:sp>
      <p:sp>
        <p:nvSpPr>
          <p:cNvPr id="17" name="FaChartBar disc"/>
          <p:cNvSpPr/>
          <p:nvPr/>
        </p:nvSpPr>
        <p:spPr>
          <a:xfrm>
            <a:off x="822960" y="3282696"/>
            <a:ext cx="457200" cy="457200"/>
          </a:xfrm>
          <a:prstGeom prst="ellipse">
            <a:avLst/>
          </a:prstGeom>
          <a:solidFill>
            <a:srgbClr val="EBF0FA"/>
          </a:solidFill>
          <a:ln/>
        </p:spPr>
      </p:sp>
      <p:pic>
        <p:nvPicPr>
          <p:cNvPr id="18" name="FaChartBar" descr="preencoded.png">    </p:cNvPr>
          <p:cNvPicPr>
            <a:picLocks noChangeAspect="1"/>
          </p:cNvPicPr>
          <p:nvPr/>
        </p:nvPicPr>
        <p:blipFill>
          <a:blip r:embed="rId4"/>
          <a:stretch>
            <a:fillRect/>
          </a:stretch>
        </p:blipFill>
        <p:spPr>
          <a:xfrm>
            <a:off x="941832" y="3401568"/>
            <a:ext cx="219456" cy="219456"/>
          </a:xfrm>
          <a:prstGeom prst="rect">
            <a:avLst/>
          </a:prstGeom>
        </p:spPr>
      </p:pic>
      <p:sp>
        <p:nvSpPr>
          <p:cNvPr id="19" name="Text"/>
          <p:cNvSpPr txBox="1"/>
          <p:nvPr/>
        </p:nvSpPr>
        <p:spPr>
          <a:xfrm>
            <a:off x="1463040" y="3227832"/>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Identify patterns</a:t>
            </a:r>
            <a:pPr indent="0" marL="0">
              <a:buNone/>
            </a:pPr>
            <a:r>
              <a:rPr lang="en-US" sz="1200" dirty="0">
                <a:solidFill>
                  <a:srgbClr val="414A5A"/>
                </a:solidFill>
              </a:rPr>
              <a:t> of vulnerability within the sampled population.</a:t>
            </a:r>
            <a:endParaRPr lang="en-US" sz="1200" dirty="0"/>
          </a:p>
        </p:txBody>
      </p:sp>
      <p:sp>
        <p:nvSpPr>
          <p:cNvPr id="20" name="Divider"/>
          <p:cNvSpPr/>
          <p:nvPr/>
        </p:nvSpPr>
        <p:spPr>
          <a:xfrm>
            <a:off x="1463040" y="3867912"/>
            <a:ext cx="4297680" cy="0"/>
          </a:xfrm>
          <a:prstGeom prst="line">
            <a:avLst/>
          </a:prstGeom>
          <a:noFill/>
          <a:ln w="12700">
            <a:solidFill>
              <a:srgbClr val="E3E8EF"/>
            </a:solidFill>
            <a:prstDash val="solid"/>
          </a:ln>
        </p:spPr>
      </p:sp>
      <p:sp>
        <p:nvSpPr>
          <p:cNvPr id="21" name="FaProjectDiagram disc"/>
          <p:cNvSpPr/>
          <p:nvPr/>
        </p:nvSpPr>
        <p:spPr>
          <a:xfrm>
            <a:off x="822960" y="3959352"/>
            <a:ext cx="457200" cy="457200"/>
          </a:xfrm>
          <a:prstGeom prst="ellipse">
            <a:avLst/>
          </a:prstGeom>
          <a:solidFill>
            <a:srgbClr val="EBF0FA"/>
          </a:solidFill>
          <a:ln/>
        </p:spPr>
      </p:sp>
      <p:pic>
        <p:nvPicPr>
          <p:cNvPr id="22" name="FaProjectDiagram" descr="preencoded.png">    </p:cNvPr>
          <p:cNvPicPr>
            <a:picLocks noChangeAspect="1"/>
          </p:cNvPicPr>
          <p:nvPr/>
        </p:nvPicPr>
        <p:blipFill>
          <a:blip r:embed="rId5"/>
          <a:stretch>
            <a:fillRect/>
          </a:stretch>
        </p:blipFill>
        <p:spPr>
          <a:xfrm>
            <a:off x="941832" y="4078224"/>
            <a:ext cx="219456" cy="219456"/>
          </a:xfrm>
          <a:prstGeom prst="rect">
            <a:avLst/>
          </a:prstGeom>
        </p:spPr>
      </p:pic>
      <p:sp>
        <p:nvSpPr>
          <p:cNvPr id="23" name="Text"/>
          <p:cNvSpPr txBox="1"/>
          <p:nvPr/>
        </p:nvSpPr>
        <p:spPr>
          <a:xfrm>
            <a:off x="1463040" y="3904488"/>
            <a:ext cx="4297680" cy="566928"/>
          </a:xfrm>
          <a:prstGeom prst="rect">
            <a:avLst/>
          </a:prstGeom>
          <a:noFill/>
          <a:ln/>
        </p:spPr>
        <p:txBody>
          <a:bodyPr wrap="square" lIns="0" tIns="0" rIns="0" bIns="0" rtlCol="0" anchor="ctr"/>
          <a:lstStyle/>
          <a:p>
            <a:pPr indent="0" marL="0">
              <a:buNone/>
            </a:pPr>
            <a:r>
              <a:rPr lang="en-US" sz="1200" b="1" dirty="0">
                <a:solidFill>
                  <a:srgbClr val="1E2F5C"/>
                </a:solidFill>
              </a:rPr>
              <a:t>Explore how child marriage intersects</a:t>
            </a:r>
            <a:pPr indent="0" marL="0">
              <a:buNone/>
            </a:pPr>
            <a:r>
              <a:rPr lang="en-US" sz="1200" dirty="0">
                <a:solidFill>
                  <a:srgbClr val="414A5A"/>
                </a:solidFill>
              </a:rPr>
              <a:t> with the vulnerabilities shown on the right.</a:t>
            </a:r>
            <a:endParaRPr lang="en-US" sz="1200" dirty="0"/>
          </a:p>
        </p:txBody>
      </p:sp>
      <p:sp>
        <p:nvSpPr>
          <p:cNvPr id="24" name="Intersecting vulnerabilities card"/>
          <p:cNvSpPr/>
          <p:nvPr/>
        </p:nvSpPr>
        <p:spPr>
          <a:xfrm>
            <a:off x="6309360" y="1737360"/>
            <a:ext cx="5333695" cy="2926080"/>
          </a:xfrm>
          <a:prstGeom prst="roundRect">
            <a:avLst>
              <a:gd name="adj" fmla="val 250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Intersecting vulnerabilities icon disc"/>
          <p:cNvSpPr/>
          <p:nvPr/>
        </p:nvSpPr>
        <p:spPr>
          <a:xfrm>
            <a:off x="6565392" y="1956816"/>
            <a:ext cx="420624" cy="420624"/>
          </a:xfrm>
          <a:prstGeom prst="ellipse">
            <a:avLst/>
          </a:prstGeom>
          <a:solidFill>
            <a:srgbClr val="F4ECF7"/>
          </a:solidFill>
          <a:ln/>
        </p:spPr>
      </p:sp>
      <p:pic>
        <p:nvPicPr>
          <p:cNvPr id="26" name="Intersecting vulnerabilities icon" descr="preencoded.png">    </p:cNvPr>
          <p:cNvPicPr>
            <a:picLocks noChangeAspect="1"/>
          </p:cNvPicPr>
          <p:nvPr/>
        </p:nvPicPr>
        <p:blipFill>
          <a:blip r:embed="rId6"/>
          <a:stretch>
            <a:fillRect/>
          </a:stretch>
        </p:blipFill>
        <p:spPr>
          <a:xfrm>
            <a:off x="6665976" y="2057400"/>
            <a:ext cx="219456" cy="219456"/>
          </a:xfrm>
          <a:prstGeom prst="rect">
            <a:avLst/>
          </a:prstGeom>
        </p:spPr>
      </p:pic>
      <p:sp>
        <p:nvSpPr>
          <p:cNvPr id="27" name="Intersecting vulnerabilities label"/>
          <p:cNvSpPr txBox="1"/>
          <p:nvPr/>
        </p:nvSpPr>
        <p:spPr>
          <a:xfrm>
            <a:off x="7114032" y="1956816"/>
            <a:ext cx="4327855" cy="420624"/>
          </a:xfrm>
          <a:prstGeom prst="rect">
            <a:avLst/>
          </a:prstGeom>
          <a:noFill/>
          <a:ln/>
        </p:spPr>
        <p:txBody>
          <a:bodyPr wrap="square" lIns="0" tIns="0" rIns="0" bIns="0" rtlCol="0" anchor="ctr"/>
          <a:lstStyle/>
          <a:p>
            <a:pPr indent="0" marL="0">
              <a:buNone/>
            </a:pPr>
            <a:r>
              <a:rPr lang="en-US" sz="1000" b="1" spc="120" kern="0" dirty="0">
                <a:solidFill>
                  <a:srgbClr val="74398A"/>
                </a:solidFill>
              </a:rPr>
              <a:t>INTERSECTING VULNERABILITIES</a:t>
            </a:r>
            <a:endParaRPr lang="en-US" sz="1000" dirty="0"/>
          </a:p>
        </p:txBody>
      </p:sp>
      <p:sp>
        <p:nvSpPr>
          <p:cNvPr id="28" name="FaHeart disc"/>
          <p:cNvSpPr/>
          <p:nvPr/>
        </p:nvSpPr>
        <p:spPr>
          <a:xfrm>
            <a:off x="6659850" y="2834640"/>
            <a:ext cx="731520" cy="731520"/>
          </a:xfrm>
          <a:prstGeom prst="ellipse">
            <a:avLst/>
          </a:prstGeom>
          <a:solidFill>
            <a:srgbClr val="8E52A3"/>
          </a:solidFill>
          <a:ln/>
        </p:spPr>
      </p:sp>
      <p:pic>
        <p:nvPicPr>
          <p:cNvPr id="29" name="FaHeart" descr="preencoded.png">    </p:cNvPr>
          <p:cNvPicPr>
            <a:picLocks noChangeAspect="1"/>
          </p:cNvPicPr>
          <p:nvPr/>
        </p:nvPicPr>
        <p:blipFill>
          <a:blip r:embed="rId7"/>
          <a:stretch>
            <a:fillRect/>
          </a:stretch>
        </p:blipFill>
        <p:spPr>
          <a:xfrm>
            <a:off x="6850045" y="3024835"/>
            <a:ext cx="351130" cy="351130"/>
          </a:xfrm>
          <a:prstGeom prst="rect">
            <a:avLst/>
          </a:prstGeom>
        </p:spPr>
      </p:pic>
      <p:sp>
        <p:nvSpPr>
          <p:cNvPr id="30" name="Text"/>
          <p:cNvSpPr txBox="1"/>
          <p:nvPr/>
        </p:nvSpPr>
        <p:spPr>
          <a:xfrm>
            <a:off x="6537960"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sexual activity</a:t>
            </a:r>
            <a:endParaRPr lang="en-US" sz="1200" dirty="0"/>
          </a:p>
        </p:txBody>
      </p:sp>
      <p:sp>
        <p:nvSpPr>
          <p:cNvPr id="31" name="FaBaby disc"/>
          <p:cNvSpPr/>
          <p:nvPr/>
        </p:nvSpPr>
        <p:spPr>
          <a:xfrm>
            <a:off x="7635149" y="2834640"/>
            <a:ext cx="731520" cy="731520"/>
          </a:xfrm>
          <a:prstGeom prst="ellipse">
            <a:avLst/>
          </a:prstGeom>
          <a:solidFill>
            <a:srgbClr val="8E52A3"/>
          </a:solidFill>
          <a:ln/>
        </p:spPr>
      </p:sp>
      <p:pic>
        <p:nvPicPr>
          <p:cNvPr id="32" name="FaBaby" descr="preencoded.png">    </p:cNvPr>
          <p:cNvPicPr>
            <a:picLocks noChangeAspect="1"/>
          </p:cNvPicPr>
          <p:nvPr/>
        </p:nvPicPr>
        <p:blipFill>
          <a:blip r:embed="rId8"/>
          <a:stretch>
            <a:fillRect/>
          </a:stretch>
        </p:blipFill>
        <p:spPr>
          <a:xfrm>
            <a:off x="7825344" y="3024835"/>
            <a:ext cx="351130" cy="351130"/>
          </a:xfrm>
          <a:prstGeom prst="rect">
            <a:avLst/>
          </a:prstGeom>
        </p:spPr>
      </p:pic>
      <p:sp>
        <p:nvSpPr>
          <p:cNvPr id="33" name="Text"/>
          <p:cNvSpPr txBox="1"/>
          <p:nvPr/>
        </p:nvSpPr>
        <p:spPr>
          <a:xfrm>
            <a:off x="7513259"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Early childbearing</a:t>
            </a:r>
            <a:endParaRPr lang="en-US" sz="1200" dirty="0"/>
          </a:p>
        </p:txBody>
      </p:sp>
      <p:sp>
        <p:nvSpPr>
          <p:cNvPr id="34" name="FaHardHat disc"/>
          <p:cNvSpPr/>
          <p:nvPr/>
        </p:nvSpPr>
        <p:spPr>
          <a:xfrm>
            <a:off x="8610448" y="2834640"/>
            <a:ext cx="731520" cy="731520"/>
          </a:xfrm>
          <a:prstGeom prst="ellipse">
            <a:avLst/>
          </a:prstGeom>
          <a:solidFill>
            <a:srgbClr val="1A9DA8"/>
          </a:solidFill>
          <a:ln/>
        </p:spPr>
      </p:sp>
      <p:pic>
        <p:nvPicPr>
          <p:cNvPr id="35" name="FaHardHat" descr="preencoded.png">    </p:cNvPr>
          <p:cNvPicPr>
            <a:picLocks noChangeAspect="1"/>
          </p:cNvPicPr>
          <p:nvPr/>
        </p:nvPicPr>
        <p:blipFill>
          <a:blip r:embed="rId9"/>
          <a:stretch>
            <a:fillRect/>
          </a:stretch>
        </p:blipFill>
        <p:spPr>
          <a:xfrm>
            <a:off x="8800643" y="3024835"/>
            <a:ext cx="351130" cy="351130"/>
          </a:xfrm>
          <a:prstGeom prst="rect">
            <a:avLst/>
          </a:prstGeom>
        </p:spPr>
      </p:pic>
      <p:sp>
        <p:nvSpPr>
          <p:cNvPr id="36" name="Text"/>
          <p:cNvSpPr txBox="1"/>
          <p:nvPr/>
        </p:nvSpPr>
        <p:spPr>
          <a:xfrm>
            <a:off x="8488558"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Child labour</a:t>
            </a:r>
            <a:endParaRPr lang="en-US" sz="1200" dirty="0"/>
          </a:p>
        </p:txBody>
      </p:sp>
      <p:sp>
        <p:nvSpPr>
          <p:cNvPr id="37" name="FaCoins disc"/>
          <p:cNvSpPr/>
          <p:nvPr/>
        </p:nvSpPr>
        <p:spPr>
          <a:xfrm>
            <a:off x="9585747" y="2834640"/>
            <a:ext cx="731520" cy="731520"/>
          </a:xfrm>
          <a:prstGeom prst="ellipse">
            <a:avLst/>
          </a:prstGeom>
          <a:solidFill>
            <a:srgbClr val="1A9DA8"/>
          </a:solidFill>
          <a:ln/>
        </p:spPr>
      </p:sp>
      <p:pic>
        <p:nvPicPr>
          <p:cNvPr id="38" name="FaCoins" descr="preencoded.png">    </p:cNvPr>
          <p:cNvPicPr>
            <a:picLocks noChangeAspect="1"/>
          </p:cNvPicPr>
          <p:nvPr/>
        </p:nvPicPr>
        <p:blipFill>
          <a:blip r:embed="rId10"/>
          <a:stretch>
            <a:fillRect/>
          </a:stretch>
        </p:blipFill>
        <p:spPr>
          <a:xfrm>
            <a:off x="9775942" y="3024835"/>
            <a:ext cx="351130" cy="351130"/>
          </a:xfrm>
          <a:prstGeom prst="rect">
            <a:avLst/>
          </a:prstGeom>
        </p:spPr>
      </p:pic>
      <p:sp>
        <p:nvSpPr>
          <p:cNvPr id="39" name="Text"/>
          <p:cNvSpPr txBox="1"/>
          <p:nvPr/>
        </p:nvSpPr>
        <p:spPr>
          <a:xfrm>
            <a:off x="9463857"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Poverty</a:t>
            </a:r>
            <a:endParaRPr lang="en-US" sz="1200" dirty="0"/>
          </a:p>
        </p:txBody>
      </p:sp>
      <p:sp>
        <p:nvSpPr>
          <p:cNvPr id="40" name="FaUserFriends disc"/>
          <p:cNvSpPr/>
          <p:nvPr/>
        </p:nvSpPr>
        <p:spPr>
          <a:xfrm>
            <a:off x="10561046" y="2834640"/>
            <a:ext cx="731520" cy="731520"/>
          </a:xfrm>
          <a:prstGeom prst="ellipse">
            <a:avLst/>
          </a:prstGeom>
          <a:solidFill>
            <a:srgbClr val="F08236"/>
          </a:solidFill>
          <a:ln/>
        </p:spPr>
      </p:sp>
      <p:pic>
        <p:nvPicPr>
          <p:cNvPr id="41" name="FaUserFriends" descr="preencoded.png">    </p:cNvPr>
          <p:cNvPicPr>
            <a:picLocks noChangeAspect="1"/>
          </p:cNvPicPr>
          <p:nvPr/>
        </p:nvPicPr>
        <p:blipFill>
          <a:blip r:embed="rId11"/>
          <a:stretch>
            <a:fillRect/>
          </a:stretch>
        </p:blipFill>
        <p:spPr>
          <a:xfrm>
            <a:off x="10751241" y="3024835"/>
            <a:ext cx="351130" cy="351130"/>
          </a:xfrm>
          <a:prstGeom prst="rect">
            <a:avLst/>
          </a:prstGeom>
        </p:spPr>
      </p:pic>
      <p:sp>
        <p:nvSpPr>
          <p:cNvPr id="42" name="Text"/>
          <p:cNvSpPr txBox="1"/>
          <p:nvPr/>
        </p:nvSpPr>
        <p:spPr>
          <a:xfrm>
            <a:off x="10439156" y="3730752"/>
            <a:ext cx="975299" cy="548640"/>
          </a:xfrm>
          <a:prstGeom prst="rect">
            <a:avLst/>
          </a:prstGeom>
          <a:noFill/>
          <a:ln/>
        </p:spPr>
        <p:txBody>
          <a:bodyPr wrap="square" lIns="0" tIns="0" rIns="0" bIns="0" rtlCol="0" anchor="t"/>
          <a:lstStyle/>
          <a:p>
            <a:pPr algn="ctr" indent="0" marL="0">
              <a:buNone/>
            </a:pPr>
            <a:r>
              <a:rPr lang="en-US" sz="1200" b="1" dirty="0">
                <a:solidFill>
                  <a:srgbClr val="1E2F5C"/>
                </a:solidFill>
              </a:rPr>
              <a:t>Orphanhood</a:t>
            </a:r>
            <a:endParaRPr lang="en-US" sz="1200" dirty="0"/>
          </a:p>
        </p:txBody>
      </p:sp>
      <p:sp>
        <p:nvSpPr>
          <p:cNvPr id="43" name="Use strip"/>
          <p:cNvSpPr/>
          <p:nvPr/>
        </p:nvSpPr>
        <p:spPr>
          <a:xfrm>
            <a:off x="548640" y="4828032"/>
            <a:ext cx="11094415" cy="566928"/>
          </a:xfrm>
          <a:prstGeom prst="roundRect">
            <a:avLst>
              <a:gd name="adj" fmla="val 12903"/>
            </a:avLst>
          </a:prstGeom>
          <a:solidFill>
            <a:srgbClr val="F1F5FA"/>
          </a:solidFill>
          <a:ln/>
        </p:spPr>
      </p:sp>
      <p:sp>
        <p:nvSpPr>
          <p:cNvPr id="44" name="Text"/>
          <p:cNvSpPr txBox="1"/>
          <p:nvPr/>
        </p:nvSpPr>
        <p:spPr>
          <a:xfrm>
            <a:off x="822960" y="4828032"/>
            <a:ext cx="3108960" cy="566928"/>
          </a:xfrm>
          <a:prstGeom prst="rect">
            <a:avLst/>
          </a:prstGeom>
          <a:noFill/>
          <a:ln/>
        </p:spPr>
        <p:txBody>
          <a:bodyPr wrap="square" lIns="0" tIns="0" rIns="0" bIns="0" rtlCol="0" anchor="ctr"/>
          <a:lstStyle/>
          <a:p>
            <a:pPr indent="0" marL="0">
              <a:buNone/>
            </a:pPr>
            <a:r>
              <a:rPr lang="en-US" sz="900" b="1" spc="120" kern="0" dirty="0">
                <a:solidFill>
                  <a:srgbClr val="1E2F5C"/>
                </a:solidFill>
              </a:rPr>
              <a:t>USE THE RESULTS AS EVIDENCE FOR</a:t>
            </a:r>
            <a:endParaRPr lang="en-US" sz="900" dirty="0"/>
          </a:p>
        </p:txBody>
      </p:sp>
      <p:sp>
        <p:nvSpPr>
          <p:cNvPr id="45" name="FaFlask disc"/>
          <p:cNvSpPr/>
          <p:nvPr/>
        </p:nvSpPr>
        <p:spPr>
          <a:xfrm>
            <a:off x="3840480" y="4919472"/>
            <a:ext cx="384048" cy="384048"/>
          </a:xfrm>
          <a:prstGeom prst="ellipse">
            <a:avLst/>
          </a:prstGeom>
          <a:solidFill>
            <a:srgbClr val="3B67C4"/>
          </a:solidFill>
          <a:ln/>
        </p:spPr>
      </p:sp>
      <p:pic>
        <p:nvPicPr>
          <p:cNvPr id="46" name="FaFlask" descr="preencoded.png">    </p:cNvPr>
          <p:cNvPicPr>
            <a:picLocks noChangeAspect="1"/>
          </p:cNvPicPr>
          <p:nvPr/>
        </p:nvPicPr>
        <p:blipFill>
          <a:blip r:embed="rId12"/>
          <a:stretch>
            <a:fillRect/>
          </a:stretch>
        </p:blipFill>
        <p:spPr>
          <a:xfrm>
            <a:off x="3940332" y="5019324"/>
            <a:ext cx="184343" cy="184343"/>
          </a:xfrm>
          <a:prstGeom prst="rect">
            <a:avLst/>
          </a:prstGeom>
        </p:spPr>
      </p:pic>
      <p:sp>
        <p:nvSpPr>
          <p:cNvPr id="47" name="Text"/>
          <p:cNvSpPr txBox="1"/>
          <p:nvPr/>
        </p:nvSpPr>
        <p:spPr>
          <a:xfrm>
            <a:off x="434340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Further investigation</a:t>
            </a:r>
            <a:endParaRPr lang="en-US" sz="1200" dirty="0"/>
          </a:p>
        </p:txBody>
      </p:sp>
      <p:sp>
        <p:nvSpPr>
          <p:cNvPr id="48" name="FaComments disc"/>
          <p:cNvSpPr/>
          <p:nvPr/>
        </p:nvSpPr>
        <p:spPr>
          <a:xfrm>
            <a:off x="6446520" y="4919472"/>
            <a:ext cx="384048" cy="384048"/>
          </a:xfrm>
          <a:prstGeom prst="ellipse">
            <a:avLst/>
          </a:prstGeom>
          <a:solidFill>
            <a:srgbClr val="3B67C4"/>
          </a:solidFill>
          <a:ln/>
        </p:spPr>
      </p:sp>
      <p:pic>
        <p:nvPicPr>
          <p:cNvPr id="49" name="FaComments" descr="preencoded.png">    </p:cNvPr>
          <p:cNvPicPr>
            <a:picLocks noChangeAspect="1"/>
          </p:cNvPicPr>
          <p:nvPr/>
        </p:nvPicPr>
        <p:blipFill>
          <a:blip r:embed="rId13"/>
          <a:stretch>
            <a:fillRect/>
          </a:stretch>
        </p:blipFill>
        <p:spPr>
          <a:xfrm>
            <a:off x="6546372" y="5019324"/>
            <a:ext cx="184343" cy="184343"/>
          </a:xfrm>
          <a:prstGeom prst="rect">
            <a:avLst/>
          </a:prstGeom>
        </p:spPr>
      </p:pic>
      <p:sp>
        <p:nvSpPr>
          <p:cNvPr id="50" name="Text"/>
          <p:cNvSpPr txBox="1"/>
          <p:nvPr/>
        </p:nvSpPr>
        <p:spPr>
          <a:xfrm>
            <a:off x="694944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Programming discussions</a:t>
            </a:r>
            <a:endParaRPr lang="en-US" sz="1200" dirty="0"/>
          </a:p>
        </p:txBody>
      </p:sp>
      <p:sp>
        <p:nvSpPr>
          <p:cNvPr id="51" name="FaLightbulb disc"/>
          <p:cNvSpPr/>
          <p:nvPr/>
        </p:nvSpPr>
        <p:spPr>
          <a:xfrm>
            <a:off x="9052560" y="4919472"/>
            <a:ext cx="384048" cy="384048"/>
          </a:xfrm>
          <a:prstGeom prst="ellipse">
            <a:avLst/>
          </a:prstGeom>
          <a:solidFill>
            <a:srgbClr val="3B67C4"/>
          </a:solidFill>
          <a:ln/>
        </p:spPr>
      </p:sp>
      <p:pic>
        <p:nvPicPr>
          <p:cNvPr id="52" name="FaLightbulb" descr="preencoded.png">    </p:cNvPr>
          <p:cNvPicPr>
            <a:picLocks noChangeAspect="1"/>
          </p:cNvPicPr>
          <p:nvPr/>
        </p:nvPicPr>
        <p:blipFill>
          <a:blip r:embed="rId14"/>
          <a:stretch>
            <a:fillRect/>
          </a:stretch>
        </p:blipFill>
        <p:spPr>
          <a:xfrm>
            <a:off x="9152412" y="5019324"/>
            <a:ext cx="184343" cy="184343"/>
          </a:xfrm>
          <a:prstGeom prst="rect">
            <a:avLst/>
          </a:prstGeom>
        </p:spPr>
      </p:pic>
      <p:sp>
        <p:nvSpPr>
          <p:cNvPr id="53" name="Text"/>
          <p:cNvSpPr txBox="1"/>
          <p:nvPr/>
        </p:nvSpPr>
        <p:spPr>
          <a:xfrm>
            <a:off x="9555480" y="4828032"/>
            <a:ext cx="2057400" cy="566928"/>
          </a:xfrm>
          <a:prstGeom prst="rect">
            <a:avLst/>
          </a:prstGeom>
          <a:noFill/>
          <a:ln/>
        </p:spPr>
        <p:txBody>
          <a:bodyPr wrap="square" lIns="0" tIns="0" rIns="0" bIns="0" rtlCol="0" anchor="ctr"/>
          <a:lstStyle/>
          <a:p>
            <a:pPr indent="0" marL="0">
              <a:buNone/>
            </a:pPr>
            <a:r>
              <a:rPr lang="en-US" sz="1200" dirty="0">
                <a:solidFill>
                  <a:srgbClr val="414A5A"/>
                </a:solidFill>
              </a:rPr>
              <a:t>Hypothesis generation</a:t>
            </a:r>
            <a:endParaRPr lang="en-US" sz="1200" dirty="0"/>
          </a:p>
        </p:txBody>
      </p:sp>
      <p:sp>
        <p:nvSpPr>
          <p:cNvPr id="5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55" name="Key message disc"/>
          <p:cNvSpPr/>
          <p:nvPr/>
        </p:nvSpPr>
        <p:spPr>
          <a:xfrm>
            <a:off x="777240" y="5660136"/>
            <a:ext cx="420624" cy="420624"/>
          </a:xfrm>
          <a:prstGeom prst="ellipse">
            <a:avLst/>
          </a:prstGeom>
          <a:solidFill>
            <a:srgbClr val="24427E"/>
          </a:solidFill>
          <a:ln/>
        </p:spPr>
      </p:sp>
      <p:pic>
        <p:nvPicPr>
          <p:cNvPr id="56" name="Key message icon" descr="preencoded.png">    </p:cNvPr>
          <p:cNvPicPr>
            <a:picLocks noChangeAspect="1"/>
          </p:cNvPicPr>
          <p:nvPr/>
        </p:nvPicPr>
        <p:blipFill>
          <a:blip r:embed="rId15"/>
          <a:stretch>
            <a:fillRect/>
          </a:stretch>
        </p:blipFill>
        <p:spPr>
          <a:xfrm>
            <a:off x="877824" y="5760720"/>
            <a:ext cx="219456" cy="219456"/>
          </a:xfrm>
          <a:prstGeom prst="rect">
            <a:avLst/>
          </a:prstGeom>
        </p:spPr>
      </p:pic>
      <p:sp>
        <p:nvSpPr>
          <p:cNvPr id="5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POINT</a:t>
            </a:r>
            <a:endParaRPr lang="en-US" sz="900" dirty="0"/>
          </a:p>
        </p:txBody>
      </p:sp>
      <p:sp>
        <p:nvSpPr>
          <p:cNvPr id="5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findings identify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within the study population. They do not establish </a:t>
            </a:r>
            <a:pPr indent="0" marL="0">
              <a:lnSpc>
                <a:spcPct val="105000"/>
              </a:lnSpc>
              <a:buNone/>
            </a:pPr>
            <a:r>
              <a:rPr lang="en-US" sz="1300" b="1" dirty="0">
                <a:solidFill>
                  <a:srgbClr val="2D539F"/>
                </a:solidFill>
              </a:rPr>
              <a:t>causes</a:t>
            </a:r>
            <a:pPr indent="0" marL="0">
              <a:lnSpc>
                <a:spcPct val="105000"/>
              </a:lnSpc>
              <a:buNone/>
            </a:pPr>
            <a:r>
              <a:rPr lang="en-US" sz="1300" b="1" dirty="0">
                <a:solidFill>
                  <a:srgbClr val="1E2F5C"/>
                </a:solidFill>
              </a:rPr>
              <a:t> of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50"/>
                                        <p:tgtEl>
                                          <p:spTgt spid="16"/>
                                        </p:tgtEl>
                                      </p:cBhvr>
                                    </p:animEffect>
                                    <p:anim calcmode="lin" valueType="num">
                                      <p:cBhvr>
                                        <p:cTn id="42" dur="550" decel="100000" fill="hold"/>
                                        <p:tgtEl>
                                          <p:spTgt spid="16"/>
                                        </p:tgtEl>
                                        <p:attrNameLst>
                                          <p:attrName>ppt_x</p:attrName>
                                        </p:attrNameLst>
                                      </p:cBhvr>
                                      <p:tavLst>
                                        <p:tav tm="0">
                                          <p:val>
                                            <p:strVal val="#ppt_x"/>
                                          </p:val>
                                        </p:tav>
                                        <p:tav tm="100000">
                                          <p:val>
                                            <p:strVal val="#ppt_x"/>
                                          </p:val>
                                        </p:tav>
                                      </p:tavLst>
                                    </p:anim>
                                    <p:anim calcmode="lin" valueType="num">
                                      <p:cBhvr>
                                        <p:cTn id="43" dur="550" decel="100000" fill="hold"/>
                                        <p:tgtEl>
                                          <p:spTgt spid="16"/>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5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50"/>
                                        <p:tgtEl>
                                          <p:spTgt spid="24"/>
                                        </p:tgtEl>
                                      </p:cBhvr>
                                    </p:animEffect>
                                    <p:anim calcmode="lin" valueType="num">
                                      <p:cBhvr>
                                        <p:cTn id="47" dur="550" decel="100000" fill="hold"/>
                                        <p:tgtEl>
                                          <p:spTgt spid="24"/>
                                        </p:tgtEl>
                                        <p:attrNameLst>
                                          <p:attrName>ppt_x</p:attrName>
                                        </p:attrNameLst>
                                      </p:cBhvr>
                                      <p:tavLst>
                                        <p:tav tm="0">
                                          <p:val>
                                            <p:strVal val="#ppt_x"/>
                                          </p:val>
                                        </p:tav>
                                        <p:tav tm="100000">
                                          <p:val>
                                            <p:strVal val="#ppt_x"/>
                                          </p:val>
                                        </p:tav>
                                      </p:tavLst>
                                    </p:anim>
                                    <p:anim calcmode="lin" valueType="num">
                                      <p:cBhvr>
                                        <p:cTn id="48" dur="550" decel="100000" fill="hold"/>
                                        <p:tgtEl>
                                          <p:spTgt spid="24"/>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5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50"/>
                                        <p:tgtEl>
                                          <p:spTgt spid="25"/>
                                        </p:tgtEl>
                                      </p:cBhvr>
                                    </p:animEffect>
                                    <p:anim calcmode="lin" valueType="num">
                                      <p:cBhvr>
                                        <p:cTn id="52" dur="550" decel="100000" fill="hold"/>
                                        <p:tgtEl>
                                          <p:spTgt spid="25"/>
                                        </p:tgtEl>
                                        <p:attrNameLst>
                                          <p:attrName>ppt_x</p:attrName>
                                        </p:attrNameLst>
                                      </p:cBhvr>
                                      <p:tavLst>
                                        <p:tav tm="0">
                                          <p:val>
                                            <p:strVal val="#ppt_x"/>
                                          </p:val>
                                        </p:tav>
                                        <p:tav tm="100000">
                                          <p:val>
                                            <p:strVal val="#ppt_x"/>
                                          </p:val>
                                        </p:tav>
                                      </p:tavLst>
                                    </p:anim>
                                    <p:anim calcmode="lin" valueType="num">
                                      <p:cBhvr>
                                        <p:cTn id="53" dur="550" decel="100000" fill="hold"/>
                                        <p:tgtEl>
                                          <p:spTgt spid="25"/>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50"/>
                                        <p:tgtEl>
                                          <p:spTgt spid="26"/>
                                        </p:tgtEl>
                                      </p:cBhvr>
                                    </p:animEffect>
                                    <p:anim calcmode="lin" valueType="num">
                                      <p:cBhvr>
                                        <p:cTn id="57" dur="550" decel="100000" fill="hold"/>
                                        <p:tgtEl>
                                          <p:spTgt spid="26"/>
                                        </p:tgtEl>
                                        <p:attrNameLst>
                                          <p:attrName>ppt_x</p:attrName>
                                        </p:attrNameLst>
                                      </p:cBhvr>
                                      <p:tavLst>
                                        <p:tav tm="0">
                                          <p:val>
                                            <p:strVal val="#ppt_x"/>
                                          </p:val>
                                        </p:tav>
                                        <p:tav tm="100000">
                                          <p:val>
                                            <p:strVal val="#ppt_x"/>
                                          </p:val>
                                        </p:tav>
                                      </p:tavLst>
                                    </p:anim>
                                    <p:anim calcmode="lin" valueType="num">
                                      <p:cBhvr>
                                        <p:cTn id="58" dur="550" decel="100000" fill="hold"/>
                                        <p:tgtEl>
                                          <p:spTgt spid="26"/>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5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550"/>
                                        <p:tgtEl>
                                          <p:spTgt spid="27"/>
                                        </p:tgtEl>
                                      </p:cBhvr>
                                    </p:animEffect>
                                    <p:anim calcmode="lin" valueType="num">
                                      <p:cBhvr>
                                        <p:cTn id="62" dur="550" decel="100000" fill="hold"/>
                                        <p:tgtEl>
                                          <p:spTgt spid="27"/>
                                        </p:tgtEl>
                                        <p:attrNameLst>
                                          <p:attrName>ppt_x</p:attrName>
                                        </p:attrNameLst>
                                      </p:cBhvr>
                                      <p:tavLst>
                                        <p:tav tm="0">
                                          <p:val>
                                            <p:strVal val="#ppt_x"/>
                                          </p:val>
                                        </p:tav>
                                        <p:tav tm="100000">
                                          <p:val>
                                            <p:strVal val="#ppt_x"/>
                                          </p:val>
                                        </p:tav>
                                      </p:tavLst>
                                    </p:anim>
                                    <p:anim calcmode="lin" valueType="num">
                                      <p:cBhvr>
                                        <p:cTn id="63" dur="550" decel="100000" fill="hold"/>
                                        <p:tgtEl>
                                          <p:spTgt spid="27"/>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6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6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6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6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7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7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37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53" presetClass="entr" presetSubtype="16" fill="hold" grpId="0" nodeType="withEffect">
                                  <p:stCondLst>
                                    <p:cond delay="4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00"/>
                                        <p:tgtEl>
                                          <p:spTgt spid="28"/>
                                        </p:tgtEl>
                                      </p:cBhvr>
                                    </p:animEffect>
                                    <p:anim calcmode="lin" valueType="num">
                                      <p:cBhvr>
                                        <p:cTn id="102" dur="500" decel="100000" fill="hold"/>
                                        <p:tgtEl>
                                          <p:spTgt spid="28"/>
                                        </p:tgtEl>
                                        <p:attrNameLst>
                                          <p:attrName>ppt_w</p:attrName>
                                        </p:attrNameLst>
                                      </p:cBhvr>
                                      <p:tavLst>
                                        <p:tav tm="0">
                                          <p:val>
                                            <p:strVal val="#ppt_w*0.80"/>
                                          </p:val>
                                        </p:tav>
                                        <p:tav tm="100000">
                                          <p:val>
                                            <p:strVal val="#ppt_w"/>
                                          </p:val>
                                        </p:tav>
                                      </p:tavLst>
                                    </p:anim>
                                    <p:anim calcmode="lin" valueType="num">
                                      <p:cBhvr>
                                        <p:cTn id="103" dur="500" decel="100000" fill="hold"/>
                                        <p:tgtEl>
                                          <p:spTgt spid="28"/>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00"/>
                                        <p:tgtEl>
                                          <p:spTgt spid="29"/>
                                        </p:tgtEl>
                                      </p:cBhvr>
                                    </p:animEffect>
                                    <p:anim calcmode="lin" valueType="num">
                                      <p:cBhvr>
                                        <p:cTn id="107" dur="500" decel="100000" fill="hold"/>
                                        <p:tgtEl>
                                          <p:spTgt spid="29"/>
                                        </p:tgtEl>
                                        <p:attrNameLst>
                                          <p:attrName>ppt_w</p:attrName>
                                        </p:attrNameLst>
                                      </p:cBhvr>
                                      <p:tavLst>
                                        <p:tav tm="0">
                                          <p:val>
                                            <p:strVal val="#ppt_w*0.80"/>
                                          </p:val>
                                        </p:tav>
                                        <p:tav tm="100000">
                                          <p:val>
                                            <p:strVal val="#ppt_w"/>
                                          </p:val>
                                        </p:tav>
                                      </p:tavLst>
                                    </p:anim>
                                    <p:anim calcmode="lin" valueType="num">
                                      <p:cBhvr>
                                        <p:cTn id="108" dur="500" decel="100000" fill="hold"/>
                                        <p:tgtEl>
                                          <p:spTgt spid="29"/>
                                        </p:tgtEl>
                                        <p:attrNameLst>
                                          <p:attrName>ppt_h</p:attrName>
                                        </p:attrNameLst>
                                      </p:cBhvr>
                                      <p:tavLst>
                                        <p:tav tm="0">
                                          <p:val>
                                            <p:strVal val="#ppt_h*0.80"/>
                                          </p:val>
                                        </p:tav>
                                        <p:tav tm="100000">
                                          <p:val>
                                            <p:strVal val="#ppt_h"/>
                                          </p:val>
                                        </p:tav>
                                      </p:tavLst>
                                    </p:anim>
                                  </p:childTnLst>
                                </p:cTn>
                              </p:par>
                              <p:par>
                                <p:cTn id="114" presetID="53" presetClass="entr" presetSubtype="16" fill="hold" grpId="0" nodeType="withEffect">
                                  <p:stCondLst>
                                    <p:cond delay="4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00"/>
                                        <p:tgtEl>
                                          <p:spTgt spid="30"/>
                                        </p:tgtEl>
                                      </p:cBhvr>
                                    </p:animEffect>
                                    <p:anim calcmode="lin" valueType="num">
                                      <p:cBhvr>
                                        <p:cTn id="112" dur="500" decel="100000" fill="hold"/>
                                        <p:tgtEl>
                                          <p:spTgt spid="30"/>
                                        </p:tgtEl>
                                        <p:attrNameLst>
                                          <p:attrName>ppt_w</p:attrName>
                                        </p:attrNameLst>
                                      </p:cBhvr>
                                      <p:tavLst>
                                        <p:tav tm="0">
                                          <p:val>
                                            <p:strVal val="#ppt_w*0.80"/>
                                          </p:val>
                                        </p:tav>
                                        <p:tav tm="100000">
                                          <p:val>
                                            <p:strVal val="#ppt_w"/>
                                          </p:val>
                                        </p:tav>
                                      </p:tavLst>
                                    </p:anim>
                                    <p:anim calcmode="lin" valueType="num">
                                      <p:cBhvr>
                                        <p:cTn id="113" dur="500" decel="100000" fill="hold"/>
                                        <p:tgtEl>
                                          <p:spTgt spid="30"/>
                                        </p:tgtEl>
                                        <p:attrNameLst>
                                          <p:attrName>ppt_h</p:attrName>
                                        </p:attrNameLst>
                                      </p:cBhvr>
                                      <p:tavLst>
                                        <p:tav tm="0">
                                          <p:val>
                                            <p:strVal val="#ppt_h*0.80"/>
                                          </p:val>
                                        </p:tav>
                                        <p:tav tm="100000">
                                          <p:val>
                                            <p:strVal val="#ppt_h"/>
                                          </p:val>
                                        </p:tav>
                                      </p:tavLst>
                                    </p:anim>
                                  </p:childTnLst>
                                </p:cTn>
                              </p:par>
                              <p:par>
                                <p:cTn id="119" presetID="53" presetClass="entr" presetSubtype="16" fill="hold" grpId="0" nodeType="withEffect">
                                  <p:stCondLst>
                                    <p:cond delay="54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00"/>
                                        <p:tgtEl>
                                          <p:spTgt spid="31"/>
                                        </p:tgtEl>
                                      </p:cBhvr>
                                    </p:animEffect>
                                    <p:anim calcmode="lin" valueType="num">
                                      <p:cBhvr>
                                        <p:cTn id="117" dur="500" decel="100000" fill="hold"/>
                                        <p:tgtEl>
                                          <p:spTgt spid="31"/>
                                        </p:tgtEl>
                                        <p:attrNameLst>
                                          <p:attrName>ppt_w</p:attrName>
                                        </p:attrNameLst>
                                      </p:cBhvr>
                                      <p:tavLst>
                                        <p:tav tm="0">
                                          <p:val>
                                            <p:strVal val="#ppt_w*0.80"/>
                                          </p:val>
                                        </p:tav>
                                        <p:tav tm="100000">
                                          <p:val>
                                            <p:strVal val="#ppt_w"/>
                                          </p:val>
                                        </p:tav>
                                      </p:tavLst>
                                    </p:anim>
                                    <p:anim calcmode="lin" valueType="num">
                                      <p:cBhvr>
                                        <p:cTn id="118" dur="500" decel="100000" fill="hold"/>
                                        <p:tgtEl>
                                          <p:spTgt spid="31"/>
                                        </p:tgtEl>
                                        <p:attrNameLst>
                                          <p:attrName>ppt_h</p:attrName>
                                        </p:attrNameLst>
                                      </p:cBhvr>
                                      <p:tavLst>
                                        <p:tav tm="0">
                                          <p:val>
                                            <p:strVal val="#ppt_h*0.80"/>
                                          </p:val>
                                        </p:tav>
                                        <p:tav tm="100000">
                                          <p:val>
                                            <p:strVal val="#ppt_h"/>
                                          </p:val>
                                        </p:tav>
                                      </p:tavLst>
                                    </p:anim>
                                  </p:childTnLst>
                                </p:cTn>
                              </p:par>
                              <p:par>
                                <p:cTn id="124" presetID="53" presetClass="entr" presetSubtype="16" fill="hold" grpId="0" nodeType="withEffect">
                                  <p:stCondLst>
                                    <p:cond delay="54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00"/>
                                        <p:tgtEl>
                                          <p:spTgt spid="32"/>
                                        </p:tgtEl>
                                      </p:cBhvr>
                                    </p:animEffect>
                                    <p:anim calcmode="lin" valueType="num">
                                      <p:cBhvr>
                                        <p:cTn id="122" dur="500" decel="100000" fill="hold"/>
                                        <p:tgtEl>
                                          <p:spTgt spid="32"/>
                                        </p:tgtEl>
                                        <p:attrNameLst>
                                          <p:attrName>ppt_w</p:attrName>
                                        </p:attrNameLst>
                                      </p:cBhvr>
                                      <p:tavLst>
                                        <p:tav tm="0">
                                          <p:val>
                                            <p:strVal val="#ppt_w*0.80"/>
                                          </p:val>
                                        </p:tav>
                                        <p:tav tm="100000">
                                          <p:val>
                                            <p:strVal val="#ppt_w"/>
                                          </p:val>
                                        </p:tav>
                                      </p:tavLst>
                                    </p:anim>
                                    <p:anim calcmode="lin" valueType="num">
                                      <p:cBhvr>
                                        <p:cTn id="123" dur="500" decel="100000" fill="hold"/>
                                        <p:tgtEl>
                                          <p:spTgt spid="32"/>
                                        </p:tgtEl>
                                        <p:attrNameLst>
                                          <p:attrName>ppt_h</p:attrName>
                                        </p:attrNameLst>
                                      </p:cBhvr>
                                      <p:tavLst>
                                        <p:tav tm="0">
                                          <p:val>
                                            <p:strVal val="#ppt_h*0.80"/>
                                          </p:val>
                                        </p:tav>
                                        <p:tav tm="100000">
                                          <p:val>
                                            <p:strVal val="#ppt_h"/>
                                          </p:val>
                                        </p:tav>
                                      </p:tavLst>
                                    </p:anim>
                                  </p:childTnLst>
                                </p:cTn>
                              </p:par>
                              <p:par>
                                <p:cTn id="129" presetID="53" presetClass="entr" presetSubtype="16" fill="hold" grpId="0" nodeType="withEffect">
                                  <p:stCondLst>
                                    <p:cond delay="54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63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63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53" presetClass="entr" presetSubtype="16" fill="hold" grpId="0" nodeType="withEffect">
                                  <p:stCondLst>
                                    <p:cond delay="63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00"/>
                                        <p:tgtEl>
                                          <p:spTgt spid="36"/>
                                        </p:tgtEl>
                                      </p:cBhvr>
                                    </p:animEffect>
                                    <p:anim calcmode="lin" valueType="num">
                                      <p:cBhvr>
                                        <p:cTn id="142" dur="500" decel="100000" fill="hold"/>
                                        <p:tgtEl>
                                          <p:spTgt spid="36"/>
                                        </p:tgtEl>
                                        <p:attrNameLst>
                                          <p:attrName>ppt_w</p:attrName>
                                        </p:attrNameLst>
                                      </p:cBhvr>
                                      <p:tavLst>
                                        <p:tav tm="0">
                                          <p:val>
                                            <p:strVal val="#ppt_w*0.80"/>
                                          </p:val>
                                        </p:tav>
                                        <p:tav tm="100000">
                                          <p:val>
                                            <p:strVal val="#ppt_w"/>
                                          </p:val>
                                        </p:tav>
                                      </p:tavLst>
                                    </p:anim>
                                    <p:anim calcmode="lin" valueType="num">
                                      <p:cBhvr>
                                        <p:cTn id="143" dur="500" decel="100000" fill="hold"/>
                                        <p:tgtEl>
                                          <p:spTgt spid="36"/>
                                        </p:tgtEl>
                                        <p:attrNameLst>
                                          <p:attrName>ppt_h</p:attrName>
                                        </p:attrNameLst>
                                      </p:cBhvr>
                                      <p:tavLst>
                                        <p:tav tm="0">
                                          <p:val>
                                            <p:strVal val="#ppt_h*0.80"/>
                                          </p:val>
                                        </p:tav>
                                        <p:tav tm="100000">
                                          <p:val>
                                            <p:strVal val="#ppt_h"/>
                                          </p:val>
                                        </p:tav>
                                      </p:tavLst>
                                    </p:anim>
                                  </p:childTnLst>
                                </p:cTn>
                              </p:par>
                              <p:par>
                                <p:cTn id="149" presetID="53" presetClass="entr" presetSubtype="16" fill="hold" grpId="0" nodeType="withEffect">
                                  <p:stCondLst>
                                    <p:cond delay="72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00"/>
                                        <p:tgtEl>
                                          <p:spTgt spid="37"/>
                                        </p:tgtEl>
                                      </p:cBhvr>
                                    </p:animEffect>
                                    <p:anim calcmode="lin" valueType="num">
                                      <p:cBhvr>
                                        <p:cTn id="147" dur="500" decel="100000" fill="hold"/>
                                        <p:tgtEl>
                                          <p:spTgt spid="37"/>
                                        </p:tgtEl>
                                        <p:attrNameLst>
                                          <p:attrName>ppt_w</p:attrName>
                                        </p:attrNameLst>
                                      </p:cBhvr>
                                      <p:tavLst>
                                        <p:tav tm="0">
                                          <p:val>
                                            <p:strVal val="#ppt_w*0.80"/>
                                          </p:val>
                                        </p:tav>
                                        <p:tav tm="100000">
                                          <p:val>
                                            <p:strVal val="#ppt_w"/>
                                          </p:val>
                                        </p:tav>
                                      </p:tavLst>
                                    </p:anim>
                                    <p:anim calcmode="lin" valueType="num">
                                      <p:cBhvr>
                                        <p:cTn id="148" dur="500" decel="100000" fill="hold"/>
                                        <p:tgtEl>
                                          <p:spTgt spid="37"/>
                                        </p:tgtEl>
                                        <p:attrNameLst>
                                          <p:attrName>ppt_h</p:attrName>
                                        </p:attrNameLst>
                                      </p:cBhvr>
                                      <p:tavLst>
                                        <p:tav tm="0">
                                          <p:val>
                                            <p:strVal val="#ppt_h*0.80"/>
                                          </p:val>
                                        </p:tav>
                                        <p:tav tm="100000">
                                          <p:val>
                                            <p:strVal val="#ppt_h"/>
                                          </p:val>
                                        </p:tav>
                                      </p:tavLst>
                                    </p:anim>
                                  </p:childTnLst>
                                </p:cTn>
                              </p:par>
                              <p:par>
                                <p:cTn id="154" presetID="53" presetClass="entr" presetSubtype="16" fill="hold" grpId="0" nodeType="withEffect">
                                  <p:stCondLst>
                                    <p:cond delay="72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53" presetClass="entr" presetSubtype="16" fill="hold" grpId="0" nodeType="withEffect">
                                  <p:stCondLst>
                                    <p:cond delay="72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00"/>
                                        <p:tgtEl>
                                          <p:spTgt spid="39"/>
                                        </p:tgtEl>
                                      </p:cBhvr>
                                    </p:animEffect>
                                    <p:anim calcmode="lin" valueType="num">
                                      <p:cBhvr>
                                        <p:cTn id="157" dur="500" decel="100000" fill="hold"/>
                                        <p:tgtEl>
                                          <p:spTgt spid="39"/>
                                        </p:tgtEl>
                                        <p:attrNameLst>
                                          <p:attrName>ppt_w</p:attrName>
                                        </p:attrNameLst>
                                      </p:cBhvr>
                                      <p:tavLst>
                                        <p:tav tm="0">
                                          <p:val>
                                            <p:strVal val="#ppt_w*0.80"/>
                                          </p:val>
                                        </p:tav>
                                        <p:tav tm="100000">
                                          <p:val>
                                            <p:strVal val="#ppt_w"/>
                                          </p:val>
                                        </p:tav>
                                      </p:tavLst>
                                    </p:anim>
                                    <p:anim calcmode="lin" valueType="num">
                                      <p:cBhvr>
                                        <p:cTn id="158" dur="500" decel="100000" fill="hold"/>
                                        <p:tgtEl>
                                          <p:spTgt spid="39"/>
                                        </p:tgtEl>
                                        <p:attrNameLst>
                                          <p:attrName>ppt_h</p:attrName>
                                        </p:attrNameLst>
                                      </p:cBhvr>
                                      <p:tavLst>
                                        <p:tav tm="0">
                                          <p:val>
                                            <p:strVal val="#ppt_h*0.80"/>
                                          </p:val>
                                        </p:tav>
                                        <p:tav tm="100000">
                                          <p:val>
                                            <p:strVal val="#ppt_h"/>
                                          </p:val>
                                        </p:tav>
                                      </p:tavLst>
                                    </p:anim>
                                  </p:childTnLst>
                                </p:cTn>
                              </p:par>
                              <p:par>
                                <p:cTn id="164" presetID="53" presetClass="entr" presetSubtype="16" fill="hold" grpId="0" nodeType="withEffect">
                                  <p:stCondLst>
                                    <p:cond delay="81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anim calcmode="lin" valueType="num">
                                      <p:cBhvr>
                                        <p:cTn id="162" dur="500" decel="100000" fill="hold"/>
                                        <p:tgtEl>
                                          <p:spTgt spid="40"/>
                                        </p:tgtEl>
                                        <p:attrNameLst>
                                          <p:attrName>ppt_w</p:attrName>
                                        </p:attrNameLst>
                                      </p:cBhvr>
                                      <p:tavLst>
                                        <p:tav tm="0">
                                          <p:val>
                                            <p:strVal val="#ppt_w*0.80"/>
                                          </p:val>
                                        </p:tav>
                                        <p:tav tm="100000">
                                          <p:val>
                                            <p:strVal val="#ppt_w"/>
                                          </p:val>
                                        </p:tav>
                                      </p:tavLst>
                                    </p:anim>
                                    <p:anim calcmode="lin" valueType="num">
                                      <p:cBhvr>
                                        <p:cTn id="163" dur="500" decel="100000" fill="hold"/>
                                        <p:tgtEl>
                                          <p:spTgt spid="40"/>
                                        </p:tgtEl>
                                        <p:attrNameLst>
                                          <p:attrName>ppt_h</p:attrName>
                                        </p:attrNameLst>
                                      </p:cBhvr>
                                      <p:tavLst>
                                        <p:tav tm="0">
                                          <p:val>
                                            <p:strVal val="#ppt_h*0.80"/>
                                          </p:val>
                                        </p:tav>
                                        <p:tav tm="100000">
                                          <p:val>
                                            <p:strVal val="#ppt_h"/>
                                          </p:val>
                                        </p:tav>
                                      </p:tavLst>
                                    </p:anim>
                                  </p:childTnLst>
                                </p:cTn>
                              </p:par>
                              <p:par>
                                <p:cTn id="169" presetID="53" presetClass="entr" presetSubtype="16" fill="hold" grpId="0" nodeType="withEffect">
                                  <p:stCondLst>
                                    <p:cond delay="81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00"/>
                                        <p:tgtEl>
                                          <p:spTgt spid="41"/>
                                        </p:tgtEl>
                                      </p:cBhvr>
                                    </p:animEffect>
                                    <p:anim calcmode="lin" valueType="num">
                                      <p:cBhvr>
                                        <p:cTn id="167" dur="500" decel="100000" fill="hold"/>
                                        <p:tgtEl>
                                          <p:spTgt spid="41"/>
                                        </p:tgtEl>
                                        <p:attrNameLst>
                                          <p:attrName>ppt_w</p:attrName>
                                        </p:attrNameLst>
                                      </p:cBhvr>
                                      <p:tavLst>
                                        <p:tav tm="0">
                                          <p:val>
                                            <p:strVal val="#ppt_w*0.80"/>
                                          </p:val>
                                        </p:tav>
                                        <p:tav tm="100000">
                                          <p:val>
                                            <p:strVal val="#ppt_w"/>
                                          </p:val>
                                        </p:tav>
                                      </p:tavLst>
                                    </p:anim>
                                    <p:anim calcmode="lin" valueType="num">
                                      <p:cBhvr>
                                        <p:cTn id="168" dur="500" decel="100000" fill="hold"/>
                                        <p:tgtEl>
                                          <p:spTgt spid="41"/>
                                        </p:tgtEl>
                                        <p:attrNameLst>
                                          <p:attrName>ppt_h</p:attrName>
                                        </p:attrNameLst>
                                      </p:cBhvr>
                                      <p:tavLst>
                                        <p:tav tm="0">
                                          <p:val>
                                            <p:strVal val="#ppt_h*0.80"/>
                                          </p:val>
                                        </p:tav>
                                        <p:tav tm="100000">
                                          <p:val>
                                            <p:strVal val="#ppt_h"/>
                                          </p:val>
                                        </p:tav>
                                      </p:tavLst>
                                    </p:anim>
                                  </p:childTnLst>
                                </p:cTn>
                              </p:par>
                              <p:par>
                                <p:cTn id="174" presetID="53" presetClass="entr" presetSubtype="16" fill="hold" grpId="0" nodeType="withEffect">
                                  <p:stCondLst>
                                    <p:cond delay="81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00"/>
                                        <p:tgtEl>
                                          <p:spTgt spid="42"/>
                                        </p:tgtEl>
                                      </p:cBhvr>
                                    </p:animEffect>
                                    <p:anim calcmode="lin" valueType="num">
                                      <p:cBhvr>
                                        <p:cTn id="172" dur="500" decel="100000" fill="hold"/>
                                        <p:tgtEl>
                                          <p:spTgt spid="42"/>
                                        </p:tgtEl>
                                        <p:attrNameLst>
                                          <p:attrName>ppt_w</p:attrName>
                                        </p:attrNameLst>
                                      </p:cBhvr>
                                      <p:tavLst>
                                        <p:tav tm="0">
                                          <p:val>
                                            <p:strVal val="#ppt_w*0.80"/>
                                          </p:val>
                                        </p:tav>
                                        <p:tav tm="100000">
                                          <p:val>
                                            <p:strVal val="#ppt_w"/>
                                          </p:val>
                                        </p:tav>
                                      </p:tavLst>
                                    </p:anim>
                                    <p:anim calcmode="lin" valueType="num">
                                      <p:cBhvr>
                                        <p:cTn id="173" dur="500" decel="100000" fill="hold"/>
                                        <p:tgtEl>
                                          <p:spTgt spid="42"/>
                                        </p:tgtEl>
                                        <p:attrNameLst>
                                          <p:attrName>ppt_h</p:attrName>
                                        </p:attrNameLst>
                                      </p:cBhvr>
                                      <p:tavLst>
                                        <p:tav tm="0">
                                          <p:val>
                                            <p:strVal val="#ppt_h*0.80"/>
                                          </p:val>
                                        </p:tav>
                                        <p:tav tm="100000">
                                          <p:val>
                                            <p:strVal val="#ppt_h"/>
                                          </p:val>
                                        </p:tav>
                                      </p:tavLst>
                                    </p:anim>
                                  </p:childTnLst>
                                </p:cTn>
                              </p:par>
                              <p:par>
                                <p:cTn id="179" presetID="42" presetClass="entr" presetSubtype="0" fill="hold" grpId="0" nodeType="withEffect">
                                  <p:stCondLst>
                                    <p:cond delay="9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9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9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9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9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9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9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950"/>
                                  </p:stCondLst>
                                  <p:childTnLst>
                                    <p:set>
                                      <p:cBhvr>
                                        <p:cTn id="210" dur="1" fill="hold">
                                          <p:stCondLst>
                                            <p:cond delay="0"/>
                                          </p:stCondLst>
                                        </p:cTn>
                                        <p:tgtEl>
                                          <p:spTgt spid="50"/>
                                        </p:tgtEl>
                                        <p:attrNameLst>
                                          <p:attrName>style.visibility</p:attrName>
                                        </p:attrNameLst>
                                      </p:cBhvr>
                                      <p:to>
                                        <p:strVal val="visible"/>
                                      </p:to>
                                    </p:set>
                                    <p:animEffect transition="in" filter="fade">
                                      <p:cBhvr>
                                        <p:cTn id="211" dur="550"/>
                                        <p:tgtEl>
                                          <p:spTgt spid="50"/>
                                        </p:tgtEl>
                                      </p:cBhvr>
                                    </p:animEffect>
                                    <p:anim calcmode="lin" valueType="num">
                                      <p:cBhvr>
                                        <p:cTn id="212" dur="550" decel="100000" fill="hold"/>
                                        <p:tgtEl>
                                          <p:spTgt spid="50"/>
                                        </p:tgtEl>
                                        <p:attrNameLst>
                                          <p:attrName>ppt_x</p:attrName>
                                        </p:attrNameLst>
                                      </p:cBhvr>
                                      <p:tavLst>
                                        <p:tav tm="0">
                                          <p:val>
                                            <p:strVal val="#ppt_x"/>
                                          </p:val>
                                        </p:tav>
                                        <p:tav tm="100000">
                                          <p:val>
                                            <p:strVal val="#ppt_x"/>
                                          </p:val>
                                        </p:tav>
                                      </p:tavLst>
                                    </p:anim>
                                    <p:anim calcmode="lin" valueType="num">
                                      <p:cBhvr>
                                        <p:cTn id="213" dur="550" decel="100000" fill="hold"/>
                                        <p:tgtEl>
                                          <p:spTgt spid="50"/>
                                        </p:tgtEl>
                                        <p:attrNameLst>
                                          <p:attrName>ppt_y</p:attrName>
                                        </p:attrNameLst>
                                      </p:cBhvr>
                                      <p:tavLst>
                                        <p:tav tm="0">
                                          <p:val>
                                            <p:strVal val="#ppt_y+0.03"/>
                                          </p:val>
                                        </p:tav>
                                        <p:tav tm="100000">
                                          <p:val>
                                            <p:strVal val="#ppt_y"/>
                                          </p:val>
                                        </p:tav>
                                      </p:tavLst>
                                    </p:anim>
                                  </p:childTnLst>
                                </p:cTn>
                              </p:par>
                              <p:par>
                                <p:cTn id="219" presetID="42" presetClass="entr" presetSubtype="0" fill="hold" grpId="0" nodeType="withEffect">
                                  <p:stCondLst>
                                    <p:cond delay="950"/>
                                  </p:stCondLst>
                                  <p:childTnLst>
                                    <p:set>
                                      <p:cBhvr>
                                        <p:cTn id="215" dur="1" fill="hold">
                                          <p:stCondLst>
                                            <p:cond delay="0"/>
                                          </p:stCondLst>
                                        </p:cTn>
                                        <p:tgtEl>
                                          <p:spTgt spid="51"/>
                                        </p:tgtEl>
                                        <p:attrNameLst>
                                          <p:attrName>style.visibility</p:attrName>
                                        </p:attrNameLst>
                                      </p:cBhvr>
                                      <p:to>
                                        <p:strVal val="visible"/>
                                      </p:to>
                                    </p:set>
                                    <p:animEffect transition="in" filter="fade">
                                      <p:cBhvr>
                                        <p:cTn id="216" dur="550"/>
                                        <p:tgtEl>
                                          <p:spTgt spid="51"/>
                                        </p:tgtEl>
                                      </p:cBhvr>
                                    </p:animEffect>
                                    <p:anim calcmode="lin" valueType="num">
                                      <p:cBhvr>
                                        <p:cTn id="217" dur="550" decel="100000" fill="hold"/>
                                        <p:tgtEl>
                                          <p:spTgt spid="51"/>
                                        </p:tgtEl>
                                        <p:attrNameLst>
                                          <p:attrName>ppt_x</p:attrName>
                                        </p:attrNameLst>
                                      </p:cBhvr>
                                      <p:tavLst>
                                        <p:tav tm="0">
                                          <p:val>
                                            <p:strVal val="#ppt_x"/>
                                          </p:val>
                                        </p:tav>
                                        <p:tav tm="100000">
                                          <p:val>
                                            <p:strVal val="#ppt_x"/>
                                          </p:val>
                                        </p:tav>
                                      </p:tavLst>
                                    </p:anim>
                                    <p:anim calcmode="lin" valueType="num">
                                      <p:cBhvr>
                                        <p:cTn id="218" dur="550" decel="100000" fill="hold"/>
                                        <p:tgtEl>
                                          <p:spTgt spid="51"/>
                                        </p:tgtEl>
                                        <p:attrNameLst>
                                          <p:attrName>ppt_y</p:attrName>
                                        </p:attrNameLst>
                                      </p:cBhvr>
                                      <p:tavLst>
                                        <p:tav tm="0">
                                          <p:val>
                                            <p:strVal val="#ppt_y+0.03"/>
                                          </p:val>
                                        </p:tav>
                                        <p:tav tm="100000">
                                          <p:val>
                                            <p:strVal val="#ppt_y"/>
                                          </p:val>
                                        </p:tav>
                                      </p:tavLst>
                                    </p:anim>
                                  </p:childTnLst>
                                </p:cTn>
                              </p:par>
                              <p:par>
                                <p:cTn id="224" presetID="42" presetClass="entr" presetSubtype="0" fill="hold" grpId="0" nodeType="withEffect">
                                  <p:stCondLst>
                                    <p:cond delay="950"/>
                                  </p:stCondLst>
                                  <p:childTnLst>
                                    <p:set>
                                      <p:cBhvr>
                                        <p:cTn id="220" dur="1" fill="hold">
                                          <p:stCondLst>
                                            <p:cond delay="0"/>
                                          </p:stCondLst>
                                        </p:cTn>
                                        <p:tgtEl>
                                          <p:spTgt spid="52"/>
                                        </p:tgtEl>
                                        <p:attrNameLst>
                                          <p:attrName>style.visibility</p:attrName>
                                        </p:attrNameLst>
                                      </p:cBhvr>
                                      <p:to>
                                        <p:strVal val="visible"/>
                                      </p:to>
                                    </p:set>
                                    <p:animEffect transition="in" filter="fade">
                                      <p:cBhvr>
                                        <p:cTn id="221" dur="550"/>
                                        <p:tgtEl>
                                          <p:spTgt spid="52"/>
                                        </p:tgtEl>
                                      </p:cBhvr>
                                    </p:animEffect>
                                    <p:anim calcmode="lin" valueType="num">
                                      <p:cBhvr>
                                        <p:cTn id="222" dur="550" decel="100000" fill="hold"/>
                                        <p:tgtEl>
                                          <p:spTgt spid="52"/>
                                        </p:tgtEl>
                                        <p:attrNameLst>
                                          <p:attrName>ppt_x</p:attrName>
                                        </p:attrNameLst>
                                      </p:cBhvr>
                                      <p:tavLst>
                                        <p:tav tm="0">
                                          <p:val>
                                            <p:strVal val="#ppt_x"/>
                                          </p:val>
                                        </p:tav>
                                        <p:tav tm="100000">
                                          <p:val>
                                            <p:strVal val="#ppt_x"/>
                                          </p:val>
                                        </p:tav>
                                      </p:tavLst>
                                    </p:anim>
                                    <p:anim calcmode="lin" valueType="num">
                                      <p:cBhvr>
                                        <p:cTn id="223" dur="550" decel="100000" fill="hold"/>
                                        <p:tgtEl>
                                          <p:spTgt spid="52"/>
                                        </p:tgtEl>
                                        <p:attrNameLst>
                                          <p:attrName>ppt_y</p:attrName>
                                        </p:attrNameLst>
                                      </p:cBhvr>
                                      <p:tavLst>
                                        <p:tav tm="0">
                                          <p:val>
                                            <p:strVal val="#ppt_y+0.03"/>
                                          </p:val>
                                        </p:tav>
                                        <p:tav tm="100000">
                                          <p:val>
                                            <p:strVal val="#ppt_y"/>
                                          </p:val>
                                        </p:tav>
                                      </p:tavLst>
                                    </p:anim>
                                  </p:childTnLst>
                                </p:cTn>
                              </p:par>
                              <p:par>
                                <p:cTn id="229" presetID="42" presetClass="entr" presetSubtype="0" fill="hold" grpId="0" nodeType="withEffect">
                                  <p:stCondLst>
                                    <p:cond delay="950"/>
                                  </p:stCondLst>
                                  <p:childTnLst>
                                    <p:set>
                                      <p:cBhvr>
                                        <p:cTn id="225" dur="1" fill="hold">
                                          <p:stCondLst>
                                            <p:cond delay="0"/>
                                          </p:stCondLst>
                                        </p:cTn>
                                        <p:tgtEl>
                                          <p:spTgt spid="53"/>
                                        </p:tgtEl>
                                        <p:attrNameLst>
                                          <p:attrName>style.visibility</p:attrName>
                                        </p:attrNameLst>
                                      </p:cBhvr>
                                      <p:to>
                                        <p:strVal val="visible"/>
                                      </p:to>
                                    </p:set>
                                    <p:animEffect transition="in" filter="fade">
                                      <p:cBhvr>
                                        <p:cTn id="226" dur="550"/>
                                        <p:tgtEl>
                                          <p:spTgt spid="53"/>
                                        </p:tgtEl>
                                      </p:cBhvr>
                                    </p:animEffect>
                                    <p:anim calcmode="lin" valueType="num">
                                      <p:cBhvr>
                                        <p:cTn id="227" dur="550" decel="100000" fill="hold"/>
                                        <p:tgtEl>
                                          <p:spTgt spid="53"/>
                                        </p:tgtEl>
                                        <p:attrNameLst>
                                          <p:attrName>ppt_x</p:attrName>
                                        </p:attrNameLst>
                                      </p:cBhvr>
                                      <p:tavLst>
                                        <p:tav tm="0">
                                          <p:val>
                                            <p:strVal val="#ppt_x"/>
                                          </p:val>
                                        </p:tav>
                                        <p:tav tm="100000">
                                          <p:val>
                                            <p:strVal val="#ppt_x"/>
                                          </p:val>
                                        </p:tav>
                                      </p:tavLst>
                                    </p:anim>
                                    <p:anim calcmode="lin" valueType="num">
                                      <p:cBhvr>
                                        <p:cTn id="228" dur="550" decel="100000" fill="hold"/>
                                        <p:tgtEl>
                                          <p:spTgt spid="53"/>
                                        </p:tgtEl>
                                        <p:attrNameLst>
                                          <p:attrName>ppt_y</p:attrName>
                                        </p:attrNameLst>
                                      </p:cBhvr>
                                      <p:tavLst>
                                        <p:tav tm="0">
                                          <p:val>
                                            <p:strVal val="#ppt_y+0.03"/>
                                          </p:val>
                                        </p:tav>
                                        <p:tav tm="100000">
                                          <p:val>
                                            <p:strVal val="#ppt_y"/>
                                          </p:val>
                                        </p:tav>
                                      </p:tavLst>
                                    </p:anim>
                                  </p:childTnLst>
                                </p:cTn>
                              </p:par>
                              <p:par>
                                <p:cTn id="234" presetID="42" presetClass="entr" presetSubtype="0" fill="hold" grpId="0" nodeType="withEffect">
                                  <p:stCondLst>
                                    <p:cond delay="1150"/>
                                  </p:stCondLst>
                                  <p:childTnLst>
                                    <p:set>
                                      <p:cBhvr>
                                        <p:cTn id="230" dur="1" fill="hold">
                                          <p:stCondLst>
                                            <p:cond delay="0"/>
                                          </p:stCondLst>
                                        </p:cTn>
                                        <p:tgtEl>
                                          <p:spTgt spid="54"/>
                                        </p:tgtEl>
                                        <p:attrNameLst>
                                          <p:attrName>style.visibility</p:attrName>
                                        </p:attrNameLst>
                                      </p:cBhvr>
                                      <p:to>
                                        <p:strVal val="visible"/>
                                      </p:to>
                                    </p:set>
                                    <p:animEffect transition="in" filter="fade">
                                      <p:cBhvr>
                                        <p:cTn id="231" dur="550"/>
                                        <p:tgtEl>
                                          <p:spTgt spid="54"/>
                                        </p:tgtEl>
                                      </p:cBhvr>
                                    </p:animEffect>
                                    <p:anim calcmode="lin" valueType="num">
                                      <p:cBhvr>
                                        <p:cTn id="232" dur="550" decel="100000" fill="hold"/>
                                        <p:tgtEl>
                                          <p:spTgt spid="54"/>
                                        </p:tgtEl>
                                        <p:attrNameLst>
                                          <p:attrName>ppt_x</p:attrName>
                                        </p:attrNameLst>
                                      </p:cBhvr>
                                      <p:tavLst>
                                        <p:tav tm="0">
                                          <p:val>
                                            <p:strVal val="#ppt_x"/>
                                          </p:val>
                                        </p:tav>
                                        <p:tav tm="100000">
                                          <p:val>
                                            <p:strVal val="#ppt_x"/>
                                          </p:val>
                                        </p:tav>
                                      </p:tavLst>
                                    </p:anim>
                                    <p:anim calcmode="lin" valueType="num">
                                      <p:cBhvr>
                                        <p:cTn id="233" dur="550" decel="100000" fill="hold"/>
                                        <p:tgtEl>
                                          <p:spTgt spid="54"/>
                                        </p:tgtEl>
                                        <p:attrNameLst>
                                          <p:attrName>ppt_y</p:attrName>
                                        </p:attrNameLst>
                                      </p:cBhvr>
                                      <p:tavLst>
                                        <p:tav tm="0">
                                          <p:val>
                                            <p:strVal val="#ppt_y+0.03"/>
                                          </p:val>
                                        </p:tav>
                                        <p:tav tm="100000">
                                          <p:val>
                                            <p:strVal val="#ppt_y"/>
                                          </p:val>
                                        </p:tav>
                                      </p:tavLst>
                                    </p:anim>
                                  </p:childTnLst>
                                </p:cTn>
                              </p:par>
                              <p:par>
                                <p:cTn id="239" presetID="42" presetClass="entr" presetSubtype="0" fill="hold" grpId="0" nodeType="withEffect">
                                  <p:stCondLst>
                                    <p:cond delay="115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115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115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115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16" grpId="0" animBg="1"/>
      <p:bldP spid="24" grpId="0" animBg="1"/>
      <p:bldP spid="25" grpId="0" animBg="1"/>
      <p:bldP spid="27" grpId="0" animBg="1"/>
      <p:bldP spid="17" grpId="0" animBg="1"/>
      <p:bldP spid="19" grpId="0" animBg="1"/>
      <p:bldP spid="20" grpId="0" animBg="1"/>
      <p:bldP spid="21" grpId="0" animBg="1"/>
      <p:bldP spid="23" grpId="0" animBg="1"/>
      <p:bldP spid="28" grpId="0" animBg="1"/>
      <p:bldP spid="30" grpId="0" animBg="1"/>
      <p:bldP spid="31" grpId="0" animBg="1"/>
      <p:bldP spid="33" grpId="0" animBg="1"/>
      <p:bldP spid="34" grpId="0" animBg="1"/>
      <p:bldP spid="36" grpId="0" animBg="1"/>
      <p:bldP spid="37" grpId="0" animBg="1"/>
      <p:bldP spid="39" grpId="0" animBg="1"/>
      <p:bldP spid="40" grpId="0" animBg="1"/>
      <p:bldP spid="42" grpId="0" animBg="1"/>
      <p:bldP spid="43" grpId="0" animBg="1"/>
      <p:bldP spid="44" grpId="0" animBg="1"/>
      <p:bldP spid="45" grpId="0" animBg="1"/>
      <p:bldP spid="47" grpId="0" animBg="1"/>
      <p:bldP spid="48" grpId="0" animBg="1"/>
      <p:bldP spid="50" grpId="0" animBg="1"/>
      <p:bldP spid="51" grpId="0" animBg="1"/>
      <p:bldP spid="53" grpId="0" animBg="1"/>
      <p:bldP spid="54" grpId="0" animBg="1"/>
      <p:bldP spid="55" grpId="0" animBg="1"/>
      <p:bldP spid="57" grpId="0" animBg="1"/>
      <p:bldP spid="5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02</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LIMITATIONS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Limitations &amp; Guidance on Interpretation</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Three rules for reading and reporting the results.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03 / 09</a:t>
            </a:r>
            <a:endParaRPr lang="en-US" sz="900" dirty="0"/>
          </a:p>
        </p:txBody>
      </p:sp>
      <p:sp>
        <p:nvSpPr>
          <p:cNvPr id="9" name="Not national prevalence card"/>
          <p:cNvSpPr/>
          <p:nvPr/>
        </p:nvSpPr>
        <p:spPr>
          <a:xfrm>
            <a:off x="548640"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Not national prevalence icon disc"/>
          <p:cNvSpPr/>
          <p:nvPr/>
        </p:nvSpPr>
        <p:spPr>
          <a:xfrm>
            <a:off x="804672" y="1956816"/>
            <a:ext cx="420624" cy="420624"/>
          </a:xfrm>
          <a:prstGeom prst="ellipse">
            <a:avLst/>
          </a:prstGeom>
          <a:solidFill>
            <a:srgbClr val="FEF1E7"/>
          </a:solidFill>
          <a:ln/>
        </p:spPr>
      </p:sp>
      <p:pic>
        <p:nvPicPr>
          <p:cNvPr id="11" name="Not national prevalence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Not national prevalence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NOT NATIONAL PREVALENCE</a:t>
            </a:r>
            <a:endParaRPr lang="en-US" sz="1000" dirty="0"/>
          </a:p>
        </p:txBody>
      </p:sp>
      <p:sp>
        <p:nvSpPr>
          <p:cNvPr id="13" name="Text"/>
          <p:cNvSpPr txBox="1"/>
          <p:nvPr/>
        </p:nvSpPr>
        <p:spPr>
          <a:xfrm>
            <a:off x="822960" y="2578608"/>
            <a:ext cx="457200" cy="566928"/>
          </a:xfrm>
          <a:prstGeom prst="rect">
            <a:avLst/>
          </a:prstGeom>
          <a:noFill/>
          <a:ln/>
        </p:spPr>
        <p:txBody>
          <a:bodyPr wrap="square" lIns="0" tIns="0" rIns="0" bIns="0" rtlCol="0" anchor="t"/>
          <a:lstStyle/>
          <a:p>
            <a:pPr indent="0" marL="0">
              <a:buNone/>
            </a:pPr>
            <a:r>
              <a:rPr lang="en-US" sz="3000" b="1" dirty="0">
                <a:solidFill>
                  <a:srgbClr val="F08236"/>
                </a:solidFill>
              </a:rPr>
              <a:t>1</a:t>
            </a:r>
            <a:endParaRPr lang="en-US" sz="3000" dirty="0"/>
          </a:p>
        </p:txBody>
      </p:sp>
      <p:sp>
        <p:nvSpPr>
          <p:cNvPr id="14" name="Text"/>
          <p:cNvSpPr txBox="1"/>
          <p:nvPr/>
        </p:nvSpPr>
        <p:spPr>
          <a:xfrm>
            <a:off x="1298448"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Do not treat the results as national prevalence</a:t>
            </a:r>
            <a:endParaRPr lang="en-US" sz="1400" dirty="0"/>
          </a:p>
        </p:txBody>
      </p:sp>
      <p:sp>
        <p:nvSpPr>
          <p:cNvPr id="15" name="Text"/>
          <p:cNvSpPr txBox="1"/>
          <p:nvPr/>
        </p:nvSpPr>
        <p:spPr>
          <a:xfrm>
            <a:off x="822960" y="3246120"/>
            <a:ext cx="2966618" cy="457200"/>
          </a:xfrm>
          <a:prstGeom prst="rect">
            <a:avLst/>
          </a:prstGeom>
          <a:noFill/>
          <a:ln/>
        </p:spPr>
        <p:txBody>
          <a:bodyPr wrap="square" lIns="0" tIns="0" rIns="0" bIns="0" rtlCol="0" anchor="ctr"/>
          <a:lstStyle/>
          <a:p>
            <a:pPr indent="0" marL="0">
              <a:buNone/>
            </a:pPr>
            <a:r>
              <a:rPr lang="en-US" sz="1200" dirty="0">
                <a:solidFill>
                  <a:srgbClr val="414A5A"/>
                </a:solidFill>
              </a:rPr>
              <a:t>The analysis was conducted without sampling weights.</a:t>
            </a:r>
            <a:endParaRPr lang="en-US" sz="1200" dirty="0"/>
          </a:p>
        </p:txBody>
      </p:sp>
      <p:sp>
        <p:nvSpPr>
          <p:cNvPr id="16" name="Shape"/>
          <p:cNvSpPr/>
          <p:nvPr/>
        </p:nvSpPr>
        <p:spPr>
          <a:xfrm>
            <a:off x="822960" y="3794760"/>
            <a:ext cx="2966618" cy="1481328"/>
          </a:xfrm>
          <a:prstGeom prst="roundRect">
            <a:avLst>
              <a:gd name="adj" fmla="val 3704"/>
            </a:avLst>
          </a:prstGeom>
          <a:solidFill>
            <a:srgbClr val="E8F5EE"/>
          </a:solidFill>
          <a:ln/>
        </p:spPr>
      </p:sp>
      <p:sp>
        <p:nvSpPr>
          <p:cNvPr id="17" name="Text"/>
          <p:cNvSpPr txBox="1"/>
          <p:nvPr/>
        </p:nvSpPr>
        <p:spPr>
          <a:xfrm>
            <a:off x="987552" y="3867912"/>
            <a:ext cx="2743200" cy="256032"/>
          </a:xfrm>
          <a:prstGeom prst="rect">
            <a:avLst/>
          </a:prstGeom>
          <a:noFill/>
          <a:ln/>
        </p:spPr>
        <p:txBody>
          <a:bodyPr wrap="square" lIns="0" tIns="0" rIns="0" bIns="0" rtlCol="0" anchor="ctr"/>
          <a:lstStyle/>
          <a:p>
            <a:pPr indent="0" marL="0">
              <a:buNone/>
            </a:pPr>
            <a:r>
              <a:rPr lang="en-US" sz="850" b="1" spc="150" kern="0" dirty="0">
                <a:solidFill>
                  <a:srgbClr val="1D7A48"/>
                </a:solidFill>
              </a:rPr>
              <a:t>USE LANGUAGE SUCH AS</a:t>
            </a:r>
            <a:endParaRPr lang="en-US" sz="850" dirty="0"/>
          </a:p>
        </p:txBody>
      </p:sp>
      <p:pic>
        <p:nvPicPr>
          <p:cNvPr id="18" name="Picture" descr="preencoded.png">    </p:cNvPr>
          <p:cNvPicPr>
            <a:picLocks noChangeAspect="1"/>
          </p:cNvPicPr>
          <p:nvPr/>
        </p:nvPicPr>
        <p:blipFill>
          <a:blip r:embed="rId3"/>
          <a:stretch>
            <a:fillRect/>
          </a:stretch>
        </p:blipFill>
        <p:spPr>
          <a:xfrm>
            <a:off x="987552" y="4206240"/>
            <a:ext cx="155448" cy="155448"/>
          </a:xfrm>
          <a:prstGeom prst="rect">
            <a:avLst/>
          </a:prstGeom>
        </p:spPr>
      </p:pic>
      <p:sp>
        <p:nvSpPr>
          <p:cNvPr id="19" name="Text"/>
          <p:cNvSpPr txBox="1"/>
          <p:nvPr/>
        </p:nvSpPr>
        <p:spPr>
          <a:xfrm>
            <a:off x="1261872" y="4151376"/>
            <a:ext cx="2417978" cy="256032"/>
          </a:xfrm>
          <a:prstGeom prst="rect">
            <a:avLst/>
          </a:prstGeom>
          <a:noFill/>
          <a:ln/>
        </p:spPr>
        <p:txBody>
          <a:bodyPr wrap="square" lIns="0" tIns="0" rIns="0" bIns="0" rtlCol="0" anchor="ctr"/>
          <a:lstStyle/>
          <a:p>
            <a:pPr indent="0" marL="0">
              <a:buNone/>
            </a:pPr>
            <a:r>
              <a:rPr lang="en-US" sz="1100" dirty="0">
                <a:solidFill>
                  <a:srgbClr val="414A5A"/>
                </a:solidFill>
              </a:rPr>
              <a:t>Among respondents…</a:t>
            </a:r>
            <a:endParaRPr lang="en-US" sz="1100" dirty="0"/>
          </a:p>
        </p:txBody>
      </p:sp>
      <p:pic>
        <p:nvPicPr>
          <p:cNvPr id="20" name="Picture" descr="preencoded.png">    </p:cNvPr>
          <p:cNvPicPr>
            <a:picLocks noChangeAspect="1"/>
          </p:cNvPicPr>
          <p:nvPr/>
        </p:nvPicPr>
        <p:blipFill>
          <a:blip r:embed="rId4"/>
          <a:stretch>
            <a:fillRect/>
          </a:stretch>
        </p:blipFill>
        <p:spPr>
          <a:xfrm>
            <a:off x="987552" y="4471416"/>
            <a:ext cx="155448" cy="155448"/>
          </a:xfrm>
          <a:prstGeom prst="rect">
            <a:avLst/>
          </a:prstGeom>
        </p:spPr>
      </p:pic>
      <p:sp>
        <p:nvSpPr>
          <p:cNvPr id="21" name="Text"/>
          <p:cNvSpPr txBox="1"/>
          <p:nvPr/>
        </p:nvSpPr>
        <p:spPr>
          <a:xfrm>
            <a:off x="1261872" y="4416552"/>
            <a:ext cx="2417978" cy="256032"/>
          </a:xfrm>
          <a:prstGeom prst="rect">
            <a:avLst/>
          </a:prstGeom>
          <a:noFill/>
          <a:ln/>
        </p:spPr>
        <p:txBody>
          <a:bodyPr wrap="square" lIns="0" tIns="0" rIns="0" bIns="0" rtlCol="0" anchor="ctr"/>
          <a:lstStyle/>
          <a:p>
            <a:pPr indent="0" marL="0">
              <a:buNone/>
            </a:pPr>
            <a:r>
              <a:rPr lang="en-US" sz="1100" dirty="0">
                <a:solidFill>
                  <a:srgbClr val="414A5A"/>
                </a:solidFill>
              </a:rPr>
              <a:t>In the sampled population…</a:t>
            </a:r>
            <a:endParaRPr lang="en-US" sz="1100" dirty="0"/>
          </a:p>
        </p:txBody>
      </p:sp>
      <p:pic>
        <p:nvPicPr>
          <p:cNvPr id="22" name="Picture" descr="preencoded.png">    </p:cNvPr>
          <p:cNvPicPr>
            <a:picLocks noChangeAspect="1"/>
          </p:cNvPicPr>
          <p:nvPr/>
        </p:nvPicPr>
        <p:blipFill>
          <a:blip r:embed="rId5"/>
          <a:stretch>
            <a:fillRect/>
          </a:stretch>
        </p:blipFill>
        <p:spPr>
          <a:xfrm>
            <a:off x="987552" y="4736592"/>
            <a:ext cx="155448" cy="155448"/>
          </a:xfrm>
          <a:prstGeom prst="rect">
            <a:avLst/>
          </a:prstGeom>
        </p:spPr>
      </p:pic>
      <p:sp>
        <p:nvSpPr>
          <p:cNvPr id="23" name="Text"/>
          <p:cNvSpPr txBox="1"/>
          <p:nvPr/>
        </p:nvSpPr>
        <p:spPr>
          <a:xfrm>
            <a:off x="1261872" y="4681728"/>
            <a:ext cx="2417978" cy="256032"/>
          </a:xfrm>
          <a:prstGeom prst="rect">
            <a:avLst/>
          </a:prstGeom>
          <a:noFill/>
          <a:ln/>
        </p:spPr>
        <p:txBody>
          <a:bodyPr wrap="square" lIns="0" tIns="0" rIns="0" bIns="0" rtlCol="0" anchor="ctr"/>
          <a:lstStyle/>
          <a:p>
            <a:pPr indent="0" marL="0">
              <a:buNone/>
            </a:pPr>
            <a:r>
              <a:rPr lang="en-US" sz="1100" dirty="0">
                <a:solidFill>
                  <a:srgbClr val="414A5A"/>
                </a:solidFill>
              </a:rPr>
              <a:t>The analysis found…</a:t>
            </a:r>
            <a:endParaRPr lang="en-US" sz="1100" dirty="0"/>
          </a:p>
        </p:txBody>
      </p:sp>
      <p:pic>
        <p:nvPicPr>
          <p:cNvPr id="24" name="Picture" descr="preencoded.png">    </p:cNvPr>
          <p:cNvPicPr>
            <a:picLocks noChangeAspect="1"/>
          </p:cNvPicPr>
          <p:nvPr/>
        </p:nvPicPr>
        <p:blipFill>
          <a:blip r:embed="rId6"/>
          <a:stretch>
            <a:fillRect/>
          </a:stretch>
        </p:blipFill>
        <p:spPr>
          <a:xfrm>
            <a:off x="987552" y="5001768"/>
            <a:ext cx="155448" cy="155448"/>
          </a:xfrm>
          <a:prstGeom prst="rect">
            <a:avLst/>
          </a:prstGeom>
        </p:spPr>
      </p:pic>
      <p:sp>
        <p:nvSpPr>
          <p:cNvPr id="25" name="Text"/>
          <p:cNvSpPr txBox="1"/>
          <p:nvPr/>
        </p:nvSpPr>
        <p:spPr>
          <a:xfrm>
            <a:off x="1261872" y="4946904"/>
            <a:ext cx="2417978" cy="256032"/>
          </a:xfrm>
          <a:prstGeom prst="rect">
            <a:avLst/>
          </a:prstGeom>
          <a:noFill/>
          <a:ln/>
        </p:spPr>
        <p:txBody>
          <a:bodyPr wrap="square" lIns="0" tIns="0" rIns="0" bIns="0" rtlCol="0" anchor="ctr"/>
          <a:lstStyle/>
          <a:p>
            <a:pPr indent="0" marL="0">
              <a:buNone/>
            </a:pPr>
            <a:r>
              <a:rPr lang="en-US" sz="1100" dirty="0">
                <a:solidFill>
                  <a:srgbClr val="414A5A"/>
                </a:solidFill>
              </a:rPr>
              <a:t>Reported higher/lower levels…</a:t>
            </a:r>
            <a:endParaRPr lang="en-US" sz="1100" dirty="0"/>
          </a:p>
        </p:txBody>
      </p:sp>
      <p:sp>
        <p:nvSpPr>
          <p:cNvPr id="26" name="Shape"/>
          <p:cNvSpPr/>
          <p:nvPr/>
        </p:nvSpPr>
        <p:spPr>
          <a:xfrm>
            <a:off x="822960" y="5376672"/>
            <a:ext cx="2966618" cy="658368"/>
          </a:xfrm>
          <a:prstGeom prst="roundRect">
            <a:avLst>
              <a:gd name="adj" fmla="val 8333"/>
            </a:avLst>
          </a:prstGeom>
          <a:solidFill>
            <a:srgbClr val="FCEDEC"/>
          </a:solidFill>
          <a:ln/>
        </p:spPr>
      </p:sp>
      <p:sp>
        <p:nvSpPr>
          <p:cNvPr id="27" name="Text"/>
          <p:cNvSpPr txBox="1"/>
          <p:nvPr/>
        </p:nvSpPr>
        <p:spPr>
          <a:xfrm>
            <a:off x="987552" y="5431536"/>
            <a:ext cx="1828800" cy="237744"/>
          </a:xfrm>
          <a:prstGeom prst="rect">
            <a:avLst/>
          </a:prstGeom>
          <a:noFill/>
          <a:ln/>
        </p:spPr>
        <p:txBody>
          <a:bodyPr wrap="square" lIns="0" tIns="0" rIns="0" bIns="0" rtlCol="0" anchor="ctr"/>
          <a:lstStyle/>
          <a:p>
            <a:pPr indent="0" marL="0">
              <a:buNone/>
            </a:pPr>
            <a:r>
              <a:rPr lang="en-US" sz="850" b="1" spc="150" kern="0" dirty="0">
                <a:solidFill>
                  <a:srgbClr val="B53A35"/>
                </a:solidFill>
              </a:rPr>
              <a:t>AVOID</a:t>
            </a:r>
            <a:endParaRPr lang="en-US" sz="850" dirty="0"/>
          </a:p>
        </p:txBody>
      </p:sp>
      <p:pic>
        <p:nvPicPr>
          <p:cNvPr id="28" name="Picture" descr="preencoded.png">    </p:cNvPr>
          <p:cNvPicPr>
            <a:picLocks noChangeAspect="1"/>
          </p:cNvPicPr>
          <p:nvPr/>
        </p:nvPicPr>
        <p:blipFill>
          <a:blip r:embed="rId7"/>
          <a:stretch>
            <a:fillRect/>
          </a:stretch>
        </p:blipFill>
        <p:spPr>
          <a:xfrm>
            <a:off x="987552" y="5742432"/>
            <a:ext cx="155448" cy="155448"/>
          </a:xfrm>
          <a:prstGeom prst="rect">
            <a:avLst/>
          </a:prstGeom>
        </p:spPr>
      </p:pic>
      <p:sp>
        <p:nvSpPr>
          <p:cNvPr id="29" name="Text"/>
          <p:cNvSpPr txBox="1"/>
          <p:nvPr/>
        </p:nvSpPr>
        <p:spPr>
          <a:xfrm>
            <a:off x="1261872" y="5678424"/>
            <a:ext cx="2417978" cy="274320"/>
          </a:xfrm>
          <a:prstGeom prst="rect">
            <a:avLst/>
          </a:prstGeom>
          <a:noFill/>
          <a:ln/>
        </p:spPr>
        <p:txBody>
          <a:bodyPr wrap="square" lIns="0" tIns="0" rIns="0" bIns="0" rtlCol="0" anchor="ctr"/>
          <a:lstStyle/>
          <a:p>
            <a:pPr indent="0" marL="0">
              <a:buNone/>
            </a:pPr>
            <a:r>
              <a:rPr lang="en-US" sz="1100" dirty="0">
                <a:solidFill>
                  <a:srgbClr val="414A5A"/>
                </a:solidFill>
              </a:rPr>
              <a:t>“X% of children in Malawi experience…”</a:t>
            </a:r>
            <a:endParaRPr lang="en-US" sz="1100" dirty="0"/>
          </a:p>
        </p:txBody>
      </p:sp>
      <p:sp>
        <p:nvSpPr>
          <p:cNvPr id="30" name="Association, not cause card"/>
          <p:cNvSpPr/>
          <p:nvPr/>
        </p:nvSpPr>
        <p:spPr>
          <a:xfrm>
            <a:off x="4338218"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1" name="Association, not cause icon disc"/>
          <p:cNvSpPr/>
          <p:nvPr/>
        </p:nvSpPr>
        <p:spPr>
          <a:xfrm>
            <a:off x="4594250" y="1956816"/>
            <a:ext cx="420624" cy="420624"/>
          </a:xfrm>
          <a:prstGeom prst="ellipse">
            <a:avLst/>
          </a:prstGeom>
          <a:solidFill>
            <a:srgbClr val="EBF0FA"/>
          </a:solidFill>
          <a:ln/>
        </p:spPr>
      </p:sp>
      <p:pic>
        <p:nvPicPr>
          <p:cNvPr id="32" name="Association, not cause icon" descr="preencoded.png">    </p:cNvPr>
          <p:cNvPicPr>
            <a:picLocks noChangeAspect="1"/>
          </p:cNvPicPr>
          <p:nvPr/>
        </p:nvPicPr>
        <p:blipFill>
          <a:blip r:embed="rId8"/>
          <a:stretch>
            <a:fillRect/>
          </a:stretch>
        </p:blipFill>
        <p:spPr>
          <a:xfrm>
            <a:off x="4694834" y="2057400"/>
            <a:ext cx="219456" cy="219456"/>
          </a:xfrm>
          <a:prstGeom prst="rect">
            <a:avLst/>
          </a:prstGeom>
        </p:spPr>
      </p:pic>
      <p:sp>
        <p:nvSpPr>
          <p:cNvPr id="33" name="Association, not cause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2D539F"/>
                </a:solidFill>
              </a:rPr>
              <a:t>ASSOCIATION, NOT CAUSE</a:t>
            </a:r>
            <a:endParaRPr lang="en-US" sz="1000" dirty="0"/>
          </a:p>
        </p:txBody>
      </p:sp>
      <p:sp>
        <p:nvSpPr>
          <p:cNvPr id="34" name="Text"/>
          <p:cNvSpPr txBox="1"/>
          <p:nvPr/>
        </p:nvSpPr>
        <p:spPr>
          <a:xfrm>
            <a:off x="4612538" y="2578608"/>
            <a:ext cx="457200" cy="566928"/>
          </a:xfrm>
          <a:prstGeom prst="rect">
            <a:avLst/>
          </a:prstGeom>
          <a:noFill/>
          <a:ln/>
        </p:spPr>
        <p:txBody>
          <a:bodyPr wrap="square" lIns="0" tIns="0" rIns="0" bIns="0" rtlCol="0" anchor="t"/>
          <a:lstStyle/>
          <a:p>
            <a:pPr indent="0" marL="0">
              <a:buNone/>
            </a:pPr>
            <a:r>
              <a:rPr lang="en-US" sz="3000" b="1" dirty="0">
                <a:solidFill>
                  <a:srgbClr val="3B67C4"/>
                </a:solidFill>
              </a:rPr>
              <a:t>2</a:t>
            </a:r>
            <a:endParaRPr lang="en-US" sz="3000" dirty="0"/>
          </a:p>
        </p:txBody>
      </p:sp>
      <p:sp>
        <p:nvSpPr>
          <p:cNvPr id="35" name="Text"/>
          <p:cNvSpPr txBox="1"/>
          <p:nvPr/>
        </p:nvSpPr>
        <p:spPr>
          <a:xfrm>
            <a:off x="5088026"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OR ≠ causation</a:t>
            </a:r>
            <a:endParaRPr lang="en-US" sz="1400" dirty="0"/>
          </a:p>
        </p:txBody>
      </p:sp>
      <p:sp>
        <p:nvSpPr>
          <p:cNvPr id="36" name="Text"/>
          <p:cNvSpPr txBox="1"/>
          <p:nvPr/>
        </p:nvSpPr>
        <p:spPr>
          <a:xfrm>
            <a:off x="4612538" y="3246120"/>
            <a:ext cx="2966618" cy="685800"/>
          </a:xfrm>
          <a:prstGeom prst="rect">
            <a:avLst/>
          </a:prstGeom>
          <a:noFill/>
          <a:ln/>
        </p:spPr>
        <p:txBody>
          <a:bodyPr wrap="square" lIns="0" tIns="0" rIns="0" bIns="0" rtlCol="0" anchor="ctr"/>
          <a:lstStyle/>
          <a:p>
            <a:pPr indent="0" marL="0">
              <a:buNone/>
            </a:pPr>
            <a:r>
              <a:rPr lang="en-US" sz="1200" dirty="0">
                <a:solidFill>
                  <a:srgbClr val="414A5A"/>
                </a:solidFill>
              </a:rPr>
              <a:t>A high OR indicates a statistical association, not proof that one factor caused another.</a:t>
            </a:r>
            <a:endParaRPr lang="en-US" sz="1200" dirty="0"/>
          </a:p>
        </p:txBody>
      </p:sp>
      <p:sp>
        <p:nvSpPr>
          <p:cNvPr id="37" name="Shape"/>
          <p:cNvSpPr/>
          <p:nvPr/>
        </p:nvSpPr>
        <p:spPr>
          <a:xfrm>
            <a:off x="4612538" y="4069080"/>
            <a:ext cx="2966618" cy="932688"/>
          </a:xfrm>
          <a:prstGeom prst="roundRect">
            <a:avLst>
              <a:gd name="adj" fmla="val 5882"/>
            </a:avLst>
          </a:prstGeom>
          <a:solidFill>
            <a:srgbClr val="E8F5EE"/>
          </a:solidFill>
          <a:ln/>
        </p:spPr>
      </p:sp>
      <p:sp>
        <p:nvSpPr>
          <p:cNvPr id="38" name="FaCheck disc"/>
          <p:cNvSpPr/>
          <p:nvPr/>
        </p:nvSpPr>
        <p:spPr>
          <a:xfrm>
            <a:off x="4795418" y="4315968"/>
            <a:ext cx="438912" cy="438912"/>
          </a:xfrm>
          <a:prstGeom prst="ellipse">
            <a:avLst/>
          </a:prstGeom>
          <a:solidFill>
            <a:srgbClr val="2F9E62"/>
          </a:solidFill>
          <a:ln/>
        </p:spPr>
      </p:sp>
      <p:pic>
        <p:nvPicPr>
          <p:cNvPr id="39" name="FaCheck" descr="preencoded.png">    </p:cNvPr>
          <p:cNvPicPr>
            <a:picLocks noChangeAspect="1"/>
          </p:cNvPicPr>
          <p:nvPr/>
        </p:nvPicPr>
        <p:blipFill>
          <a:blip r:embed="rId9"/>
          <a:stretch>
            <a:fillRect/>
          </a:stretch>
        </p:blipFill>
        <p:spPr>
          <a:xfrm>
            <a:off x="4909536" y="4430085"/>
            <a:ext cx="210678" cy="210678"/>
          </a:xfrm>
          <a:prstGeom prst="rect">
            <a:avLst/>
          </a:prstGeom>
        </p:spPr>
      </p:pic>
      <p:sp>
        <p:nvSpPr>
          <p:cNvPr id="40" name="Text"/>
          <p:cNvSpPr txBox="1"/>
          <p:nvPr/>
        </p:nvSpPr>
        <p:spPr>
          <a:xfrm>
            <a:off x="5389778" y="406908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1D7A48"/>
                </a:solidFill>
              </a:rPr>
              <a:t>A HIGH OR INDICATES</a:t>
            </a:r>
            <a:endParaRPr lang="en-US" sz="850" dirty="0"/>
          </a:p>
          <a:p>
            <a:pPr indent="0" marL="0">
              <a:spcAft>
                <a:spcPts val="300"/>
              </a:spcAft>
              <a:buNone/>
            </a:pPr>
            <a:r>
              <a:rPr lang="en-US" sz="1300" b="1" dirty="0">
                <a:solidFill>
                  <a:srgbClr val="1E2F5C"/>
                </a:solidFill>
              </a:rPr>
              <a:t>A statistical association</a:t>
            </a:r>
            <a:endParaRPr lang="en-US" sz="850" dirty="0"/>
          </a:p>
        </p:txBody>
      </p:sp>
      <p:sp>
        <p:nvSpPr>
          <p:cNvPr id="41" name="Shape"/>
          <p:cNvSpPr/>
          <p:nvPr/>
        </p:nvSpPr>
        <p:spPr>
          <a:xfrm>
            <a:off x="4612538" y="5120640"/>
            <a:ext cx="2966618" cy="932688"/>
          </a:xfrm>
          <a:prstGeom prst="roundRect">
            <a:avLst>
              <a:gd name="adj" fmla="val 5882"/>
            </a:avLst>
          </a:prstGeom>
          <a:solidFill>
            <a:srgbClr val="FCEDEC"/>
          </a:solidFill>
          <a:ln/>
        </p:spPr>
      </p:sp>
      <p:sp>
        <p:nvSpPr>
          <p:cNvPr id="42" name="FaTimes disc"/>
          <p:cNvSpPr/>
          <p:nvPr/>
        </p:nvSpPr>
        <p:spPr>
          <a:xfrm>
            <a:off x="4795418" y="5367528"/>
            <a:ext cx="438912" cy="438912"/>
          </a:xfrm>
          <a:prstGeom prst="ellipse">
            <a:avLst/>
          </a:prstGeom>
          <a:solidFill>
            <a:srgbClr val="DB4F4A"/>
          </a:solidFill>
          <a:ln/>
        </p:spPr>
      </p:sp>
      <p:pic>
        <p:nvPicPr>
          <p:cNvPr id="43" name="FaTimes" descr="preencoded.png">    </p:cNvPr>
          <p:cNvPicPr>
            <a:picLocks noChangeAspect="1"/>
          </p:cNvPicPr>
          <p:nvPr/>
        </p:nvPicPr>
        <p:blipFill>
          <a:blip r:embed="rId10"/>
          <a:stretch>
            <a:fillRect/>
          </a:stretch>
        </p:blipFill>
        <p:spPr>
          <a:xfrm>
            <a:off x="4909536" y="5481645"/>
            <a:ext cx="210678" cy="210678"/>
          </a:xfrm>
          <a:prstGeom prst="rect">
            <a:avLst/>
          </a:prstGeom>
        </p:spPr>
      </p:pic>
      <p:sp>
        <p:nvSpPr>
          <p:cNvPr id="44" name="Text"/>
          <p:cNvSpPr txBox="1"/>
          <p:nvPr/>
        </p:nvSpPr>
        <p:spPr>
          <a:xfrm>
            <a:off x="5389778" y="5120640"/>
            <a:ext cx="2052218" cy="932688"/>
          </a:xfrm>
          <a:prstGeom prst="rect">
            <a:avLst/>
          </a:prstGeom>
          <a:noFill/>
          <a:ln/>
        </p:spPr>
        <p:txBody>
          <a:bodyPr wrap="square" lIns="0" tIns="0" rIns="0" bIns="0" rtlCol="0" anchor="ctr"/>
          <a:lstStyle/>
          <a:p>
            <a:pPr indent="0" marL="0">
              <a:spcAft>
                <a:spcPts val="300"/>
              </a:spcAft>
              <a:buNone/>
            </a:pPr>
            <a:r>
              <a:rPr lang="en-US" sz="850" b="1" spc="150" kern="0" dirty="0">
                <a:solidFill>
                  <a:srgbClr val="B53A35"/>
                </a:solidFill>
              </a:rPr>
              <a:t>IT IS NOT</a:t>
            </a:r>
            <a:endParaRPr lang="en-US" sz="850" dirty="0"/>
          </a:p>
          <a:p>
            <a:pPr indent="0" marL="0">
              <a:spcAft>
                <a:spcPts val="300"/>
              </a:spcAft>
              <a:buNone/>
            </a:pPr>
            <a:r>
              <a:rPr lang="en-US" sz="1300" b="1" dirty="0">
                <a:solidFill>
                  <a:srgbClr val="1E2F5C"/>
                </a:solidFill>
              </a:rPr>
              <a:t>Proof that one factor caused another</a:t>
            </a:r>
            <a:endParaRPr lang="en-US" sz="850" dirty="0"/>
          </a:p>
        </p:txBody>
      </p:sp>
      <p:sp>
        <p:nvSpPr>
          <p:cNvPr id="45" name="Patterns and priorities card"/>
          <p:cNvSpPr/>
          <p:nvPr/>
        </p:nvSpPr>
        <p:spPr>
          <a:xfrm>
            <a:off x="8127797" y="1737360"/>
            <a:ext cx="3515258" cy="4462272"/>
          </a:xfrm>
          <a:prstGeom prst="roundRect">
            <a:avLst>
              <a:gd name="adj" fmla="val 208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46" name="Patterns and priorities icon disc"/>
          <p:cNvSpPr/>
          <p:nvPr/>
        </p:nvSpPr>
        <p:spPr>
          <a:xfrm>
            <a:off x="8383829" y="1956816"/>
            <a:ext cx="420624" cy="420624"/>
          </a:xfrm>
          <a:prstGeom prst="ellipse">
            <a:avLst/>
          </a:prstGeom>
          <a:solidFill>
            <a:srgbClr val="E8F5EE"/>
          </a:solidFill>
          <a:ln/>
        </p:spPr>
      </p:sp>
      <p:pic>
        <p:nvPicPr>
          <p:cNvPr id="47" name="Patterns and priorities icon" descr="preencoded.png">    </p:cNvPr>
          <p:cNvPicPr>
            <a:picLocks noChangeAspect="1"/>
          </p:cNvPicPr>
          <p:nvPr/>
        </p:nvPicPr>
        <p:blipFill>
          <a:blip r:embed="rId11"/>
          <a:stretch>
            <a:fillRect/>
          </a:stretch>
        </p:blipFill>
        <p:spPr>
          <a:xfrm>
            <a:off x="8484413" y="2057400"/>
            <a:ext cx="219456" cy="219456"/>
          </a:xfrm>
          <a:prstGeom prst="rect">
            <a:avLst/>
          </a:prstGeom>
        </p:spPr>
      </p:pic>
      <p:sp>
        <p:nvSpPr>
          <p:cNvPr id="48" name="Patterns and priorities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PATTERNS AND PRIORITIES</a:t>
            </a:r>
            <a:endParaRPr lang="en-US" sz="1000" dirty="0"/>
          </a:p>
        </p:txBody>
      </p:sp>
      <p:sp>
        <p:nvSpPr>
          <p:cNvPr id="49" name="Text"/>
          <p:cNvSpPr txBox="1"/>
          <p:nvPr/>
        </p:nvSpPr>
        <p:spPr>
          <a:xfrm>
            <a:off x="8402117" y="2578608"/>
            <a:ext cx="457200" cy="566928"/>
          </a:xfrm>
          <a:prstGeom prst="rect">
            <a:avLst/>
          </a:prstGeom>
          <a:noFill/>
          <a:ln/>
        </p:spPr>
        <p:txBody>
          <a:bodyPr wrap="square" lIns="0" tIns="0" rIns="0" bIns="0" rtlCol="0" anchor="t"/>
          <a:lstStyle/>
          <a:p>
            <a:pPr indent="0" marL="0">
              <a:buNone/>
            </a:pPr>
            <a:r>
              <a:rPr lang="en-US" sz="3000" b="1" dirty="0">
                <a:solidFill>
                  <a:srgbClr val="2F9E62"/>
                </a:solidFill>
              </a:rPr>
              <a:t>3</a:t>
            </a:r>
            <a:endParaRPr lang="en-US" sz="3000" dirty="0"/>
          </a:p>
        </p:txBody>
      </p:sp>
      <p:sp>
        <p:nvSpPr>
          <p:cNvPr id="50" name="Text"/>
          <p:cNvSpPr txBox="1"/>
          <p:nvPr/>
        </p:nvSpPr>
        <p:spPr>
          <a:xfrm>
            <a:off x="8877605" y="2615184"/>
            <a:ext cx="2509418" cy="566928"/>
          </a:xfrm>
          <a:prstGeom prst="rect">
            <a:avLst/>
          </a:prstGeom>
          <a:noFill/>
          <a:ln/>
        </p:spPr>
        <p:txBody>
          <a:bodyPr wrap="square" lIns="0" tIns="0" rIns="0" bIns="0" rtlCol="0" anchor="t"/>
          <a:lstStyle/>
          <a:p>
            <a:pPr indent="0" marL="0">
              <a:buNone/>
            </a:pPr>
            <a:r>
              <a:rPr lang="en-US" sz="1400" b="1" dirty="0">
                <a:solidFill>
                  <a:srgbClr val="1E2F5C"/>
                </a:solidFill>
              </a:rPr>
              <a:t>Useful for identifying patterns and priorities</a:t>
            </a:r>
            <a:endParaRPr lang="en-US" sz="1400" dirty="0"/>
          </a:p>
        </p:txBody>
      </p:sp>
      <p:sp>
        <p:nvSpPr>
          <p:cNvPr id="51" name="Text"/>
          <p:cNvSpPr txBox="1"/>
          <p:nvPr/>
        </p:nvSpPr>
        <p:spPr>
          <a:xfrm>
            <a:off x="8402117" y="3246120"/>
            <a:ext cx="2966618" cy="292608"/>
          </a:xfrm>
          <a:prstGeom prst="rect">
            <a:avLst/>
          </a:prstGeom>
          <a:noFill/>
          <a:ln/>
        </p:spPr>
        <p:txBody>
          <a:bodyPr wrap="square" lIns="0" tIns="0" rIns="0" bIns="0" rtlCol="0" anchor="ctr"/>
          <a:lstStyle/>
          <a:p>
            <a:pPr indent="0" marL="0">
              <a:buNone/>
            </a:pPr>
            <a:r>
              <a:rPr lang="en-US" sz="1200" dirty="0">
                <a:solidFill>
                  <a:srgbClr val="414A5A"/>
                </a:solidFill>
              </a:rPr>
              <a:t>The findings allow us to identify:</a:t>
            </a:r>
            <a:endParaRPr lang="en-US" sz="1200" dirty="0"/>
          </a:p>
        </p:txBody>
      </p:sp>
      <p:sp>
        <p:nvSpPr>
          <p:cNvPr id="52" name="FaUsers disc"/>
          <p:cNvSpPr/>
          <p:nvPr/>
        </p:nvSpPr>
        <p:spPr>
          <a:xfrm>
            <a:off x="8402117" y="3657600"/>
            <a:ext cx="347472" cy="347472"/>
          </a:xfrm>
          <a:prstGeom prst="ellipse">
            <a:avLst/>
          </a:prstGeom>
          <a:solidFill>
            <a:srgbClr val="E8F5EE"/>
          </a:solidFill>
          <a:ln/>
        </p:spPr>
      </p:sp>
      <p:pic>
        <p:nvPicPr>
          <p:cNvPr id="53" name="FaUsers" descr="preencoded.png">    </p:cNvPr>
          <p:cNvPicPr>
            <a:picLocks noChangeAspect="1"/>
          </p:cNvPicPr>
          <p:nvPr/>
        </p:nvPicPr>
        <p:blipFill>
          <a:blip r:embed="rId12"/>
          <a:stretch>
            <a:fillRect/>
          </a:stretch>
        </p:blipFill>
        <p:spPr>
          <a:xfrm>
            <a:off x="8492460" y="3747943"/>
            <a:ext cx="166787" cy="166787"/>
          </a:xfrm>
          <a:prstGeom prst="rect">
            <a:avLst/>
          </a:prstGeom>
        </p:spPr>
      </p:pic>
      <p:sp>
        <p:nvSpPr>
          <p:cNvPr id="54" name="Text"/>
          <p:cNvSpPr txBox="1"/>
          <p:nvPr/>
        </p:nvSpPr>
        <p:spPr>
          <a:xfrm>
            <a:off x="8877605" y="3593592"/>
            <a:ext cx="2509418" cy="475488"/>
          </a:xfrm>
          <a:prstGeom prst="rect">
            <a:avLst/>
          </a:prstGeom>
          <a:noFill/>
          <a:ln/>
        </p:spPr>
        <p:txBody>
          <a:bodyPr wrap="square" lIns="0" tIns="0" rIns="0" bIns="0" rtlCol="0" anchor="ctr"/>
          <a:lstStyle/>
          <a:p>
            <a:pPr indent="0" marL="0">
              <a:buNone/>
            </a:pPr>
            <a:r>
              <a:rPr lang="en-US" sz="1100" dirty="0">
                <a:solidFill>
                  <a:srgbClr val="414A5A"/>
                </a:solidFill>
              </a:rPr>
              <a:t>Patterns within the sampled population.</a:t>
            </a:r>
            <a:endParaRPr lang="en-US" sz="1100" dirty="0"/>
          </a:p>
        </p:txBody>
      </p:sp>
      <p:sp>
        <p:nvSpPr>
          <p:cNvPr id="55" name="FaChartBar disc"/>
          <p:cNvSpPr/>
          <p:nvPr/>
        </p:nvSpPr>
        <p:spPr>
          <a:xfrm>
            <a:off x="8402117" y="4142232"/>
            <a:ext cx="347472" cy="347472"/>
          </a:xfrm>
          <a:prstGeom prst="ellipse">
            <a:avLst/>
          </a:prstGeom>
          <a:solidFill>
            <a:srgbClr val="E8F5EE"/>
          </a:solidFill>
          <a:ln/>
        </p:spPr>
      </p:sp>
      <p:pic>
        <p:nvPicPr>
          <p:cNvPr id="56" name="FaChartBar" descr="preencoded.png">    </p:cNvPr>
          <p:cNvPicPr>
            <a:picLocks noChangeAspect="1"/>
          </p:cNvPicPr>
          <p:nvPr/>
        </p:nvPicPr>
        <p:blipFill>
          <a:blip r:embed="rId13"/>
          <a:stretch>
            <a:fillRect/>
          </a:stretch>
        </p:blipFill>
        <p:spPr>
          <a:xfrm>
            <a:off x="8492460" y="4232575"/>
            <a:ext cx="166787" cy="166787"/>
          </a:xfrm>
          <a:prstGeom prst="rect">
            <a:avLst/>
          </a:prstGeom>
        </p:spPr>
      </p:pic>
      <p:sp>
        <p:nvSpPr>
          <p:cNvPr id="57" name="Text"/>
          <p:cNvSpPr txBox="1"/>
          <p:nvPr/>
        </p:nvSpPr>
        <p:spPr>
          <a:xfrm>
            <a:off x="8877605" y="4078224"/>
            <a:ext cx="2509418" cy="475488"/>
          </a:xfrm>
          <a:prstGeom prst="rect">
            <a:avLst/>
          </a:prstGeom>
          <a:noFill/>
          <a:ln/>
        </p:spPr>
        <p:txBody>
          <a:bodyPr wrap="square" lIns="0" tIns="0" rIns="0" bIns="0" rtlCol="0" anchor="ctr"/>
          <a:lstStyle/>
          <a:p>
            <a:pPr indent="0" marL="0">
              <a:buNone/>
            </a:pPr>
            <a:r>
              <a:rPr lang="en-US" sz="1100" dirty="0">
                <a:solidFill>
                  <a:srgbClr val="414A5A"/>
                </a:solidFill>
              </a:rPr>
              <a:t>Differences between sub-groups.</a:t>
            </a:r>
            <a:endParaRPr lang="en-US" sz="1100" dirty="0"/>
          </a:p>
        </p:txBody>
      </p:sp>
      <p:sp>
        <p:nvSpPr>
          <p:cNvPr id="58" name="FaProjectDiagram disc"/>
          <p:cNvSpPr/>
          <p:nvPr/>
        </p:nvSpPr>
        <p:spPr>
          <a:xfrm>
            <a:off x="8402117" y="4626864"/>
            <a:ext cx="347472" cy="347472"/>
          </a:xfrm>
          <a:prstGeom prst="ellipse">
            <a:avLst/>
          </a:prstGeom>
          <a:solidFill>
            <a:srgbClr val="E8F5EE"/>
          </a:solidFill>
          <a:ln/>
        </p:spPr>
      </p:sp>
      <p:pic>
        <p:nvPicPr>
          <p:cNvPr id="59" name="FaProjectDiagram" descr="preencoded.png">    </p:cNvPr>
          <p:cNvPicPr>
            <a:picLocks noChangeAspect="1"/>
          </p:cNvPicPr>
          <p:nvPr/>
        </p:nvPicPr>
        <p:blipFill>
          <a:blip r:embed="rId14"/>
          <a:stretch>
            <a:fillRect/>
          </a:stretch>
        </p:blipFill>
        <p:spPr>
          <a:xfrm>
            <a:off x="8492460" y="4717207"/>
            <a:ext cx="166787" cy="166787"/>
          </a:xfrm>
          <a:prstGeom prst="rect">
            <a:avLst/>
          </a:prstGeom>
        </p:spPr>
      </p:pic>
      <p:sp>
        <p:nvSpPr>
          <p:cNvPr id="60" name="Text"/>
          <p:cNvSpPr txBox="1"/>
          <p:nvPr/>
        </p:nvSpPr>
        <p:spPr>
          <a:xfrm>
            <a:off x="8877605" y="4562856"/>
            <a:ext cx="2509418" cy="475488"/>
          </a:xfrm>
          <a:prstGeom prst="rect">
            <a:avLst/>
          </a:prstGeom>
          <a:noFill/>
          <a:ln/>
        </p:spPr>
        <p:txBody>
          <a:bodyPr wrap="square" lIns="0" tIns="0" rIns="0" bIns="0" rtlCol="0" anchor="ctr"/>
          <a:lstStyle/>
          <a:p>
            <a:pPr indent="0" marL="0">
              <a:buNone/>
            </a:pPr>
            <a:r>
              <a:rPr lang="en-US" sz="1100" dirty="0">
                <a:solidFill>
                  <a:srgbClr val="414A5A"/>
                </a:solidFill>
              </a:rPr>
              <a:t>Associations between vulnerabilities.</a:t>
            </a:r>
            <a:endParaRPr lang="en-US" sz="1100" dirty="0"/>
          </a:p>
        </p:txBody>
      </p:sp>
      <p:sp>
        <p:nvSpPr>
          <p:cNvPr id="61" name="FaSearch disc"/>
          <p:cNvSpPr/>
          <p:nvPr/>
        </p:nvSpPr>
        <p:spPr>
          <a:xfrm>
            <a:off x="8402117" y="5111496"/>
            <a:ext cx="347472" cy="347472"/>
          </a:xfrm>
          <a:prstGeom prst="ellipse">
            <a:avLst/>
          </a:prstGeom>
          <a:solidFill>
            <a:srgbClr val="E8F5EE"/>
          </a:solidFill>
          <a:ln/>
        </p:spPr>
      </p:sp>
      <p:pic>
        <p:nvPicPr>
          <p:cNvPr id="62" name="FaSearch" descr="preencoded.png">    </p:cNvPr>
          <p:cNvPicPr>
            <a:picLocks noChangeAspect="1"/>
          </p:cNvPicPr>
          <p:nvPr/>
        </p:nvPicPr>
        <p:blipFill>
          <a:blip r:embed="rId15"/>
          <a:stretch>
            <a:fillRect/>
          </a:stretch>
        </p:blipFill>
        <p:spPr>
          <a:xfrm>
            <a:off x="8492460" y="5201839"/>
            <a:ext cx="166787" cy="166787"/>
          </a:xfrm>
          <a:prstGeom prst="rect">
            <a:avLst/>
          </a:prstGeom>
        </p:spPr>
      </p:pic>
      <p:sp>
        <p:nvSpPr>
          <p:cNvPr id="63" name="Text"/>
          <p:cNvSpPr txBox="1"/>
          <p:nvPr/>
        </p:nvSpPr>
        <p:spPr>
          <a:xfrm>
            <a:off x="8877605" y="5047488"/>
            <a:ext cx="2509418" cy="475488"/>
          </a:xfrm>
          <a:prstGeom prst="rect">
            <a:avLst/>
          </a:prstGeom>
          <a:noFill/>
          <a:ln/>
        </p:spPr>
        <p:txBody>
          <a:bodyPr wrap="square" lIns="0" tIns="0" rIns="0" bIns="0" rtlCol="0" anchor="ctr"/>
          <a:lstStyle/>
          <a:p>
            <a:pPr indent="0" marL="0">
              <a:buNone/>
            </a:pPr>
            <a:r>
              <a:rPr lang="en-US" sz="1100" dirty="0">
                <a:solidFill>
                  <a:srgbClr val="414A5A"/>
                </a:solidFill>
              </a:rPr>
              <a:t>Areas of concern requiring further investigation.</a:t>
            </a:r>
            <a:endParaRPr lang="en-US" sz="1100" dirty="0"/>
          </a:p>
        </p:txBody>
      </p:sp>
      <p:sp>
        <p:nvSpPr>
          <p:cNvPr id="64" name="FaCog disc"/>
          <p:cNvSpPr/>
          <p:nvPr/>
        </p:nvSpPr>
        <p:spPr>
          <a:xfrm>
            <a:off x="8402117" y="5596128"/>
            <a:ext cx="347472" cy="347472"/>
          </a:xfrm>
          <a:prstGeom prst="ellipse">
            <a:avLst/>
          </a:prstGeom>
          <a:solidFill>
            <a:srgbClr val="E8F5EE"/>
          </a:solidFill>
          <a:ln/>
        </p:spPr>
      </p:sp>
      <p:pic>
        <p:nvPicPr>
          <p:cNvPr id="65" name="FaCog" descr="preencoded.png">    </p:cNvPr>
          <p:cNvPicPr>
            <a:picLocks noChangeAspect="1"/>
          </p:cNvPicPr>
          <p:nvPr/>
        </p:nvPicPr>
        <p:blipFill>
          <a:blip r:embed="rId16"/>
          <a:stretch>
            <a:fillRect/>
          </a:stretch>
        </p:blipFill>
        <p:spPr>
          <a:xfrm>
            <a:off x="8492460" y="5686471"/>
            <a:ext cx="166787" cy="166787"/>
          </a:xfrm>
          <a:prstGeom prst="rect">
            <a:avLst/>
          </a:prstGeom>
        </p:spPr>
      </p:pic>
      <p:sp>
        <p:nvSpPr>
          <p:cNvPr id="66" name="Text"/>
          <p:cNvSpPr txBox="1"/>
          <p:nvPr/>
        </p:nvSpPr>
        <p:spPr>
          <a:xfrm>
            <a:off x="8877605" y="5532120"/>
            <a:ext cx="2509418" cy="475488"/>
          </a:xfrm>
          <a:prstGeom prst="rect">
            <a:avLst/>
          </a:prstGeom>
          <a:noFill/>
          <a:ln/>
        </p:spPr>
        <p:txBody>
          <a:bodyPr wrap="square" lIns="0" tIns="0" rIns="0" bIns="0" rtlCol="0" anchor="ctr"/>
          <a:lstStyle/>
          <a:p>
            <a:pPr indent="0" marL="0">
              <a:buNone/>
            </a:pPr>
            <a:r>
              <a:rPr lang="en-US" sz="1100" dirty="0">
                <a:solidFill>
                  <a:srgbClr val="414A5A"/>
                </a:solidFill>
              </a:rPr>
              <a:t>Relationships that may inform programming and policy discussions.</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p:cTn id="42" dur="550" decel="100000" fill="hold"/>
                                        <p:tgtEl>
                                          <p:spTgt spid="30"/>
                                        </p:tgtEl>
                                        <p:attrNameLst>
                                          <p:attrName>ppt_x</p:attrName>
                                        </p:attrNameLst>
                                      </p:cBhvr>
                                      <p:tavLst>
                                        <p:tav tm="0">
                                          <p:val>
                                            <p:strVal val="#ppt_x"/>
                                          </p:val>
                                        </p:tav>
                                        <p:tav tm="100000">
                                          <p:val>
                                            <p:strVal val="#ppt_x"/>
                                          </p:val>
                                        </p:tav>
                                      </p:tavLst>
                                    </p:anim>
                                    <p:anim calcmode="lin" valueType="num">
                                      <p:cBhvr>
                                        <p:cTn id="43" dur="550" decel="100000" fill="hold"/>
                                        <p:tgtEl>
                                          <p:spTgt spid="30"/>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550"/>
                                        <p:tgtEl>
                                          <p:spTgt spid="31"/>
                                        </p:tgtEl>
                                      </p:cBhvr>
                                    </p:animEffect>
                                    <p:anim calcmode="lin" valueType="num">
                                      <p:cBhvr>
                                        <p:cTn id="47" dur="550" decel="100000" fill="hold"/>
                                        <p:tgtEl>
                                          <p:spTgt spid="31"/>
                                        </p:tgtEl>
                                        <p:attrNameLst>
                                          <p:attrName>ppt_x</p:attrName>
                                        </p:attrNameLst>
                                      </p:cBhvr>
                                      <p:tavLst>
                                        <p:tav tm="0">
                                          <p:val>
                                            <p:strVal val="#ppt_x"/>
                                          </p:val>
                                        </p:tav>
                                        <p:tav tm="100000">
                                          <p:val>
                                            <p:strVal val="#ppt_x"/>
                                          </p:val>
                                        </p:tav>
                                      </p:tavLst>
                                    </p:anim>
                                    <p:anim calcmode="lin" valueType="num">
                                      <p:cBhvr>
                                        <p:cTn id="48" dur="550" decel="100000" fill="hold"/>
                                        <p:tgtEl>
                                          <p:spTgt spid="31"/>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p:cTn id="52" dur="550" decel="100000" fill="hold"/>
                                        <p:tgtEl>
                                          <p:spTgt spid="32"/>
                                        </p:tgtEl>
                                        <p:attrNameLst>
                                          <p:attrName>ppt_x</p:attrName>
                                        </p:attrNameLst>
                                      </p:cBhvr>
                                      <p:tavLst>
                                        <p:tav tm="0">
                                          <p:val>
                                            <p:strVal val="#ppt_x"/>
                                          </p:val>
                                        </p:tav>
                                        <p:tav tm="100000">
                                          <p:val>
                                            <p:strVal val="#ppt_x"/>
                                          </p:val>
                                        </p:tav>
                                      </p:tavLst>
                                    </p:anim>
                                    <p:anim calcmode="lin" valueType="num">
                                      <p:cBhvr>
                                        <p:cTn id="53" dur="550" decel="100000" fill="hold"/>
                                        <p:tgtEl>
                                          <p:spTgt spid="32"/>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550"/>
                                        <p:tgtEl>
                                          <p:spTgt spid="33"/>
                                        </p:tgtEl>
                                      </p:cBhvr>
                                    </p:animEffect>
                                    <p:anim calcmode="lin" valueType="num">
                                      <p:cBhvr>
                                        <p:cTn id="57" dur="550" decel="100000" fill="hold"/>
                                        <p:tgtEl>
                                          <p:spTgt spid="33"/>
                                        </p:tgtEl>
                                        <p:attrNameLst>
                                          <p:attrName>ppt_x</p:attrName>
                                        </p:attrNameLst>
                                      </p:cBhvr>
                                      <p:tavLst>
                                        <p:tav tm="0">
                                          <p:val>
                                            <p:strVal val="#ppt_x"/>
                                          </p:val>
                                        </p:tav>
                                        <p:tav tm="100000">
                                          <p:val>
                                            <p:strVal val="#ppt_x"/>
                                          </p:val>
                                        </p:tav>
                                      </p:tavLst>
                                    </p:anim>
                                    <p:anim calcmode="lin" valueType="num">
                                      <p:cBhvr>
                                        <p:cTn id="58" dur="550" decel="100000" fill="hold"/>
                                        <p:tgtEl>
                                          <p:spTgt spid="33"/>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15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550"/>
                                        <p:tgtEl>
                                          <p:spTgt spid="34"/>
                                        </p:tgtEl>
                                      </p:cBhvr>
                                    </p:animEffect>
                                    <p:anim calcmode="lin" valueType="num">
                                      <p:cBhvr>
                                        <p:cTn id="62" dur="550" decel="100000" fill="hold"/>
                                        <p:tgtEl>
                                          <p:spTgt spid="34"/>
                                        </p:tgtEl>
                                        <p:attrNameLst>
                                          <p:attrName>ppt_x</p:attrName>
                                        </p:attrNameLst>
                                      </p:cBhvr>
                                      <p:tavLst>
                                        <p:tav tm="0">
                                          <p:val>
                                            <p:strVal val="#ppt_x"/>
                                          </p:val>
                                        </p:tav>
                                        <p:tav tm="100000">
                                          <p:val>
                                            <p:strVal val="#ppt_x"/>
                                          </p:val>
                                        </p:tav>
                                      </p:tavLst>
                                    </p:anim>
                                    <p:anim calcmode="lin" valueType="num">
                                      <p:cBhvr>
                                        <p:cTn id="63" dur="550" decel="100000" fill="hold"/>
                                        <p:tgtEl>
                                          <p:spTgt spid="34"/>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150"/>
                                  </p:stCondLst>
                                  <p:childTnLst>
                                    <p:set>
                                      <p:cBhvr>
                                        <p:cTn id="65" dur="1" fill="hold">
                                          <p:stCondLst>
                                            <p:cond delay="0"/>
                                          </p:stCondLst>
                                        </p:cTn>
                                        <p:tgtEl>
                                          <p:spTgt spid="35"/>
                                        </p:tgtEl>
                                        <p:attrNameLst>
                                          <p:attrName>style.visibility</p:attrName>
                                        </p:attrNameLst>
                                      </p:cBhvr>
                                      <p:to>
                                        <p:strVal val="visible"/>
                                      </p:to>
                                    </p:set>
                                    <p:animEffect transition="in" filter="fade">
                                      <p:cBhvr>
                                        <p:cTn id="66" dur="550"/>
                                        <p:tgtEl>
                                          <p:spTgt spid="35"/>
                                        </p:tgtEl>
                                      </p:cBhvr>
                                    </p:animEffect>
                                    <p:anim calcmode="lin" valueType="num">
                                      <p:cBhvr>
                                        <p:cTn id="67" dur="550" decel="100000" fill="hold"/>
                                        <p:tgtEl>
                                          <p:spTgt spid="35"/>
                                        </p:tgtEl>
                                        <p:attrNameLst>
                                          <p:attrName>ppt_x</p:attrName>
                                        </p:attrNameLst>
                                      </p:cBhvr>
                                      <p:tavLst>
                                        <p:tav tm="0">
                                          <p:val>
                                            <p:strVal val="#ppt_x"/>
                                          </p:val>
                                        </p:tav>
                                        <p:tav tm="100000">
                                          <p:val>
                                            <p:strVal val="#ppt_x"/>
                                          </p:val>
                                        </p:tav>
                                      </p:tavLst>
                                    </p:anim>
                                    <p:anim calcmode="lin" valueType="num">
                                      <p:cBhvr>
                                        <p:cTn id="68" dur="550" decel="100000" fill="hold"/>
                                        <p:tgtEl>
                                          <p:spTgt spid="35"/>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15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p:cTn id="72" dur="550" decel="100000" fill="hold"/>
                                        <p:tgtEl>
                                          <p:spTgt spid="36"/>
                                        </p:tgtEl>
                                        <p:attrNameLst>
                                          <p:attrName>ppt_x</p:attrName>
                                        </p:attrNameLst>
                                      </p:cBhvr>
                                      <p:tavLst>
                                        <p:tav tm="0">
                                          <p:val>
                                            <p:strVal val="#ppt_x"/>
                                          </p:val>
                                        </p:tav>
                                        <p:tav tm="100000">
                                          <p:val>
                                            <p:strVal val="#ppt_x"/>
                                          </p:val>
                                        </p:tav>
                                      </p:tavLst>
                                    </p:anim>
                                    <p:anim calcmode="lin" valueType="num">
                                      <p:cBhvr>
                                        <p:cTn id="73" dur="550" decel="100000" fill="hold"/>
                                        <p:tgtEl>
                                          <p:spTgt spid="36"/>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0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550"/>
                                        <p:tgtEl>
                                          <p:spTgt spid="16"/>
                                        </p:tgtEl>
                                      </p:cBhvr>
                                    </p:animEffect>
                                    <p:anim calcmode="lin" valueType="num">
                                      <p:cBhvr>
                                        <p:cTn id="77" dur="550" decel="100000" fill="hold"/>
                                        <p:tgtEl>
                                          <p:spTgt spid="16"/>
                                        </p:tgtEl>
                                        <p:attrNameLst>
                                          <p:attrName>ppt_x</p:attrName>
                                        </p:attrNameLst>
                                      </p:cBhvr>
                                      <p:tavLst>
                                        <p:tav tm="0">
                                          <p:val>
                                            <p:strVal val="#ppt_x"/>
                                          </p:val>
                                        </p:tav>
                                        <p:tav tm="100000">
                                          <p:val>
                                            <p:strVal val="#ppt_x"/>
                                          </p:val>
                                        </p:tav>
                                      </p:tavLst>
                                    </p:anim>
                                    <p:anim calcmode="lin" valueType="num">
                                      <p:cBhvr>
                                        <p:cTn id="78" dur="550" decel="100000" fill="hold"/>
                                        <p:tgtEl>
                                          <p:spTgt spid="16"/>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20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550"/>
                                        <p:tgtEl>
                                          <p:spTgt spid="17"/>
                                        </p:tgtEl>
                                      </p:cBhvr>
                                    </p:animEffect>
                                    <p:anim calcmode="lin" valueType="num">
                                      <p:cBhvr>
                                        <p:cTn id="82" dur="550" decel="100000" fill="hold"/>
                                        <p:tgtEl>
                                          <p:spTgt spid="17"/>
                                        </p:tgtEl>
                                        <p:attrNameLst>
                                          <p:attrName>ppt_x</p:attrName>
                                        </p:attrNameLst>
                                      </p:cBhvr>
                                      <p:tavLst>
                                        <p:tav tm="0">
                                          <p:val>
                                            <p:strVal val="#ppt_x"/>
                                          </p:val>
                                        </p:tav>
                                        <p:tav tm="100000">
                                          <p:val>
                                            <p:strVal val="#ppt_x"/>
                                          </p:val>
                                        </p:tav>
                                      </p:tavLst>
                                    </p:anim>
                                    <p:anim calcmode="lin" valueType="num">
                                      <p:cBhvr>
                                        <p:cTn id="83" dur="550" decel="100000" fill="hold"/>
                                        <p:tgtEl>
                                          <p:spTgt spid="17"/>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20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550"/>
                                        <p:tgtEl>
                                          <p:spTgt spid="18"/>
                                        </p:tgtEl>
                                      </p:cBhvr>
                                    </p:animEffect>
                                    <p:anim calcmode="lin" valueType="num">
                                      <p:cBhvr>
                                        <p:cTn id="87" dur="550" decel="100000" fill="hold"/>
                                        <p:tgtEl>
                                          <p:spTgt spid="18"/>
                                        </p:tgtEl>
                                        <p:attrNameLst>
                                          <p:attrName>ppt_x</p:attrName>
                                        </p:attrNameLst>
                                      </p:cBhvr>
                                      <p:tavLst>
                                        <p:tav tm="0">
                                          <p:val>
                                            <p:strVal val="#ppt_x"/>
                                          </p:val>
                                        </p:tav>
                                        <p:tav tm="100000">
                                          <p:val>
                                            <p:strVal val="#ppt_x"/>
                                          </p:val>
                                        </p:tav>
                                      </p:tavLst>
                                    </p:anim>
                                    <p:anim calcmode="lin" valueType="num">
                                      <p:cBhvr>
                                        <p:cTn id="88" dur="550" decel="100000" fill="hold"/>
                                        <p:tgtEl>
                                          <p:spTgt spid="18"/>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20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550"/>
                                        <p:tgtEl>
                                          <p:spTgt spid="19"/>
                                        </p:tgtEl>
                                      </p:cBhvr>
                                    </p:animEffect>
                                    <p:anim calcmode="lin" valueType="num">
                                      <p:cBhvr>
                                        <p:cTn id="92" dur="550" decel="100000" fill="hold"/>
                                        <p:tgtEl>
                                          <p:spTgt spid="19"/>
                                        </p:tgtEl>
                                        <p:attrNameLst>
                                          <p:attrName>ppt_x</p:attrName>
                                        </p:attrNameLst>
                                      </p:cBhvr>
                                      <p:tavLst>
                                        <p:tav tm="0">
                                          <p:val>
                                            <p:strVal val="#ppt_x"/>
                                          </p:val>
                                        </p:tav>
                                        <p:tav tm="100000">
                                          <p:val>
                                            <p:strVal val="#ppt_x"/>
                                          </p:val>
                                        </p:tav>
                                      </p:tavLst>
                                    </p:anim>
                                    <p:anim calcmode="lin" valueType="num">
                                      <p:cBhvr>
                                        <p:cTn id="93" dur="550" decel="100000" fill="hold"/>
                                        <p:tgtEl>
                                          <p:spTgt spid="19"/>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20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550"/>
                                        <p:tgtEl>
                                          <p:spTgt spid="20"/>
                                        </p:tgtEl>
                                      </p:cBhvr>
                                    </p:animEffect>
                                    <p:anim calcmode="lin" valueType="num">
                                      <p:cBhvr>
                                        <p:cTn id="97" dur="550" decel="100000" fill="hold"/>
                                        <p:tgtEl>
                                          <p:spTgt spid="20"/>
                                        </p:tgtEl>
                                        <p:attrNameLst>
                                          <p:attrName>ppt_x</p:attrName>
                                        </p:attrNameLst>
                                      </p:cBhvr>
                                      <p:tavLst>
                                        <p:tav tm="0">
                                          <p:val>
                                            <p:strVal val="#ppt_x"/>
                                          </p:val>
                                        </p:tav>
                                        <p:tav tm="100000">
                                          <p:val>
                                            <p:strVal val="#ppt_x"/>
                                          </p:val>
                                        </p:tav>
                                      </p:tavLst>
                                    </p:anim>
                                    <p:anim calcmode="lin" valueType="num">
                                      <p:cBhvr>
                                        <p:cTn id="98" dur="550" decel="100000" fill="hold"/>
                                        <p:tgtEl>
                                          <p:spTgt spid="20"/>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20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50"/>
                                        <p:tgtEl>
                                          <p:spTgt spid="21"/>
                                        </p:tgtEl>
                                      </p:cBhvr>
                                    </p:animEffect>
                                    <p:anim calcmode="lin" valueType="num">
                                      <p:cBhvr>
                                        <p:cTn id="102" dur="550" decel="100000" fill="hold"/>
                                        <p:tgtEl>
                                          <p:spTgt spid="21"/>
                                        </p:tgtEl>
                                        <p:attrNameLst>
                                          <p:attrName>ppt_x</p:attrName>
                                        </p:attrNameLst>
                                      </p:cBhvr>
                                      <p:tavLst>
                                        <p:tav tm="0">
                                          <p:val>
                                            <p:strVal val="#ppt_x"/>
                                          </p:val>
                                        </p:tav>
                                        <p:tav tm="100000">
                                          <p:val>
                                            <p:strVal val="#ppt_x"/>
                                          </p:val>
                                        </p:tav>
                                      </p:tavLst>
                                    </p:anim>
                                    <p:anim calcmode="lin" valueType="num">
                                      <p:cBhvr>
                                        <p:cTn id="103" dur="550" decel="100000" fill="hold"/>
                                        <p:tgtEl>
                                          <p:spTgt spid="21"/>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20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550"/>
                                        <p:tgtEl>
                                          <p:spTgt spid="22"/>
                                        </p:tgtEl>
                                      </p:cBhvr>
                                    </p:animEffect>
                                    <p:anim calcmode="lin" valueType="num">
                                      <p:cBhvr>
                                        <p:cTn id="107" dur="550" decel="100000" fill="hold"/>
                                        <p:tgtEl>
                                          <p:spTgt spid="22"/>
                                        </p:tgtEl>
                                        <p:attrNameLst>
                                          <p:attrName>ppt_x</p:attrName>
                                        </p:attrNameLst>
                                      </p:cBhvr>
                                      <p:tavLst>
                                        <p:tav tm="0">
                                          <p:val>
                                            <p:strVal val="#ppt_x"/>
                                          </p:val>
                                        </p:tav>
                                        <p:tav tm="100000">
                                          <p:val>
                                            <p:strVal val="#ppt_x"/>
                                          </p:val>
                                        </p:tav>
                                      </p:tavLst>
                                    </p:anim>
                                    <p:anim calcmode="lin" valueType="num">
                                      <p:cBhvr>
                                        <p:cTn id="108" dur="550" decel="100000" fill="hold"/>
                                        <p:tgtEl>
                                          <p:spTgt spid="22"/>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20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550"/>
                                        <p:tgtEl>
                                          <p:spTgt spid="23"/>
                                        </p:tgtEl>
                                      </p:cBhvr>
                                    </p:animEffect>
                                    <p:anim calcmode="lin" valueType="num">
                                      <p:cBhvr>
                                        <p:cTn id="112" dur="550" decel="100000" fill="hold"/>
                                        <p:tgtEl>
                                          <p:spTgt spid="23"/>
                                        </p:tgtEl>
                                        <p:attrNameLst>
                                          <p:attrName>ppt_x</p:attrName>
                                        </p:attrNameLst>
                                      </p:cBhvr>
                                      <p:tavLst>
                                        <p:tav tm="0">
                                          <p:val>
                                            <p:strVal val="#ppt_x"/>
                                          </p:val>
                                        </p:tav>
                                        <p:tav tm="100000">
                                          <p:val>
                                            <p:strVal val="#ppt_x"/>
                                          </p:val>
                                        </p:tav>
                                      </p:tavLst>
                                    </p:anim>
                                    <p:anim calcmode="lin" valueType="num">
                                      <p:cBhvr>
                                        <p:cTn id="113" dur="550" decel="100000" fill="hold"/>
                                        <p:tgtEl>
                                          <p:spTgt spid="23"/>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20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550"/>
                                        <p:tgtEl>
                                          <p:spTgt spid="24"/>
                                        </p:tgtEl>
                                      </p:cBhvr>
                                    </p:animEffect>
                                    <p:anim calcmode="lin" valueType="num">
                                      <p:cBhvr>
                                        <p:cTn id="117" dur="550" decel="100000" fill="hold"/>
                                        <p:tgtEl>
                                          <p:spTgt spid="24"/>
                                        </p:tgtEl>
                                        <p:attrNameLst>
                                          <p:attrName>ppt_x</p:attrName>
                                        </p:attrNameLst>
                                      </p:cBhvr>
                                      <p:tavLst>
                                        <p:tav tm="0">
                                          <p:val>
                                            <p:strVal val="#ppt_x"/>
                                          </p:val>
                                        </p:tav>
                                        <p:tav tm="100000">
                                          <p:val>
                                            <p:strVal val="#ppt_x"/>
                                          </p:val>
                                        </p:tav>
                                      </p:tavLst>
                                    </p:anim>
                                    <p:anim calcmode="lin" valueType="num">
                                      <p:cBhvr>
                                        <p:cTn id="118" dur="550" decel="100000" fill="hold"/>
                                        <p:tgtEl>
                                          <p:spTgt spid="24"/>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20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50"/>
                                        <p:tgtEl>
                                          <p:spTgt spid="25"/>
                                        </p:tgtEl>
                                      </p:cBhvr>
                                    </p:animEffect>
                                    <p:anim calcmode="lin" valueType="num">
                                      <p:cBhvr>
                                        <p:cTn id="122" dur="550" decel="100000" fill="hold"/>
                                        <p:tgtEl>
                                          <p:spTgt spid="25"/>
                                        </p:tgtEl>
                                        <p:attrNameLst>
                                          <p:attrName>ppt_x</p:attrName>
                                        </p:attrNameLst>
                                      </p:cBhvr>
                                      <p:tavLst>
                                        <p:tav tm="0">
                                          <p:val>
                                            <p:strVal val="#ppt_x"/>
                                          </p:val>
                                        </p:tav>
                                        <p:tav tm="100000">
                                          <p:val>
                                            <p:strVal val="#ppt_x"/>
                                          </p:val>
                                        </p:tav>
                                      </p:tavLst>
                                    </p:anim>
                                    <p:anim calcmode="lin" valueType="num">
                                      <p:cBhvr>
                                        <p:cTn id="123" dur="550" decel="100000" fill="hold"/>
                                        <p:tgtEl>
                                          <p:spTgt spid="25"/>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300"/>
                                  </p:stCondLst>
                                  <p:childTnLst>
                                    <p:set>
                                      <p:cBhvr>
                                        <p:cTn id="125" dur="1" fill="hold">
                                          <p:stCondLst>
                                            <p:cond delay="0"/>
                                          </p:stCondLst>
                                        </p:cTn>
                                        <p:tgtEl>
                                          <p:spTgt spid="45"/>
                                        </p:tgtEl>
                                        <p:attrNameLst>
                                          <p:attrName>style.visibility</p:attrName>
                                        </p:attrNameLst>
                                      </p:cBhvr>
                                      <p:to>
                                        <p:strVal val="visible"/>
                                      </p:to>
                                    </p:set>
                                    <p:animEffect transition="in" filter="fade">
                                      <p:cBhvr>
                                        <p:cTn id="126" dur="550"/>
                                        <p:tgtEl>
                                          <p:spTgt spid="45"/>
                                        </p:tgtEl>
                                      </p:cBhvr>
                                    </p:animEffect>
                                    <p:anim calcmode="lin" valueType="num">
                                      <p:cBhvr>
                                        <p:cTn id="127" dur="550" decel="100000" fill="hold"/>
                                        <p:tgtEl>
                                          <p:spTgt spid="45"/>
                                        </p:tgtEl>
                                        <p:attrNameLst>
                                          <p:attrName>ppt_x</p:attrName>
                                        </p:attrNameLst>
                                      </p:cBhvr>
                                      <p:tavLst>
                                        <p:tav tm="0">
                                          <p:val>
                                            <p:strVal val="#ppt_x"/>
                                          </p:val>
                                        </p:tav>
                                        <p:tav tm="100000">
                                          <p:val>
                                            <p:strVal val="#ppt_x"/>
                                          </p:val>
                                        </p:tav>
                                      </p:tavLst>
                                    </p:anim>
                                    <p:anim calcmode="lin" valueType="num">
                                      <p:cBhvr>
                                        <p:cTn id="128" dur="550" decel="100000" fill="hold"/>
                                        <p:tgtEl>
                                          <p:spTgt spid="45"/>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300"/>
                                  </p:stCondLst>
                                  <p:childTnLst>
                                    <p:set>
                                      <p:cBhvr>
                                        <p:cTn id="130" dur="1" fill="hold">
                                          <p:stCondLst>
                                            <p:cond delay="0"/>
                                          </p:stCondLst>
                                        </p:cTn>
                                        <p:tgtEl>
                                          <p:spTgt spid="46"/>
                                        </p:tgtEl>
                                        <p:attrNameLst>
                                          <p:attrName>style.visibility</p:attrName>
                                        </p:attrNameLst>
                                      </p:cBhvr>
                                      <p:to>
                                        <p:strVal val="visible"/>
                                      </p:to>
                                    </p:set>
                                    <p:animEffect transition="in" filter="fade">
                                      <p:cBhvr>
                                        <p:cTn id="131" dur="550"/>
                                        <p:tgtEl>
                                          <p:spTgt spid="46"/>
                                        </p:tgtEl>
                                      </p:cBhvr>
                                    </p:animEffect>
                                    <p:anim calcmode="lin" valueType="num">
                                      <p:cBhvr>
                                        <p:cTn id="132" dur="550" decel="100000" fill="hold"/>
                                        <p:tgtEl>
                                          <p:spTgt spid="46"/>
                                        </p:tgtEl>
                                        <p:attrNameLst>
                                          <p:attrName>ppt_x</p:attrName>
                                        </p:attrNameLst>
                                      </p:cBhvr>
                                      <p:tavLst>
                                        <p:tav tm="0">
                                          <p:val>
                                            <p:strVal val="#ppt_x"/>
                                          </p:val>
                                        </p:tav>
                                        <p:tav tm="100000">
                                          <p:val>
                                            <p:strVal val="#ppt_x"/>
                                          </p:val>
                                        </p:tav>
                                      </p:tavLst>
                                    </p:anim>
                                    <p:anim calcmode="lin" valueType="num">
                                      <p:cBhvr>
                                        <p:cTn id="133" dur="550" decel="100000" fill="hold"/>
                                        <p:tgtEl>
                                          <p:spTgt spid="46"/>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300"/>
                                  </p:stCondLst>
                                  <p:childTnLst>
                                    <p:set>
                                      <p:cBhvr>
                                        <p:cTn id="135" dur="1" fill="hold">
                                          <p:stCondLst>
                                            <p:cond delay="0"/>
                                          </p:stCondLst>
                                        </p:cTn>
                                        <p:tgtEl>
                                          <p:spTgt spid="47"/>
                                        </p:tgtEl>
                                        <p:attrNameLst>
                                          <p:attrName>style.visibility</p:attrName>
                                        </p:attrNameLst>
                                      </p:cBhvr>
                                      <p:to>
                                        <p:strVal val="visible"/>
                                      </p:to>
                                    </p:set>
                                    <p:animEffect transition="in" filter="fade">
                                      <p:cBhvr>
                                        <p:cTn id="136" dur="550"/>
                                        <p:tgtEl>
                                          <p:spTgt spid="47"/>
                                        </p:tgtEl>
                                      </p:cBhvr>
                                    </p:animEffect>
                                    <p:anim calcmode="lin" valueType="num">
                                      <p:cBhvr>
                                        <p:cTn id="137" dur="550" decel="100000" fill="hold"/>
                                        <p:tgtEl>
                                          <p:spTgt spid="47"/>
                                        </p:tgtEl>
                                        <p:attrNameLst>
                                          <p:attrName>ppt_x</p:attrName>
                                        </p:attrNameLst>
                                      </p:cBhvr>
                                      <p:tavLst>
                                        <p:tav tm="0">
                                          <p:val>
                                            <p:strVal val="#ppt_x"/>
                                          </p:val>
                                        </p:tav>
                                        <p:tav tm="100000">
                                          <p:val>
                                            <p:strVal val="#ppt_x"/>
                                          </p:val>
                                        </p:tav>
                                      </p:tavLst>
                                    </p:anim>
                                    <p:anim calcmode="lin" valueType="num">
                                      <p:cBhvr>
                                        <p:cTn id="138" dur="550" decel="100000" fill="hold"/>
                                        <p:tgtEl>
                                          <p:spTgt spid="47"/>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30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50"/>
                                        <p:tgtEl>
                                          <p:spTgt spid="48"/>
                                        </p:tgtEl>
                                      </p:cBhvr>
                                    </p:animEffect>
                                    <p:anim calcmode="lin" valueType="num">
                                      <p:cBhvr>
                                        <p:cTn id="142" dur="550" decel="100000" fill="hold"/>
                                        <p:tgtEl>
                                          <p:spTgt spid="48"/>
                                        </p:tgtEl>
                                        <p:attrNameLst>
                                          <p:attrName>ppt_x</p:attrName>
                                        </p:attrNameLst>
                                      </p:cBhvr>
                                      <p:tavLst>
                                        <p:tav tm="0">
                                          <p:val>
                                            <p:strVal val="#ppt_x"/>
                                          </p:val>
                                        </p:tav>
                                        <p:tav tm="100000">
                                          <p:val>
                                            <p:strVal val="#ppt_x"/>
                                          </p:val>
                                        </p:tav>
                                      </p:tavLst>
                                    </p:anim>
                                    <p:anim calcmode="lin" valueType="num">
                                      <p:cBhvr>
                                        <p:cTn id="143" dur="550" decel="100000" fill="hold"/>
                                        <p:tgtEl>
                                          <p:spTgt spid="48"/>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30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50"/>
                                        <p:tgtEl>
                                          <p:spTgt spid="49"/>
                                        </p:tgtEl>
                                      </p:cBhvr>
                                    </p:animEffect>
                                    <p:anim calcmode="lin" valueType="num">
                                      <p:cBhvr>
                                        <p:cTn id="147" dur="550" decel="100000" fill="hold"/>
                                        <p:tgtEl>
                                          <p:spTgt spid="49"/>
                                        </p:tgtEl>
                                        <p:attrNameLst>
                                          <p:attrName>ppt_x</p:attrName>
                                        </p:attrNameLst>
                                      </p:cBhvr>
                                      <p:tavLst>
                                        <p:tav tm="0">
                                          <p:val>
                                            <p:strVal val="#ppt_x"/>
                                          </p:val>
                                        </p:tav>
                                        <p:tav tm="100000">
                                          <p:val>
                                            <p:strVal val="#ppt_x"/>
                                          </p:val>
                                        </p:tav>
                                      </p:tavLst>
                                    </p:anim>
                                    <p:anim calcmode="lin" valueType="num">
                                      <p:cBhvr>
                                        <p:cTn id="148" dur="550" decel="100000" fill="hold"/>
                                        <p:tgtEl>
                                          <p:spTgt spid="49"/>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300"/>
                                  </p:stCondLst>
                                  <p:childTnLst>
                                    <p:set>
                                      <p:cBhvr>
                                        <p:cTn id="150" dur="1" fill="hold">
                                          <p:stCondLst>
                                            <p:cond delay="0"/>
                                          </p:stCondLst>
                                        </p:cTn>
                                        <p:tgtEl>
                                          <p:spTgt spid="50"/>
                                        </p:tgtEl>
                                        <p:attrNameLst>
                                          <p:attrName>style.visibility</p:attrName>
                                        </p:attrNameLst>
                                      </p:cBhvr>
                                      <p:to>
                                        <p:strVal val="visible"/>
                                      </p:to>
                                    </p:set>
                                    <p:animEffect transition="in" filter="fade">
                                      <p:cBhvr>
                                        <p:cTn id="151" dur="550"/>
                                        <p:tgtEl>
                                          <p:spTgt spid="50"/>
                                        </p:tgtEl>
                                      </p:cBhvr>
                                    </p:animEffect>
                                    <p:anim calcmode="lin" valueType="num">
                                      <p:cBhvr>
                                        <p:cTn id="152" dur="550" decel="100000" fill="hold"/>
                                        <p:tgtEl>
                                          <p:spTgt spid="50"/>
                                        </p:tgtEl>
                                        <p:attrNameLst>
                                          <p:attrName>ppt_x</p:attrName>
                                        </p:attrNameLst>
                                      </p:cBhvr>
                                      <p:tavLst>
                                        <p:tav tm="0">
                                          <p:val>
                                            <p:strVal val="#ppt_x"/>
                                          </p:val>
                                        </p:tav>
                                        <p:tav tm="100000">
                                          <p:val>
                                            <p:strVal val="#ppt_x"/>
                                          </p:val>
                                        </p:tav>
                                      </p:tavLst>
                                    </p:anim>
                                    <p:anim calcmode="lin" valueType="num">
                                      <p:cBhvr>
                                        <p:cTn id="153" dur="550" decel="100000" fill="hold"/>
                                        <p:tgtEl>
                                          <p:spTgt spid="50"/>
                                        </p:tgtEl>
                                        <p:attrNameLst>
                                          <p:attrName>ppt_y</p:attrName>
                                        </p:attrNameLst>
                                      </p:cBhvr>
                                      <p:tavLst>
                                        <p:tav tm="0">
                                          <p:val>
                                            <p:strVal val="#ppt_y+0.03"/>
                                          </p:val>
                                        </p:tav>
                                        <p:tav tm="100000">
                                          <p:val>
                                            <p:strVal val="#ppt_y"/>
                                          </p:val>
                                        </p:tav>
                                      </p:tavLst>
                                    </p:anim>
                                  </p:childTnLst>
                                </p:cTn>
                              </p:par>
                              <p:par>
                                <p:cTn id="159" presetID="42" presetClass="entr" presetSubtype="0" fill="hold" grpId="0" nodeType="withEffect">
                                  <p:stCondLst>
                                    <p:cond delay="300"/>
                                  </p:stCondLst>
                                  <p:childTnLst>
                                    <p:set>
                                      <p:cBhvr>
                                        <p:cTn id="155" dur="1" fill="hold">
                                          <p:stCondLst>
                                            <p:cond delay="0"/>
                                          </p:stCondLst>
                                        </p:cTn>
                                        <p:tgtEl>
                                          <p:spTgt spid="51"/>
                                        </p:tgtEl>
                                        <p:attrNameLst>
                                          <p:attrName>style.visibility</p:attrName>
                                        </p:attrNameLst>
                                      </p:cBhvr>
                                      <p:to>
                                        <p:strVal val="visible"/>
                                      </p:to>
                                    </p:set>
                                    <p:animEffect transition="in" filter="fade">
                                      <p:cBhvr>
                                        <p:cTn id="156" dur="550"/>
                                        <p:tgtEl>
                                          <p:spTgt spid="51"/>
                                        </p:tgtEl>
                                      </p:cBhvr>
                                    </p:animEffect>
                                    <p:anim calcmode="lin" valueType="num">
                                      <p:cBhvr>
                                        <p:cTn id="157" dur="550" decel="100000" fill="hold"/>
                                        <p:tgtEl>
                                          <p:spTgt spid="51"/>
                                        </p:tgtEl>
                                        <p:attrNameLst>
                                          <p:attrName>ppt_x</p:attrName>
                                        </p:attrNameLst>
                                      </p:cBhvr>
                                      <p:tavLst>
                                        <p:tav tm="0">
                                          <p:val>
                                            <p:strVal val="#ppt_x"/>
                                          </p:val>
                                        </p:tav>
                                        <p:tav tm="100000">
                                          <p:val>
                                            <p:strVal val="#ppt_x"/>
                                          </p:val>
                                        </p:tav>
                                      </p:tavLst>
                                    </p:anim>
                                    <p:anim calcmode="lin" valueType="num">
                                      <p:cBhvr>
                                        <p:cTn id="158" dur="550" decel="100000" fill="hold"/>
                                        <p:tgtEl>
                                          <p:spTgt spid="51"/>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320"/>
                                  </p:stCondLst>
                                  <p:childTnLst>
                                    <p:set>
                                      <p:cBhvr>
                                        <p:cTn id="160" dur="1" fill="hold">
                                          <p:stCondLst>
                                            <p:cond delay="0"/>
                                          </p:stCondLst>
                                        </p:cTn>
                                        <p:tgtEl>
                                          <p:spTgt spid="26"/>
                                        </p:tgtEl>
                                        <p:attrNameLst>
                                          <p:attrName>style.visibility</p:attrName>
                                        </p:attrNameLst>
                                      </p:cBhvr>
                                      <p:to>
                                        <p:strVal val="visible"/>
                                      </p:to>
                                    </p:set>
                                    <p:animEffect transition="in" filter="fade">
                                      <p:cBhvr>
                                        <p:cTn id="161" dur="550"/>
                                        <p:tgtEl>
                                          <p:spTgt spid="26"/>
                                        </p:tgtEl>
                                      </p:cBhvr>
                                    </p:animEffect>
                                    <p:anim calcmode="lin" valueType="num">
                                      <p:cBhvr>
                                        <p:cTn id="162" dur="550" decel="100000" fill="hold"/>
                                        <p:tgtEl>
                                          <p:spTgt spid="26"/>
                                        </p:tgtEl>
                                        <p:attrNameLst>
                                          <p:attrName>ppt_x</p:attrName>
                                        </p:attrNameLst>
                                      </p:cBhvr>
                                      <p:tavLst>
                                        <p:tav tm="0">
                                          <p:val>
                                            <p:strVal val="#ppt_x"/>
                                          </p:val>
                                        </p:tav>
                                        <p:tav tm="100000">
                                          <p:val>
                                            <p:strVal val="#ppt_x"/>
                                          </p:val>
                                        </p:tav>
                                      </p:tavLst>
                                    </p:anim>
                                    <p:anim calcmode="lin" valueType="num">
                                      <p:cBhvr>
                                        <p:cTn id="163" dur="550" decel="100000" fill="hold"/>
                                        <p:tgtEl>
                                          <p:spTgt spid="26"/>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320"/>
                                  </p:stCondLst>
                                  <p:childTnLst>
                                    <p:set>
                                      <p:cBhvr>
                                        <p:cTn id="165" dur="1" fill="hold">
                                          <p:stCondLst>
                                            <p:cond delay="0"/>
                                          </p:stCondLst>
                                        </p:cTn>
                                        <p:tgtEl>
                                          <p:spTgt spid="27"/>
                                        </p:tgtEl>
                                        <p:attrNameLst>
                                          <p:attrName>style.visibility</p:attrName>
                                        </p:attrNameLst>
                                      </p:cBhvr>
                                      <p:to>
                                        <p:strVal val="visible"/>
                                      </p:to>
                                    </p:set>
                                    <p:animEffect transition="in" filter="fade">
                                      <p:cBhvr>
                                        <p:cTn id="166" dur="550"/>
                                        <p:tgtEl>
                                          <p:spTgt spid="27"/>
                                        </p:tgtEl>
                                      </p:cBhvr>
                                    </p:animEffect>
                                    <p:anim calcmode="lin" valueType="num">
                                      <p:cBhvr>
                                        <p:cTn id="167" dur="550" decel="100000" fill="hold"/>
                                        <p:tgtEl>
                                          <p:spTgt spid="27"/>
                                        </p:tgtEl>
                                        <p:attrNameLst>
                                          <p:attrName>ppt_x</p:attrName>
                                        </p:attrNameLst>
                                      </p:cBhvr>
                                      <p:tavLst>
                                        <p:tav tm="0">
                                          <p:val>
                                            <p:strVal val="#ppt_x"/>
                                          </p:val>
                                        </p:tav>
                                        <p:tav tm="100000">
                                          <p:val>
                                            <p:strVal val="#ppt_x"/>
                                          </p:val>
                                        </p:tav>
                                      </p:tavLst>
                                    </p:anim>
                                    <p:anim calcmode="lin" valueType="num">
                                      <p:cBhvr>
                                        <p:cTn id="168" dur="550" decel="100000" fill="hold"/>
                                        <p:tgtEl>
                                          <p:spTgt spid="27"/>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320"/>
                                  </p:stCondLst>
                                  <p:childTnLst>
                                    <p:set>
                                      <p:cBhvr>
                                        <p:cTn id="170" dur="1" fill="hold">
                                          <p:stCondLst>
                                            <p:cond delay="0"/>
                                          </p:stCondLst>
                                        </p:cTn>
                                        <p:tgtEl>
                                          <p:spTgt spid="28"/>
                                        </p:tgtEl>
                                        <p:attrNameLst>
                                          <p:attrName>style.visibility</p:attrName>
                                        </p:attrNameLst>
                                      </p:cBhvr>
                                      <p:to>
                                        <p:strVal val="visible"/>
                                      </p:to>
                                    </p:set>
                                    <p:animEffect transition="in" filter="fade">
                                      <p:cBhvr>
                                        <p:cTn id="171" dur="550"/>
                                        <p:tgtEl>
                                          <p:spTgt spid="28"/>
                                        </p:tgtEl>
                                      </p:cBhvr>
                                    </p:animEffect>
                                    <p:anim calcmode="lin" valueType="num">
                                      <p:cBhvr>
                                        <p:cTn id="172" dur="550" decel="100000" fill="hold"/>
                                        <p:tgtEl>
                                          <p:spTgt spid="28"/>
                                        </p:tgtEl>
                                        <p:attrNameLst>
                                          <p:attrName>ppt_x</p:attrName>
                                        </p:attrNameLst>
                                      </p:cBhvr>
                                      <p:tavLst>
                                        <p:tav tm="0">
                                          <p:val>
                                            <p:strVal val="#ppt_x"/>
                                          </p:val>
                                        </p:tav>
                                        <p:tav tm="100000">
                                          <p:val>
                                            <p:strVal val="#ppt_x"/>
                                          </p:val>
                                        </p:tav>
                                      </p:tavLst>
                                    </p:anim>
                                    <p:anim calcmode="lin" valueType="num">
                                      <p:cBhvr>
                                        <p:cTn id="173" dur="550" decel="100000" fill="hold"/>
                                        <p:tgtEl>
                                          <p:spTgt spid="28"/>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320"/>
                                  </p:stCondLst>
                                  <p:childTnLst>
                                    <p:set>
                                      <p:cBhvr>
                                        <p:cTn id="175" dur="1" fill="hold">
                                          <p:stCondLst>
                                            <p:cond delay="0"/>
                                          </p:stCondLst>
                                        </p:cTn>
                                        <p:tgtEl>
                                          <p:spTgt spid="29"/>
                                        </p:tgtEl>
                                        <p:attrNameLst>
                                          <p:attrName>style.visibility</p:attrName>
                                        </p:attrNameLst>
                                      </p:cBhvr>
                                      <p:to>
                                        <p:strVal val="visible"/>
                                      </p:to>
                                    </p:set>
                                    <p:animEffect transition="in" filter="fade">
                                      <p:cBhvr>
                                        <p:cTn id="176" dur="550"/>
                                        <p:tgtEl>
                                          <p:spTgt spid="29"/>
                                        </p:tgtEl>
                                      </p:cBhvr>
                                    </p:animEffect>
                                    <p:anim calcmode="lin" valueType="num">
                                      <p:cBhvr>
                                        <p:cTn id="177" dur="550" decel="100000" fill="hold"/>
                                        <p:tgtEl>
                                          <p:spTgt spid="29"/>
                                        </p:tgtEl>
                                        <p:attrNameLst>
                                          <p:attrName>ppt_x</p:attrName>
                                        </p:attrNameLst>
                                      </p:cBhvr>
                                      <p:tavLst>
                                        <p:tav tm="0">
                                          <p:val>
                                            <p:strVal val="#ppt_x"/>
                                          </p:val>
                                        </p:tav>
                                        <p:tav tm="100000">
                                          <p:val>
                                            <p:strVal val="#ppt_x"/>
                                          </p:val>
                                        </p:tav>
                                      </p:tavLst>
                                    </p:anim>
                                    <p:anim calcmode="lin" valueType="num">
                                      <p:cBhvr>
                                        <p:cTn id="178" dur="550" decel="100000" fill="hold"/>
                                        <p:tgtEl>
                                          <p:spTgt spid="29"/>
                                        </p:tgtEl>
                                        <p:attrNameLst>
                                          <p:attrName>ppt_y</p:attrName>
                                        </p:attrNameLst>
                                      </p:cBhvr>
                                      <p:tavLst>
                                        <p:tav tm="0">
                                          <p:val>
                                            <p:strVal val="#ppt_y+0.03"/>
                                          </p:val>
                                        </p:tav>
                                        <p:tav tm="100000">
                                          <p:val>
                                            <p:strVal val="#ppt_y"/>
                                          </p:val>
                                        </p:tav>
                                      </p:tavLst>
                                    </p:anim>
                                  </p:childTnLst>
                                </p:cTn>
                              </p:par>
                              <p:par>
                                <p:cTn id="184" presetID="53" presetClass="entr" presetSubtype="16" fill="hold" grpId="0" nodeType="withEffect">
                                  <p:stCondLst>
                                    <p:cond delay="400"/>
                                  </p:stCondLst>
                                  <p:childTnLst>
                                    <p:set>
                                      <p:cBhvr>
                                        <p:cTn id="180" dur="1" fill="hold">
                                          <p:stCondLst>
                                            <p:cond delay="0"/>
                                          </p:stCondLst>
                                        </p:cTn>
                                        <p:tgtEl>
                                          <p:spTgt spid="37"/>
                                        </p:tgtEl>
                                        <p:attrNameLst>
                                          <p:attrName>style.visibility</p:attrName>
                                        </p:attrNameLst>
                                      </p:cBhvr>
                                      <p:to>
                                        <p:strVal val="visible"/>
                                      </p:to>
                                    </p:set>
                                    <p:animEffect transition="in" filter="fade">
                                      <p:cBhvr>
                                        <p:cTn id="181" dur="500"/>
                                        <p:tgtEl>
                                          <p:spTgt spid="37"/>
                                        </p:tgtEl>
                                      </p:cBhvr>
                                    </p:animEffect>
                                    <p:anim calcmode="lin" valueType="num">
                                      <p:cBhvr>
                                        <p:cTn id="182" dur="500" decel="100000" fill="hold"/>
                                        <p:tgtEl>
                                          <p:spTgt spid="37"/>
                                        </p:tgtEl>
                                        <p:attrNameLst>
                                          <p:attrName>ppt_w</p:attrName>
                                        </p:attrNameLst>
                                      </p:cBhvr>
                                      <p:tavLst>
                                        <p:tav tm="0">
                                          <p:val>
                                            <p:strVal val="#ppt_w*0.80"/>
                                          </p:val>
                                        </p:tav>
                                        <p:tav tm="100000">
                                          <p:val>
                                            <p:strVal val="#ppt_w"/>
                                          </p:val>
                                        </p:tav>
                                      </p:tavLst>
                                    </p:anim>
                                    <p:anim calcmode="lin" valueType="num">
                                      <p:cBhvr>
                                        <p:cTn id="183" dur="500" decel="100000" fill="hold"/>
                                        <p:tgtEl>
                                          <p:spTgt spid="37"/>
                                        </p:tgtEl>
                                        <p:attrNameLst>
                                          <p:attrName>ppt_h</p:attrName>
                                        </p:attrNameLst>
                                      </p:cBhvr>
                                      <p:tavLst>
                                        <p:tav tm="0">
                                          <p:val>
                                            <p:strVal val="#ppt_h*0.80"/>
                                          </p:val>
                                        </p:tav>
                                        <p:tav tm="100000">
                                          <p:val>
                                            <p:strVal val="#ppt_h"/>
                                          </p:val>
                                        </p:tav>
                                      </p:tavLst>
                                    </p:anim>
                                  </p:childTnLst>
                                </p:cTn>
                              </p:par>
                              <p:par>
                                <p:cTn id="189" presetID="53" presetClass="entr" presetSubtype="16" fill="hold" grpId="0" nodeType="withEffect">
                                  <p:stCondLst>
                                    <p:cond delay="400"/>
                                  </p:stCondLst>
                                  <p:childTnLst>
                                    <p:set>
                                      <p:cBhvr>
                                        <p:cTn id="185" dur="1" fill="hold">
                                          <p:stCondLst>
                                            <p:cond delay="0"/>
                                          </p:stCondLst>
                                        </p:cTn>
                                        <p:tgtEl>
                                          <p:spTgt spid="38"/>
                                        </p:tgtEl>
                                        <p:attrNameLst>
                                          <p:attrName>style.visibility</p:attrName>
                                        </p:attrNameLst>
                                      </p:cBhvr>
                                      <p:to>
                                        <p:strVal val="visible"/>
                                      </p:to>
                                    </p:set>
                                    <p:animEffect transition="in" filter="fade">
                                      <p:cBhvr>
                                        <p:cTn id="186" dur="500"/>
                                        <p:tgtEl>
                                          <p:spTgt spid="38"/>
                                        </p:tgtEl>
                                      </p:cBhvr>
                                    </p:animEffect>
                                    <p:anim calcmode="lin" valueType="num">
                                      <p:cBhvr>
                                        <p:cTn id="187" dur="500" decel="100000" fill="hold"/>
                                        <p:tgtEl>
                                          <p:spTgt spid="38"/>
                                        </p:tgtEl>
                                        <p:attrNameLst>
                                          <p:attrName>ppt_w</p:attrName>
                                        </p:attrNameLst>
                                      </p:cBhvr>
                                      <p:tavLst>
                                        <p:tav tm="0">
                                          <p:val>
                                            <p:strVal val="#ppt_w*0.80"/>
                                          </p:val>
                                        </p:tav>
                                        <p:tav tm="100000">
                                          <p:val>
                                            <p:strVal val="#ppt_w"/>
                                          </p:val>
                                        </p:tav>
                                      </p:tavLst>
                                    </p:anim>
                                    <p:anim calcmode="lin" valueType="num">
                                      <p:cBhvr>
                                        <p:cTn id="188" dur="500" decel="100000" fill="hold"/>
                                        <p:tgtEl>
                                          <p:spTgt spid="38"/>
                                        </p:tgtEl>
                                        <p:attrNameLst>
                                          <p:attrName>ppt_h</p:attrName>
                                        </p:attrNameLst>
                                      </p:cBhvr>
                                      <p:tavLst>
                                        <p:tav tm="0">
                                          <p:val>
                                            <p:strVal val="#ppt_h*0.80"/>
                                          </p:val>
                                        </p:tav>
                                        <p:tav tm="100000">
                                          <p:val>
                                            <p:strVal val="#ppt_h"/>
                                          </p:val>
                                        </p:tav>
                                      </p:tavLst>
                                    </p:anim>
                                  </p:childTnLst>
                                </p:cTn>
                              </p:par>
                              <p:par>
                                <p:cTn id="194" presetID="53" presetClass="entr" presetSubtype="16" fill="hold" grpId="0" nodeType="withEffect">
                                  <p:stCondLst>
                                    <p:cond delay="400"/>
                                  </p:stCondLst>
                                  <p:childTnLst>
                                    <p:set>
                                      <p:cBhvr>
                                        <p:cTn id="190" dur="1" fill="hold">
                                          <p:stCondLst>
                                            <p:cond delay="0"/>
                                          </p:stCondLst>
                                        </p:cTn>
                                        <p:tgtEl>
                                          <p:spTgt spid="39"/>
                                        </p:tgtEl>
                                        <p:attrNameLst>
                                          <p:attrName>style.visibility</p:attrName>
                                        </p:attrNameLst>
                                      </p:cBhvr>
                                      <p:to>
                                        <p:strVal val="visible"/>
                                      </p:to>
                                    </p:set>
                                    <p:animEffect transition="in" filter="fade">
                                      <p:cBhvr>
                                        <p:cTn id="191" dur="500"/>
                                        <p:tgtEl>
                                          <p:spTgt spid="39"/>
                                        </p:tgtEl>
                                      </p:cBhvr>
                                    </p:animEffect>
                                    <p:anim calcmode="lin" valueType="num">
                                      <p:cBhvr>
                                        <p:cTn id="192" dur="500" decel="100000" fill="hold"/>
                                        <p:tgtEl>
                                          <p:spTgt spid="39"/>
                                        </p:tgtEl>
                                        <p:attrNameLst>
                                          <p:attrName>ppt_w</p:attrName>
                                        </p:attrNameLst>
                                      </p:cBhvr>
                                      <p:tavLst>
                                        <p:tav tm="0">
                                          <p:val>
                                            <p:strVal val="#ppt_w*0.80"/>
                                          </p:val>
                                        </p:tav>
                                        <p:tav tm="100000">
                                          <p:val>
                                            <p:strVal val="#ppt_w"/>
                                          </p:val>
                                        </p:tav>
                                      </p:tavLst>
                                    </p:anim>
                                    <p:anim calcmode="lin" valueType="num">
                                      <p:cBhvr>
                                        <p:cTn id="193" dur="500" decel="100000" fill="hold"/>
                                        <p:tgtEl>
                                          <p:spTgt spid="39"/>
                                        </p:tgtEl>
                                        <p:attrNameLst>
                                          <p:attrName>ppt_h</p:attrName>
                                        </p:attrNameLst>
                                      </p:cBhvr>
                                      <p:tavLst>
                                        <p:tav tm="0">
                                          <p:val>
                                            <p:strVal val="#ppt_h*0.80"/>
                                          </p:val>
                                        </p:tav>
                                        <p:tav tm="100000">
                                          <p:val>
                                            <p:strVal val="#ppt_h"/>
                                          </p:val>
                                        </p:tav>
                                      </p:tavLst>
                                    </p:anim>
                                  </p:childTnLst>
                                </p:cTn>
                              </p:par>
                              <p:par>
                                <p:cTn id="199" presetID="53" presetClass="entr" presetSubtype="16" fill="hold" grpId="0" nodeType="withEffect">
                                  <p:stCondLst>
                                    <p:cond delay="400"/>
                                  </p:stCondLst>
                                  <p:childTnLst>
                                    <p:set>
                                      <p:cBhvr>
                                        <p:cTn id="195" dur="1" fill="hold">
                                          <p:stCondLst>
                                            <p:cond delay="0"/>
                                          </p:stCondLst>
                                        </p:cTn>
                                        <p:tgtEl>
                                          <p:spTgt spid="40"/>
                                        </p:tgtEl>
                                        <p:attrNameLst>
                                          <p:attrName>style.visibility</p:attrName>
                                        </p:attrNameLst>
                                      </p:cBhvr>
                                      <p:to>
                                        <p:strVal val="visible"/>
                                      </p:to>
                                    </p:set>
                                    <p:animEffect transition="in" filter="fade">
                                      <p:cBhvr>
                                        <p:cTn id="196" dur="500"/>
                                        <p:tgtEl>
                                          <p:spTgt spid="40"/>
                                        </p:tgtEl>
                                      </p:cBhvr>
                                    </p:animEffect>
                                    <p:anim calcmode="lin" valueType="num">
                                      <p:cBhvr>
                                        <p:cTn id="197" dur="500" decel="100000" fill="hold"/>
                                        <p:tgtEl>
                                          <p:spTgt spid="40"/>
                                        </p:tgtEl>
                                        <p:attrNameLst>
                                          <p:attrName>ppt_w</p:attrName>
                                        </p:attrNameLst>
                                      </p:cBhvr>
                                      <p:tavLst>
                                        <p:tav tm="0">
                                          <p:val>
                                            <p:strVal val="#ppt_w*0.80"/>
                                          </p:val>
                                        </p:tav>
                                        <p:tav tm="100000">
                                          <p:val>
                                            <p:strVal val="#ppt_w"/>
                                          </p:val>
                                        </p:tav>
                                      </p:tavLst>
                                    </p:anim>
                                    <p:anim calcmode="lin" valueType="num">
                                      <p:cBhvr>
                                        <p:cTn id="198" dur="500" decel="100000" fill="hold"/>
                                        <p:tgtEl>
                                          <p:spTgt spid="40"/>
                                        </p:tgtEl>
                                        <p:attrNameLst>
                                          <p:attrName>ppt_h</p:attrName>
                                        </p:attrNameLst>
                                      </p:cBhvr>
                                      <p:tavLst>
                                        <p:tav tm="0">
                                          <p:val>
                                            <p:strVal val="#ppt_h*0.80"/>
                                          </p:val>
                                        </p:tav>
                                        <p:tav tm="100000">
                                          <p:val>
                                            <p:strVal val="#ppt_h"/>
                                          </p:val>
                                        </p:tav>
                                      </p:tavLst>
                                    </p:anim>
                                  </p:childTnLst>
                                </p:cTn>
                              </p:par>
                              <p:par>
                                <p:cTn id="204" presetID="42" presetClass="entr" presetSubtype="0" fill="hold" grpId="0" nodeType="withEffect">
                                  <p:stCondLst>
                                    <p:cond delay="500"/>
                                  </p:stCondLst>
                                  <p:childTnLst>
                                    <p:set>
                                      <p:cBhvr>
                                        <p:cTn id="200" dur="1" fill="hold">
                                          <p:stCondLst>
                                            <p:cond delay="0"/>
                                          </p:stCondLst>
                                        </p:cTn>
                                        <p:tgtEl>
                                          <p:spTgt spid="52"/>
                                        </p:tgtEl>
                                        <p:attrNameLst>
                                          <p:attrName>style.visibility</p:attrName>
                                        </p:attrNameLst>
                                      </p:cBhvr>
                                      <p:to>
                                        <p:strVal val="visible"/>
                                      </p:to>
                                    </p:set>
                                    <p:animEffect transition="in" filter="fade">
                                      <p:cBhvr>
                                        <p:cTn id="201" dur="550"/>
                                        <p:tgtEl>
                                          <p:spTgt spid="52"/>
                                        </p:tgtEl>
                                      </p:cBhvr>
                                    </p:animEffect>
                                    <p:anim calcmode="lin" valueType="num">
                                      <p:cBhvr>
                                        <p:cTn id="202" dur="550" decel="100000" fill="hold"/>
                                        <p:tgtEl>
                                          <p:spTgt spid="52"/>
                                        </p:tgtEl>
                                        <p:attrNameLst>
                                          <p:attrName>ppt_x</p:attrName>
                                        </p:attrNameLst>
                                      </p:cBhvr>
                                      <p:tavLst>
                                        <p:tav tm="0">
                                          <p:val>
                                            <p:strVal val="#ppt_x"/>
                                          </p:val>
                                        </p:tav>
                                        <p:tav tm="100000">
                                          <p:val>
                                            <p:strVal val="#ppt_x"/>
                                          </p:val>
                                        </p:tav>
                                      </p:tavLst>
                                    </p:anim>
                                    <p:anim calcmode="lin" valueType="num">
                                      <p:cBhvr>
                                        <p:cTn id="203" dur="550" decel="100000" fill="hold"/>
                                        <p:tgtEl>
                                          <p:spTgt spid="52"/>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50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anim calcmode="lin" valueType="num">
                                      <p:cBhvr>
                                        <p:cTn id="207" dur="550" decel="100000" fill="hold"/>
                                        <p:tgtEl>
                                          <p:spTgt spid="53"/>
                                        </p:tgtEl>
                                        <p:attrNameLst>
                                          <p:attrName>ppt_x</p:attrName>
                                        </p:attrNameLst>
                                      </p:cBhvr>
                                      <p:tavLst>
                                        <p:tav tm="0">
                                          <p:val>
                                            <p:strVal val="#ppt_x"/>
                                          </p:val>
                                        </p:tav>
                                        <p:tav tm="100000">
                                          <p:val>
                                            <p:strVal val="#ppt_x"/>
                                          </p:val>
                                        </p:tav>
                                      </p:tavLst>
                                    </p:anim>
                                    <p:anim calcmode="lin" valueType="num">
                                      <p:cBhvr>
                                        <p:cTn id="208" dur="550" decel="100000" fill="hold"/>
                                        <p:tgtEl>
                                          <p:spTgt spid="53"/>
                                        </p:tgtEl>
                                        <p:attrNameLst>
                                          <p:attrName>ppt_y</p:attrName>
                                        </p:attrNameLst>
                                      </p:cBhvr>
                                      <p:tavLst>
                                        <p:tav tm="0">
                                          <p:val>
                                            <p:strVal val="#ppt_y+0.03"/>
                                          </p:val>
                                        </p:tav>
                                        <p:tav tm="100000">
                                          <p:val>
                                            <p:strVal val="#ppt_y"/>
                                          </p:val>
                                        </p:tav>
                                      </p:tavLst>
                                    </p:anim>
                                  </p:childTnLst>
                                </p:cTn>
                              </p:par>
                              <p:par>
                                <p:cTn id="214" presetID="42" presetClass="entr" presetSubtype="0" fill="hold" grpId="0" nodeType="withEffect">
                                  <p:stCondLst>
                                    <p:cond delay="50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550"/>
                                        <p:tgtEl>
                                          <p:spTgt spid="54"/>
                                        </p:tgtEl>
                                      </p:cBhvr>
                                    </p:animEffect>
                                    <p:anim calcmode="lin" valueType="num">
                                      <p:cBhvr>
                                        <p:cTn id="212" dur="550" decel="100000" fill="hold"/>
                                        <p:tgtEl>
                                          <p:spTgt spid="54"/>
                                        </p:tgtEl>
                                        <p:attrNameLst>
                                          <p:attrName>ppt_x</p:attrName>
                                        </p:attrNameLst>
                                      </p:cBhvr>
                                      <p:tavLst>
                                        <p:tav tm="0">
                                          <p:val>
                                            <p:strVal val="#ppt_x"/>
                                          </p:val>
                                        </p:tav>
                                        <p:tav tm="100000">
                                          <p:val>
                                            <p:strVal val="#ppt_x"/>
                                          </p:val>
                                        </p:tav>
                                      </p:tavLst>
                                    </p:anim>
                                    <p:anim calcmode="lin" valueType="num">
                                      <p:cBhvr>
                                        <p:cTn id="213" dur="550" decel="100000" fill="hold"/>
                                        <p:tgtEl>
                                          <p:spTgt spid="54"/>
                                        </p:tgtEl>
                                        <p:attrNameLst>
                                          <p:attrName>ppt_y</p:attrName>
                                        </p:attrNameLst>
                                      </p:cBhvr>
                                      <p:tavLst>
                                        <p:tav tm="0">
                                          <p:val>
                                            <p:strVal val="#ppt_y+0.03"/>
                                          </p:val>
                                        </p:tav>
                                        <p:tav tm="100000">
                                          <p:val>
                                            <p:strVal val="#ppt_y"/>
                                          </p:val>
                                        </p:tav>
                                      </p:tavLst>
                                    </p:anim>
                                  </p:childTnLst>
                                </p:cTn>
                              </p:par>
                              <p:par>
                                <p:cTn id="219" presetID="53" presetClass="entr" presetSubtype="16" fill="hold" grpId="0" nodeType="withEffect">
                                  <p:stCondLst>
                                    <p:cond delay="520"/>
                                  </p:stCondLst>
                                  <p:childTnLst>
                                    <p:set>
                                      <p:cBhvr>
                                        <p:cTn id="215" dur="1" fill="hold">
                                          <p:stCondLst>
                                            <p:cond delay="0"/>
                                          </p:stCondLst>
                                        </p:cTn>
                                        <p:tgtEl>
                                          <p:spTgt spid="41"/>
                                        </p:tgtEl>
                                        <p:attrNameLst>
                                          <p:attrName>style.visibility</p:attrName>
                                        </p:attrNameLst>
                                      </p:cBhvr>
                                      <p:to>
                                        <p:strVal val="visible"/>
                                      </p:to>
                                    </p:set>
                                    <p:animEffect transition="in" filter="fade">
                                      <p:cBhvr>
                                        <p:cTn id="216" dur="500"/>
                                        <p:tgtEl>
                                          <p:spTgt spid="41"/>
                                        </p:tgtEl>
                                      </p:cBhvr>
                                    </p:animEffect>
                                    <p:anim calcmode="lin" valueType="num">
                                      <p:cBhvr>
                                        <p:cTn id="217" dur="500" decel="100000" fill="hold"/>
                                        <p:tgtEl>
                                          <p:spTgt spid="41"/>
                                        </p:tgtEl>
                                        <p:attrNameLst>
                                          <p:attrName>ppt_w</p:attrName>
                                        </p:attrNameLst>
                                      </p:cBhvr>
                                      <p:tavLst>
                                        <p:tav tm="0">
                                          <p:val>
                                            <p:strVal val="#ppt_w*0.80"/>
                                          </p:val>
                                        </p:tav>
                                        <p:tav tm="100000">
                                          <p:val>
                                            <p:strVal val="#ppt_w"/>
                                          </p:val>
                                        </p:tav>
                                      </p:tavLst>
                                    </p:anim>
                                    <p:anim calcmode="lin" valueType="num">
                                      <p:cBhvr>
                                        <p:cTn id="218" dur="500" decel="100000" fill="hold"/>
                                        <p:tgtEl>
                                          <p:spTgt spid="41"/>
                                        </p:tgtEl>
                                        <p:attrNameLst>
                                          <p:attrName>ppt_h</p:attrName>
                                        </p:attrNameLst>
                                      </p:cBhvr>
                                      <p:tavLst>
                                        <p:tav tm="0">
                                          <p:val>
                                            <p:strVal val="#ppt_h*0.80"/>
                                          </p:val>
                                        </p:tav>
                                        <p:tav tm="100000">
                                          <p:val>
                                            <p:strVal val="#ppt_h"/>
                                          </p:val>
                                        </p:tav>
                                      </p:tavLst>
                                    </p:anim>
                                  </p:childTnLst>
                                </p:cTn>
                              </p:par>
                              <p:par>
                                <p:cTn id="224" presetID="53" presetClass="entr" presetSubtype="16" fill="hold" grpId="0" nodeType="withEffect">
                                  <p:stCondLst>
                                    <p:cond delay="520"/>
                                  </p:stCondLst>
                                  <p:childTnLst>
                                    <p:set>
                                      <p:cBhvr>
                                        <p:cTn id="220" dur="1" fill="hold">
                                          <p:stCondLst>
                                            <p:cond delay="0"/>
                                          </p:stCondLst>
                                        </p:cTn>
                                        <p:tgtEl>
                                          <p:spTgt spid="42"/>
                                        </p:tgtEl>
                                        <p:attrNameLst>
                                          <p:attrName>style.visibility</p:attrName>
                                        </p:attrNameLst>
                                      </p:cBhvr>
                                      <p:to>
                                        <p:strVal val="visible"/>
                                      </p:to>
                                    </p:set>
                                    <p:animEffect transition="in" filter="fade">
                                      <p:cBhvr>
                                        <p:cTn id="221" dur="500"/>
                                        <p:tgtEl>
                                          <p:spTgt spid="42"/>
                                        </p:tgtEl>
                                      </p:cBhvr>
                                    </p:animEffect>
                                    <p:anim calcmode="lin" valueType="num">
                                      <p:cBhvr>
                                        <p:cTn id="222" dur="500" decel="100000" fill="hold"/>
                                        <p:tgtEl>
                                          <p:spTgt spid="42"/>
                                        </p:tgtEl>
                                        <p:attrNameLst>
                                          <p:attrName>ppt_w</p:attrName>
                                        </p:attrNameLst>
                                      </p:cBhvr>
                                      <p:tavLst>
                                        <p:tav tm="0">
                                          <p:val>
                                            <p:strVal val="#ppt_w*0.80"/>
                                          </p:val>
                                        </p:tav>
                                        <p:tav tm="100000">
                                          <p:val>
                                            <p:strVal val="#ppt_w"/>
                                          </p:val>
                                        </p:tav>
                                      </p:tavLst>
                                    </p:anim>
                                    <p:anim calcmode="lin" valueType="num">
                                      <p:cBhvr>
                                        <p:cTn id="223" dur="500" decel="100000" fill="hold"/>
                                        <p:tgtEl>
                                          <p:spTgt spid="42"/>
                                        </p:tgtEl>
                                        <p:attrNameLst>
                                          <p:attrName>ppt_h</p:attrName>
                                        </p:attrNameLst>
                                      </p:cBhvr>
                                      <p:tavLst>
                                        <p:tav tm="0">
                                          <p:val>
                                            <p:strVal val="#ppt_h*0.80"/>
                                          </p:val>
                                        </p:tav>
                                        <p:tav tm="100000">
                                          <p:val>
                                            <p:strVal val="#ppt_h"/>
                                          </p:val>
                                        </p:tav>
                                      </p:tavLst>
                                    </p:anim>
                                  </p:childTnLst>
                                </p:cTn>
                              </p:par>
                              <p:par>
                                <p:cTn id="229" presetID="53" presetClass="entr" presetSubtype="16" fill="hold" grpId="0" nodeType="withEffect">
                                  <p:stCondLst>
                                    <p:cond delay="520"/>
                                  </p:stCondLst>
                                  <p:childTnLst>
                                    <p:set>
                                      <p:cBhvr>
                                        <p:cTn id="225" dur="1" fill="hold">
                                          <p:stCondLst>
                                            <p:cond delay="0"/>
                                          </p:stCondLst>
                                        </p:cTn>
                                        <p:tgtEl>
                                          <p:spTgt spid="43"/>
                                        </p:tgtEl>
                                        <p:attrNameLst>
                                          <p:attrName>style.visibility</p:attrName>
                                        </p:attrNameLst>
                                      </p:cBhvr>
                                      <p:to>
                                        <p:strVal val="visible"/>
                                      </p:to>
                                    </p:set>
                                    <p:animEffect transition="in" filter="fade">
                                      <p:cBhvr>
                                        <p:cTn id="226" dur="500"/>
                                        <p:tgtEl>
                                          <p:spTgt spid="43"/>
                                        </p:tgtEl>
                                      </p:cBhvr>
                                    </p:animEffect>
                                    <p:anim calcmode="lin" valueType="num">
                                      <p:cBhvr>
                                        <p:cTn id="227" dur="500" decel="100000" fill="hold"/>
                                        <p:tgtEl>
                                          <p:spTgt spid="43"/>
                                        </p:tgtEl>
                                        <p:attrNameLst>
                                          <p:attrName>ppt_w</p:attrName>
                                        </p:attrNameLst>
                                      </p:cBhvr>
                                      <p:tavLst>
                                        <p:tav tm="0">
                                          <p:val>
                                            <p:strVal val="#ppt_w*0.80"/>
                                          </p:val>
                                        </p:tav>
                                        <p:tav tm="100000">
                                          <p:val>
                                            <p:strVal val="#ppt_w"/>
                                          </p:val>
                                        </p:tav>
                                      </p:tavLst>
                                    </p:anim>
                                    <p:anim calcmode="lin" valueType="num">
                                      <p:cBhvr>
                                        <p:cTn id="228" dur="500" decel="100000" fill="hold"/>
                                        <p:tgtEl>
                                          <p:spTgt spid="43"/>
                                        </p:tgtEl>
                                        <p:attrNameLst>
                                          <p:attrName>ppt_h</p:attrName>
                                        </p:attrNameLst>
                                      </p:cBhvr>
                                      <p:tavLst>
                                        <p:tav tm="0">
                                          <p:val>
                                            <p:strVal val="#ppt_h*0.80"/>
                                          </p:val>
                                        </p:tav>
                                        <p:tav tm="100000">
                                          <p:val>
                                            <p:strVal val="#ppt_h"/>
                                          </p:val>
                                        </p:tav>
                                      </p:tavLst>
                                    </p:anim>
                                  </p:childTnLst>
                                </p:cTn>
                              </p:par>
                              <p:par>
                                <p:cTn id="234" presetID="53" presetClass="entr" presetSubtype="16" fill="hold" grpId="0" nodeType="withEffect">
                                  <p:stCondLst>
                                    <p:cond delay="520"/>
                                  </p:stCondLst>
                                  <p:childTnLst>
                                    <p:set>
                                      <p:cBhvr>
                                        <p:cTn id="230" dur="1" fill="hold">
                                          <p:stCondLst>
                                            <p:cond delay="0"/>
                                          </p:stCondLst>
                                        </p:cTn>
                                        <p:tgtEl>
                                          <p:spTgt spid="44"/>
                                        </p:tgtEl>
                                        <p:attrNameLst>
                                          <p:attrName>style.visibility</p:attrName>
                                        </p:attrNameLst>
                                      </p:cBhvr>
                                      <p:to>
                                        <p:strVal val="visible"/>
                                      </p:to>
                                    </p:set>
                                    <p:animEffect transition="in" filter="fade">
                                      <p:cBhvr>
                                        <p:cTn id="231" dur="500"/>
                                        <p:tgtEl>
                                          <p:spTgt spid="44"/>
                                        </p:tgtEl>
                                      </p:cBhvr>
                                    </p:animEffect>
                                    <p:anim calcmode="lin" valueType="num">
                                      <p:cBhvr>
                                        <p:cTn id="232" dur="500" decel="100000" fill="hold"/>
                                        <p:tgtEl>
                                          <p:spTgt spid="44"/>
                                        </p:tgtEl>
                                        <p:attrNameLst>
                                          <p:attrName>ppt_w</p:attrName>
                                        </p:attrNameLst>
                                      </p:cBhvr>
                                      <p:tavLst>
                                        <p:tav tm="0">
                                          <p:val>
                                            <p:strVal val="#ppt_w*0.80"/>
                                          </p:val>
                                        </p:tav>
                                        <p:tav tm="100000">
                                          <p:val>
                                            <p:strVal val="#ppt_w"/>
                                          </p:val>
                                        </p:tav>
                                      </p:tavLst>
                                    </p:anim>
                                    <p:anim calcmode="lin" valueType="num">
                                      <p:cBhvr>
                                        <p:cTn id="233" dur="500" decel="100000" fill="hold"/>
                                        <p:tgtEl>
                                          <p:spTgt spid="44"/>
                                        </p:tgtEl>
                                        <p:attrNameLst>
                                          <p:attrName>ppt_h</p:attrName>
                                        </p:attrNameLst>
                                      </p:cBhvr>
                                      <p:tavLst>
                                        <p:tav tm="0">
                                          <p:val>
                                            <p:strVal val="#ppt_h*0.80"/>
                                          </p:val>
                                        </p:tav>
                                        <p:tav tm="100000">
                                          <p:val>
                                            <p:strVal val="#ppt_h"/>
                                          </p:val>
                                        </p:tav>
                                      </p:tavLst>
                                    </p:anim>
                                  </p:childTnLst>
                                </p:cTn>
                              </p:par>
                              <p:par>
                                <p:cTn id="239" presetID="42" presetClass="entr" presetSubtype="0" fill="hold" grpId="0" nodeType="withEffect">
                                  <p:stCondLst>
                                    <p:cond delay="590"/>
                                  </p:stCondLst>
                                  <p:childTnLst>
                                    <p:set>
                                      <p:cBhvr>
                                        <p:cTn id="235" dur="1" fill="hold">
                                          <p:stCondLst>
                                            <p:cond delay="0"/>
                                          </p:stCondLst>
                                        </p:cTn>
                                        <p:tgtEl>
                                          <p:spTgt spid="55"/>
                                        </p:tgtEl>
                                        <p:attrNameLst>
                                          <p:attrName>style.visibility</p:attrName>
                                        </p:attrNameLst>
                                      </p:cBhvr>
                                      <p:to>
                                        <p:strVal val="visible"/>
                                      </p:to>
                                    </p:set>
                                    <p:animEffect transition="in" filter="fade">
                                      <p:cBhvr>
                                        <p:cTn id="236" dur="550"/>
                                        <p:tgtEl>
                                          <p:spTgt spid="55"/>
                                        </p:tgtEl>
                                      </p:cBhvr>
                                    </p:animEffect>
                                    <p:anim calcmode="lin" valueType="num">
                                      <p:cBhvr>
                                        <p:cTn id="237" dur="550" decel="100000" fill="hold"/>
                                        <p:tgtEl>
                                          <p:spTgt spid="55"/>
                                        </p:tgtEl>
                                        <p:attrNameLst>
                                          <p:attrName>ppt_x</p:attrName>
                                        </p:attrNameLst>
                                      </p:cBhvr>
                                      <p:tavLst>
                                        <p:tav tm="0">
                                          <p:val>
                                            <p:strVal val="#ppt_x"/>
                                          </p:val>
                                        </p:tav>
                                        <p:tav tm="100000">
                                          <p:val>
                                            <p:strVal val="#ppt_x"/>
                                          </p:val>
                                        </p:tav>
                                      </p:tavLst>
                                    </p:anim>
                                    <p:anim calcmode="lin" valueType="num">
                                      <p:cBhvr>
                                        <p:cTn id="238" dur="550" decel="100000" fill="hold"/>
                                        <p:tgtEl>
                                          <p:spTgt spid="55"/>
                                        </p:tgtEl>
                                        <p:attrNameLst>
                                          <p:attrName>ppt_y</p:attrName>
                                        </p:attrNameLst>
                                      </p:cBhvr>
                                      <p:tavLst>
                                        <p:tav tm="0">
                                          <p:val>
                                            <p:strVal val="#ppt_y+0.03"/>
                                          </p:val>
                                        </p:tav>
                                        <p:tav tm="100000">
                                          <p:val>
                                            <p:strVal val="#ppt_y"/>
                                          </p:val>
                                        </p:tav>
                                      </p:tavLst>
                                    </p:anim>
                                  </p:childTnLst>
                                </p:cTn>
                              </p:par>
                              <p:par>
                                <p:cTn id="244" presetID="42" presetClass="entr" presetSubtype="0" fill="hold" grpId="0" nodeType="withEffect">
                                  <p:stCondLst>
                                    <p:cond delay="590"/>
                                  </p:stCondLst>
                                  <p:childTnLst>
                                    <p:set>
                                      <p:cBhvr>
                                        <p:cTn id="240" dur="1" fill="hold">
                                          <p:stCondLst>
                                            <p:cond delay="0"/>
                                          </p:stCondLst>
                                        </p:cTn>
                                        <p:tgtEl>
                                          <p:spTgt spid="56"/>
                                        </p:tgtEl>
                                        <p:attrNameLst>
                                          <p:attrName>style.visibility</p:attrName>
                                        </p:attrNameLst>
                                      </p:cBhvr>
                                      <p:to>
                                        <p:strVal val="visible"/>
                                      </p:to>
                                    </p:set>
                                    <p:animEffect transition="in" filter="fade">
                                      <p:cBhvr>
                                        <p:cTn id="241" dur="550"/>
                                        <p:tgtEl>
                                          <p:spTgt spid="56"/>
                                        </p:tgtEl>
                                      </p:cBhvr>
                                    </p:animEffect>
                                    <p:anim calcmode="lin" valueType="num">
                                      <p:cBhvr>
                                        <p:cTn id="242" dur="550" decel="100000" fill="hold"/>
                                        <p:tgtEl>
                                          <p:spTgt spid="56"/>
                                        </p:tgtEl>
                                        <p:attrNameLst>
                                          <p:attrName>ppt_x</p:attrName>
                                        </p:attrNameLst>
                                      </p:cBhvr>
                                      <p:tavLst>
                                        <p:tav tm="0">
                                          <p:val>
                                            <p:strVal val="#ppt_x"/>
                                          </p:val>
                                        </p:tav>
                                        <p:tav tm="100000">
                                          <p:val>
                                            <p:strVal val="#ppt_x"/>
                                          </p:val>
                                        </p:tav>
                                      </p:tavLst>
                                    </p:anim>
                                    <p:anim calcmode="lin" valueType="num">
                                      <p:cBhvr>
                                        <p:cTn id="243" dur="550" decel="100000" fill="hold"/>
                                        <p:tgtEl>
                                          <p:spTgt spid="56"/>
                                        </p:tgtEl>
                                        <p:attrNameLst>
                                          <p:attrName>ppt_y</p:attrName>
                                        </p:attrNameLst>
                                      </p:cBhvr>
                                      <p:tavLst>
                                        <p:tav tm="0">
                                          <p:val>
                                            <p:strVal val="#ppt_y+0.03"/>
                                          </p:val>
                                        </p:tav>
                                        <p:tav tm="100000">
                                          <p:val>
                                            <p:strVal val="#ppt_y"/>
                                          </p:val>
                                        </p:tav>
                                      </p:tavLst>
                                    </p:anim>
                                  </p:childTnLst>
                                </p:cTn>
                              </p:par>
                              <p:par>
                                <p:cTn id="249" presetID="42" presetClass="entr" presetSubtype="0" fill="hold" grpId="0" nodeType="withEffect">
                                  <p:stCondLst>
                                    <p:cond delay="590"/>
                                  </p:stCondLst>
                                  <p:childTnLst>
                                    <p:set>
                                      <p:cBhvr>
                                        <p:cTn id="245" dur="1" fill="hold">
                                          <p:stCondLst>
                                            <p:cond delay="0"/>
                                          </p:stCondLst>
                                        </p:cTn>
                                        <p:tgtEl>
                                          <p:spTgt spid="57"/>
                                        </p:tgtEl>
                                        <p:attrNameLst>
                                          <p:attrName>style.visibility</p:attrName>
                                        </p:attrNameLst>
                                      </p:cBhvr>
                                      <p:to>
                                        <p:strVal val="visible"/>
                                      </p:to>
                                    </p:set>
                                    <p:animEffect transition="in" filter="fade">
                                      <p:cBhvr>
                                        <p:cTn id="246" dur="550"/>
                                        <p:tgtEl>
                                          <p:spTgt spid="57"/>
                                        </p:tgtEl>
                                      </p:cBhvr>
                                    </p:animEffect>
                                    <p:anim calcmode="lin" valueType="num">
                                      <p:cBhvr>
                                        <p:cTn id="247" dur="550" decel="100000" fill="hold"/>
                                        <p:tgtEl>
                                          <p:spTgt spid="57"/>
                                        </p:tgtEl>
                                        <p:attrNameLst>
                                          <p:attrName>ppt_x</p:attrName>
                                        </p:attrNameLst>
                                      </p:cBhvr>
                                      <p:tavLst>
                                        <p:tav tm="0">
                                          <p:val>
                                            <p:strVal val="#ppt_x"/>
                                          </p:val>
                                        </p:tav>
                                        <p:tav tm="100000">
                                          <p:val>
                                            <p:strVal val="#ppt_x"/>
                                          </p:val>
                                        </p:tav>
                                      </p:tavLst>
                                    </p:anim>
                                    <p:anim calcmode="lin" valueType="num">
                                      <p:cBhvr>
                                        <p:cTn id="248" dur="550" decel="100000" fill="hold"/>
                                        <p:tgtEl>
                                          <p:spTgt spid="57"/>
                                        </p:tgtEl>
                                        <p:attrNameLst>
                                          <p:attrName>ppt_y</p:attrName>
                                        </p:attrNameLst>
                                      </p:cBhvr>
                                      <p:tavLst>
                                        <p:tav tm="0">
                                          <p:val>
                                            <p:strVal val="#ppt_y+0.03"/>
                                          </p:val>
                                        </p:tav>
                                        <p:tav tm="100000">
                                          <p:val>
                                            <p:strVal val="#ppt_y"/>
                                          </p:val>
                                        </p:tav>
                                      </p:tavLst>
                                    </p:anim>
                                  </p:childTnLst>
                                </p:cTn>
                              </p:par>
                              <p:par>
                                <p:cTn id="254" presetID="42" presetClass="entr" presetSubtype="0" fill="hold" grpId="0" nodeType="withEffect">
                                  <p:stCondLst>
                                    <p:cond delay="680"/>
                                  </p:stCondLst>
                                  <p:childTnLst>
                                    <p:set>
                                      <p:cBhvr>
                                        <p:cTn id="250" dur="1" fill="hold">
                                          <p:stCondLst>
                                            <p:cond delay="0"/>
                                          </p:stCondLst>
                                        </p:cTn>
                                        <p:tgtEl>
                                          <p:spTgt spid="58"/>
                                        </p:tgtEl>
                                        <p:attrNameLst>
                                          <p:attrName>style.visibility</p:attrName>
                                        </p:attrNameLst>
                                      </p:cBhvr>
                                      <p:to>
                                        <p:strVal val="visible"/>
                                      </p:to>
                                    </p:set>
                                    <p:animEffect transition="in" filter="fade">
                                      <p:cBhvr>
                                        <p:cTn id="251" dur="550"/>
                                        <p:tgtEl>
                                          <p:spTgt spid="58"/>
                                        </p:tgtEl>
                                      </p:cBhvr>
                                    </p:animEffect>
                                    <p:anim calcmode="lin" valueType="num">
                                      <p:cBhvr>
                                        <p:cTn id="252" dur="550" decel="100000" fill="hold"/>
                                        <p:tgtEl>
                                          <p:spTgt spid="58"/>
                                        </p:tgtEl>
                                        <p:attrNameLst>
                                          <p:attrName>ppt_x</p:attrName>
                                        </p:attrNameLst>
                                      </p:cBhvr>
                                      <p:tavLst>
                                        <p:tav tm="0">
                                          <p:val>
                                            <p:strVal val="#ppt_x"/>
                                          </p:val>
                                        </p:tav>
                                        <p:tav tm="100000">
                                          <p:val>
                                            <p:strVal val="#ppt_x"/>
                                          </p:val>
                                        </p:tav>
                                      </p:tavLst>
                                    </p:anim>
                                    <p:anim calcmode="lin" valueType="num">
                                      <p:cBhvr>
                                        <p:cTn id="253" dur="550" decel="100000" fill="hold"/>
                                        <p:tgtEl>
                                          <p:spTgt spid="58"/>
                                        </p:tgtEl>
                                        <p:attrNameLst>
                                          <p:attrName>ppt_y</p:attrName>
                                        </p:attrNameLst>
                                      </p:cBhvr>
                                      <p:tavLst>
                                        <p:tav tm="0">
                                          <p:val>
                                            <p:strVal val="#ppt_y+0.03"/>
                                          </p:val>
                                        </p:tav>
                                        <p:tav tm="100000">
                                          <p:val>
                                            <p:strVal val="#ppt_y"/>
                                          </p:val>
                                        </p:tav>
                                      </p:tavLst>
                                    </p:anim>
                                  </p:childTnLst>
                                </p:cTn>
                              </p:par>
                              <p:par>
                                <p:cTn id="259" presetID="42" presetClass="entr" presetSubtype="0" fill="hold" grpId="0" nodeType="withEffect">
                                  <p:stCondLst>
                                    <p:cond delay="680"/>
                                  </p:stCondLst>
                                  <p:childTnLst>
                                    <p:set>
                                      <p:cBhvr>
                                        <p:cTn id="255" dur="1" fill="hold">
                                          <p:stCondLst>
                                            <p:cond delay="0"/>
                                          </p:stCondLst>
                                        </p:cTn>
                                        <p:tgtEl>
                                          <p:spTgt spid="59"/>
                                        </p:tgtEl>
                                        <p:attrNameLst>
                                          <p:attrName>style.visibility</p:attrName>
                                        </p:attrNameLst>
                                      </p:cBhvr>
                                      <p:to>
                                        <p:strVal val="visible"/>
                                      </p:to>
                                    </p:set>
                                    <p:animEffect transition="in" filter="fade">
                                      <p:cBhvr>
                                        <p:cTn id="256" dur="550"/>
                                        <p:tgtEl>
                                          <p:spTgt spid="59"/>
                                        </p:tgtEl>
                                      </p:cBhvr>
                                    </p:animEffect>
                                    <p:anim calcmode="lin" valueType="num">
                                      <p:cBhvr>
                                        <p:cTn id="257" dur="550" decel="100000" fill="hold"/>
                                        <p:tgtEl>
                                          <p:spTgt spid="59"/>
                                        </p:tgtEl>
                                        <p:attrNameLst>
                                          <p:attrName>ppt_x</p:attrName>
                                        </p:attrNameLst>
                                      </p:cBhvr>
                                      <p:tavLst>
                                        <p:tav tm="0">
                                          <p:val>
                                            <p:strVal val="#ppt_x"/>
                                          </p:val>
                                        </p:tav>
                                        <p:tav tm="100000">
                                          <p:val>
                                            <p:strVal val="#ppt_x"/>
                                          </p:val>
                                        </p:tav>
                                      </p:tavLst>
                                    </p:anim>
                                    <p:anim calcmode="lin" valueType="num">
                                      <p:cBhvr>
                                        <p:cTn id="258" dur="550" decel="100000" fill="hold"/>
                                        <p:tgtEl>
                                          <p:spTgt spid="59"/>
                                        </p:tgtEl>
                                        <p:attrNameLst>
                                          <p:attrName>ppt_y</p:attrName>
                                        </p:attrNameLst>
                                      </p:cBhvr>
                                      <p:tavLst>
                                        <p:tav tm="0">
                                          <p:val>
                                            <p:strVal val="#ppt_y+0.03"/>
                                          </p:val>
                                        </p:tav>
                                        <p:tav tm="100000">
                                          <p:val>
                                            <p:strVal val="#ppt_y"/>
                                          </p:val>
                                        </p:tav>
                                      </p:tavLst>
                                    </p:anim>
                                  </p:childTnLst>
                                </p:cTn>
                              </p:par>
                              <p:par>
                                <p:cTn id="264" presetID="42" presetClass="entr" presetSubtype="0" fill="hold" grpId="0" nodeType="withEffect">
                                  <p:stCondLst>
                                    <p:cond delay="680"/>
                                  </p:stCondLst>
                                  <p:childTnLst>
                                    <p:set>
                                      <p:cBhvr>
                                        <p:cTn id="260" dur="1" fill="hold">
                                          <p:stCondLst>
                                            <p:cond delay="0"/>
                                          </p:stCondLst>
                                        </p:cTn>
                                        <p:tgtEl>
                                          <p:spTgt spid="60"/>
                                        </p:tgtEl>
                                        <p:attrNameLst>
                                          <p:attrName>style.visibility</p:attrName>
                                        </p:attrNameLst>
                                      </p:cBhvr>
                                      <p:to>
                                        <p:strVal val="visible"/>
                                      </p:to>
                                    </p:set>
                                    <p:animEffect transition="in" filter="fade">
                                      <p:cBhvr>
                                        <p:cTn id="261" dur="550"/>
                                        <p:tgtEl>
                                          <p:spTgt spid="60"/>
                                        </p:tgtEl>
                                      </p:cBhvr>
                                    </p:animEffect>
                                    <p:anim calcmode="lin" valueType="num">
                                      <p:cBhvr>
                                        <p:cTn id="262" dur="550" decel="100000" fill="hold"/>
                                        <p:tgtEl>
                                          <p:spTgt spid="60"/>
                                        </p:tgtEl>
                                        <p:attrNameLst>
                                          <p:attrName>ppt_x</p:attrName>
                                        </p:attrNameLst>
                                      </p:cBhvr>
                                      <p:tavLst>
                                        <p:tav tm="0">
                                          <p:val>
                                            <p:strVal val="#ppt_x"/>
                                          </p:val>
                                        </p:tav>
                                        <p:tav tm="100000">
                                          <p:val>
                                            <p:strVal val="#ppt_x"/>
                                          </p:val>
                                        </p:tav>
                                      </p:tavLst>
                                    </p:anim>
                                    <p:anim calcmode="lin" valueType="num">
                                      <p:cBhvr>
                                        <p:cTn id="263" dur="550" decel="100000" fill="hold"/>
                                        <p:tgtEl>
                                          <p:spTgt spid="60"/>
                                        </p:tgtEl>
                                        <p:attrNameLst>
                                          <p:attrName>ppt_y</p:attrName>
                                        </p:attrNameLst>
                                      </p:cBhvr>
                                      <p:tavLst>
                                        <p:tav tm="0">
                                          <p:val>
                                            <p:strVal val="#ppt_y+0.03"/>
                                          </p:val>
                                        </p:tav>
                                        <p:tav tm="100000">
                                          <p:val>
                                            <p:strVal val="#ppt_y"/>
                                          </p:val>
                                        </p:tav>
                                      </p:tavLst>
                                    </p:anim>
                                  </p:childTnLst>
                                </p:cTn>
                              </p:par>
                              <p:par>
                                <p:cTn id="269" presetID="42" presetClass="entr" presetSubtype="0" fill="hold" grpId="0" nodeType="withEffect">
                                  <p:stCondLst>
                                    <p:cond delay="770"/>
                                  </p:stCondLst>
                                  <p:childTnLst>
                                    <p:set>
                                      <p:cBhvr>
                                        <p:cTn id="265" dur="1" fill="hold">
                                          <p:stCondLst>
                                            <p:cond delay="0"/>
                                          </p:stCondLst>
                                        </p:cTn>
                                        <p:tgtEl>
                                          <p:spTgt spid="61"/>
                                        </p:tgtEl>
                                        <p:attrNameLst>
                                          <p:attrName>style.visibility</p:attrName>
                                        </p:attrNameLst>
                                      </p:cBhvr>
                                      <p:to>
                                        <p:strVal val="visible"/>
                                      </p:to>
                                    </p:set>
                                    <p:animEffect transition="in" filter="fade">
                                      <p:cBhvr>
                                        <p:cTn id="266" dur="550"/>
                                        <p:tgtEl>
                                          <p:spTgt spid="61"/>
                                        </p:tgtEl>
                                      </p:cBhvr>
                                    </p:animEffect>
                                    <p:anim calcmode="lin" valueType="num">
                                      <p:cBhvr>
                                        <p:cTn id="267" dur="550" decel="100000" fill="hold"/>
                                        <p:tgtEl>
                                          <p:spTgt spid="61"/>
                                        </p:tgtEl>
                                        <p:attrNameLst>
                                          <p:attrName>ppt_x</p:attrName>
                                        </p:attrNameLst>
                                      </p:cBhvr>
                                      <p:tavLst>
                                        <p:tav tm="0">
                                          <p:val>
                                            <p:strVal val="#ppt_x"/>
                                          </p:val>
                                        </p:tav>
                                        <p:tav tm="100000">
                                          <p:val>
                                            <p:strVal val="#ppt_x"/>
                                          </p:val>
                                        </p:tav>
                                      </p:tavLst>
                                    </p:anim>
                                    <p:anim calcmode="lin" valueType="num">
                                      <p:cBhvr>
                                        <p:cTn id="268" dur="550" decel="100000" fill="hold"/>
                                        <p:tgtEl>
                                          <p:spTgt spid="61"/>
                                        </p:tgtEl>
                                        <p:attrNameLst>
                                          <p:attrName>ppt_y</p:attrName>
                                        </p:attrNameLst>
                                      </p:cBhvr>
                                      <p:tavLst>
                                        <p:tav tm="0">
                                          <p:val>
                                            <p:strVal val="#ppt_y+0.03"/>
                                          </p:val>
                                        </p:tav>
                                        <p:tav tm="100000">
                                          <p:val>
                                            <p:strVal val="#ppt_y"/>
                                          </p:val>
                                        </p:tav>
                                      </p:tavLst>
                                    </p:anim>
                                  </p:childTnLst>
                                </p:cTn>
                              </p:par>
                              <p:par>
                                <p:cTn id="274" presetID="42" presetClass="entr" presetSubtype="0" fill="hold" grpId="0" nodeType="withEffect">
                                  <p:stCondLst>
                                    <p:cond delay="770"/>
                                  </p:stCondLst>
                                  <p:childTnLst>
                                    <p:set>
                                      <p:cBhvr>
                                        <p:cTn id="270" dur="1" fill="hold">
                                          <p:stCondLst>
                                            <p:cond delay="0"/>
                                          </p:stCondLst>
                                        </p:cTn>
                                        <p:tgtEl>
                                          <p:spTgt spid="62"/>
                                        </p:tgtEl>
                                        <p:attrNameLst>
                                          <p:attrName>style.visibility</p:attrName>
                                        </p:attrNameLst>
                                      </p:cBhvr>
                                      <p:to>
                                        <p:strVal val="visible"/>
                                      </p:to>
                                    </p:set>
                                    <p:animEffect transition="in" filter="fade">
                                      <p:cBhvr>
                                        <p:cTn id="271" dur="550"/>
                                        <p:tgtEl>
                                          <p:spTgt spid="62"/>
                                        </p:tgtEl>
                                      </p:cBhvr>
                                    </p:animEffect>
                                    <p:anim calcmode="lin" valueType="num">
                                      <p:cBhvr>
                                        <p:cTn id="272" dur="550" decel="100000" fill="hold"/>
                                        <p:tgtEl>
                                          <p:spTgt spid="62"/>
                                        </p:tgtEl>
                                        <p:attrNameLst>
                                          <p:attrName>ppt_x</p:attrName>
                                        </p:attrNameLst>
                                      </p:cBhvr>
                                      <p:tavLst>
                                        <p:tav tm="0">
                                          <p:val>
                                            <p:strVal val="#ppt_x"/>
                                          </p:val>
                                        </p:tav>
                                        <p:tav tm="100000">
                                          <p:val>
                                            <p:strVal val="#ppt_x"/>
                                          </p:val>
                                        </p:tav>
                                      </p:tavLst>
                                    </p:anim>
                                    <p:anim calcmode="lin" valueType="num">
                                      <p:cBhvr>
                                        <p:cTn id="273" dur="550" decel="100000" fill="hold"/>
                                        <p:tgtEl>
                                          <p:spTgt spid="62"/>
                                        </p:tgtEl>
                                        <p:attrNameLst>
                                          <p:attrName>ppt_y</p:attrName>
                                        </p:attrNameLst>
                                      </p:cBhvr>
                                      <p:tavLst>
                                        <p:tav tm="0">
                                          <p:val>
                                            <p:strVal val="#ppt_y+0.03"/>
                                          </p:val>
                                        </p:tav>
                                        <p:tav tm="100000">
                                          <p:val>
                                            <p:strVal val="#ppt_y"/>
                                          </p:val>
                                        </p:tav>
                                      </p:tavLst>
                                    </p:anim>
                                  </p:childTnLst>
                                </p:cTn>
                              </p:par>
                              <p:par>
                                <p:cTn id="279" presetID="42" presetClass="entr" presetSubtype="0" fill="hold" grpId="0" nodeType="withEffect">
                                  <p:stCondLst>
                                    <p:cond delay="770"/>
                                  </p:stCondLst>
                                  <p:childTnLst>
                                    <p:set>
                                      <p:cBhvr>
                                        <p:cTn id="275" dur="1" fill="hold">
                                          <p:stCondLst>
                                            <p:cond delay="0"/>
                                          </p:stCondLst>
                                        </p:cTn>
                                        <p:tgtEl>
                                          <p:spTgt spid="63"/>
                                        </p:tgtEl>
                                        <p:attrNameLst>
                                          <p:attrName>style.visibility</p:attrName>
                                        </p:attrNameLst>
                                      </p:cBhvr>
                                      <p:to>
                                        <p:strVal val="visible"/>
                                      </p:to>
                                    </p:set>
                                    <p:animEffect transition="in" filter="fade">
                                      <p:cBhvr>
                                        <p:cTn id="276" dur="550"/>
                                        <p:tgtEl>
                                          <p:spTgt spid="63"/>
                                        </p:tgtEl>
                                      </p:cBhvr>
                                    </p:animEffect>
                                    <p:anim calcmode="lin" valueType="num">
                                      <p:cBhvr>
                                        <p:cTn id="277" dur="550" decel="100000" fill="hold"/>
                                        <p:tgtEl>
                                          <p:spTgt spid="63"/>
                                        </p:tgtEl>
                                        <p:attrNameLst>
                                          <p:attrName>ppt_x</p:attrName>
                                        </p:attrNameLst>
                                      </p:cBhvr>
                                      <p:tavLst>
                                        <p:tav tm="0">
                                          <p:val>
                                            <p:strVal val="#ppt_x"/>
                                          </p:val>
                                        </p:tav>
                                        <p:tav tm="100000">
                                          <p:val>
                                            <p:strVal val="#ppt_x"/>
                                          </p:val>
                                        </p:tav>
                                      </p:tavLst>
                                    </p:anim>
                                    <p:anim calcmode="lin" valueType="num">
                                      <p:cBhvr>
                                        <p:cTn id="278" dur="550" decel="100000" fill="hold"/>
                                        <p:tgtEl>
                                          <p:spTgt spid="63"/>
                                        </p:tgtEl>
                                        <p:attrNameLst>
                                          <p:attrName>ppt_y</p:attrName>
                                        </p:attrNameLst>
                                      </p:cBhvr>
                                      <p:tavLst>
                                        <p:tav tm="0">
                                          <p:val>
                                            <p:strVal val="#ppt_y+0.03"/>
                                          </p:val>
                                        </p:tav>
                                        <p:tav tm="100000">
                                          <p:val>
                                            <p:strVal val="#ppt_y"/>
                                          </p:val>
                                        </p:tav>
                                      </p:tavLst>
                                    </p:anim>
                                  </p:childTnLst>
                                </p:cTn>
                              </p:par>
                              <p:par>
                                <p:cTn id="284" presetID="42" presetClass="entr" presetSubtype="0" fill="hold" grpId="0" nodeType="withEffect">
                                  <p:stCondLst>
                                    <p:cond delay="860"/>
                                  </p:stCondLst>
                                  <p:childTnLst>
                                    <p:set>
                                      <p:cBhvr>
                                        <p:cTn id="280" dur="1" fill="hold">
                                          <p:stCondLst>
                                            <p:cond delay="0"/>
                                          </p:stCondLst>
                                        </p:cTn>
                                        <p:tgtEl>
                                          <p:spTgt spid="64"/>
                                        </p:tgtEl>
                                        <p:attrNameLst>
                                          <p:attrName>style.visibility</p:attrName>
                                        </p:attrNameLst>
                                      </p:cBhvr>
                                      <p:to>
                                        <p:strVal val="visible"/>
                                      </p:to>
                                    </p:set>
                                    <p:animEffect transition="in" filter="fade">
                                      <p:cBhvr>
                                        <p:cTn id="281" dur="550"/>
                                        <p:tgtEl>
                                          <p:spTgt spid="64"/>
                                        </p:tgtEl>
                                      </p:cBhvr>
                                    </p:animEffect>
                                    <p:anim calcmode="lin" valueType="num">
                                      <p:cBhvr>
                                        <p:cTn id="282" dur="550" decel="100000" fill="hold"/>
                                        <p:tgtEl>
                                          <p:spTgt spid="64"/>
                                        </p:tgtEl>
                                        <p:attrNameLst>
                                          <p:attrName>ppt_x</p:attrName>
                                        </p:attrNameLst>
                                      </p:cBhvr>
                                      <p:tavLst>
                                        <p:tav tm="0">
                                          <p:val>
                                            <p:strVal val="#ppt_x"/>
                                          </p:val>
                                        </p:tav>
                                        <p:tav tm="100000">
                                          <p:val>
                                            <p:strVal val="#ppt_x"/>
                                          </p:val>
                                        </p:tav>
                                      </p:tavLst>
                                    </p:anim>
                                    <p:anim calcmode="lin" valueType="num">
                                      <p:cBhvr>
                                        <p:cTn id="283" dur="550" decel="100000" fill="hold"/>
                                        <p:tgtEl>
                                          <p:spTgt spid="64"/>
                                        </p:tgtEl>
                                        <p:attrNameLst>
                                          <p:attrName>ppt_y</p:attrName>
                                        </p:attrNameLst>
                                      </p:cBhvr>
                                      <p:tavLst>
                                        <p:tav tm="0">
                                          <p:val>
                                            <p:strVal val="#ppt_y+0.03"/>
                                          </p:val>
                                        </p:tav>
                                        <p:tav tm="100000">
                                          <p:val>
                                            <p:strVal val="#ppt_y"/>
                                          </p:val>
                                        </p:tav>
                                      </p:tavLst>
                                    </p:anim>
                                  </p:childTnLst>
                                </p:cTn>
                              </p:par>
                              <p:par>
                                <p:cTn id="289" presetID="42" presetClass="entr" presetSubtype="0" fill="hold" grpId="0" nodeType="withEffect">
                                  <p:stCondLst>
                                    <p:cond delay="860"/>
                                  </p:stCondLst>
                                  <p:childTnLst>
                                    <p:set>
                                      <p:cBhvr>
                                        <p:cTn id="285" dur="1" fill="hold">
                                          <p:stCondLst>
                                            <p:cond delay="0"/>
                                          </p:stCondLst>
                                        </p:cTn>
                                        <p:tgtEl>
                                          <p:spTgt spid="65"/>
                                        </p:tgtEl>
                                        <p:attrNameLst>
                                          <p:attrName>style.visibility</p:attrName>
                                        </p:attrNameLst>
                                      </p:cBhvr>
                                      <p:to>
                                        <p:strVal val="visible"/>
                                      </p:to>
                                    </p:set>
                                    <p:animEffect transition="in" filter="fade">
                                      <p:cBhvr>
                                        <p:cTn id="286" dur="550"/>
                                        <p:tgtEl>
                                          <p:spTgt spid="65"/>
                                        </p:tgtEl>
                                      </p:cBhvr>
                                    </p:animEffect>
                                    <p:anim calcmode="lin" valueType="num">
                                      <p:cBhvr>
                                        <p:cTn id="287" dur="550" decel="100000" fill="hold"/>
                                        <p:tgtEl>
                                          <p:spTgt spid="65"/>
                                        </p:tgtEl>
                                        <p:attrNameLst>
                                          <p:attrName>ppt_x</p:attrName>
                                        </p:attrNameLst>
                                      </p:cBhvr>
                                      <p:tavLst>
                                        <p:tav tm="0">
                                          <p:val>
                                            <p:strVal val="#ppt_x"/>
                                          </p:val>
                                        </p:tav>
                                        <p:tav tm="100000">
                                          <p:val>
                                            <p:strVal val="#ppt_x"/>
                                          </p:val>
                                        </p:tav>
                                      </p:tavLst>
                                    </p:anim>
                                    <p:anim calcmode="lin" valueType="num">
                                      <p:cBhvr>
                                        <p:cTn id="288" dur="550" decel="100000" fill="hold"/>
                                        <p:tgtEl>
                                          <p:spTgt spid="65"/>
                                        </p:tgtEl>
                                        <p:attrNameLst>
                                          <p:attrName>ppt_y</p:attrName>
                                        </p:attrNameLst>
                                      </p:cBhvr>
                                      <p:tavLst>
                                        <p:tav tm="0">
                                          <p:val>
                                            <p:strVal val="#ppt_y+0.03"/>
                                          </p:val>
                                        </p:tav>
                                        <p:tav tm="100000">
                                          <p:val>
                                            <p:strVal val="#ppt_y"/>
                                          </p:val>
                                        </p:tav>
                                      </p:tavLst>
                                    </p:anim>
                                  </p:childTnLst>
                                </p:cTn>
                              </p:par>
                              <p:par>
                                <p:cTn id="294" presetID="42" presetClass="entr" presetSubtype="0" fill="hold" grpId="0" nodeType="withEffect">
                                  <p:stCondLst>
                                    <p:cond delay="860"/>
                                  </p:stCondLst>
                                  <p:childTnLst>
                                    <p:set>
                                      <p:cBhvr>
                                        <p:cTn id="290" dur="1" fill="hold">
                                          <p:stCondLst>
                                            <p:cond delay="0"/>
                                          </p:stCondLst>
                                        </p:cTn>
                                        <p:tgtEl>
                                          <p:spTgt spid="66"/>
                                        </p:tgtEl>
                                        <p:attrNameLst>
                                          <p:attrName>style.visibility</p:attrName>
                                        </p:attrNameLst>
                                      </p:cBhvr>
                                      <p:to>
                                        <p:strVal val="visible"/>
                                      </p:to>
                                    </p:set>
                                    <p:animEffect transition="in" filter="fade">
                                      <p:cBhvr>
                                        <p:cTn id="291" dur="550"/>
                                        <p:tgtEl>
                                          <p:spTgt spid="66"/>
                                        </p:tgtEl>
                                      </p:cBhvr>
                                    </p:animEffect>
                                    <p:anim calcmode="lin" valueType="num">
                                      <p:cBhvr>
                                        <p:cTn id="292" dur="550" decel="100000" fill="hold"/>
                                        <p:tgtEl>
                                          <p:spTgt spid="66"/>
                                        </p:tgtEl>
                                        <p:attrNameLst>
                                          <p:attrName>ppt_x</p:attrName>
                                        </p:attrNameLst>
                                      </p:cBhvr>
                                      <p:tavLst>
                                        <p:tav tm="0">
                                          <p:val>
                                            <p:strVal val="#ppt_x"/>
                                          </p:val>
                                        </p:tav>
                                        <p:tav tm="100000">
                                          <p:val>
                                            <p:strVal val="#ppt_x"/>
                                          </p:val>
                                        </p:tav>
                                      </p:tavLst>
                                    </p:anim>
                                    <p:anim calcmode="lin" valueType="num">
                                      <p:cBhvr>
                                        <p:cTn id="293" dur="550" decel="100000" fill="hold"/>
                                        <p:tgtEl>
                                          <p:spTgt spid="6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4" grpId="0" animBg="1"/>
      <p:bldP spid="15" grpId="0" animBg="1"/>
      <p:bldP spid="30" grpId="0" animBg="1"/>
      <p:bldP spid="31" grpId="0" animBg="1"/>
      <p:bldP spid="33" grpId="0" animBg="1"/>
      <p:bldP spid="34" grpId="0" animBg="1"/>
      <p:bldP spid="35" grpId="0" animBg="1"/>
      <p:bldP spid="36" grpId="0" animBg="1"/>
      <p:bldP spid="16" grpId="0" animBg="1"/>
      <p:bldP spid="17" grpId="0" animBg="1"/>
      <p:bldP spid="19" grpId="0" animBg="1"/>
      <p:bldP spid="21" grpId="0" animBg="1"/>
      <p:bldP spid="23" grpId="0" animBg="1"/>
      <p:bldP spid="25" grpId="0" animBg="1"/>
      <p:bldP spid="45" grpId="0" animBg="1"/>
      <p:bldP spid="46" grpId="0" animBg="1"/>
      <p:bldP spid="48" grpId="0" animBg="1"/>
      <p:bldP spid="49" grpId="0" animBg="1"/>
      <p:bldP spid="50" grpId="0" animBg="1"/>
      <p:bldP spid="51" grpId="0" animBg="1"/>
      <p:bldP spid="26" grpId="0" animBg="1"/>
      <p:bldP spid="27" grpId="0" animBg="1"/>
      <p:bldP spid="29" grpId="0" animBg="1"/>
      <p:bldP spid="37" grpId="0" animBg="1"/>
      <p:bldP spid="38" grpId="0" animBg="1"/>
      <p:bldP spid="40" grpId="0" animBg="1"/>
      <p:bldP spid="52" grpId="0" animBg="1"/>
      <p:bldP spid="54" grpId="0" animBg="1"/>
      <p:bldP spid="41" grpId="0" animBg="1"/>
      <p:bldP spid="42" grpId="0" animBg="1"/>
      <p:bldP spid="44" grpId="0" animBg="1"/>
      <p:bldP spid="55" grpId="0" animBg="1"/>
      <p:bldP spid="57" grpId="0" animBg="1"/>
      <p:bldP spid="58" grpId="0" animBg="1"/>
      <p:bldP spid="60" grpId="0" animBg="1"/>
      <p:bldP spid="61" grpId="0" animBg="1"/>
      <p:bldP spid="63" grpId="0" animBg="1"/>
      <p:bldP spid="64" grpId="0" animBg="1"/>
      <p:bldP spid="6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03</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METHODOLOGY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How Were the Findings Generated?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study design, and how to read an odds ratio.</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04 / 09</a:t>
            </a:r>
            <a:endParaRPr lang="en-US" sz="900" dirty="0"/>
          </a:p>
        </p:txBody>
      </p:sp>
      <p:sp>
        <p:nvSpPr>
          <p:cNvPr id="9" name="Study design card"/>
          <p:cNvSpPr/>
          <p:nvPr/>
        </p:nvSpPr>
        <p:spPr>
          <a:xfrm>
            <a:off x="548640" y="1737360"/>
            <a:ext cx="4160520"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tudy design icon disc"/>
          <p:cNvSpPr/>
          <p:nvPr/>
        </p:nvSpPr>
        <p:spPr>
          <a:xfrm>
            <a:off x="804672" y="1956816"/>
            <a:ext cx="420624" cy="420624"/>
          </a:xfrm>
          <a:prstGeom prst="ellipse">
            <a:avLst/>
          </a:prstGeom>
          <a:solidFill>
            <a:srgbClr val="EBF0FA"/>
          </a:solidFill>
          <a:ln/>
        </p:spPr>
      </p:sp>
      <p:pic>
        <p:nvPicPr>
          <p:cNvPr id="11" name="Study design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Study design label"/>
          <p:cNvSpPr txBox="1"/>
          <p:nvPr/>
        </p:nvSpPr>
        <p:spPr>
          <a:xfrm>
            <a:off x="1353312" y="1956816"/>
            <a:ext cx="3154680" cy="420624"/>
          </a:xfrm>
          <a:prstGeom prst="rect">
            <a:avLst/>
          </a:prstGeom>
          <a:noFill/>
          <a:ln/>
        </p:spPr>
        <p:txBody>
          <a:bodyPr wrap="square" lIns="0" tIns="0" rIns="0" bIns="0" rtlCol="0" anchor="ctr"/>
          <a:lstStyle/>
          <a:p>
            <a:pPr indent="0" marL="0">
              <a:buNone/>
            </a:pPr>
            <a:r>
              <a:rPr lang="en-US" sz="1000" b="1" spc="120" kern="0" dirty="0">
                <a:solidFill>
                  <a:srgbClr val="2D539F"/>
                </a:solidFill>
              </a:rPr>
              <a:t>STUDY DESIGN</a:t>
            </a:r>
            <a:endParaRPr lang="en-US" sz="1000" dirty="0"/>
          </a:p>
        </p:txBody>
      </p:sp>
      <p:sp>
        <p:nvSpPr>
          <p:cNvPr id="13" name="FaMapMarkerAlt disc"/>
          <p:cNvSpPr/>
          <p:nvPr/>
        </p:nvSpPr>
        <p:spPr>
          <a:xfrm>
            <a:off x="822960" y="2578608"/>
            <a:ext cx="347472" cy="347472"/>
          </a:xfrm>
          <a:prstGeom prst="ellipse">
            <a:avLst/>
          </a:prstGeom>
          <a:solidFill>
            <a:srgbClr val="EBF0FA"/>
          </a:solidFill>
          <a:ln/>
        </p:spPr>
      </p:sp>
      <p:pic>
        <p:nvPicPr>
          <p:cNvPr id="14" name="FaMapMarkerAlt" descr="preencoded.png">    </p:cNvPr>
          <p:cNvPicPr>
            <a:picLocks noChangeAspect="1"/>
          </p:cNvPicPr>
          <p:nvPr/>
        </p:nvPicPr>
        <p:blipFill>
          <a:blip r:embed="rId3"/>
          <a:stretch>
            <a:fillRect/>
          </a:stretch>
        </p:blipFill>
        <p:spPr>
          <a:xfrm>
            <a:off x="913303" y="2668951"/>
            <a:ext cx="166787" cy="166787"/>
          </a:xfrm>
          <a:prstGeom prst="rect">
            <a:avLst/>
          </a:prstGeom>
        </p:spPr>
      </p:pic>
      <p:sp>
        <p:nvSpPr>
          <p:cNvPr id="15" name="Text"/>
          <p:cNvSpPr txBox="1"/>
          <p:nvPr/>
        </p:nvSpPr>
        <p:spPr>
          <a:xfrm>
            <a:off x="1298448" y="25237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Multi-stage sampling approach.</a:t>
            </a:r>
            <a:endParaRPr lang="en-US" sz="1100" dirty="0"/>
          </a:p>
        </p:txBody>
      </p:sp>
      <p:sp>
        <p:nvSpPr>
          <p:cNvPr id="16" name="FaGlobeAfrica disc"/>
          <p:cNvSpPr/>
          <p:nvPr/>
        </p:nvSpPr>
        <p:spPr>
          <a:xfrm>
            <a:off x="822960" y="3035808"/>
            <a:ext cx="347472" cy="347472"/>
          </a:xfrm>
          <a:prstGeom prst="ellipse">
            <a:avLst/>
          </a:prstGeom>
          <a:solidFill>
            <a:srgbClr val="EBF0FA"/>
          </a:solidFill>
          <a:ln/>
        </p:spPr>
      </p:sp>
      <p:pic>
        <p:nvPicPr>
          <p:cNvPr id="17" name="FaGlobeAfrica" descr="preencoded.png">    </p:cNvPr>
          <p:cNvPicPr>
            <a:picLocks noChangeAspect="1"/>
          </p:cNvPicPr>
          <p:nvPr/>
        </p:nvPicPr>
        <p:blipFill>
          <a:blip r:embed="rId4"/>
          <a:stretch>
            <a:fillRect/>
          </a:stretch>
        </p:blipFill>
        <p:spPr>
          <a:xfrm>
            <a:off x="913303" y="3126151"/>
            <a:ext cx="166787" cy="166787"/>
          </a:xfrm>
          <a:prstGeom prst="rect">
            <a:avLst/>
          </a:prstGeom>
        </p:spPr>
      </p:pic>
      <p:sp>
        <p:nvSpPr>
          <p:cNvPr id="18" name="Text"/>
          <p:cNvSpPr txBox="1"/>
          <p:nvPr/>
        </p:nvSpPr>
        <p:spPr>
          <a:xfrm>
            <a:off x="1298448" y="2980944"/>
            <a:ext cx="3154680" cy="457200"/>
          </a:xfrm>
          <a:prstGeom prst="rect">
            <a:avLst/>
          </a:prstGeom>
          <a:noFill/>
          <a:ln/>
        </p:spPr>
        <p:txBody>
          <a:bodyPr wrap="square" lIns="0" tIns="0" rIns="0" bIns="0" rtlCol="0" anchor="ctr"/>
          <a:lstStyle/>
          <a:p>
            <a:pPr indent="0" marL="0">
              <a:buNone/>
            </a:pPr>
            <a:r>
              <a:rPr lang="en-US" sz="1100" dirty="0">
                <a:solidFill>
                  <a:srgbClr val="414A5A"/>
                </a:solidFill>
              </a:rPr>
              <a:t>Data collected across 13 districts and a city.</a:t>
            </a:r>
            <a:endParaRPr lang="en-US" sz="1100" dirty="0"/>
          </a:p>
        </p:txBody>
      </p:sp>
      <p:sp>
        <p:nvSpPr>
          <p:cNvPr id="19" name="FaUsers disc"/>
          <p:cNvSpPr/>
          <p:nvPr/>
        </p:nvSpPr>
        <p:spPr>
          <a:xfrm>
            <a:off x="822960" y="3520440"/>
            <a:ext cx="347472" cy="347472"/>
          </a:xfrm>
          <a:prstGeom prst="ellipse">
            <a:avLst/>
          </a:prstGeom>
          <a:solidFill>
            <a:srgbClr val="EBF0FA"/>
          </a:solidFill>
          <a:ln/>
        </p:spPr>
      </p:sp>
      <p:pic>
        <p:nvPicPr>
          <p:cNvPr id="20" name="FaUsers" descr="preencoded.png">    </p:cNvPr>
          <p:cNvPicPr>
            <a:picLocks noChangeAspect="1"/>
          </p:cNvPicPr>
          <p:nvPr/>
        </p:nvPicPr>
        <p:blipFill>
          <a:blip r:embed="rId5"/>
          <a:stretch>
            <a:fillRect/>
          </a:stretch>
        </p:blipFill>
        <p:spPr>
          <a:xfrm>
            <a:off x="913303" y="3610783"/>
            <a:ext cx="166787" cy="166787"/>
          </a:xfrm>
          <a:prstGeom prst="rect">
            <a:avLst/>
          </a:prstGeom>
        </p:spPr>
      </p:pic>
      <p:sp>
        <p:nvSpPr>
          <p:cNvPr id="21" name="Text"/>
          <p:cNvSpPr txBox="1"/>
          <p:nvPr/>
        </p:nvSpPr>
        <p:spPr>
          <a:xfrm>
            <a:off x="1298448" y="3465576"/>
            <a:ext cx="3154680" cy="566928"/>
          </a:xfrm>
          <a:prstGeom prst="rect">
            <a:avLst/>
          </a:prstGeom>
          <a:noFill/>
          <a:ln/>
        </p:spPr>
        <p:txBody>
          <a:bodyPr wrap="square" lIns="0" tIns="0" rIns="0" bIns="0" rtlCol="0" anchor="t"/>
          <a:lstStyle/>
          <a:p>
            <a:pPr indent="0" marL="0">
              <a:buNone/>
            </a:pPr>
            <a:r>
              <a:rPr lang="en-US" sz="1100" dirty="0">
                <a:solidFill>
                  <a:srgbClr val="414A5A"/>
                </a:solidFill>
              </a:rPr>
              <a:t>Analysis examined relationships between child marriage and selected characteristics/vulnerabilities.</a:t>
            </a:r>
            <a:endParaRPr lang="en-US" sz="1100" dirty="0"/>
          </a:p>
        </p:txBody>
      </p:sp>
      <p:sp>
        <p:nvSpPr>
          <p:cNvPr id="22" name="FaCalculator disc"/>
          <p:cNvSpPr/>
          <p:nvPr/>
        </p:nvSpPr>
        <p:spPr>
          <a:xfrm>
            <a:off x="822960" y="4187952"/>
            <a:ext cx="347472" cy="347472"/>
          </a:xfrm>
          <a:prstGeom prst="ellipse">
            <a:avLst/>
          </a:prstGeom>
          <a:solidFill>
            <a:srgbClr val="EBF0FA"/>
          </a:solidFill>
          <a:ln/>
        </p:spPr>
      </p:sp>
      <p:pic>
        <p:nvPicPr>
          <p:cNvPr id="23" name="FaCalculator" descr="preencoded.png">    </p:cNvPr>
          <p:cNvPicPr>
            <a:picLocks noChangeAspect="1"/>
          </p:cNvPicPr>
          <p:nvPr/>
        </p:nvPicPr>
        <p:blipFill>
          <a:blip r:embed="rId6"/>
          <a:stretch>
            <a:fillRect/>
          </a:stretch>
        </p:blipFill>
        <p:spPr>
          <a:xfrm>
            <a:off x="913303" y="4278295"/>
            <a:ext cx="166787" cy="166787"/>
          </a:xfrm>
          <a:prstGeom prst="rect">
            <a:avLst/>
          </a:prstGeom>
        </p:spPr>
      </p:pic>
      <p:sp>
        <p:nvSpPr>
          <p:cNvPr id="24" name="Text"/>
          <p:cNvSpPr txBox="1"/>
          <p:nvPr/>
        </p:nvSpPr>
        <p:spPr>
          <a:xfrm>
            <a:off x="1298448" y="4133088"/>
            <a:ext cx="3154680" cy="457200"/>
          </a:xfrm>
          <a:prstGeom prst="rect">
            <a:avLst/>
          </a:prstGeom>
          <a:noFill/>
          <a:ln/>
        </p:spPr>
        <p:txBody>
          <a:bodyPr wrap="square" lIns="0" tIns="0" rIns="0" bIns="0" rtlCol="0" anchor="ctr"/>
          <a:lstStyle/>
          <a:p>
            <a:pPr indent="0" marL="0">
              <a:buNone/>
            </a:pPr>
            <a:r>
              <a:rPr lang="en-US" sz="1100" dirty="0">
                <a:solidFill>
                  <a:srgbClr val="414A5A"/>
                </a:solidFill>
              </a:rPr>
              <a:t>Regression analysis used to estimate odds ratios (ORs).</a:t>
            </a:r>
            <a:endParaRPr lang="en-US" sz="1100" dirty="0"/>
          </a:p>
        </p:txBody>
      </p:sp>
      <p:sp>
        <p:nvSpPr>
          <p:cNvPr id="25" name="What does an OR tell us? card"/>
          <p:cNvSpPr/>
          <p:nvPr/>
        </p:nvSpPr>
        <p:spPr>
          <a:xfrm>
            <a:off x="4983480" y="1737360"/>
            <a:ext cx="6659575"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6" name="What does an OR tell us? icon disc"/>
          <p:cNvSpPr/>
          <p:nvPr/>
        </p:nvSpPr>
        <p:spPr>
          <a:xfrm>
            <a:off x="5239512" y="1956816"/>
            <a:ext cx="420624" cy="420624"/>
          </a:xfrm>
          <a:prstGeom prst="ellipse">
            <a:avLst/>
          </a:prstGeom>
          <a:solidFill>
            <a:srgbClr val="E6F6FC"/>
          </a:solidFill>
          <a:ln/>
        </p:spPr>
      </p:sp>
      <p:pic>
        <p:nvPicPr>
          <p:cNvPr id="27" name="What does an OR tell us? icon" descr="preencoded.png">    </p:cNvPr>
          <p:cNvPicPr>
            <a:picLocks noChangeAspect="1"/>
          </p:cNvPicPr>
          <p:nvPr/>
        </p:nvPicPr>
        <p:blipFill>
          <a:blip r:embed="rId7"/>
          <a:stretch>
            <a:fillRect/>
          </a:stretch>
        </p:blipFill>
        <p:spPr>
          <a:xfrm>
            <a:off x="5340096" y="2057400"/>
            <a:ext cx="219456" cy="219456"/>
          </a:xfrm>
          <a:prstGeom prst="rect">
            <a:avLst/>
          </a:prstGeom>
        </p:spPr>
      </p:pic>
      <p:sp>
        <p:nvSpPr>
          <p:cNvPr id="28" name="What does an OR tell us? label"/>
          <p:cNvSpPr txBox="1"/>
          <p:nvPr/>
        </p:nvSpPr>
        <p:spPr>
          <a:xfrm>
            <a:off x="5788152" y="1956816"/>
            <a:ext cx="565373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DOES AN OR TELL US?</a:t>
            </a:r>
            <a:endParaRPr lang="en-US" sz="1000" dirty="0"/>
          </a:p>
        </p:txBody>
      </p:sp>
      <p:sp>
        <p:nvSpPr>
          <p:cNvPr id="29" name="Text"/>
          <p:cNvSpPr txBox="1"/>
          <p:nvPr/>
        </p:nvSpPr>
        <p:spPr>
          <a:xfrm>
            <a:off x="5257800" y="2606040"/>
            <a:ext cx="3017520" cy="777240"/>
          </a:xfrm>
          <a:prstGeom prst="rect">
            <a:avLst/>
          </a:prstGeom>
          <a:noFill/>
          <a:ln/>
        </p:spPr>
        <p:txBody>
          <a:bodyPr wrap="square" lIns="0" tIns="0" rIns="0" bIns="0" rtlCol="0" anchor="t"/>
          <a:lstStyle/>
          <a:p>
            <a:pPr indent="0" marL="0">
              <a:lnSpc>
                <a:spcPct val="105000"/>
              </a:lnSpc>
              <a:buNone/>
            </a:pPr>
            <a:r>
              <a:rPr lang="en-US" sz="1500" b="1" dirty="0">
                <a:solidFill>
                  <a:srgbClr val="1E2F5C"/>
                </a:solidFill>
              </a:rPr>
              <a:t>An OR compares the odds of reporting child marriage between two groups.</a:t>
            </a:r>
            <a:endParaRPr lang="en-US" sz="1500" dirty="0"/>
          </a:p>
        </p:txBody>
      </p:sp>
      <p:sp>
        <p:nvSpPr>
          <p:cNvPr id="30" name="Shape"/>
          <p:cNvSpPr/>
          <p:nvPr/>
        </p:nvSpPr>
        <p:spPr>
          <a:xfrm>
            <a:off x="5257800" y="3520440"/>
            <a:ext cx="3017520" cy="420624"/>
          </a:xfrm>
          <a:prstGeom prst="roundRect">
            <a:avLst>
              <a:gd name="adj" fmla="val 13043"/>
            </a:avLst>
          </a:prstGeom>
          <a:solidFill>
            <a:srgbClr val="FEF1E7"/>
          </a:solidFill>
          <a:ln/>
        </p:spPr>
      </p:sp>
      <p:sp>
        <p:nvSpPr>
          <p:cNvPr id="31" name="Shape"/>
          <p:cNvSpPr/>
          <p:nvPr/>
        </p:nvSpPr>
        <p:spPr>
          <a:xfrm>
            <a:off x="5394960" y="3657600"/>
            <a:ext cx="146304" cy="146304"/>
          </a:xfrm>
          <a:prstGeom prst="ellipse">
            <a:avLst/>
          </a:prstGeom>
          <a:solidFill>
            <a:srgbClr val="F08236"/>
          </a:solidFill>
          <a:ln/>
        </p:spPr>
      </p:sp>
      <p:sp>
        <p:nvSpPr>
          <p:cNvPr id="32" name="Text"/>
          <p:cNvSpPr txBox="1"/>
          <p:nvPr/>
        </p:nvSpPr>
        <p:spPr>
          <a:xfrm>
            <a:off x="5669280" y="352044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Reported sex before age 18</a:t>
            </a:r>
            <a:endParaRPr lang="en-US" sz="1100" dirty="0"/>
          </a:p>
        </p:txBody>
      </p:sp>
      <p:sp>
        <p:nvSpPr>
          <p:cNvPr id="33" name="Shape"/>
          <p:cNvSpPr/>
          <p:nvPr/>
        </p:nvSpPr>
        <p:spPr>
          <a:xfrm>
            <a:off x="5257800" y="4069080"/>
            <a:ext cx="3017520" cy="420624"/>
          </a:xfrm>
          <a:prstGeom prst="roundRect">
            <a:avLst>
              <a:gd name="adj" fmla="val 13043"/>
            </a:avLst>
          </a:prstGeom>
          <a:solidFill>
            <a:srgbClr val="EBF0FA"/>
          </a:solidFill>
          <a:ln/>
        </p:spPr>
      </p:sp>
      <p:sp>
        <p:nvSpPr>
          <p:cNvPr id="34" name="Shape"/>
          <p:cNvSpPr/>
          <p:nvPr/>
        </p:nvSpPr>
        <p:spPr>
          <a:xfrm>
            <a:off x="5394960" y="4206240"/>
            <a:ext cx="146304" cy="146304"/>
          </a:xfrm>
          <a:prstGeom prst="ellipse">
            <a:avLst/>
          </a:prstGeom>
          <a:solidFill>
            <a:srgbClr val="3B67C4"/>
          </a:solidFill>
          <a:ln/>
        </p:spPr>
      </p:sp>
      <p:sp>
        <p:nvSpPr>
          <p:cNvPr id="35" name="Text"/>
          <p:cNvSpPr txBox="1"/>
          <p:nvPr/>
        </p:nvSpPr>
        <p:spPr>
          <a:xfrm>
            <a:off x="5669280" y="4069080"/>
            <a:ext cx="2560320" cy="420624"/>
          </a:xfrm>
          <a:prstGeom prst="rect">
            <a:avLst/>
          </a:prstGeom>
          <a:noFill/>
          <a:ln/>
        </p:spPr>
        <p:txBody>
          <a:bodyPr wrap="square" lIns="0" tIns="0" rIns="0" bIns="0" rtlCol="0" anchor="ctr"/>
          <a:lstStyle/>
          <a:p>
            <a:pPr indent="0" marL="0">
              <a:buNone/>
            </a:pPr>
            <a:r>
              <a:rPr lang="en-US" sz="1100" b="1" dirty="0">
                <a:solidFill>
                  <a:srgbClr val="1E2F5C"/>
                </a:solidFill>
              </a:rPr>
              <a:t>Did not report sex before age 18</a:t>
            </a:r>
            <a:endParaRPr lang="en-US" sz="1100" dirty="0"/>
          </a:p>
        </p:txBody>
      </p:sp>
      <p:sp>
        <p:nvSpPr>
          <p:cNvPr id="36" name="Example panel"/>
          <p:cNvSpPr/>
          <p:nvPr/>
        </p:nvSpPr>
        <p:spPr>
          <a:xfrm>
            <a:off x="8595360" y="2029968"/>
            <a:ext cx="2773375" cy="2377440"/>
          </a:xfrm>
          <a:prstGeom prst="roundRect">
            <a:avLst>
              <a:gd name="adj" fmla="val 2308"/>
            </a:avLst>
          </a:prstGeom>
          <a:solidFill>
            <a:srgbClr val="FEF1E7"/>
          </a:solidFill>
          <a:ln/>
        </p:spPr>
      </p:sp>
      <p:sp>
        <p:nvSpPr>
          <p:cNvPr id="37" name="Text"/>
          <p:cNvSpPr txBox="1"/>
          <p:nvPr/>
        </p:nvSpPr>
        <p:spPr>
          <a:xfrm>
            <a:off x="8869680" y="2194560"/>
            <a:ext cx="1828800" cy="237744"/>
          </a:xfrm>
          <a:prstGeom prst="rect">
            <a:avLst/>
          </a:prstGeom>
          <a:noFill/>
          <a:ln/>
        </p:spPr>
        <p:txBody>
          <a:bodyPr wrap="square" lIns="0" tIns="0" rIns="0" bIns="0" rtlCol="0" anchor="ctr"/>
          <a:lstStyle/>
          <a:p>
            <a:pPr indent="0" marL="0">
              <a:buNone/>
            </a:pPr>
            <a:r>
              <a:rPr lang="en-US" sz="900" b="1" spc="200" kern="0" dirty="0">
                <a:solidFill>
                  <a:srgbClr val="B85A1A"/>
                </a:solidFill>
              </a:rPr>
              <a:t>EXAMPLE</a:t>
            </a:r>
            <a:endParaRPr lang="en-US" sz="900" dirty="0"/>
          </a:p>
        </p:txBody>
      </p:sp>
      <p:sp>
        <p:nvSpPr>
          <p:cNvPr id="38" name="Text"/>
          <p:cNvSpPr txBox="1"/>
          <p:nvPr/>
        </p:nvSpPr>
        <p:spPr>
          <a:xfrm>
            <a:off x="8869680" y="2450592"/>
            <a:ext cx="2224735" cy="731520"/>
          </a:xfrm>
          <a:prstGeom prst="rect">
            <a:avLst/>
          </a:prstGeom>
          <a:noFill/>
          <a:ln/>
        </p:spPr>
        <p:txBody>
          <a:bodyPr wrap="square" lIns="0" tIns="0" rIns="0" bIns="0" rtlCol="0" anchor="ctr"/>
          <a:lstStyle/>
          <a:p>
            <a:pPr indent="0" marL="0">
              <a:buNone/>
            </a:pPr>
            <a:r>
              <a:rPr lang="en-US" sz="2000" b="1" dirty="0">
                <a:solidFill>
                  <a:srgbClr val="1E2F5C"/>
                </a:solidFill>
              </a:rPr>
              <a:t>OR = </a:t>
            </a:r>
            <a:pPr indent="0" marL="0">
              <a:buNone/>
            </a:pPr>
            <a:r>
              <a:rPr lang="en-US" sz="4600" b="1" dirty="0">
                <a:solidFill>
                  <a:srgbClr val="F08236"/>
                </a:solidFill>
              </a:rPr>
              <a:t>5.14</a:t>
            </a:r>
            <a:endParaRPr lang="en-US" sz="2000" dirty="0"/>
          </a:p>
        </p:txBody>
      </p:sp>
      <p:sp>
        <p:nvSpPr>
          <p:cNvPr id="39" name="Text"/>
          <p:cNvSpPr txBox="1"/>
          <p:nvPr/>
        </p:nvSpPr>
        <p:spPr>
          <a:xfrm>
            <a:off x="8869680" y="3246120"/>
            <a:ext cx="2224735"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a:t>
            </a:r>
            <a:pPr indent="0" marL="0">
              <a:lnSpc>
                <a:spcPct val="108000"/>
              </a:lnSpc>
              <a:buNone/>
            </a:pPr>
            <a:r>
              <a:rPr lang="en-US" sz="1100" b="1" dirty="0">
                <a:solidFill>
                  <a:srgbClr val="1E2F5C"/>
                </a:solidFill>
              </a:rPr>
              <a:t>5 times the odds of reporting</a:t>
            </a:r>
            <a:pPr indent="0" marL="0">
              <a:lnSpc>
                <a:spcPct val="108000"/>
              </a:lnSpc>
              <a:buNone/>
            </a:pPr>
            <a:r>
              <a:rPr lang="en-US" sz="1100" dirty="0">
                <a:solidFill>
                  <a:srgbClr val="414A5A"/>
                </a:solidFill>
              </a:rPr>
              <a:t> child marriage compared with those who did not report sex before age 18.</a:t>
            </a:r>
            <a:endParaRPr lang="en-US" sz="1100" dirty="0"/>
          </a:p>
        </p:txBody>
      </p:sp>
      <p:sp>
        <p:nvSpPr>
          <p:cNvPr id="40" name="Does not mean strip"/>
          <p:cNvSpPr/>
          <p:nvPr/>
        </p:nvSpPr>
        <p:spPr>
          <a:xfrm>
            <a:off x="548640" y="4828032"/>
            <a:ext cx="11094415" cy="566928"/>
          </a:xfrm>
          <a:prstGeom prst="roundRect">
            <a:avLst>
              <a:gd name="adj" fmla="val 12903"/>
            </a:avLst>
          </a:prstGeom>
          <a:solidFill>
            <a:srgbClr val="FCEDEC"/>
          </a:solidFill>
          <a:ln/>
        </p:spPr>
      </p:sp>
      <p:sp>
        <p:nvSpPr>
          <p:cNvPr id="41" name="FaBan disc"/>
          <p:cNvSpPr/>
          <p:nvPr/>
        </p:nvSpPr>
        <p:spPr>
          <a:xfrm>
            <a:off x="777240" y="4919472"/>
            <a:ext cx="384048" cy="384048"/>
          </a:xfrm>
          <a:prstGeom prst="ellipse">
            <a:avLst/>
          </a:prstGeom>
          <a:solidFill>
            <a:srgbClr val="DB4F4A"/>
          </a:solidFill>
          <a:ln/>
        </p:spPr>
      </p:sp>
      <p:pic>
        <p:nvPicPr>
          <p:cNvPr id="42" name="FaBan" descr="preencoded.png">    </p:cNvPr>
          <p:cNvPicPr>
            <a:picLocks noChangeAspect="1"/>
          </p:cNvPicPr>
          <p:nvPr/>
        </p:nvPicPr>
        <p:blipFill>
          <a:blip r:embed="rId8"/>
          <a:stretch>
            <a:fillRect/>
          </a:stretch>
        </p:blipFill>
        <p:spPr>
          <a:xfrm>
            <a:off x="877092" y="5019324"/>
            <a:ext cx="184343" cy="184343"/>
          </a:xfrm>
          <a:prstGeom prst="rect">
            <a:avLst/>
          </a:prstGeom>
        </p:spPr>
      </p:pic>
      <p:sp>
        <p:nvSpPr>
          <p:cNvPr id="43" name="Text"/>
          <p:cNvSpPr txBox="1"/>
          <p:nvPr/>
        </p:nvSpPr>
        <p:spPr>
          <a:xfrm>
            <a:off x="1325880" y="4828032"/>
            <a:ext cx="1828800" cy="566928"/>
          </a:xfrm>
          <a:prstGeom prst="rect">
            <a:avLst/>
          </a:prstGeom>
          <a:noFill/>
          <a:ln/>
        </p:spPr>
        <p:txBody>
          <a:bodyPr wrap="square" lIns="0" tIns="0" rIns="0" bIns="0" rtlCol="0" anchor="ctr"/>
          <a:lstStyle/>
          <a:p>
            <a:pPr indent="0" marL="0">
              <a:buNone/>
            </a:pPr>
            <a:r>
              <a:rPr lang="en-US" sz="900" b="1" spc="200" kern="0" dirty="0">
                <a:solidFill>
                  <a:srgbClr val="B53A35"/>
                </a:solidFill>
              </a:rPr>
              <a:t>IT DOES NOT MEAN</a:t>
            </a:r>
            <a:endParaRPr lang="en-US" sz="900" dirty="0"/>
          </a:p>
        </p:txBody>
      </p:sp>
      <p:sp>
        <p:nvSpPr>
          <p:cNvPr id="44" name="Text"/>
          <p:cNvSpPr txBox="1"/>
          <p:nvPr/>
        </p:nvSpPr>
        <p:spPr>
          <a:xfrm>
            <a:off x="3429000" y="4828032"/>
            <a:ext cx="7772400" cy="566928"/>
          </a:xfrm>
          <a:prstGeom prst="rect">
            <a:avLst/>
          </a:prstGeom>
          <a:noFill/>
          <a:ln/>
        </p:spPr>
        <p:txBody>
          <a:bodyPr wrap="square" lIns="0" tIns="0" rIns="0" bIns="0" rtlCol="0" anchor="ctr"/>
          <a:lstStyle/>
          <a:p>
            <a:pPr indent="0" marL="0">
              <a:buNone/>
            </a:pPr>
            <a:r>
              <a:rPr lang="en-US" sz="1400" b="1" dirty="0">
                <a:solidFill>
                  <a:srgbClr val="1E2F5C"/>
                </a:solidFill>
              </a:rPr>
              <a:t>Early sex causes child marriage.</a:t>
            </a:r>
            <a:endParaRPr lang="en-US" sz="1400" dirty="0"/>
          </a:p>
        </p:txBody>
      </p:sp>
      <p:sp>
        <p:nvSpPr>
          <p:cNvPr id="45"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6" name="Key message disc"/>
          <p:cNvSpPr/>
          <p:nvPr/>
        </p:nvSpPr>
        <p:spPr>
          <a:xfrm>
            <a:off x="777240" y="5660136"/>
            <a:ext cx="420624" cy="420624"/>
          </a:xfrm>
          <a:prstGeom prst="ellipse">
            <a:avLst/>
          </a:prstGeom>
          <a:solidFill>
            <a:srgbClr val="24427E"/>
          </a:solidFill>
          <a:ln/>
        </p:spPr>
      </p:sp>
      <p:pic>
        <p:nvPicPr>
          <p:cNvPr id="47" name="Key message icon" descr="preencoded.png">    </p:cNvPr>
          <p:cNvPicPr>
            <a:picLocks noChangeAspect="1"/>
          </p:cNvPicPr>
          <p:nvPr/>
        </p:nvPicPr>
        <p:blipFill>
          <a:blip r:embed="rId9"/>
          <a:stretch>
            <a:fillRect/>
          </a:stretch>
        </p:blipFill>
        <p:spPr>
          <a:xfrm>
            <a:off x="877824" y="5760720"/>
            <a:ext cx="219456" cy="219456"/>
          </a:xfrm>
          <a:prstGeom prst="rect">
            <a:avLst/>
          </a:prstGeom>
        </p:spPr>
      </p:pic>
      <p:sp>
        <p:nvSpPr>
          <p:cNvPr id="48"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PRINCIPLE</a:t>
            </a:r>
            <a:endParaRPr lang="en-US" sz="900" dirty="0"/>
          </a:p>
        </p:txBody>
      </p:sp>
      <p:sp>
        <p:nvSpPr>
          <p:cNvPr id="49"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Odds ratios should be interpreted as </a:t>
            </a:r>
            <a:pPr indent="0" marL="0">
              <a:lnSpc>
                <a:spcPct val="105000"/>
              </a:lnSpc>
              <a:buNone/>
            </a:pPr>
            <a:r>
              <a:rPr lang="en-US" sz="1300" b="1" dirty="0">
                <a:solidFill>
                  <a:srgbClr val="2D539F"/>
                </a:solidFill>
              </a:rPr>
              <a:t>associations</a:t>
            </a:r>
            <a:pPr indent="0" marL="0">
              <a:lnSpc>
                <a:spcPct val="105000"/>
              </a:lnSpc>
              <a:buNone/>
            </a:pPr>
            <a:r>
              <a:rPr lang="en-US" sz="1300" b="1" dirty="0">
                <a:solidFill>
                  <a:srgbClr val="1E2F5C"/>
                </a:solidFill>
              </a:rPr>
              <a:t> rather than </a:t>
            </a:r>
            <a:pPr indent="0" marL="0">
              <a:lnSpc>
                <a:spcPct val="105000"/>
              </a:lnSpc>
              <a:buNone/>
            </a:pPr>
            <a:r>
              <a:rPr lang="en-US" sz="1300" b="1" dirty="0">
                <a:solidFill>
                  <a:srgbClr val="2D539F"/>
                </a:solidFill>
              </a:rPr>
              <a:t>causal effects</a:t>
            </a:r>
            <a:pPr indent="0" marL="0">
              <a:lnSpc>
                <a:spcPct val="105000"/>
              </a:lnSpc>
              <a:buNone/>
            </a:pPr>
            <a:r>
              <a:rPr lang="en-US" sz="1300" b="1" dirty="0">
                <a:solidFill>
                  <a:srgbClr val="1E2F5C"/>
                </a:solidFill>
              </a:rPr>
              <a: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50"/>
                                        <p:tgtEl>
                                          <p:spTgt spid="13"/>
                                        </p:tgtEl>
                                      </p:cBhvr>
                                    </p:animEffect>
                                    <p:anim calcmode="lin" valueType="num">
                                      <p:cBhvr>
                                        <p:cTn id="27" dur="550" decel="100000" fill="hold"/>
                                        <p:tgtEl>
                                          <p:spTgt spid="13"/>
                                        </p:tgtEl>
                                        <p:attrNameLst>
                                          <p:attrName>ppt_x</p:attrName>
                                        </p:attrNameLst>
                                      </p:cBhvr>
                                      <p:tavLst>
                                        <p:tav tm="0">
                                          <p:val>
                                            <p:strVal val="#ppt_x"/>
                                          </p:val>
                                        </p:tav>
                                        <p:tav tm="100000">
                                          <p:val>
                                            <p:strVal val="#ppt_x"/>
                                          </p:val>
                                        </p:tav>
                                      </p:tavLst>
                                    </p:anim>
                                    <p:anim calcmode="lin" valueType="num">
                                      <p:cBhvr>
                                        <p:cTn id="28" dur="550" decel="100000" fill="hold"/>
                                        <p:tgtEl>
                                          <p:spTgt spid="13"/>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50"/>
                                        <p:tgtEl>
                                          <p:spTgt spid="14"/>
                                        </p:tgtEl>
                                      </p:cBhvr>
                                    </p:animEffect>
                                    <p:anim calcmode="lin" valueType="num">
                                      <p:cBhvr>
                                        <p:cTn id="32" dur="550" decel="100000" fill="hold"/>
                                        <p:tgtEl>
                                          <p:spTgt spid="14"/>
                                        </p:tgtEl>
                                        <p:attrNameLst>
                                          <p:attrName>ppt_x</p:attrName>
                                        </p:attrNameLst>
                                      </p:cBhvr>
                                      <p:tavLst>
                                        <p:tav tm="0">
                                          <p:val>
                                            <p:strVal val="#ppt_x"/>
                                          </p:val>
                                        </p:tav>
                                        <p:tav tm="100000">
                                          <p:val>
                                            <p:strVal val="#ppt_x"/>
                                          </p:val>
                                        </p:tav>
                                      </p:tavLst>
                                    </p:anim>
                                    <p:anim calcmode="lin" valueType="num">
                                      <p:cBhvr>
                                        <p:cTn id="33" dur="550" decel="100000" fill="hold"/>
                                        <p:tgtEl>
                                          <p:spTgt spid="14"/>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anim calcmode="lin" valueType="num">
                                      <p:cBhvr>
                                        <p:cTn id="37" dur="550" decel="100000" fill="hold"/>
                                        <p:tgtEl>
                                          <p:spTgt spid="15"/>
                                        </p:tgtEl>
                                        <p:attrNameLst>
                                          <p:attrName>ppt_x</p:attrName>
                                        </p:attrNameLst>
                                      </p:cBhvr>
                                      <p:tavLst>
                                        <p:tav tm="0">
                                          <p:val>
                                            <p:strVal val="#ppt_x"/>
                                          </p:val>
                                        </p:tav>
                                        <p:tav tm="100000">
                                          <p:val>
                                            <p:strVal val="#ppt_x"/>
                                          </p:val>
                                        </p:tav>
                                      </p:tavLst>
                                    </p:anim>
                                    <p:anim calcmode="lin" valueType="num">
                                      <p:cBhvr>
                                        <p:cTn id="38" dur="550" decel="100000" fill="hold"/>
                                        <p:tgtEl>
                                          <p:spTgt spid="15"/>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20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p:cTn id="42" dur="550" decel="100000" fill="hold"/>
                                        <p:tgtEl>
                                          <p:spTgt spid="25"/>
                                        </p:tgtEl>
                                        <p:attrNameLst>
                                          <p:attrName>ppt_x</p:attrName>
                                        </p:attrNameLst>
                                      </p:cBhvr>
                                      <p:tavLst>
                                        <p:tav tm="0">
                                          <p:val>
                                            <p:strVal val="#ppt_x"/>
                                          </p:val>
                                        </p:tav>
                                        <p:tav tm="100000">
                                          <p:val>
                                            <p:strVal val="#ppt_x"/>
                                          </p:val>
                                        </p:tav>
                                      </p:tavLst>
                                    </p:anim>
                                    <p:anim calcmode="lin" valueType="num">
                                      <p:cBhvr>
                                        <p:cTn id="43" dur="550" decel="100000" fill="hold"/>
                                        <p:tgtEl>
                                          <p:spTgt spid="25"/>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20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50"/>
                                        <p:tgtEl>
                                          <p:spTgt spid="26"/>
                                        </p:tgtEl>
                                      </p:cBhvr>
                                    </p:animEffect>
                                    <p:anim calcmode="lin" valueType="num">
                                      <p:cBhvr>
                                        <p:cTn id="47" dur="550" decel="100000" fill="hold"/>
                                        <p:tgtEl>
                                          <p:spTgt spid="26"/>
                                        </p:tgtEl>
                                        <p:attrNameLst>
                                          <p:attrName>ppt_x</p:attrName>
                                        </p:attrNameLst>
                                      </p:cBhvr>
                                      <p:tavLst>
                                        <p:tav tm="0">
                                          <p:val>
                                            <p:strVal val="#ppt_x"/>
                                          </p:val>
                                        </p:tav>
                                        <p:tav tm="100000">
                                          <p:val>
                                            <p:strVal val="#ppt_x"/>
                                          </p:val>
                                        </p:tav>
                                      </p:tavLst>
                                    </p:anim>
                                    <p:anim calcmode="lin" valueType="num">
                                      <p:cBhvr>
                                        <p:cTn id="48" dur="550" decel="100000" fill="hold"/>
                                        <p:tgtEl>
                                          <p:spTgt spid="26"/>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20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p:cTn id="52" dur="550" decel="100000" fill="hold"/>
                                        <p:tgtEl>
                                          <p:spTgt spid="27"/>
                                        </p:tgtEl>
                                        <p:attrNameLst>
                                          <p:attrName>ppt_x</p:attrName>
                                        </p:attrNameLst>
                                      </p:cBhvr>
                                      <p:tavLst>
                                        <p:tav tm="0">
                                          <p:val>
                                            <p:strVal val="#ppt_x"/>
                                          </p:val>
                                        </p:tav>
                                        <p:tav tm="100000">
                                          <p:val>
                                            <p:strVal val="#ppt_x"/>
                                          </p:val>
                                        </p:tav>
                                      </p:tavLst>
                                    </p:anim>
                                    <p:anim calcmode="lin" valueType="num">
                                      <p:cBhvr>
                                        <p:cTn id="53" dur="550" decel="100000" fill="hold"/>
                                        <p:tgtEl>
                                          <p:spTgt spid="27"/>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2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50"/>
                                        <p:tgtEl>
                                          <p:spTgt spid="28"/>
                                        </p:tgtEl>
                                      </p:cBhvr>
                                    </p:animEffect>
                                    <p:anim calcmode="lin" valueType="num">
                                      <p:cBhvr>
                                        <p:cTn id="57" dur="550" decel="100000" fill="hold"/>
                                        <p:tgtEl>
                                          <p:spTgt spid="28"/>
                                        </p:tgtEl>
                                        <p:attrNameLst>
                                          <p:attrName>ppt_x</p:attrName>
                                        </p:attrNameLst>
                                      </p:cBhvr>
                                      <p:tavLst>
                                        <p:tav tm="0">
                                          <p:val>
                                            <p:strVal val="#ppt_x"/>
                                          </p:val>
                                        </p:tav>
                                        <p:tav tm="100000">
                                          <p:val>
                                            <p:strVal val="#ppt_x"/>
                                          </p:val>
                                        </p:tav>
                                      </p:tavLst>
                                    </p:anim>
                                    <p:anim calcmode="lin" valueType="num">
                                      <p:cBhvr>
                                        <p:cTn id="58" dur="550" decel="100000" fill="hold"/>
                                        <p:tgtEl>
                                          <p:spTgt spid="28"/>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2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50"/>
                                        <p:tgtEl>
                                          <p:spTgt spid="29"/>
                                        </p:tgtEl>
                                      </p:cBhvr>
                                    </p:animEffect>
                                    <p:anim calcmode="lin" valueType="num">
                                      <p:cBhvr>
                                        <p:cTn id="62" dur="550" decel="100000" fill="hold"/>
                                        <p:tgtEl>
                                          <p:spTgt spid="29"/>
                                        </p:tgtEl>
                                        <p:attrNameLst>
                                          <p:attrName>ppt_x</p:attrName>
                                        </p:attrNameLst>
                                      </p:cBhvr>
                                      <p:tavLst>
                                        <p:tav tm="0">
                                          <p:val>
                                            <p:strVal val="#ppt_x"/>
                                          </p:val>
                                        </p:tav>
                                        <p:tav tm="100000">
                                          <p:val>
                                            <p:strVal val="#ppt_x"/>
                                          </p:val>
                                        </p:tav>
                                      </p:tavLst>
                                    </p:anim>
                                    <p:anim calcmode="lin" valueType="num">
                                      <p:cBhvr>
                                        <p:cTn id="63" dur="550" decel="100000" fill="hold"/>
                                        <p:tgtEl>
                                          <p:spTgt spid="29"/>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25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50"/>
                                        <p:tgtEl>
                                          <p:spTgt spid="16"/>
                                        </p:tgtEl>
                                      </p:cBhvr>
                                    </p:animEffect>
                                    <p:anim calcmode="lin" valueType="num">
                                      <p:cBhvr>
                                        <p:cTn id="67" dur="550" decel="100000" fill="hold"/>
                                        <p:tgtEl>
                                          <p:spTgt spid="16"/>
                                        </p:tgtEl>
                                        <p:attrNameLst>
                                          <p:attrName>ppt_x</p:attrName>
                                        </p:attrNameLst>
                                      </p:cBhvr>
                                      <p:tavLst>
                                        <p:tav tm="0">
                                          <p:val>
                                            <p:strVal val="#ppt_x"/>
                                          </p:val>
                                        </p:tav>
                                        <p:tav tm="100000">
                                          <p:val>
                                            <p:strVal val="#ppt_x"/>
                                          </p:val>
                                        </p:tav>
                                      </p:tavLst>
                                    </p:anim>
                                    <p:anim calcmode="lin" valueType="num">
                                      <p:cBhvr>
                                        <p:cTn id="68" dur="550" decel="1000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250"/>
                                  </p:stCondLst>
                                  <p:childTnLst>
                                    <p:set>
                                      <p:cBhvr>
                                        <p:cTn id="70" dur="1" fill="hold">
                                          <p:stCondLst>
                                            <p:cond delay="0"/>
                                          </p:stCondLst>
                                        </p:cTn>
                                        <p:tgtEl>
                                          <p:spTgt spid="17"/>
                                        </p:tgtEl>
                                        <p:attrNameLst>
                                          <p:attrName>style.visibility</p:attrName>
                                        </p:attrNameLst>
                                      </p:cBhvr>
                                      <p:to>
                                        <p:strVal val="visible"/>
                                      </p:to>
                                    </p:set>
                                    <p:animEffect transition="in" filter="fade">
                                      <p:cBhvr>
                                        <p:cTn id="71" dur="550"/>
                                        <p:tgtEl>
                                          <p:spTgt spid="17"/>
                                        </p:tgtEl>
                                      </p:cBhvr>
                                    </p:animEffect>
                                    <p:anim calcmode="lin" valueType="num">
                                      <p:cBhvr>
                                        <p:cTn id="72" dur="550" decel="100000" fill="hold"/>
                                        <p:tgtEl>
                                          <p:spTgt spid="17"/>
                                        </p:tgtEl>
                                        <p:attrNameLst>
                                          <p:attrName>ppt_x</p:attrName>
                                        </p:attrNameLst>
                                      </p:cBhvr>
                                      <p:tavLst>
                                        <p:tav tm="0">
                                          <p:val>
                                            <p:strVal val="#ppt_x"/>
                                          </p:val>
                                        </p:tav>
                                        <p:tav tm="100000">
                                          <p:val>
                                            <p:strVal val="#ppt_x"/>
                                          </p:val>
                                        </p:tav>
                                      </p:tavLst>
                                    </p:anim>
                                    <p:anim calcmode="lin" valueType="num">
                                      <p:cBhvr>
                                        <p:cTn id="73" dur="550" decel="100000" fill="hold"/>
                                        <p:tgtEl>
                                          <p:spTgt spid="17"/>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25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550"/>
                                        <p:tgtEl>
                                          <p:spTgt spid="18"/>
                                        </p:tgtEl>
                                      </p:cBhvr>
                                    </p:animEffect>
                                    <p:anim calcmode="lin" valueType="num">
                                      <p:cBhvr>
                                        <p:cTn id="77" dur="550" decel="100000" fill="hold"/>
                                        <p:tgtEl>
                                          <p:spTgt spid="18"/>
                                        </p:tgtEl>
                                        <p:attrNameLst>
                                          <p:attrName>ppt_x</p:attrName>
                                        </p:attrNameLst>
                                      </p:cBhvr>
                                      <p:tavLst>
                                        <p:tav tm="0">
                                          <p:val>
                                            <p:strVal val="#ppt_x"/>
                                          </p:val>
                                        </p:tav>
                                        <p:tav tm="100000">
                                          <p:val>
                                            <p:strVal val="#ppt_x"/>
                                          </p:val>
                                        </p:tav>
                                      </p:tavLst>
                                    </p:anim>
                                    <p:anim calcmode="lin" valueType="num">
                                      <p:cBhvr>
                                        <p:cTn id="78" dur="550" decel="100000" fill="hold"/>
                                        <p:tgtEl>
                                          <p:spTgt spid="18"/>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350"/>
                                  </p:stCondLst>
                                  <p:childTnLst>
                                    <p:set>
                                      <p:cBhvr>
                                        <p:cTn id="80" dur="1" fill="hold">
                                          <p:stCondLst>
                                            <p:cond delay="0"/>
                                          </p:stCondLst>
                                        </p:cTn>
                                        <p:tgtEl>
                                          <p:spTgt spid="19"/>
                                        </p:tgtEl>
                                        <p:attrNameLst>
                                          <p:attrName>style.visibility</p:attrName>
                                        </p:attrNameLst>
                                      </p:cBhvr>
                                      <p:to>
                                        <p:strVal val="visible"/>
                                      </p:to>
                                    </p:set>
                                    <p:animEffect transition="in" filter="fade">
                                      <p:cBhvr>
                                        <p:cTn id="81" dur="550"/>
                                        <p:tgtEl>
                                          <p:spTgt spid="19"/>
                                        </p:tgtEl>
                                      </p:cBhvr>
                                    </p:animEffect>
                                    <p:anim calcmode="lin" valueType="num">
                                      <p:cBhvr>
                                        <p:cTn id="82" dur="550" decel="100000" fill="hold"/>
                                        <p:tgtEl>
                                          <p:spTgt spid="19"/>
                                        </p:tgtEl>
                                        <p:attrNameLst>
                                          <p:attrName>ppt_x</p:attrName>
                                        </p:attrNameLst>
                                      </p:cBhvr>
                                      <p:tavLst>
                                        <p:tav tm="0">
                                          <p:val>
                                            <p:strVal val="#ppt_x"/>
                                          </p:val>
                                        </p:tav>
                                        <p:tav tm="100000">
                                          <p:val>
                                            <p:strVal val="#ppt_x"/>
                                          </p:val>
                                        </p:tav>
                                      </p:tavLst>
                                    </p:anim>
                                    <p:anim calcmode="lin" valueType="num">
                                      <p:cBhvr>
                                        <p:cTn id="83" dur="550" decel="100000" fill="hold"/>
                                        <p:tgtEl>
                                          <p:spTgt spid="19"/>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350"/>
                                  </p:stCondLst>
                                  <p:childTnLst>
                                    <p:set>
                                      <p:cBhvr>
                                        <p:cTn id="85" dur="1" fill="hold">
                                          <p:stCondLst>
                                            <p:cond delay="0"/>
                                          </p:stCondLst>
                                        </p:cTn>
                                        <p:tgtEl>
                                          <p:spTgt spid="20"/>
                                        </p:tgtEl>
                                        <p:attrNameLst>
                                          <p:attrName>style.visibility</p:attrName>
                                        </p:attrNameLst>
                                      </p:cBhvr>
                                      <p:to>
                                        <p:strVal val="visible"/>
                                      </p:to>
                                    </p:set>
                                    <p:animEffect transition="in" filter="fade">
                                      <p:cBhvr>
                                        <p:cTn id="86" dur="550"/>
                                        <p:tgtEl>
                                          <p:spTgt spid="20"/>
                                        </p:tgtEl>
                                      </p:cBhvr>
                                    </p:animEffect>
                                    <p:anim calcmode="lin" valueType="num">
                                      <p:cBhvr>
                                        <p:cTn id="87" dur="550" decel="100000" fill="hold"/>
                                        <p:tgtEl>
                                          <p:spTgt spid="20"/>
                                        </p:tgtEl>
                                        <p:attrNameLst>
                                          <p:attrName>ppt_x</p:attrName>
                                        </p:attrNameLst>
                                      </p:cBhvr>
                                      <p:tavLst>
                                        <p:tav tm="0">
                                          <p:val>
                                            <p:strVal val="#ppt_x"/>
                                          </p:val>
                                        </p:tav>
                                        <p:tav tm="100000">
                                          <p:val>
                                            <p:strVal val="#ppt_x"/>
                                          </p:val>
                                        </p:tav>
                                      </p:tavLst>
                                    </p:anim>
                                    <p:anim calcmode="lin" valueType="num">
                                      <p:cBhvr>
                                        <p:cTn id="88" dur="550" decel="100000" fill="hold"/>
                                        <p:tgtEl>
                                          <p:spTgt spid="20"/>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350"/>
                                  </p:stCondLst>
                                  <p:childTnLst>
                                    <p:set>
                                      <p:cBhvr>
                                        <p:cTn id="90" dur="1" fill="hold">
                                          <p:stCondLst>
                                            <p:cond delay="0"/>
                                          </p:stCondLst>
                                        </p:cTn>
                                        <p:tgtEl>
                                          <p:spTgt spid="21"/>
                                        </p:tgtEl>
                                        <p:attrNameLst>
                                          <p:attrName>style.visibility</p:attrName>
                                        </p:attrNameLst>
                                      </p:cBhvr>
                                      <p:to>
                                        <p:strVal val="visible"/>
                                      </p:to>
                                    </p:set>
                                    <p:animEffect transition="in" filter="fade">
                                      <p:cBhvr>
                                        <p:cTn id="91" dur="550"/>
                                        <p:tgtEl>
                                          <p:spTgt spid="21"/>
                                        </p:tgtEl>
                                      </p:cBhvr>
                                    </p:animEffect>
                                    <p:anim calcmode="lin" valueType="num">
                                      <p:cBhvr>
                                        <p:cTn id="92" dur="550" decel="100000" fill="hold"/>
                                        <p:tgtEl>
                                          <p:spTgt spid="21"/>
                                        </p:tgtEl>
                                        <p:attrNameLst>
                                          <p:attrName>ppt_x</p:attrName>
                                        </p:attrNameLst>
                                      </p:cBhvr>
                                      <p:tavLst>
                                        <p:tav tm="0">
                                          <p:val>
                                            <p:strVal val="#ppt_x"/>
                                          </p:val>
                                        </p:tav>
                                        <p:tav tm="100000">
                                          <p:val>
                                            <p:strVal val="#ppt_x"/>
                                          </p:val>
                                        </p:tav>
                                      </p:tavLst>
                                    </p:anim>
                                    <p:anim calcmode="lin" valueType="num">
                                      <p:cBhvr>
                                        <p:cTn id="93" dur="550" decel="100000" fill="hold"/>
                                        <p:tgtEl>
                                          <p:spTgt spid="21"/>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42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anim calcmode="lin" valueType="num">
                                      <p:cBhvr>
                                        <p:cTn id="97" dur="500" decel="100000" fill="hold"/>
                                        <p:tgtEl>
                                          <p:spTgt spid="30"/>
                                        </p:tgtEl>
                                        <p:attrNameLst>
                                          <p:attrName>ppt_w</p:attrName>
                                        </p:attrNameLst>
                                      </p:cBhvr>
                                      <p:tavLst>
                                        <p:tav tm="0">
                                          <p:val>
                                            <p:strVal val="#ppt_w*0.80"/>
                                          </p:val>
                                        </p:tav>
                                        <p:tav tm="100000">
                                          <p:val>
                                            <p:strVal val="#ppt_w"/>
                                          </p:val>
                                        </p:tav>
                                      </p:tavLst>
                                    </p:anim>
                                    <p:anim calcmode="lin" valueType="num">
                                      <p:cBhvr>
                                        <p:cTn id="98" dur="500" decel="100000" fill="hold"/>
                                        <p:tgtEl>
                                          <p:spTgt spid="30"/>
                                        </p:tgtEl>
                                        <p:attrNameLst>
                                          <p:attrName>ppt_h</p:attrName>
                                        </p:attrNameLst>
                                      </p:cBhvr>
                                      <p:tavLst>
                                        <p:tav tm="0">
                                          <p:val>
                                            <p:strVal val="#ppt_h*0.80"/>
                                          </p:val>
                                        </p:tav>
                                        <p:tav tm="100000">
                                          <p:val>
                                            <p:strVal val="#ppt_h"/>
                                          </p:val>
                                        </p:tav>
                                      </p:tavLst>
                                    </p:anim>
                                  </p:childTnLst>
                                </p:cTn>
                              </p:par>
                              <p:par>
                                <p:cTn id="104" presetID="53" presetClass="entr" presetSubtype="16" fill="hold" grpId="0" nodeType="withEffect">
                                  <p:stCondLst>
                                    <p:cond delay="420"/>
                                  </p:stCondLst>
                                  <p:childTnLst>
                                    <p:set>
                                      <p:cBhvr>
                                        <p:cTn id="100" dur="1" fill="hold">
                                          <p:stCondLst>
                                            <p:cond delay="0"/>
                                          </p:stCondLst>
                                        </p:cTn>
                                        <p:tgtEl>
                                          <p:spTgt spid="31"/>
                                        </p:tgtEl>
                                        <p:attrNameLst>
                                          <p:attrName>style.visibility</p:attrName>
                                        </p:attrNameLst>
                                      </p:cBhvr>
                                      <p:to>
                                        <p:strVal val="visible"/>
                                      </p:to>
                                    </p:set>
                                    <p:animEffect transition="in" filter="fade">
                                      <p:cBhvr>
                                        <p:cTn id="101" dur="500"/>
                                        <p:tgtEl>
                                          <p:spTgt spid="31"/>
                                        </p:tgtEl>
                                      </p:cBhvr>
                                    </p:animEffect>
                                    <p:anim calcmode="lin" valueType="num">
                                      <p:cBhvr>
                                        <p:cTn id="102" dur="500" decel="100000" fill="hold"/>
                                        <p:tgtEl>
                                          <p:spTgt spid="31"/>
                                        </p:tgtEl>
                                        <p:attrNameLst>
                                          <p:attrName>ppt_w</p:attrName>
                                        </p:attrNameLst>
                                      </p:cBhvr>
                                      <p:tavLst>
                                        <p:tav tm="0">
                                          <p:val>
                                            <p:strVal val="#ppt_w*0.80"/>
                                          </p:val>
                                        </p:tav>
                                        <p:tav tm="100000">
                                          <p:val>
                                            <p:strVal val="#ppt_w"/>
                                          </p:val>
                                        </p:tav>
                                      </p:tavLst>
                                    </p:anim>
                                    <p:anim calcmode="lin" valueType="num">
                                      <p:cBhvr>
                                        <p:cTn id="103" dur="500" decel="100000" fill="hold"/>
                                        <p:tgtEl>
                                          <p:spTgt spid="31"/>
                                        </p:tgtEl>
                                        <p:attrNameLst>
                                          <p:attrName>ppt_h</p:attrName>
                                        </p:attrNameLst>
                                      </p:cBhvr>
                                      <p:tavLst>
                                        <p:tav tm="0">
                                          <p:val>
                                            <p:strVal val="#ppt_h*0.80"/>
                                          </p:val>
                                        </p:tav>
                                        <p:tav tm="100000">
                                          <p:val>
                                            <p:strVal val="#ppt_h"/>
                                          </p:val>
                                        </p:tav>
                                      </p:tavLst>
                                    </p:anim>
                                  </p:childTnLst>
                                </p:cTn>
                              </p:par>
                              <p:par>
                                <p:cTn id="109" presetID="53" presetClass="entr" presetSubtype="16" fill="hold" grpId="0" nodeType="withEffect">
                                  <p:stCondLst>
                                    <p:cond delay="42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p:tgtEl>
                                          <p:spTgt spid="32"/>
                                        </p:tgtEl>
                                      </p:cBhvr>
                                    </p:animEffect>
                                    <p:anim calcmode="lin" valueType="num">
                                      <p:cBhvr>
                                        <p:cTn id="107" dur="500" decel="100000" fill="hold"/>
                                        <p:tgtEl>
                                          <p:spTgt spid="32"/>
                                        </p:tgtEl>
                                        <p:attrNameLst>
                                          <p:attrName>ppt_w</p:attrName>
                                        </p:attrNameLst>
                                      </p:cBhvr>
                                      <p:tavLst>
                                        <p:tav tm="0">
                                          <p:val>
                                            <p:strVal val="#ppt_w*0.80"/>
                                          </p:val>
                                        </p:tav>
                                        <p:tav tm="100000">
                                          <p:val>
                                            <p:strVal val="#ppt_w"/>
                                          </p:val>
                                        </p:tav>
                                      </p:tavLst>
                                    </p:anim>
                                    <p:anim calcmode="lin" valueType="num">
                                      <p:cBhvr>
                                        <p:cTn id="108" dur="500" decel="100000" fill="hold"/>
                                        <p:tgtEl>
                                          <p:spTgt spid="32"/>
                                        </p:tgtEl>
                                        <p:attrNameLst>
                                          <p:attrName>ppt_h</p:attrName>
                                        </p:attrNameLst>
                                      </p:cBhvr>
                                      <p:tavLst>
                                        <p:tav tm="0">
                                          <p:val>
                                            <p:strVal val="#ppt_h*0.80"/>
                                          </p:val>
                                        </p:tav>
                                        <p:tav tm="100000">
                                          <p:val>
                                            <p:strVal val="#ppt_h"/>
                                          </p:val>
                                        </p:tav>
                                      </p:tavLst>
                                    </p:anim>
                                  </p:childTnLst>
                                </p:cTn>
                              </p:par>
                              <p:par>
                                <p:cTn id="114" presetID="42" presetClass="entr" presetSubtype="0" fill="hold" grpId="0" nodeType="withEffect">
                                  <p:stCondLst>
                                    <p:cond delay="4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550"/>
                                        <p:tgtEl>
                                          <p:spTgt spid="22"/>
                                        </p:tgtEl>
                                      </p:cBhvr>
                                    </p:animEffect>
                                    <p:anim calcmode="lin" valueType="num">
                                      <p:cBhvr>
                                        <p:cTn id="112" dur="550" decel="100000" fill="hold"/>
                                        <p:tgtEl>
                                          <p:spTgt spid="22"/>
                                        </p:tgtEl>
                                        <p:attrNameLst>
                                          <p:attrName>ppt_x</p:attrName>
                                        </p:attrNameLst>
                                      </p:cBhvr>
                                      <p:tavLst>
                                        <p:tav tm="0">
                                          <p:val>
                                            <p:strVal val="#ppt_x"/>
                                          </p:val>
                                        </p:tav>
                                        <p:tav tm="100000">
                                          <p:val>
                                            <p:strVal val="#ppt_x"/>
                                          </p:val>
                                        </p:tav>
                                      </p:tavLst>
                                    </p:anim>
                                    <p:anim calcmode="lin" valueType="num">
                                      <p:cBhvr>
                                        <p:cTn id="113" dur="550" decel="100000" fill="hold"/>
                                        <p:tgtEl>
                                          <p:spTgt spid="22"/>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45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550"/>
                                        <p:tgtEl>
                                          <p:spTgt spid="23"/>
                                        </p:tgtEl>
                                      </p:cBhvr>
                                    </p:animEffect>
                                    <p:anim calcmode="lin" valueType="num">
                                      <p:cBhvr>
                                        <p:cTn id="117" dur="550" decel="100000" fill="hold"/>
                                        <p:tgtEl>
                                          <p:spTgt spid="23"/>
                                        </p:tgtEl>
                                        <p:attrNameLst>
                                          <p:attrName>ppt_x</p:attrName>
                                        </p:attrNameLst>
                                      </p:cBhvr>
                                      <p:tavLst>
                                        <p:tav tm="0">
                                          <p:val>
                                            <p:strVal val="#ppt_x"/>
                                          </p:val>
                                        </p:tav>
                                        <p:tav tm="100000">
                                          <p:val>
                                            <p:strVal val="#ppt_x"/>
                                          </p:val>
                                        </p:tav>
                                      </p:tavLst>
                                    </p:anim>
                                    <p:anim calcmode="lin" valueType="num">
                                      <p:cBhvr>
                                        <p:cTn id="118" dur="550" decel="100000" fill="hold"/>
                                        <p:tgtEl>
                                          <p:spTgt spid="23"/>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45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550"/>
                                        <p:tgtEl>
                                          <p:spTgt spid="24"/>
                                        </p:tgtEl>
                                      </p:cBhvr>
                                    </p:animEffect>
                                    <p:anim calcmode="lin" valueType="num">
                                      <p:cBhvr>
                                        <p:cTn id="122" dur="550" decel="100000" fill="hold"/>
                                        <p:tgtEl>
                                          <p:spTgt spid="24"/>
                                        </p:tgtEl>
                                        <p:attrNameLst>
                                          <p:attrName>ppt_x</p:attrName>
                                        </p:attrNameLst>
                                      </p:cBhvr>
                                      <p:tavLst>
                                        <p:tav tm="0">
                                          <p:val>
                                            <p:strVal val="#ppt_x"/>
                                          </p:val>
                                        </p:tav>
                                        <p:tav tm="100000">
                                          <p:val>
                                            <p:strVal val="#ppt_x"/>
                                          </p:val>
                                        </p:tav>
                                      </p:tavLst>
                                    </p:anim>
                                    <p:anim calcmode="lin" valueType="num">
                                      <p:cBhvr>
                                        <p:cTn id="123" dur="550" decel="100000" fill="hold"/>
                                        <p:tgtEl>
                                          <p:spTgt spid="24"/>
                                        </p:tgtEl>
                                        <p:attrNameLst>
                                          <p:attrName>ppt_y</p:attrName>
                                        </p:attrNameLst>
                                      </p:cBhvr>
                                      <p:tavLst>
                                        <p:tav tm="0">
                                          <p:val>
                                            <p:strVal val="#ppt_y+0.03"/>
                                          </p:val>
                                        </p:tav>
                                        <p:tav tm="100000">
                                          <p:val>
                                            <p:strVal val="#ppt_y"/>
                                          </p:val>
                                        </p:tav>
                                      </p:tavLst>
                                    </p:anim>
                                  </p:childTnLst>
                                </p:cTn>
                              </p:par>
                              <p:par>
                                <p:cTn id="129" presetID="53" presetClass="entr" presetSubtype="16" fill="hold" grpId="0" nodeType="withEffect">
                                  <p:stCondLst>
                                    <p:cond delay="52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00"/>
                                        <p:tgtEl>
                                          <p:spTgt spid="33"/>
                                        </p:tgtEl>
                                      </p:cBhvr>
                                    </p:animEffect>
                                    <p:anim calcmode="lin" valueType="num">
                                      <p:cBhvr>
                                        <p:cTn id="127" dur="500" decel="100000" fill="hold"/>
                                        <p:tgtEl>
                                          <p:spTgt spid="33"/>
                                        </p:tgtEl>
                                        <p:attrNameLst>
                                          <p:attrName>ppt_w</p:attrName>
                                        </p:attrNameLst>
                                      </p:cBhvr>
                                      <p:tavLst>
                                        <p:tav tm="0">
                                          <p:val>
                                            <p:strVal val="#ppt_w*0.80"/>
                                          </p:val>
                                        </p:tav>
                                        <p:tav tm="100000">
                                          <p:val>
                                            <p:strVal val="#ppt_w"/>
                                          </p:val>
                                        </p:tav>
                                      </p:tavLst>
                                    </p:anim>
                                    <p:anim calcmode="lin" valueType="num">
                                      <p:cBhvr>
                                        <p:cTn id="128" dur="500" decel="100000" fill="hold"/>
                                        <p:tgtEl>
                                          <p:spTgt spid="33"/>
                                        </p:tgtEl>
                                        <p:attrNameLst>
                                          <p:attrName>ppt_h</p:attrName>
                                        </p:attrNameLst>
                                      </p:cBhvr>
                                      <p:tavLst>
                                        <p:tav tm="0">
                                          <p:val>
                                            <p:strVal val="#ppt_h*0.80"/>
                                          </p:val>
                                        </p:tav>
                                        <p:tav tm="100000">
                                          <p:val>
                                            <p:strVal val="#ppt_h"/>
                                          </p:val>
                                        </p:tav>
                                      </p:tavLst>
                                    </p:anim>
                                  </p:childTnLst>
                                </p:cTn>
                              </p:par>
                              <p:par>
                                <p:cTn id="134" presetID="53" presetClass="entr" presetSubtype="16" fill="hold" grpId="0" nodeType="withEffect">
                                  <p:stCondLst>
                                    <p:cond delay="52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00"/>
                                        <p:tgtEl>
                                          <p:spTgt spid="34"/>
                                        </p:tgtEl>
                                      </p:cBhvr>
                                    </p:animEffect>
                                    <p:anim calcmode="lin" valueType="num">
                                      <p:cBhvr>
                                        <p:cTn id="132" dur="500" decel="100000" fill="hold"/>
                                        <p:tgtEl>
                                          <p:spTgt spid="34"/>
                                        </p:tgtEl>
                                        <p:attrNameLst>
                                          <p:attrName>ppt_w</p:attrName>
                                        </p:attrNameLst>
                                      </p:cBhvr>
                                      <p:tavLst>
                                        <p:tav tm="0">
                                          <p:val>
                                            <p:strVal val="#ppt_w*0.80"/>
                                          </p:val>
                                        </p:tav>
                                        <p:tav tm="100000">
                                          <p:val>
                                            <p:strVal val="#ppt_w"/>
                                          </p:val>
                                        </p:tav>
                                      </p:tavLst>
                                    </p:anim>
                                    <p:anim calcmode="lin" valueType="num">
                                      <p:cBhvr>
                                        <p:cTn id="133" dur="500" decel="100000" fill="hold"/>
                                        <p:tgtEl>
                                          <p:spTgt spid="34"/>
                                        </p:tgtEl>
                                        <p:attrNameLst>
                                          <p:attrName>ppt_h</p:attrName>
                                        </p:attrNameLst>
                                      </p:cBhvr>
                                      <p:tavLst>
                                        <p:tav tm="0">
                                          <p:val>
                                            <p:strVal val="#ppt_h*0.80"/>
                                          </p:val>
                                        </p:tav>
                                        <p:tav tm="100000">
                                          <p:val>
                                            <p:strVal val="#ppt_h"/>
                                          </p:val>
                                        </p:tav>
                                      </p:tavLst>
                                    </p:anim>
                                  </p:childTnLst>
                                </p:cTn>
                              </p:par>
                              <p:par>
                                <p:cTn id="139" presetID="53" presetClass="entr" presetSubtype="16" fill="hold" grpId="0" nodeType="withEffect">
                                  <p:stCondLst>
                                    <p:cond delay="52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00"/>
                                        <p:tgtEl>
                                          <p:spTgt spid="35"/>
                                        </p:tgtEl>
                                      </p:cBhvr>
                                    </p:animEffect>
                                    <p:anim calcmode="lin" valueType="num">
                                      <p:cBhvr>
                                        <p:cTn id="137" dur="500" decel="100000" fill="hold"/>
                                        <p:tgtEl>
                                          <p:spTgt spid="35"/>
                                        </p:tgtEl>
                                        <p:attrNameLst>
                                          <p:attrName>ppt_w</p:attrName>
                                        </p:attrNameLst>
                                      </p:cBhvr>
                                      <p:tavLst>
                                        <p:tav tm="0">
                                          <p:val>
                                            <p:strVal val="#ppt_w*0.80"/>
                                          </p:val>
                                        </p:tav>
                                        <p:tav tm="100000">
                                          <p:val>
                                            <p:strVal val="#ppt_w"/>
                                          </p:val>
                                        </p:tav>
                                      </p:tavLst>
                                    </p:anim>
                                    <p:anim calcmode="lin" valueType="num">
                                      <p:cBhvr>
                                        <p:cTn id="138" dur="500" decel="100000" fill="hold"/>
                                        <p:tgtEl>
                                          <p:spTgt spid="35"/>
                                        </p:tgtEl>
                                        <p:attrNameLst>
                                          <p:attrName>ppt_h</p:attrName>
                                        </p:attrNameLst>
                                      </p:cBhvr>
                                      <p:tavLst>
                                        <p:tav tm="0">
                                          <p:val>
                                            <p:strVal val="#ppt_h*0.80"/>
                                          </p:val>
                                        </p:tav>
                                        <p:tav tm="100000">
                                          <p:val>
                                            <p:strVal val="#ppt_h"/>
                                          </p:val>
                                        </p:tav>
                                      </p:tavLst>
                                    </p:anim>
                                  </p:childTnLst>
                                </p:cTn>
                              </p:par>
                              <p:par>
                                <p:cTn id="144" presetID="42" presetClass="entr" presetSubtype="0" fill="hold" grpId="0" nodeType="withEffect">
                                  <p:stCondLst>
                                    <p:cond delay="6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6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53" presetClass="entr" presetSubtype="16" fill="hold" grpId="0" nodeType="withEffect">
                                  <p:stCondLst>
                                    <p:cond delay="78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00"/>
                                        <p:tgtEl>
                                          <p:spTgt spid="38"/>
                                        </p:tgtEl>
                                      </p:cBhvr>
                                    </p:animEffect>
                                    <p:anim calcmode="lin" valueType="num">
                                      <p:cBhvr>
                                        <p:cTn id="152" dur="500" decel="100000" fill="hold"/>
                                        <p:tgtEl>
                                          <p:spTgt spid="38"/>
                                        </p:tgtEl>
                                        <p:attrNameLst>
                                          <p:attrName>ppt_w</p:attrName>
                                        </p:attrNameLst>
                                      </p:cBhvr>
                                      <p:tavLst>
                                        <p:tav tm="0">
                                          <p:val>
                                            <p:strVal val="#ppt_w*0.80"/>
                                          </p:val>
                                        </p:tav>
                                        <p:tav tm="100000">
                                          <p:val>
                                            <p:strVal val="#ppt_w"/>
                                          </p:val>
                                        </p:tav>
                                      </p:tavLst>
                                    </p:anim>
                                    <p:anim calcmode="lin" valueType="num">
                                      <p:cBhvr>
                                        <p:cTn id="153" dur="500" decel="100000" fill="hold"/>
                                        <p:tgtEl>
                                          <p:spTgt spid="38"/>
                                        </p:tgtEl>
                                        <p:attrNameLst>
                                          <p:attrName>ppt_h</p:attrName>
                                        </p:attrNameLst>
                                      </p:cBhvr>
                                      <p:tavLst>
                                        <p:tav tm="0">
                                          <p:val>
                                            <p:strVal val="#ppt_h*0.80"/>
                                          </p:val>
                                        </p:tav>
                                        <p:tav tm="100000">
                                          <p:val>
                                            <p:strVal val="#ppt_h"/>
                                          </p:val>
                                        </p:tav>
                                      </p:tavLst>
                                    </p:anim>
                                  </p:childTnLst>
                                </p:cTn>
                              </p:par>
                              <p:par>
                                <p:cTn id="159" presetID="42" presetClass="entr" presetSubtype="0" fill="hold" grpId="0" nodeType="withEffect">
                                  <p:stCondLst>
                                    <p:cond delay="90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anim calcmode="lin" valueType="num">
                                      <p:cBhvr>
                                        <p:cTn id="157" dur="550" decel="100000" fill="hold"/>
                                        <p:tgtEl>
                                          <p:spTgt spid="39"/>
                                        </p:tgtEl>
                                        <p:attrNameLst>
                                          <p:attrName>ppt_x</p:attrName>
                                        </p:attrNameLst>
                                      </p:cBhvr>
                                      <p:tavLst>
                                        <p:tav tm="0">
                                          <p:val>
                                            <p:strVal val="#ppt_x"/>
                                          </p:val>
                                        </p:tav>
                                        <p:tav tm="100000">
                                          <p:val>
                                            <p:strVal val="#ppt_x"/>
                                          </p:val>
                                        </p:tav>
                                      </p:tavLst>
                                    </p:anim>
                                    <p:anim calcmode="lin" valueType="num">
                                      <p:cBhvr>
                                        <p:cTn id="158" dur="550" decel="100000" fill="hold"/>
                                        <p:tgtEl>
                                          <p:spTgt spid="39"/>
                                        </p:tgtEl>
                                        <p:attrNameLst>
                                          <p:attrName>ppt_y</p:attrName>
                                        </p:attrNameLst>
                                      </p:cBhvr>
                                      <p:tavLst>
                                        <p:tav tm="0">
                                          <p:val>
                                            <p:strVal val="#ppt_y+0.03"/>
                                          </p:val>
                                        </p:tav>
                                        <p:tav tm="100000">
                                          <p:val>
                                            <p:strVal val="#ppt_y"/>
                                          </p:val>
                                        </p:tav>
                                      </p:tavLst>
                                    </p:anim>
                                  </p:childTnLst>
                                </p:cTn>
                              </p:par>
                              <p:par>
                                <p:cTn id="164" presetID="42" presetClass="entr" presetSubtype="0" fill="hold" grpId="0" nodeType="withEffect">
                                  <p:stCondLst>
                                    <p:cond delay="1050"/>
                                  </p:stCondLst>
                                  <p:childTnLst>
                                    <p:set>
                                      <p:cBhvr>
                                        <p:cTn id="160" dur="1" fill="hold">
                                          <p:stCondLst>
                                            <p:cond delay="0"/>
                                          </p:stCondLst>
                                        </p:cTn>
                                        <p:tgtEl>
                                          <p:spTgt spid="40"/>
                                        </p:tgtEl>
                                        <p:attrNameLst>
                                          <p:attrName>style.visibility</p:attrName>
                                        </p:attrNameLst>
                                      </p:cBhvr>
                                      <p:to>
                                        <p:strVal val="visible"/>
                                      </p:to>
                                    </p:set>
                                    <p:animEffect transition="in" filter="fade">
                                      <p:cBhvr>
                                        <p:cTn id="161" dur="550"/>
                                        <p:tgtEl>
                                          <p:spTgt spid="40"/>
                                        </p:tgtEl>
                                      </p:cBhvr>
                                    </p:animEffect>
                                    <p:anim calcmode="lin" valueType="num">
                                      <p:cBhvr>
                                        <p:cTn id="162" dur="550" decel="100000" fill="hold"/>
                                        <p:tgtEl>
                                          <p:spTgt spid="40"/>
                                        </p:tgtEl>
                                        <p:attrNameLst>
                                          <p:attrName>ppt_x</p:attrName>
                                        </p:attrNameLst>
                                      </p:cBhvr>
                                      <p:tavLst>
                                        <p:tav tm="0">
                                          <p:val>
                                            <p:strVal val="#ppt_x"/>
                                          </p:val>
                                        </p:tav>
                                        <p:tav tm="100000">
                                          <p:val>
                                            <p:strVal val="#ppt_x"/>
                                          </p:val>
                                        </p:tav>
                                      </p:tavLst>
                                    </p:anim>
                                    <p:anim calcmode="lin" valueType="num">
                                      <p:cBhvr>
                                        <p:cTn id="163" dur="550" decel="100000" fill="hold"/>
                                        <p:tgtEl>
                                          <p:spTgt spid="40"/>
                                        </p:tgtEl>
                                        <p:attrNameLst>
                                          <p:attrName>ppt_y</p:attrName>
                                        </p:attrNameLst>
                                      </p:cBhvr>
                                      <p:tavLst>
                                        <p:tav tm="0">
                                          <p:val>
                                            <p:strVal val="#ppt_y+0.03"/>
                                          </p:val>
                                        </p:tav>
                                        <p:tav tm="100000">
                                          <p:val>
                                            <p:strVal val="#ppt_y"/>
                                          </p:val>
                                        </p:tav>
                                      </p:tavLst>
                                    </p:anim>
                                  </p:childTnLst>
                                </p:cTn>
                              </p:par>
                              <p:par>
                                <p:cTn id="169" presetID="42" presetClass="entr" presetSubtype="0" fill="hold" grpId="0" nodeType="withEffect">
                                  <p:stCondLst>
                                    <p:cond delay="1050"/>
                                  </p:stCondLst>
                                  <p:childTnLst>
                                    <p:set>
                                      <p:cBhvr>
                                        <p:cTn id="165" dur="1" fill="hold">
                                          <p:stCondLst>
                                            <p:cond delay="0"/>
                                          </p:stCondLst>
                                        </p:cTn>
                                        <p:tgtEl>
                                          <p:spTgt spid="41"/>
                                        </p:tgtEl>
                                        <p:attrNameLst>
                                          <p:attrName>style.visibility</p:attrName>
                                        </p:attrNameLst>
                                      </p:cBhvr>
                                      <p:to>
                                        <p:strVal val="visible"/>
                                      </p:to>
                                    </p:set>
                                    <p:animEffect transition="in" filter="fade">
                                      <p:cBhvr>
                                        <p:cTn id="166" dur="550"/>
                                        <p:tgtEl>
                                          <p:spTgt spid="41"/>
                                        </p:tgtEl>
                                      </p:cBhvr>
                                    </p:animEffect>
                                    <p:anim calcmode="lin" valueType="num">
                                      <p:cBhvr>
                                        <p:cTn id="167" dur="550" decel="100000" fill="hold"/>
                                        <p:tgtEl>
                                          <p:spTgt spid="41"/>
                                        </p:tgtEl>
                                        <p:attrNameLst>
                                          <p:attrName>ppt_x</p:attrName>
                                        </p:attrNameLst>
                                      </p:cBhvr>
                                      <p:tavLst>
                                        <p:tav tm="0">
                                          <p:val>
                                            <p:strVal val="#ppt_x"/>
                                          </p:val>
                                        </p:tav>
                                        <p:tav tm="100000">
                                          <p:val>
                                            <p:strVal val="#ppt_x"/>
                                          </p:val>
                                        </p:tav>
                                      </p:tavLst>
                                    </p:anim>
                                    <p:anim calcmode="lin" valueType="num">
                                      <p:cBhvr>
                                        <p:cTn id="168" dur="550" decel="100000" fill="hold"/>
                                        <p:tgtEl>
                                          <p:spTgt spid="41"/>
                                        </p:tgtEl>
                                        <p:attrNameLst>
                                          <p:attrName>ppt_y</p:attrName>
                                        </p:attrNameLst>
                                      </p:cBhvr>
                                      <p:tavLst>
                                        <p:tav tm="0">
                                          <p:val>
                                            <p:strVal val="#ppt_y+0.03"/>
                                          </p:val>
                                        </p:tav>
                                        <p:tav tm="100000">
                                          <p:val>
                                            <p:strVal val="#ppt_y"/>
                                          </p:val>
                                        </p:tav>
                                      </p:tavLst>
                                    </p:anim>
                                  </p:childTnLst>
                                </p:cTn>
                              </p:par>
                              <p:par>
                                <p:cTn id="174" presetID="42" presetClass="entr" presetSubtype="0" fill="hold" grpId="0" nodeType="withEffect">
                                  <p:stCondLst>
                                    <p:cond delay="1050"/>
                                  </p:stCondLst>
                                  <p:childTnLst>
                                    <p:set>
                                      <p:cBhvr>
                                        <p:cTn id="170" dur="1" fill="hold">
                                          <p:stCondLst>
                                            <p:cond delay="0"/>
                                          </p:stCondLst>
                                        </p:cTn>
                                        <p:tgtEl>
                                          <p:spTgt spid="42"/>
                                        </p:tgtEl>
                                        <p:attrNameLst>
                                          <p:attrName>style.visibility</p:attrName>
                                        </p:attrNameLst>
                                      </p:cBhvr>
                                      <p:to>
                                        <p:strVal val="visible"/>
                                      </p:to>
                                    </p:set>
                                    <p:animEffect transition="in" filter="fade">
                                      <p:cBhvr>
                                        <p:cTn id="171" dur="550"/>
                                        <p:tgtEl>
                                          <p:spTgt spid="42"/>
                                        </p:tgtEl>
                                      </p:cBhvr>
                                    </p:animEffect>
                                    <p:anim calcmode="lin" valueType="num">
                                      <p:cBhvr>
                                        <p:cTn id="172" dur="550" decel="100000" fill="hold"/>
                                        <p:tgtEl>
                                          <p:spTgt spid="42"/>
                                        </p:tgtEl>
                                        <p:attrNameLst>
                                          <p:attrName>ppt_x</p:attrName>
                                        </p:attrNameLst>
                                      </p:cBhvr>
                                      <p:tavLst>
                                        <p:tav tm="0">
                                          <p:val>
                                            <p:strVal val="#ppt_x"/>
                                          </p:val>
                                        </p:tav>
                                        <p:tav tm="100000">
                                          <p:val>
                                            <p:strVal val="#ppt_x"/>
                                          </p:val>
                                        </p:tav>
                                      </p:tavLst>
                                    </p:anim>
                                    <p:anim calcmode="lin" valueType="num">
                                      <p:cBhvr>
                                        <p:cTn id="173" dur="550" decel="100000" fill="hold"/>
                                        <p:tgtEl>
                                          <p:spTgt spid="42"/>
                                        </p:tgtEl>
                                        <p:attrNameLst>
                                          <p:attrName>ppt_y</p:attrName>
                                        </p:attrNameLst>
                                      </p:cBhvr>
                                      <p:tavLst>
                                        <p:tav tm="0">
                                          <p:val>
                                            <p:strVal val="#ppt_y+0.03"/>
                                          </p:val>
                                        </p:tav>
                                        <p:tav tm="100000">
                                          <p:val>
                                            <p:strVal val="#ppt_y"/>
                                          </p:val>
                                        </p:tav>
                                      </p:tavLst>
                                    </p:anim>
                                  </p:childTnLst>
                                </p:cTn>
                              </p:par>
                              <p:par>
                                <p:cTn id="179" presetID="42" presetClass="entr" presetSubtype="0" fill="hold" grpId="0" nodeType="withEffect">
                                  <p:stCondLst>
                                    <p:cond delay="1050"/>
                                  </p:stCondLst>
                                  <p:childTnLst>
                                    <p:set>
                                      <p:cBhvr>
                                        <p:cTn id="175" dur="1" fill="hold">
                                          <p:stCondLst>
                                            <p:cond delay="0"/>
                                          </p:stCondLst>
                                        </p:cTn>
                                        <p:tgtEl>
                                          <p:spTgt spid="43"/>
                                        </p:tgtEl>
                                        <p:attrNameLst>
                                          <p:attrName>style.visibility</p:attrName>
                                        </p:attrNameLst>
                                      </p:cBhvr>
                                      <p:to>
                                        <p:strVal val="visible"/>
                                      </p:to>
                                    </p:set>
                                    <p:animEffect transition="in" filter="fade">
                                      <p:cBhvr>
                                        <p:cTn id="176" dur="550"/>
                                        <p:tgtEl>
                                          <p:spTgt spid="43"/>
                                        </p:tgtEl>
                                      </p:cBhvr>
                                    </p:animEffect>
                                    <p:anim calcmode="lin" valueType="num">
                                      <p:cBhvr>
                                        <p:cTn id="177" dur="550" decel="100000" fill="hold"/>
                                        <p:tgtEl>
                                          <p:spTgt spid="43"/>
                                        </p:tgtEl>
                                        <p:attrNameLst>
                                          <p:attrName>ppt_x</p:attrName>
                                        </p:attrNameLst>
                                      </p:cBhvr>
                                      <p:tavLst>
                                        <p:tav tm="0">
                                          <p:val>
                                            <p:strVal val="#ppt_x"/>
                                          </p:val>
                                        </p:tav>
                                        <p:tav tm="100000">
                                          <p:val>
                                            <p:strVal val="#ppt_x"/>
                                          </p:val>
                                        </p:tav>
                                      </p:tavLst>
                                    </p:anim>
                                    <p:anim calcmode="lin" valueType="num">
                                      <p:cBhvr>
                                        <p:cTn id="178" dur="550" decel="100000" fill="hold"/>
                                        <p:tgtEl>
                                          <p:spTgt spid="43"/>
                                        </p:tgtEl>
                                        <p:attrNameLst>
                                          <p:attrName>ppt_y</p:attrName>
                                        </p:attrNameLst>
                                      </p:cBhvr>
                                      <p:tavLst>
                                        <p:tav tm="0">
                                          <p:val>
                                            <p:strVal val="#ppt_y+0.03"/>
                                          </p:val>
                                        </p:tav>
                                        <p:tav tm="100000">
                                          <p:val>
                                            <p:strVal val="#ppt_y"/>
                                          </p:val>
                                        </p:tav>
                                      </p:tavLst>
                                    </p:anim>
                                  </p:childTnLst>
                                </p:cTn>
                              </p:par>
                              <p:par>
                                <p:cTn id="184" presetID="42" presetClass="entr" presetSubtype="0" fill="hold" grpId="0" nodeType="withEffect">
                                  <p:stCondLst>
                                    <p:cond delay="1050"/>
                                  </p:stCondLst>
                                  <p:childTnLst>
                                    <p:set>
                                      <p:cBhvr>
                                        <p:cTn id="180" dur="1" fill="hold">
                                          <p:stCondLst>
                                            <p:cond delay="0"/>
                                          </p:stCondLst>
                                        </p:cTn>
                                        <p:tgtEl>
                                          <p:spTgt spid="44"/>
                                        </p:tgtEl>
                                        <p:attrNameLst>
                                          <p:attrName>style.visibility</p:attrName>
                                        </p:attrNameLst>
                                      </p:cBhvr>
                                      <p:to>
                                        <p:strVal val="visible"/>
                                      </p:to>
                                    </p:set>
                                    <p:animEffect transition="in" filter="fade">
                                      <p:cBhvr>
                                        <p:cTn id="181" dur="550"/>
                                        <p:tgtEl>
                                          <p:spTgt spid="44"/>
                                        </p:tgtEl>
                                      </p:cBhvr>
                                    </p:animEffect>
                                    <p:anim calcmode="lin" valueType="num">
                                      <p:cBhvr>
                                        <p:cTn id="182" dur="550" decel="100000" fill="hold"/>
                                        <p:tgtEl>
                                          <p:spTgt spid="44"/>
                                        </p:tgtEl>
                                        <p:attrNameLst>
                                          <p:attrName>ppt_x</p:attrName>
                                        </p:attrNameLst>
                                      </p:cBhvr>
                                      <p:tavLst>
                                        <p:tav tm="0">
                                          <p:val>
                                            <p:strVal val="#ppt_x"/>
                                          </p:val>
                                        </p:tav>
                                        <p:tav tm="100000">
                                          <p:val>
                                            <p:strVal val="#ppt_x"/>
                                          </p:val>
                                        </p:tav>
                                      </p:tavLst>
                                    </p:anim>
                                    <p:anim calcmode="lin" valueType="num">
                                      <p:cBhvr>
                                        <p:cTn id="183" dur="550" decel="100000" fill="hold"/>
                                        <p:tgtEl>
                                          <p:spTgt spid="44"/>
                                        </p:tgtEl>
                                        <p:attrNameLst>
                                          <p:attrName>ppt_y</p:attrName>
                                        </p:attrNameLst>
                                      </p:cBhvr>
                                      <p:tavLst>
                                        <p:tav tm="0">
                                          <p:val>
                                            <p:strVal val="#ppt_y+0.03"/>
                                          </p:val>
                                        </p:tav>
                                        <p:tav tm="100000">
                                          <p:val>
                                            <p:strVal val="#ppt_y"/>
                                          </p:val>
                                        </p:tav>
                                      </p:tavLst>
                                    </p:anim>
                                  </p:childTnLst>
                                </p:cTn>
                              </p:par>
                              <p:par>
                                <p:cTn id="189" presetID="42" presetClass="entr" presetSubtype="0" fill="hold" grpId="0" nodeType="withEffect">
                                  <p:stCondLst>
                                    <p:cond delay="1250"/>
                                  </p:stCondLst>
                                  <p:childTnLst>
                                    <p:set>
                                      <p:cBhvr>
                                        <p:cTn id="185" dur="1" fill="hold">
                                          <p:stCondLst>
                                            <p:cond delay="0"/>
                                          </p:stCondLst>
                                        </p:cTn>
                                        <p:tgtEl>
                                          <p:spTgt spid="45"/>
                                        </p:tgtEl>
                                        <p:attrNameLst>
                                          <p:attrName>style.visibility</p:attrName>
                                        </p:attrNameLst>
                                      </p:cBhvr>
                                      <p:to>
                                        <p:strVal val="visible"/>
                                      </p:to>
                                    </p:set>
                                    <p:animEffect transition="in" filter="fade">
                                      <p:cBhvr>
                                        <p:cTn id="186" dur="550"/>
                                        <p:tgtEl>
                                          <p:spTgt spid="45"/>
                                        </p:tgtEl>
                                      </p:cBhvr>
                                    </p:animEffect>
                                    <p:anim calcmode="lin" valueType="num">
                                      <p:cBhvr>
                                        <p:cTn id="187" dur="550" decel="100000" fill="hold"/>
                                        <p:tgtEl>
                                          <p:spTgt spid="45"/>
                                        </p:tgtEl>
                                        <p:attrNameLst>
                                          <p:attrName>ppt_x</p:attrName>
                                        </p:attrNameLst>
                                      </p:cBhvr>
                                      <p:tavLst>
                                        <p:tav tm="0">
                                          <p:val>
                                            <p:strVal val="#ppt_x"/>
                                          </p:val>
                                        </p:tav>
                                        <p:tav tm="100000">
                                          <p:val>
                                            <p:strVal val="#ppt_x"/>
                                          </p:val>
                                        </p:tav>
                                      </p:tavLst>
                                    </p:anim>
                                    <p:anim calcmode="lin" valueType="num">
                                      <p:cBhvr>
                                        <p:cTn id="188" dur="550" decel="100000" fill="hold"/>
                                        <p:tgtEl>
                                          <p:spTgt spid="45"/>
                                        </p:tgtEl>
                                        <p:attrNameLst>
                                          <p:attrName>ppt_y</p:attrName>
                                        </p:attrNameLst>
                                      </p:cBhvr>
                                      <p:tavLst>
                                        <p:tav tm="0">
                                          <p:val>
                                            <p:strVal val="#ppt_y+0.03"/>
                                          </p:val>
                                        </p:tav>
                                        <p:tav tm="100000">
                                          <p:val>
                                            <p:strVal val="#ppt_y"/>
                                          </p:val>
                                        </p:tav>
                                      </p:tavLst>
                                    </p:anim>
                                  </p:childTnLst>
                                </p:cTn>
                              </p:par>
                              <p:par>
                                <p:cTn id="194" presetID="42" presetClass="entr" presetSubtype="0" fill="hold" grpId="0" nodeType="withEffect">
                                  <p:stCondLst>
                                    <p:cond delay="1250"/>
                                  </p:stCondLst>
                                  <p:childTnLst>
                                    <p:set>
                                      <p:cBhvr>
                                        <p:cTn id="190" dur="1" fill="hold">
                                          <p:stCondLst>
                                            <p:cond delay="0"/>
                                          </p:stCondLst>
                                        </p:cTn>
                                        <p:tgtEl>
                                          <p:spTgt spid="46"/>
                                        </p:tgtEl>
                                        <p:attrNameLst>
                                          <p:attrName>style.visibility</p:attrName>
                                        </p:attrNameLst>
                                      </p:cBhvr>
                                      <p:to>
                                        <p:strVal val="visible"/>
                                      </p:to>
                                    </p:set>
                                    <p:animEffect transition="in" filter="fade">
                                      <p:cBhvr>
                                        <p:cTn id="191" dur="550"/>
                                        <p:tgtEl>
                                          <p:spTgt spid="46"/>
                                        </p:tgtEl>
                                      </p:cBhvr>
                                    </p:animEffect>
                                    <p:anim calcmode="lin" valueType="num">
                                      <p:cBhvr>
                                        <p:cTn id="192" dur="550" decel="100000" fill="hold"/>
                                        <p:tgtEl>
                                          <p:spTgt spid="46"/>
                                        </p:tgtEl>
                                        <p:attrNameLst>
                                          <p:attrName>ppt_x</p:attrName>
                                        </p:attrNameLst>
                                      </p:cBhvr>
                                      <p:tavLst>
                                        <p:tav tm="0">
                                          <p:val>
                                            <p:strVal val="#ppt_x"/>
                                          </p:val>
                                        </p:tav>
                                        <p:tav tm="100000">
                                          <p:val>
                                            <p:strVal val="#ppt_x"/>
                                          </p:val>
                                        </p:tav>
                                      </p:tavLst>
                                    </p:anim>
                                    <p:anim calcmode="lin" valueType="num">
                                      <p:cBhvr>
                                        <p:cTn id="193" dur="550" decel="100000" fill="hold"/>
                                        <p:tgtEl>
                                          <p:spTgt spid="46"/>
                                        </p:tgtEl>
                                        <p:attrNameLst>
                                          <p:attrName>ppt_y</p:attrName>
                                        </p:attrNameLst>
                                      </p:cBhvr>
                                      <p:tavLst>
                                        <p:tav tm="0">
                                          <p:val>
                                            <p:strVal val="#ppt_y+0.03"/>
                                          </p:val>
                                        </p:tav>
                                        <p:tav tm="100000">
                                          <p:val>
                                            <p:strVal val="#ppt_y"/>
                                          </p:val>
                                        </p:tav>
                                      </p:tavLst>
                                    </p:anim>
                                  </p:childTnLst>
                                </p:cTn>
                              </p:par>
                              <p:par>
                                <p:cTn id="199" presetID="42" presetClass="entr" presetSubtype="0" fill="hold" grpId="0" nodeType="withEffect">
                                  <p:stCondLst>
                                    <p:cond delay="1250"/>
                                  </p:stCondLst>
                                  <p:childTnLst>
                                    <p:set>
                                      <p:cBhvr>
                                        <p:cTn id="195" dur="1" fill="hold">
                                          <p:stCondLst>
                                            <p:cond delay="0"/>
                                          </p:stCondLst>
                                        </p:cTn>
                                        <p:tgtEl>
                                          <p:spTgt spid="47"/>
                                        </p:tgtEl>
                                        <p:attrNameLst>
                                          <p:attrName>style.visibility</p:attrName>
                                        </p:attrNameLst>
                                      </p:cBhvr>
                                      <p:to>
                                        <p:strVal val="visible"/>
                                      </p:to>
                                    </p:set>
                                    <p:animEffect transition="in" filter="fade">
                                      <p:cBhvr>
                                        <p:cTn id="196" dur="550"/>
                                        <p:tgtEl>
                                          <p:spTgt spid="47"/>
                                        </p:tgtEl>
                                      </p:cBhvr>
                                    </p:animEffect>
                                    <p:anim calcmode="lin" valueType="num">
                                      <p:cBhvr>
                                        <p:cTn id="197" dur="550" decel="100000" fill="hold"/>
                                        <p:tgtEl>
                                          <p:spTgt spid="47"/>
                                        </p:tgtEl>
                                        <p:attrNameLst>
                                          <p:attrName>ppt_x</p:attrName>
                                        </p:attrNameLst>
                                      </p:cBhvr>
                                      <p:tavLst>
                                        <p:tav tm="0">
                                          <p:val>
                                            <p:strVal val="#ppt_x"/>
                                          </p:val>
                                        </p:tav>
                                        <p:tav tm="100000">
                                          <p:val>
                                            <p:strVal val="#ppt_x"/>
                                          </p:val>
                                        </p:tav>
                                      </p:tavLst>
                                    </p:anim>
                                    <p:anim calcmode="lin" valueType="num">
                                      <p:cBhvr>
                                        <p:cTn id="198" dur="550" decel="100000" fill="hold"/>
                                        <p:tgtEl>
                                          <p:spTgt spid="47"/>
                                        </p:tgtEl>
                                        <p:attrNameLst>
                                          <p:attrName>ppt_y</p:attrName>
                                        </p:attrNameLst>
                                      </p:cBhvr>
                                      <p:tavLst>
                                        <p:tav tm="0">
                                          <p:val>
                                            <p:strVal val="#ppt_y+0.03"/>
                                          </p:val>
                                        </p:tav>
                                        <p:tav tm="100000">
                                          <p:val>
                                            <p:strVal val="#ppt_y"/>
                                          </p:val>
                                        </p:tav>
                                      </p:tavLst>
                                    </p:anim>
                                  </p:childTnLst>
                                </p:cTn>
                              </p:par>
                              <p:par>
                                <p:cTn id="204" presetID="42" presetClass="entr" presetSubtype="0" fill="hold" grpId="0" nodeType="withEffect">
                                  <p:stCondLst>
                                    <p:cond delay="1250"/>
                                  </p:stCondLst>
                                  <p:childTnLst>
                                    <p:set>
                                      <p:cBhvr>
                                        <p:cTn id="200" dur="1" fill="hold">
                                          <p:stCondLst>
                                            <p:cond delay="0"/>
                                          </p:stCondLst>
                                        </p:cTn>
                                        <p:tgtEl>
                                          <p:spTgt spid="48"/>
                                        </p:tgtEl>
                                        <p:attrNameLst>
                                          <p:attrName>style.visibility</p:attrName>
                                        </p:attrNameLst>
                                      </p:cBhvr>
                                      <p:to>
                                        <p:strVal val="visible"/>
                                      </p:to>
                                    </p:set>
                                    <p:animEffect transition="in" filter="fade">
                                      <p:cBhvr>
                                        <p:cTn id="201" dur="550"/>
                                        <p:tgtEl>
                                          <p:spTgt spid="48"/>
                                        </p:tgtEl>
                                      </p:cBhvr>
                                    </p:animEffect>
                                    <p:anim calcmode="lin" valueType="num">
                                      <p:cBhvr>
                                        <p:cTn id="202" dur="550" decel="100000" fill="hold"/>
                                        <p:tgtEl>
                                          <p:spTgt spid="48"/>
                                        </p:tgtEl>
                                        <p:attrNameLst>
                                          <p:attrName>ppt_x</p:attrName>
                                        </p:attrNameLst>
                                      </p:cBhvr>
                                      <p:tavLst>
                                        <p:tav tm="0">
                                          <p:val>
                                            <p:strVal val="#ppt_x"/>
                                          </p:val>
                                        </p:tav>
                                        <p:tav tm="100000">
                                          <p:val>
                                            <p:strVal val="#ppt_x"/>
                                          </p:val>
                                        </p:tav>
                                      </p:tavLst>
                                    </p:anim>
                                    <p:anim calcmode="lin" valueType="num">
                                      <p:cBhvr>
                                        <p:cTn id="203" dur="550" decel="100000" fill="hold"/>
                                        <p:tgtEl>
                                          <p:spTgt spid="48"/>
                                        </p:tgtEl>
                                        <p:attrNameLst>
                                          <p:attrName>ppt_y</p:attrName>
                                        </p:attrNameLst>
                                      </p:cBhvr>
                                      <p:tavLst>
                                        <p:tav tm="0">
                                          <p:val>
                                            <p:strVal val="#ppt_y+0.03"/>
                                          </p:val>
                                        </p:tav>
                                        <p:tav tm="100000">
                                          <p:val>
                                            <p:strVal val="#ppt_y"/>
                                          </p:val>
                                        </p:tav>
                                      </p:tavLst>
                                    </p:anim>
                                  </p:childTnLst>
                                </p:cTn>
                              </p:par>
                              <p:par>
                                <p:cTn id="209" presetID="42" presetClass="entr" presetSubtype="0" fill="hold" grpId="0" nodeType="withEffect">
                                  <p:stCondLst>
                                    <p:cond delay="1250"/>
                                  </p:stCondLst>
                                  <p:childTnLst>
                                    <p:set>
                                      <p:cBhvr>
                                        <p:cTn id="205" dur="1" fill="hold">
                                          <p:stCondLst>
                                            <p:cond delay="0"/>
                                          </p:stCondLst>
                                        </p:cTn>
                                        <p:tgtEl>
                                          <p:spTgt spid="49"/>
                                        </p:tgtEl>
                                        <p:attrNameLst>
                                          <p:attrName>style.visibility</p:attrName>
                                        </p:attrNameLst>
                                      </p:cBhvr>
                                      <p:to>
                                        <p:strVal val="visible"/>
                                      </p:to>
                                    </p:set>
                                    <p:animEffect transition="in" filter="fade">
                                      <p:cBhvr>
                                        <p:cTn id="206" dur="550"/>
                                        <p:tgtEl>
                                          <p:spTgt spid="49"/>
                                        </p:tgtEl>
                                      </p:cBhvr>
                                    </p:animEffect>
                                    <p:anim calcmode="lin" valueType="num">
                                      <p:cBhvr>
                                        <p:cTn id="207" dur="550" decel="100000" fill="hold"/>
                                        <p:tgtEl>
                                          <p:spTgt spid="49"/>
                                        </p:tgtEl>
                                        <p:attrNameLst>
                                          <p:attrName>ppt_x</p:attrName>
                                        </p:attrNameLst>
                                      </p:cBhvr>
                                      <p:tavLst>
                                        <p:tav tm="0">
                                          <p:val>
                                            <p:strVal val="#ppt_x"/>
                                          </p:val>
                                        </p:tav>
                                        <p:tav tm="100000">
                                          <p:val>
                                            <p:strVal val="#ppt_x"/>
                                          </p:val>
                                        </p:tav>
                                      </p:tavLst>
                                    </p:anim>
                                    <p:anim calcmode="lin" valueType="num">
                                      <p:cBhvr>
                                        <p:cTn id="208" dur="550" decel="100000" fill="hold"/>
                                        <p:tgtEl>
                                          <p:spTgt spid="4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P spid="15" grpId="0" animBg="1"/>
      <p:bldP spid="25" grpId="0" animBg="1"/>
      <p:bldP spid="26" grpId="0" animBg="1"/>
      <p:bldP spid="28" grpId="0" animBg="1"/>
      <p:bldP spid="29" grpId="0" animBg="1"/>
      <p:bldP spid="16" grpId="0" animBg="1"/>
      <p:bldP spid="18" grpId="0" animBg="1"/>
      <p:bldP spid="19" grpId="0" animBg="1"/>
      <p:bldP spid="21" grpId="0" animBg="1"/>
      <p:bldP spid="30" grpId="0" animBg="1"/>
      <p:bldP spid="31" grpId="0" animBg="1"/>
      <p:bldP spid="32" grpId="0" animBg="1"/>
      <p:bldP spid="22" grpId="0" animBg="1"/>
      <p:bldP spid="24"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8"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04</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OVERVIEW OF FINDINGS</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Child Marriage Is Associated With Multiple Vulnerabilities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The regression analysis shows a cluster of interconnected factors.</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05 / 09</a:t>
            </a:r>
            <a:endParaRPr lang="en-US" sz="900" dirty="0"/>
          </a:p>
        </p:txBody>
      </p:sp>
      <p:sp>
        <p:nvSpPr>
          <p:cNvPr id="9" name="Odds ratio (OR) by factor card"/>
          <p:cNvSpPr/>
          <p:nvPr/>
        </p:nvSpPr>
        <p:spPr>
          <a:xfrm>
            <a:off x="548640" y="1737360"/>
            <a:ext cx="5257800"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Odds ratio (OR) by factor icon disc"/>
          <p:cNvSpPr/>
          <p:nvPr/>
        </p:nvSpPr>
        <p:spPr>
          <a:xfrm>
            <a:off x="804672" y="1956816"/>
            <a:ext cx="420624" cy="420624"/>
          </a:xfrm>
          <a:prstGeom prst="ellipse">
            <a:avLst/>
          </a:prstGeom>
          <a:solidFill>
            <a:srgbClr val="EAF0F8"/>
          </a:solidFill>
          <a:ln/>
        </p:spPr>
      </p:sp>
      <p:pic>
        <p:nvPicPr>
          <p:cNvPr id="11" name="Odds ratio (OR) by facto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Odds ratio (OR) by factor label"/>
          <p:cNvSpPr txBox="1"/>
          <p:nvPr/>
        </p:nvSpPr>
        <p:spPr>
          <a:xfrm>
            <a:off x="1353312" y="1956816"/>
            <a:ext cx="4251960" cy="420624"/>
          </a:xfrm>
          <a:prstGeom prst="rect">
            <a:avLst/>
          </a:prstGeom>
          <a:noFill/>
          <a:ln/>
        </p:spPr>
        <p:txBody>
          <a:bodyPr wrap="square" lIns="0" tIns="0" rIns="0" bIns="0" rtlCol="0" anchor="ctr"/>
          <a:lstStyle/>
          <a:p>
            <a:pPr indent="0" marL="0">
              <a:buNone/>
            </a:pPr>
            <a:r>
              <a:rPr lang="en-US" sz="1000" b="1" spc="120" kern="0" dirty="0">
                <a:solidFill>
                  <a:srgbClr val="24427E"/>
                </a:solidFill>
              </a:rPr>
              <a:t>ODDS RATIO (OR) BY FACTOR</a:t>
            </a:r>
            <a:endParaRPr lang="en-US" sz="1000" dirty="0"/>
          </a:p>
        </p:txBody>
      </p:sp>
      <p:graphicFrame>
        <p:nvGraphicFramePr>
          <p:cNvPr id="13" name="Chart" descr=""/>
          <p:cNvGraphicFramePr/>
          <p:nvPr/>
        </p:nvGraphicFramePr>
        <p:xfrm>
          <a:off x="685800" y="2468880"/>
          <a:ext cx="4937760" cy="2770632"/>
        </p:xfrm>
        <a:graphic xmlns:a="http://schemas.openxmlformats.org/drawingml/2006/main">
          <a:graphicData uri="http://schemas.openxmlformats.org/drawingml/2006/chart">
            <c:chart xmlns:c="http://schemas.openxmlformats.org/drawingml/2006/chart" r:id="rId3"/>
          </a:graphicData>
        </a:graphic>
      </p:graphicFrame>
      <p:sp>
        <p:nvSpPr>
          <p:cNvPr id="14" name="What it means in relation to child marriage card"/>
          <p:cNvSpPr/>
          <p:nvPr/>
        </p:nvSpPr>
        <p:spPr>
          <a:xfrm>
            <a:off x="6080760" y="1737360"/>
            <a:ext cx="5562295" cy="3639312"/>
          </a:xfrm>
          <a:prstGeom prst="roundRect">
            <a:avLst>
              <a:gd name="adj" fmla="val 201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What it means in relation to child marriage icon disc"/>
          <p:cNvSpPr/>
          <p:nvPr/>
        </p:nvSpPr>
        <p:spPr>
          <a:xfrm>
            <a:off x="6336792" y="1956816"/>
            <a:ext cx="420624" cy="420624"/>
          </a:xfrm>
          <a:prstGeom prst="ellipse">
            <a:avLst/>
          </a:prstGeom>
          <a:solidFill>
            <a:srgbClr val="E6F6FC"/>
          </a:solidFill>
          <a:ln/>
        </p:spPr>
      </p:sp>
      <p:pic>
        <p:nvPicPr>
          <p:cNvPr id="16" name="What it means in relation to child marriage icon" descr="preencoded.png">    </p:cNvPr>
          <p:cNvPicPr>
            <a:picLocks noChangeAspect="1"/>
          </p:cNvPicPr>
          <p:nvPr/>
        </p:nvPicPr>
        <p:blipFill>
          <a:blip r:embed="rId4"/>
          <a:stretch>
            <a:fillRect/>
          </a:stretch>
        </p:blipFill>
        <p:spPr>
          <a:xfrm>
            <a:off x="6437376" y="2057400"/>
            <a:ext cx="219456" cy="219456"/>
          </a:xfrm>
          <a:prstGeom prst="rect">
            <a:avLst/>
          </a:prstGeom>
        </p:spPr>
      </p:pic>
      <p:sp>
        <p:nvSpPr>
          <p:cNvPr id="17" name="What it means in relation to child marriage label"/>
          <p:cNvSpPr txBox="1"/>
          <p:nvPr/>
        </p:nvSpPr>
        <p:spPr>
          <a:xfrm>
            <a:off x="6885432" y="1956816"/>
            <a:ext cx="4556455" cy="420624"/>
          </a:xfrm>
          <a:prstGeom prst="rect">
            <a:avLst/>
          </a:prstGeom>
          <a:noFill/>
          <a:ln/>
        </p:spPr>
        <p:txBody>
          <a:bodyPr wrap="square" lIns="0" tIns="0" rIns="0" bIns="0" rtlCol="0" anchor="ctr"/>
          <a:lstStyle/>
          <a:p>
            <a:pPr indent="0" marL="0">
              <a:buNone/>
            </a:pPr>
            <a:r>
              <a:rPr lang="en-US" sz="1000" b="1" spc="120" kern="0" dirty="0">
                <a:solidFill>
                  <a:srgbClr val="0B79A8"/>
                </a:solidFill>
              </a:rPr>
              <a:t>WHAT IT MEANS IN RELATION TO CHILD MARRIAGE</a:t>
            </a:r>
            <a:endParaRPr lang="en-US" sz="1000" dirty="0"/>
          </a:p>
        </p:txBody>
      </p:sp>
      <p:sp>
        <p:nvSpPr>
          <p:cNvPr id="18" name="Text"/>
          <p:cNvSpPr txBox="1"/>
          <p:nvPr/>
        </p:nvSpPr>
        <p:spPr>
          <a:xfrm>
            <a:off x="6355080" y="2450592"/>
            <a:ext cx="2011680" cy="219456"/>
          </a:xfrm>
          <a:prstGeom prst="rect">
            <a:avLst/>
          </a:prstGeom>
          <a:noFill/>
          <a:ln/>
        </p:spPr>
        <p:txBody>
          <a:bodyPr wrap="square" lIns="0" tIns="0" rIns="0" bIns="0" rtlCol="0" anchor="ctr"/>
          <a:lstStyle/>
          <a:p>
            <a:pPr indent="0" marL="0">
              <a:buNone/>
            </a:pPr>
            <a:r>
              <a:rPr lang="en-US" sz="850" b="1" spc="150" kern="0" dirty="0">
                <a:solidFill>
                  <a:srgbClr val="8A93A3"/>
                </a:solidFill>
              </a:rPr>
              <a:t>FACTOR</a:t>
            </a:r>
            <a:endParaRPr lang="en-US" sz="850" dirty="0"/>
          </a:p>
        </p:txBody>
      </p:sp>
      <p:sp>
        <p:nvSpPr>
          <p:cNvPr id="19" name="Text"/>
          <p:cNvSpPr txBox="1"/>
          <p:nvPr/>
        </p:nvSpPr>
        <p:spPr>
          <a:xfrm>
            <a:off x="8412480" y="2450592"/>
            <a:ext cx="731520" cy="219456"/>
          </a:xfrm>
          <a:prstGeom prst="rect">
            <a:avLst/>
          </a:prstGeom>
          <a:noFill/>
          <a:ln/>
        </p:spPr>
        <p:txBody>
          <a:bodyPr wrap="square" lIns="0" tIns="0" rIns="0" bIns="0" rtlCol="0" anchor="ctr"/>
          <a:lstStyle/>
          <a:p>
            <a:pPr algn="ctr" indent="0" marL="0">
              <a:buNone/>
            </a:pPr>
            <a:r>
              <a:rPr lang="en-US" sz="850" b="1" spc="150" kern="0" dirty="0">
                <a:solidFill>
                  <a:srgbClr val="8A93A3"/>
                </a:solidFill>
              </a:rPr>
              <a:t>OR</a:t>
            </a:r>
            <a:endParaRPr lang="en-US" sz="850" dirty="0"/>
          </a:p>
        </p:txBody>
      </p:sp>
      <p:sp>
        <p:nvSpPr>
          <p:cNvPr id="20" name="Text"/>
          <p:cNvSpPr txBox="1"/>
          <p:nvPr/>
        </p:nvSpPr>
        <p:spPr>
          <a:xfrm>
            <a:off x="9326880" y="2450592"/>
            <a:ext cx="2286000" cy="219456"/>
          </a:xfrm>
          <a:prstGeom prst="rect">
            <a:avLst/>
          </a:prstGeom>
          <a:noFill/>
          <a:ln/>
        </p:spPr>
        <p:txBody>
          <a:bodyPr wrap="square" lIns="0" tIns="0" rIns="0" bIns="0" rtlCol="0" anchor="ctr"/>
          <a:lstStyle/>
          <a:p>
            <a:pPr indent="0" marL="0">
              <a:buNone/>
            </a:pPr>
            <a:r>
              <a:rPr lang="en-US" sz="850" b="1" spc="150" kern="0" dirty="0">
                <a:solidFill>
                  <a:srgbClr val="8A93A3"/>
                </a:solidFill>
              </a:rPr>
              <a:t>WHAT IT MEANS</a:t>
            </a:r>
            <a:endParaRPr lang="en-US" sz="850" dirty="0"/>
          </a:p>
        </p:txBody>
      </p:sp>
      <p:sp>
        <p:nvSpPr>
          <p:cNvPr id="21" name="Shape"/>
          <p:cNvSpPr/>
          <p:nvPr/>
        </p:nvSpPr>
        <p:spPr>
          <a:xfrm>
            <a:off x="6245352" y="2697480"/>
            <a:ext cx="5233111" cy="411480"/>
          </a:xfrm>
          <a:prstGeom prst="roundRect">
            <a:avLst>
              <a:gd name="adj" fmla="val 11111"/>
            </a:avLst>
          </a:prstGeom>
          <a:solidFill>
            <a:srgbClr val="F7F9FC"/>
          </a:solidFill>
          <a:ln/>
        </p:spPr>
      </p:sp>
      <p:sp>
        <p:nvSpPr>
          <p:cNvPr id="22" name="Shape"/>
          <p:cNvSpPr/>
          <p:nvPr/>
        </p:nvSpPr>
        <p:spPr>
          <a:xfrm>
            <a:off x="6355080" y="2843784"/>
            <a:ext cx="118872" cy="118872"/>
          </a:xfrm>
          <a:prstGeom prst="ellipse">
            <a:avLst/>
          </a:prstGeom>
          <a:solidFill>
            <a:srgbClr val="8E52A3"/>
          </a:solidFill>
          <a:ln/>
        </p:spPr>
      </p:sp>
      <p:sp>
        <p:nvSpPr>
          <p:cNvPr id="23" name="Text"/>
          <p:cNvSpPr txBox="1"/>
          <p:nvPr/>
        </p:nvSpPr>
        <p:spPr>
          <a:xfrm>
            <a:off x="6583680" y="269748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Early sex</a:t>
            </a:r>
            <a:endParaRPr lang="en-US" sz="1100" dirty="0"/>
          </a:p>
        </p:txBody>
      </p:sp>
      <p:sp>
        <p:nvSpPr>
          <p:cNvPr id="24" name="Text"/>
          <p:cNvSpPr txBox="1"/>
          <p:nvPr/>
        </p:nvSpPr>
        <p:spPr>
          <a:xfrm>
            <a:off x="8412480" y="2697480"/>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5.14</a:t>
            </a:r>
            <a:endParaRPr lang="en-US" sz="1300" dirty="0"/>
          </a:p>
        </p:txBody>
      </p:sp>
      <p:sp>
        <p:nvSpPr>
          <p:cNvPr id="25" name="Text"/>
          <p:cNvSpPr txBox="1"/>
          <p:nvPr/>
        </p:nvSpPr>
        <p:spPr>
          <a:xfrm>
            <a:off x="9326880" y="2697480"/>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5.1 times the odds of reporting child marriage.</a:t>
            </a:r>
            <a:endParaRPr lang="en-US" sz="1000" dirty="0"/>
          </a:p>
        </p:txBody>
      </p:sp>
      <p:sp>
        <p:nvSpPr>
          <p:cNvPr id="26" name="Shape"/>
          <p:cNvSpPr/>
          <p:nvPr/>
        </p:nvSpPr>
        <p:spPr>
          <a:xfrm>
            <a:off x="6355080" y="3264408"/>
            <a:ext cx="118872" cy="118872"/>
          </a:xfrm>
          <a:prstGeom prst="ellipse">
            <a:avLst/>
          </a:prstGeom>
          <a:solidFill>
            <a:srgbClr val="8E52A3"/>
          </a:solidFill>
          <a:ln/>
        </p:spPr>
      </p:sp>
      <p:sp>
        <p:nvSpPr>
          <p:cNvPr id="27" name="Text"/>
          <p:cNvSpPr txBox="1"/>
          <p:nvPr/>
        </p:nvSpPr>
        <p:spPr>
          <a:xfrm>
            <a:off x="6583680" y="3118104"/>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one child</a:t>
            </a:r>
            <a:endParaRPr lang="en-US" sz="1100" dirty="0"/>
          </a:p>
        </p:txBody>
      </p:sp>
      <p:sp>
        <p:nvSpPr>
          <p:cNvPr id="28" name="Text"/>
          <p:cNvSpPr txBox="1"/>
          <p:nvPr/>
        </p:nvSpPr>
        <p:spPr>
          <a:xfrm>
            <a:off x="8412480" y="3118104"/>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4.81</a:t>
            </a:r>
            <a:endParaRPr lang="en-US" sz="1300" dirty="0"/>
          </a:p>
        </p:txBody>
      </p:sp>
      <p:sp>
        <p:nvSpPr>
          <p:cNvPr id="29" name="Text"/>
          <p:cNvSpPr txBox="1"/>
          <p:nvPr/>
        </p:nvSpPr>
        <p:spPr>
          <a:xfrm>
            <a:off x="9326880" y="3118104"/>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4.8 times the odds of reporting child marriage.</a:t>
            </a:r>
            <a:endParaRPr lang="en-US" sz="1000" dirty="0"/>
          </a:p>
        </p:txBody>
      </p:sp>
      <p:sp>
        <p:nvSpPr>
          <p:cNvPr id="30" name="Shape"/>
          <p:cNvSpPr/>
          <p:nvPr/>
        </p:nvSpPr>
        <p:spPr>
          <a:xfrm>
            <a:off x="6245352" y="3538728"/>
            <a:ext cx="5233111" cy="411480"/>
          </a:xfrm>
          <a:prstGeom prst="roundRect">
            <a:avLst>
              <a:gd name="adj" fmla="val 11111"/>
            </a:avLst>
          </a:prstGeom>
          <a:solidFill>
            <a:srgbClr val="F7F9FC"/>
          </a:solidFill>
          <a:ln/>
        </p:spPr>
      </p:sp>
      <p:sp>
        <p:nvSpPr>
          <p:cNvPr id="31" name="Shape"/>
          <p:cNvSpPr/>
          <p:nvPr/>
        </p:nvSpPr>
        <p:spPr>
          <a:xfrm>
            <a:off x="6355080" y="3685032"/>
            <a:ext cx="118872" cy="118872"/>
          </a:xfrm>
          <a:prstGeom prst="ellipse">
            <a:avLst/>
          </a:prstGeom>
          <a:solidFill>
            <a:srgbClr val="8E52A3"/>
          </a:solidFill>
          <a:ln/>
        </p:spPr>
      </p:sp>
      <p:sp>
        <p:nvSpPr>
          <p:cNvPr id="32" name="Text"/>
          <p:cNvSpPr txBox="1"/>
          <p:nvPr/>
        </p:nvSpPr>
        <p:spPr>
          <a:xfrm>
            <a:off x="6583680" y="3538728"/>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Having two children</a:t>
            </a:r>
            <a:endParaRPr lang="en-US" sz="1100" dirty="0"/>
          </a:p>
        </p:txBody>
      </p:sp>
      <p:sp>
        <p:nvSpPr>
          <p:cNvPr id="33" name="Text"/>
          <p:cNvSpPr txBox="1"/>
          <p:nvPr/>
        </p:nvSpPr>
        <p:spPr>
          <a:xfrm>
            <a:off x="8412480" y="3538728"/>
            <a:ext cx="731520" cy="411480"/>
          </a:xfrm>
          <a:prstGeom prst="rect">
            <a:avLst/>
          </a:prstGeom>
          <a:noFill/>
          <a:ln/>
        </p:spPr>
        <p:txBody>
          <a:bodyPr wrap="square" lIns="0" tIns="0" rIns="0" bIns="0" rtlCol="0" anchor="ctr"/>
          <a:lstStyle/>
          <a:p>
            <a:pPr algn="ctr" indent="0" marL="0">
              <a:buNone/>
            </a:pPr>
            <a:r>
              <a:rPr lang="en-US" sz="1300" b="1" dirty="0">
                <a:solidFill>
                  <a:srgbClr val="74398A"/>
                </a:solidFill>
              </a:rPr>
              <a:t>5.96</a:t>
            </a:r>
            <a:endParaRPr lang="en-US" sz="1300" dirty="0"/>
          </a:p>
        </p:txBody>
      </p:sp>
      <p:sp>
        <p:nvSpPr>
          <p:cNvPr id="34" name="Text"/>
          <p:cNvSpPr txBox="1"/>
          <p:nvPr/>
        </p:nvSpPr>
        <p:spPr>
          <a:xfrm>
            <a:off x="9326880" y="3538728"/>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6 times the odds of reporting child marriage.</a:t>
            </a:r>
            <a:endParaRPr lang="en-US" sz="1000" dirty="0"/>
          </a:p>
        </p:txBody>
      </p:sp>
      <p:sp>
        <p:nvSpPr>
          <p:cNvPr id="35" name="Shape"/>
          <p:cNvSpPr/>
          <p:nvPr/>
        </p:nvSpPr>
        <p:spPr>
          <a:xfrm>
            <a:off x="6355080" y="4105656"/>
            <a:ext cx="118872" cy="118872"/>
          </a:xfrm>
          <a:prstGeom prst="ellipse">
            <a:avLst/>
          </a:prstGeom>
          <a:solidFill>
            <a:srgbClr val="1A9DA8"/>
          </a:solidFill>
          <a:ln/>
        </p:spPr>
      </p:sp>
      <p:sp>
        <p:nvSpPr>
          <p:cNvPr id="36" name="Text"/>
          <p:cNvSpPr txBox="1"/>
          <p:nvPr/>
        </p:nvSpPr>
        <p:spPr>
          <a:xfrm>
            <a:off x="6583680" y="3959352"/>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Child labour</a:t>
            </a:r>
            <a:endParaRPr lang="en-US" sz="1100" dirty="0"/>
          </a:p>
        </p:txBody>
      </p:sp>
      <p:sp>
        <p:nvSpPr>
          <p:cNvPr id="37" name="Text"/>
          <p:cNvSpPr txBox="1"/>
          <p:nvPr/>
        </p:nvSpPr>
        <p:spPr>
          <a:xfrm>
            <a:off x="8412480" y="3959352"/>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2.14</a:t>
            </a:r>
            <a:endParaRPr lang="en-US" sz="1300" dirty="0"/>
          </a:p>
        </p:txBody>
      </p:sp>
      <p:sp>
        <p:nvSpPr>
          <p:cNvPr id="38" name="Text"/>
          <p:cNvSpPr txBox="1"/>
          <p:nvPr/>
        </p:nvSpPr>
        <p:spPr>
          <a:xfrm>
            <a:off x="9326880" y="3959352"/>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2.1 times the odds of reporting child marriage.</a:t>
            </a:r>
            <a:endParaRPr lang="en-US" sz="1000" dirty="0"/>
          </a:p>
        </p:txBody>
      </p:sp>
      <p:sp>
        <p:nvSpPr>
          <p:cNvPr id="39" name="Shape"/>
          <p:cNvSpPr/>
          <p:nvPr/>
        </p:nvSpPr>
        <p:spPr>
          <a:xfrm>
            <a:off x="6245352" y="4379976"/>
            <a:ext cx="5233111" cy="411480"/>
          </a:xfrm>
          <a:prstGeom prst="roundRect">
            <a:avLst>
              <a:gd name="adj" fmla="val 11111"/>
            </a:avLst>
          </a:prstGeom>
          <a:solidFill>
            <a:srgbClr val="F7F9FC"/>
          </a:solidFill>
          <a:ln/>
        </p:spPr>
      </p:sp>
      <p:sp>
        <p:nvSpPr>
          <p:cNvPr id="40" name="Shape"/>
          <p:cNvSpPr/>
          <p:nvPr/>
        </p:nvSpPr>
        <p:spPr>
          <a:xfrm>
            <a:off x="6355080" y="4526280"/>
            <a:ext cx="118872" cy="118872"/>
          </a:xfrm>
          <a:prstGeom prst="ellipse">
            <a:avLst/>
          </a:prstGeom>
          <a:solidFill>
            <a:srgbClr val="1A9DA8"/>
          </a:solidFill>
          <a:ln/>
        </p:spPr>
      </p:sp>
      <p:sp>
        <p:nvSpPr>
          <p:cNvPr id="41" name="Text"/>
          <p:cNvSpPr txBox="1"/>
          <p:nvPr/>
        </p:nvSpPr>
        <p:spPr>
          <a:xfrm>
            <a:off x="6583680" y="4379976"/>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Poverty</a:t>
            </a:r>
            <a:endParaRPr lang="en-US" sz="1100" dirty="0"/>
          </a:p>
        </p:txBody>
      </p:sp>
      <p:sp>
        <p:nvSpPr>
          <p:cNvPr id="42" name="Text"/>
          <p:cNvSpPr txBox="1"/>
          <p:nvPr/>
        </p:nvSpPr>
        <p:spPr>
          <a:xfrm>
            <a:off x="8412480" y="4379976"/>
            <a:ext cx="731520" cy="411480"/>
          </a:xfrm>
          <a:prstGeom prst="rect">
            <a:avLst/>
          </a:prstGeom>
          <a:noFill/>
          <a:ln/>
        </p:spPr>
        <p:txBody>
          <a:bodyPr wrap="square" lIns="0" tIns="0" rIns="0" bIns="0" rtlCol="0" anchor="ctr"/>
          <a:lstStyle/>
          <a:p>
            <a:pPr algn="ctr" indent="0" marL="0">
              <a:buNone/>
            </a:pPr>
            <a:r>
              <a:rPr lang="en-US" sz="1300" b="1" dirty="0">
                <a:solidFill>
                  <a:srgbClr val="0D7480"/>
                </a:solidFill>
              </a:rPr>
              <a:t>1.94</a:t>
            </a:r>
            <a:endParaRPr lang="en-US" sz="1300" dirty="0"/>
          </a:p>
        </p:txBody>
      </p:sp>
      <p:sp>
        <p:nvSpPr>
          <p:cNvPr id="43" name="Text"/>
          <p:cNvSpPr txBox="1"/>
          <p:nvPr/>
        </p:nvSpPr>
        <p:spPr>
          <a:xfrm>
            <a:off x="9326880" y="4379976"/>
            <a:ext cx="2133295" cy="411480"/>
          </a:xfrm>
          <a:prstGeom prst="rect">
            <a:avLst/>
          </a:prstGeom>
          <a:noFill/>
          <a:ln/>
        </p:spPr>
        <p:txBody>
          <a:bodyPr wrap="square" lIns="0" tIns="0" rIns="0" bIns="0" rtlCol="0" anchor="ctr"/>
          <a:lstStyle/>
          <a:p>
            <a:pPr indent="0" marL="0">
              <a:buNone/>
            </a:pPr>
            <a:r>
              <a:rPr lang="en-US" sz="1000" dirty="0">
                <a:solidFill>
                  <a:srgbClr val="414A5A"/>
                </a:solidFill>
              </a:rPr>
              <a:t>About 1.9 times the odds of reporting child marriage.</a:t>
            </a:r>
            <a:endParaRPr lang="en-US" sz="1000" dirty="0"/>
          </a:p>
        </p:txBody>
      </p:sp>
      <p:sp>
        <p:nvSpPr>
          <p:cNvPr id="44" name="Shape"/>
          <p:cNvSpPr/>
          <p:nvPr/>
        </p:nvSpPr>
        <p:spPr>
          <a:xfrm>
            <a:off x="6355080" y="4946904"/>
            <a:ext cx="118872" cy="118872"/>
          </a:xfrm>
          <a:prstGeom prst="ellipse">
            <a:avLst/>
          </a:prstGeom>
          <a:solidFill>
            <a:srgbClr val="F08236"/>
          </a:solidFill>
          <a:ln/>
        </p:spPr>
      </p:sp>
      <p:sp>
        <p:nvSpPr>
          <p:cNvPr id="45" name="Text"/>
          <p:cNvSpPr txBox="1"/>
          <p:nvPr/>
        </p:nvSpPr>
        <p:spPr>
          <a:xfrm>
            <a:off x="6583680" y="4800600"/>
            <a:ext cx="1828800" cy="411480"/>
          </a:xfrm>
          <a:prstGeom prst="rect">
            <a:avLst/>
          </a:prstGeom>
          <a:noFill/>
          <a:ln/>
        </p:spPr>
        <p:txBody>
          <a:bodyPr wrap="square" lIns="0" tIns="0" rIns="0" bIns="0" rtlCol="0" anchor="ctr"/>
          <a:lstStyle/>
          <a:p>
            <a:pPr indent="0" marL="0">
              <a:buNone/>
            </a:pPr>
            <a:r>
              <a:rPr lang="en-US" sz="1100" b="1" dirty="0">
                <a:solidFill>
                  <a:srgbClr val="1E2F5C"/>
                </a:solidFill>
              </a:rPr>
              <a:t>Orphanhood (double orphan)</a:t>
            </a:r>
            <a:endParaRPr lang="en-US" sz="1100" dirty="0"/>
          </a:p>
        </p:txBody>
      </p:sp>
      <p:sp>
        <p:nvSpPr>
          <p:cNvPr id="46" name="Text"/>
          <p:cNvSpPr txBox="1"/>
          <p:nvPr/>
        </p:nvSpPr>
        <p:spPr>
          <a:xfrm>
            <a:off x="8412480" y="4800600"/>
            <a:ext cx="731520" cy="411480"/>
          </a:xfrm>
          <a:prstGeom prst="rect">
            <a:avLst/>
          </a:prstGeom>
          <a:noFill/>
          <a:ln/>
        </p:spPr>
        <p:txBody>
          <a:bodyPr wrap="square" lIns="0" tIns="0" rIns="0" bIns="0" rtlCol="0" anchor="ctr"/>
          <a:lstStyle/>
          <a:p>
            <a:pPr algn="ctr" indent="0" marL="0">
              <a:buNone/>
            </a:pPr>
            <a:r>
              <a:rPr lang="en-US" sz="1300" b="1" dirty="0">
                <a:solidFill>
                  <a:srgbClr val="B85A1A"/>
                </a:solidFill>
              </a:rPr>
              <a:t>1.47</a:t>
            </a:r>
            <a:endParaRPr lang="en-US" sz="1300" dirty="0"/>
          </a:p>
        </p:txBody>
      </p:sp>
      <p:sp>
        <p:nvSpPr>
          <p:cNvPr id="47" name="Text"/>
          <p:cNvSpPr txBox="1"/>
          <p:nvPr/>
        </p:nvSpPr>
        <p:spPr>
          <a:xfrm>
            <a:off x="9326880" y="4800600"/>
            <a:ext cx="2133295" cy="411480"/>
          </a:xfrm>
          <a:prstGeom prst="rect">
            <a:avLst/>
          </a:prstGeom>
          <a:noFill/>
          <a:ln/>
        </p:spPr>
        <p:txBody>
          <a:bodyPr wrap="square" lIns="0" tIns="0" rIns="0" bIns="0" rtlCol="0" anchor="ctr"/>
          <a:lstStyle/>
          <a:p>
            <a:pPr indent="0" marL="0">
              <a:buNone/>
            </a:pPr>
            <a:r>
              <a:rPr lang="en-US" sz="1000" dirty="0">
                <a:solidFill>
                  <a:srgbClr val="414A5A"/>
                </a:solidFill>
              </a:rPr>
              <a:t>Significantly associated with child marriage.</a:t>
            </a:r>
            <a:endParaRPr lang="en-US" sz="1000" dirty="0"/>
          </a:p>
        </p:txBody>
      </p:sp>
      <p:sp>
        <p:nvSpPr>
          <p:cNvPr id="48"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9" name="Key message disc"/>
          <p:cNvSpPr/>
          <p:nvPr/>
        </p:nvSpPr>
        <p:spPr>
          <a:xfrm>
            <a:off x="777240" y="5660136"/>
            <a:ext cx="420624" cy="420624"/>
          </a:xfrm>
          <a:prstGeom prst="ellipse">
            <a:avLst/>
          </a:prstGeom>
          <a:solidFill>
            <a:srgbClr val="24427E"/>
          </a:solidFill>
          <a:ln/>
        </p:spPr>
      </p:sp>
      <p:pic>
        <p:nvPicPr>
          <p:cNvPr id="50" name="Key message icon" descr="preencoded.png">    </p:cNvPr>
          <p:cNvPicPr>
            <a:picLocks noChangeAspect="1"/>
          </p:cNvPicPr>
          <p:nvPr/>
        </p:nvPicPr>
        <p:blipFill>
          <a:blip r:embed="rId5"/>
          <a:stretch>
            <a:fillRect/>
          </a:stretch>
        </p:blipFill>
        <p:spPr>
          <a:xfrm>
            <a:off x="877824" y="5760720"/>
            <a:ext cx="219456" cy="219456"/>
          </a:xfrm>
          <a:prstGeom prst="rect">
            <a:avLst/>
          </a:prstGeom>
        </p:spPr>
      </p:pic>
      <p:sp>
        <p:nvSpPr>
          <p:cNvPr id="51"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52"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Child marriage occurs within a </a:t>
            </a:r>
            <a:pPr indent="0" marL="0">
              <a:lnSpc>
                <a:spcPct val="105000"/>
              </a:lnSpc>
              <a:buNone/>
            </a:pPr>
            <a:r>
              <a:rPr lang="en-US" sz="1300" b="1" dirty="0">
                <a:solidFill>
                  <a:srgbClr val="2D539F"/>
                </a:solidFill>
              </a:rPr>
              <a:t>broader pattern of interconnected vulnerabilities</a:t>
            </a:r>
            <a:pPr indent="0" marL="0">
              <a:lnSpc>
                <a:spcPct val="105000"/>
              </a:lnSpc>
              <a:buNone/>
            </a:pPr>
            <a:r>
              <a:rPr lang="en-US" sz="1300" b="1" dirty="0">
                <a:solidFill>
                  <a:srgbClr val="1E2F5C"/>
                </a:solidFill>
              </a:rPr>
              <a:t> rather than being associated with a single factor.</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50"/>
                                        <p:tgtEl>
                                          <p:spTgt spid="14"/>
                                        </p:tgtEl>
                                      </p:cBhvr>
                                    </p:animEffect>
                                    <p:anim calcmode="lin" valueType="num">
                                      <p:cBhvr>
                                        <p:cTn id="27" dur="550" decel="100000" fill="hold"/>
                                        <p:tgtEl>
                                          <p:spTgt spid="14"/>
                                        </p:tgtEl>
                                        <p:attrNameLst>
                                          <p:attrName>ppt_x</p:attrName>
                                        </p:attrNameLst>
                                      </p:cBhvr>
                                      <p:tavLst>
                                        <p:tav tm="0">
                                          <p:val>
                                            <p:strVal val="#ppt_x"/>
                                          </p:val>
                                        </p:tav>
                                        <p:tav tm="100000">
                                          <p:val>
                                            <p:strVal val="#ppt_x"/>
                                          </p:val>
                                        </p:tav>
                                      </p:tavLst>
                                    </p:anim>
                                    <p:anim calcmode="lin" valueType="num">
                                      <p:cBhvr>
                                        <p:cTn id="28" dur="550" decel="100000" fill="hold"/>
                                        <p:tgtEl>
                                          <p:spTgt spid="14"/>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50"/>
                                        <p:tgtEl>
                                          <p:spTgt spid="15"/>
                                        </p:tgtEl>
                                      </p:cBhvr>
                                    </p:animEffect>
                                    <p:anim calcmode="lin" valueType="num">
                                      <p:cBhvr>
                                        <p:cTn id="32" dur="550" decel="100000" fill="hold"/>
                                        <p:tgtEl>
                                          <p:spTgt spid="15"/>
                                        </p:tgtEl>
                                        <p:attrNameLst>
                                          <p:attrName>ppt_x</p:attrName>
                                        </p:attrNameLst>
                                      </p:cBhvr>
                                      <p:tavLst>
                                        <p:tav tm="0">
                                          <p:val>
                                            <p:strVal val="#ppt_x"/>
                                          </p:val>
                                        </p:tav>
                                        <p:tav tm="100000">
                                          <p:val>
                                            <p:strVal val="#ppt_x"/>
                                          </p:val>
                                        </p:tav>
                                      </p:tavLst>
                                    </p:anim>
                                    <p:anim calcmode="lin" valueType="num">
                                      <p:cBhvr>
                                        <p:cTn id="33" dur="550" decel="100000" fill="hold"/>
                                        <p:tgtEl>
                                          <p:spTgt spid="15"/>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50"/>
                                        <p:tgtEl>
                                          <p:spTgt spid="16"/>
                                        </p:tgtEl>
                                      </p:cBhvr>
                                    </p:animEffect>
                                    <p:anim calcmode="lin" valueType="num">
                                      <p:cBhvr>
                                        <p:cTn id="37" dur="550" decel="100000" fill="hold"/>
                                        <p:tgtEl>
                                          <p:spTgt spid="16"/>
                                        </p:tgtEl>
                                        <p:attrNameLst>
                                          <p:attrName>ppt_x</p:attrName>
                                        </p:attrNameLst>
                                      </p:cBhvr>
                                      <p:tavLst>
                                        <p:tav tm="0">
                                          <p:val>
                                            <p:strVal val="#ppt_x"/>
                                          </p:val>
                                        </p:tav>
                                        <p:tav tm="100000">
                                          <p:val>
                                            <p:strVal val="#ppt_x"/>
                                          </p:val>
                                        </p:tav>
                                      </p:tavLst>
                                    </p:anim>
                                    <p:anim calcmode="lin" valueType="num">
                                      <p:cBhvr>
                                        <p:cTn id="38" dur="550" decel="100000" fill="hold"/>
                                        <p:tgtEl>
                                          <p:spTgt spid="16"/>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50"/>
                                        <p:tgtEl>
                                          <p:spTgt spid="17"/>
                                        </p:tgtEl>
                                      </p:cBhvr>
                                    </p:animEffect>
                                    <p:anim calcmode="lin" valueType="num">
                                      <p:cBhvr>
                                        <p:cTn id="42" dur="550" decel="100000" fill="hold"/>
                                        <p:tgtEl>
                                          <p:spTgt spid="17"/>
                                        </p:tgtEl>
                                        <p:attrNameLst>
                                          <p:attrName>ppt_x</p:attrName>
                                        </p:attrNameLst>
                                      </p:cBhvr>
                                      <p:tavLst>
                                        <p:tav tm="0">
                                          <p:val>
                                            <p:strVal val="#ppt_x"/>
                                          </p:val>
                                        </p:tav>
                                        <p:tav tm="100000">
                                          <p:val>
                                            <p:strVal val="#ppt_x"/>
                                          </p:val>
                                        </p:tav>
                                      </p:tavLst>
                                    </p:anim>
                                    <p:anim calcmode="lin" valueType="num">
                                      <p:cBhvr>
                                        <p:cTn id="43" dur="550" decel="1000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15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50"/>
                                        <p:tgtEl>
                                          <p:spTgt spid="18"/>
                                        </p:tgtEl>
                                      </p:cBhvr>
                                    </p:animEffect>
                                    <p:anim calcmode="lin" valueType="num">
                                      <p:cBhvr>
                                        <p:cTn id="47" dur="550" decel="100000" fill="hold"/>
                                        <p:tgtEl>
                                          <p:spTgt spid="18"/>
                                        </p:tgtEl>
                                        <p:attrNameLst>
                                          <p:attrName>ppt_x</p:attrName>
                                        </p:attrNameLst>
                                      </p:cBhvr>
                                      <p:tavLst>
                                        <p:tav tm="0">
                                          <p:val>
                                            <p:strVal val="#ppt_x"/>
                                          </p:val>
                                        </p:tav>
                                        <p:tav tm="100000">
                                          <p:val>
                                            <p:strVal val="#ppt_x"/>
                                          </p:val>
                                        </p:tav>
                                      </p:tavLst>
                                    </p:anim>
                                    <p:anim calcmode="lin" valueType="num">
                                      <p:cBhvr>
                                        <p:cTn id="48" dur="550" decel="100000" fill="hold"/>
                                        <p:tgtEl>
                                          <p:spTgt spid="18"/>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50"/>
                                        <p:tgtEl>
                                          <p:spTgt spid="19"/>
                                        </p:tgtEl>
                                      </p:cBhvr>
                                    </p:animEffect>
                                    <p:anim calcmode="lin" valueType="num">
                                      <p:cBhvr>
                                        <p:cTn id="52" dur="550" decel="100000" fill="hold"/>
                                        <p:tgtEl>
                                          <p:spTgt spid="19"/>
                                        </p:tgtEl>
                                        <p:attrNameLst>
                                          <p:attrName>ppt_x</p:attrName>
                                        </p:attrNameLst>
                                      </p:cBhvr>
                                      <p:tavLst>
                                        <p:tav tm="0">
                                          <p:val>
                                            <p:strVal val="#ppt_x"/>
                                          </p:val>
                                        </p:tav>
                                        <p:tav tm="100000">
                                          <p:val>
                                            <p:strVal val="#ppt_x"/>
                                          </p:val>
                                        </p:tav>
                                      </p:tavLst>
                                    </p:anim>
                                    <p:anim calcmode="lin" valueType="num">
                                      <p:cBhvr>
                                        <p:cTn id="53" dur="550" decel="100000" fill="hold"/>
                                        <p:tgtEl>
                                          <p:spTgt spid="19"/>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1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50"/>
                                        <p:tgtEl>
                                          <p:spTgt spid="20"/>
                                        </p:tgtEl>
                                      </p:cBhvr>
                                    </p:animEffect>
                                    <p:anim calcmode="lin" valueType="num">
                                      <p:cBhvr>
                                        <p:cTn id="57" dur="550" decel="100000" fill="hold"/>
                                        <p:tgtEl>
                                          <p:spTgt spid="20"/>
                                        </p:tgtEl>
                                        <p:attrNameLst>
                                          <p:attrName>ppt_x</p:attrName>
                                        </p:attrNameLst>
                                      </p:cBhvr>
                                      <p:tavLst>
                                        <p:tav tm="0">
                                          <p:val>
                                            <p:strVal val="#ppt_x"/>
                                          </p:val>
                                        </p:tav>
                                        <p:tav tm="100000">
                                          <p:val>
                                            <p:strVal val="#ppt_x"/>
                                          </p:val>
                                        </p:tav>
                                      </p:tavLst>
                                    </p:anim>
                                    <p:anim calcmode="lin" valueType="num">
                                      <p:cBhvr>
                                        <p:cTn id="58" dur="550" decel="100000" fill="hold"/>
                                        <p:tgtEl>
                                          <p:spTgt spid="20"/>
                                        </p:tgtEl>
                                        <p:attrNameLst>
                                          <p:attrName>ppt_y</p:attrName>
                                        </p:attrNameLst>
                                      </p:cBhvr>
                                      <p:tavLst>
                                        <p:tav tm="0">
                                          <p:val>
                                            <p:strVal val="#ppt_y+0.03"/>
                                          </p:val>
                                        </p:tav>
                                        <p:tav tm="100000">
                                          <p:val>
                                            <p:strVal val="#ppt_y"/>
                                          </p:val>
                                        </p:tav>
                                      </p:tavLst>
                                    </p:anim>
                                  </p:childTnLst>
                                </p:cTn>
                              </p:par>
                              <p:par>
                                <p:cTn id="62" presetID="22" presetClass="entr" presetSubtype="8" fill="hold" grpId="0" nodeType="withEffect">
                                  <p:stCondLst>
                                    <p:cond delay="250"/>
                                  </p:stCondLst>
                                  <p:childTnLst>
                                    <p:set>
                                      <p:cBhvr>
                                        <p:cTn id="60" dur="1" fill="hold">
                                          <p:stCondLst>
                                            <p:cond delay="0"/>
                                          </p:stCondLst>
                                        </p:cTn>
                                        <p:tgtEl>
                                          <p:spTgt spid="13"/>
                                        </p:tgtEl>
                                        <p:attrNameLst>
                                          <p:attrName>style.visibility</p:attrName>
                                        </p:attrNameLst>
                                      </p:cBhvr>
                                      <p:to>
                                        <p:strVal val="visible"/>
                                      </p:to>
                                    </p:set>
                                    <p:animEffect transition="in" filter="wipe(left)">
                                      <p:cBhvr>
                                        <p:cTn id="61" dur="600"/>
                                        <p:tgtEl>
                                          <p:spTgt spid="13"/>
                                        </p:tgtEl>
                                      </p:cBhvr>
                                    </p:animEffect>
                                  </p:childTnLst>
                                </p:cTn>
                              </p:par>
                              <p:par>
                                <p:cTn id="67" presetID="42" presetClass="entr" presetSubtype="0" fill="hold" grpId="0" nodeType="withEffect">
                                  <p:stCondLst>
                                    <p:cond delay="40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50"/>
                                        <p:tgtEl>
                                          <p:spTgt spid="21"/>
                                        </p:tgtEl>
                                      </p:cBhvr>
                                    </p:animEffect>
                                    <p:anim calcmode="lin" valueType="num">
                                      <p:cBhvr>
                                        <p:cTn id="65" dur="550" decel="100000" fill="hold"/>
                                        <p:tgtEl>
                                          <p:spTgt spid="21"/>
                                        </p:tgtEl>
                                        <p:attrNameLst>
                                          <p:attrName>ppt_x</p:attrName>
                                        </p:attrNameLst>
                                      </p:cBhvr>
                                      <p:tavLst>
                                        <p:tav tm="0">
                                          <p:val>
                                            <p:strVal val="#ppt_x"/>
                                          </p:val>
                                        </p:tav>
                                        <p:tav tm="100000">
                                          <p:val>
                                            <p:strVal val="#ppt_x"/>
                                          </p:val>
                                        </p:tav>
                                      </p:tavLst>
                                    </p:anim>
                                    <p:anim calcmode="lin" valueType="num">
                                      <p:cBhvr>
                                        <p:cTn id="66" dur="550" decel="1000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fill="hold" grpId="0" nodeType="withEffect">
                                  <p:stCondLst>
                                    <p:cond delay="40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50"/>
                                        <p:tgtEl>
                                          <p:spTgt spid="22"/>
                                        </p:tgtEl>
                                      </p:cBhvr>
                                    </p:animEffect>
                                    <p:anim calcmode="lin" valueType="num">
                                      <p:cBhvr>
                                        <p:cTn id="70" dur="550" decel="100000" fill="hold"/>
                                        <p:tgtEl>
                                          <p:spTgt spid="22"/>
                                        </p:tgtEl>
                                        <p:attrNameLst>
                                          <p:attrName>ppt_x</p:attrName>
                                        </p:attrNameLst>
                                      </p:cBhvr>
                                      <p:tavLst>
                                        <p:tav tm="0">
                                          <p:val>
                                            <p:strVal val="#ppt_x"/>
                                          </p:val>
                                        </p:tav>
                                        <p:tav tm="100000">
                                          <p:val>
                                            <p:strVal val="#ppt_x"/>
                                          </p:val>
                                        </p:tav>
                                      </p:tavLst>
                                    </p:anim>
                                    <p:anim calcmode="lin" valueType="num">
                                      <p:cBhvr>
                                        <p:cTn id="71" dur="550" decel="1000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fill="hold" grpId="0" nodeType="withEffect">
                                  <p:stCondLst>
                                    <p:cond delay="40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50"/>
                                        <p:tgtEl>
                                          <p:spTgt spid="23"/>
                                        </p:tgtEl>
                                      </p:cBhvr>
                                    </p:animEffect>
                                    <p:anim calcmode="lin" valueType="num">
                                      <p:cBhvr>
                                        <p:cTn id="75" dur="550" decel="100000" fill="hold"/>
                                        <p:tgtEl>
                                          <p:spTgt spid="23"/>
                                        </p:tgtEl>
                                        <p:attrNameLst>
                                          <p:attrName>ppt_x</p:attrName>
                                        </p:attrNameLst>
                                      </p:cBhvr>
                                      <p:tavLst>
                                        <p:tav tm="0">
                                          <p:val>
                                            <p:strVal val="#ppt_x"/>
                                          </p:val>
                                        </p:tav>
                                        <p:tav tm="100000">
                                          <p:val>
                                            <p:strVal val="#ppt_x"/>
                                          </p:val>
                                        </p:tav>
                                      </p:tavLst>
                                    </p:anim>
                                    <p:anim calcmode="lin" valueType="num">
                                      <p:cBhvr>
                                        <p:cTn id="76" dur="550" decel="100000" fill="hold"/>
                                        <p:tgtEl>
                                          <p:spTgt spid="23"/>
                                        </p:tgtEl>
                                        <p:attrNameLst>
                                          <p:attrName>ppt_y</p:attrName>
                                        </p:attrNameLst>
                                      </p:cBhvr>
                                      <p:tavLst>
                                        <p:tav tm="0">
                                          <p:val>
                                            <p:strVal val="#ppt_y+0.03"/>
                                          </p:val>
                                        </p:tav>
                                        <p:tav tm="100000">
                                          <p:val>
                                            <p:strVal val="#ppt_y"/>
                                          </p:val>
                                        </p:tav>
                                      </p:tavLst>
                                    </p:anim>
                                  </p:childTnLst>
                                </p:cTn>
                              </p:par>
                              <p:par>
                                <p:cTn id="82" presetID="42" presetClass="entr" presetSubtype="0" fill="hold" grpId="0" nodeType="withEffect">
                                  <p:stCondLst>
                                    <p:cond delay="40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50"/>
                                        <p:tgtEl>
                                          <p:spTgt spid="24"/>
                                        </p:tgtEl>
                                      </p:cBhvr>
                                    </p:animEffect>
                                    <p:anim calcmode="lin" valueType="num">
                                      <p:cBhvr>
                                        <p:cTn id="80" dur="550" decel="100000" fill="hold"/>
                                        <p:tgtEl>
                                          <p:spTgt spid="24"/>
                                        </p:tgtEl>
                                        <p:attrNameLst>
                                          <p:attrName>ppt_x</p:attrName>
                                        </p:attrNameLst>
                                      </p:cBhvr>
                                      <p:tavLst>
                                        <p:tav tm="0">
                                          <p:val>
                                            <p:strVal val="#ppt_x"/>
                                          </p:val>
                                        </p:tav>
                                        <p:tav tm="100000">
                                          <p:val>
                                            <p:strVal val="#ppt_x"/>
                                          </p:val>
                                        </p:tav>
                                      </p:tavLst>
                                    </p:anim>
                                    <p:anim calcmode="lin" valueType="num">
                                      <p:cBhvr>
                                        <p:cTn id="81" dur="550" decel="1000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fill="hold" grpId="0" nodeType="withEffect">
                                  <p:stCondLst>
                                    <p:cond delay="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50"/>
                                        <p:tgtEl>
                                          <p:spTgt spid="25"/>
                                        </p:tgtEl>
                                      </p:cBhvr>
                                    </p:animEffect>
                                    <p:anim calcmode="lin" valueType="num">
                                      <p:cBhvr>
                                        <p:cTn id="85" dur="550" decel="100000" fill="hold"/>
                                        <p:tgtEl>
                                          <p:spTgt spid="25"/>
                                        </p:tgtEl>
                                        <p:attrNameLst>
                                          <p:attrName>ppt_x</p:attrName>
                                        </p:attrNameLst>
                                      </p:cBhvr>
                                      <p:tavLst>
                                        <p:tav tm="0">
                                          <p:val>
                                            <p:strVal val="#ppt_x"/>
                                          </p:val>
                                        </p:tav>
                                        <p:tav tm="100000">
                                          <p:val>
                                            <p:strVal val="#ppt_x"/>
                                          </p:val>
                                        </p:tav>
                                      </p:tavLst>
                                    </p:anim>
                                    <p:anim calcmode="lin" valueType="num">
                                      <p:cBhvr>
                                        <p:cTn id="86" dur="550" decel="1000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fill="hold" grpId="0" nodeType="withEffect">
                                  <p:stCondLst>
                                    <p:cond delay="490"/>
                                  </p:stCondLst>
                                  <p:childTnLst>
                                    <p:set>
                                      <p:cBhvr>
                                        <p:cTn id="88" dur="1" fill="hold">
                                          <p:stCondLst>
                                            <p:cond delay="0"/>
                                          </p:stCondLst>
                                        </p:cTn>
                                        <p:tgtEl>
                                          <p:spTgt spid="26"/>
                                        </p:tgtEl>
                                        <p:attrNameLst>
                                          <p:attrName>style.visibility</p:attrName>
                                        </p:attrNameLst>
                                      </p:cBhvr>
                                      <p:to>
                                        <p:strVal val="visible"/>
                                      </p:to>
                                    </p:set>
                                    <p:animEffect transition="in" filter="fade">
                                      <p:cBhvr>
                                        <p:cTn id="89" dur="550"/>
                                        <p:tgtEl>
                                          <p:spTgt spid="26"/>
                                        </p:tgtEl>
                                      </p:cBhvr>
                                    </p:animEffect>
                                    <p:anim calcmode="lin" valueType="num">
                                      <p:cBhvr>
                                        <p:cTn id="90" dur="550" decel="100000" fill="hold"/>
                                        <p:tgtEl>
                                          <p:spTgt spid="26"/>
                                        </p:tgtEl>
                                        <p:attrNameLst>
                                          <p:attrName>ppt_x</p:attrName>
                                        </p:attrNameLst>
                                      </p:cBhvr>
                                      <p:tavLst>
                                        <p:tav tm="0">
                                          <p:val>
                                            <p:strVal val="#ppt_x"/>
                                          </p:val>
                                        </p:tav>
                                        <p:tav tm="100000">
                                          <p:val>
                                            <p:strVal val="#ppt_x"/>
                                          </p:val>
                                        </p:tav>
                                      </p:tavLst>
                                    </p:anim>
                                    <p:anim calcmode="lin" valueType="num">
                                      <p:cBhvr>
                                        <p:cTn id="91" dur="550" decel="100000" fill="hold"/>
                                        <p:tgtEl>
                                          <p:spTgt spid="26"/>
                                        </p:tgtEl>
                                        <p:attrNameLst>
                                          <p:attrName>ppt_y</p:attrName>
                                        </p:attrNameLst>
                                      </p:cBhvr>
                                      <p:tavLst>
                                        <p:tav tm="0">
                                          <p:val>
                                            <p:strVal val="#ppt_y+0.03"/>
                                          </p:val>
                                        </p:tav>
                                        <p:tav tm="100000">
                                          <p:val>
                                            <p:strVal val="#ppt_y"/>
                                          </p:val>
                                        </p:tav>
                                      </p:tavLst>
                                    </p:anim>
                                  </p:childTnLst>
                                </p:cTn>
                              </p:par>
                              <p:par>
                                <p:cTn id="97" presetID="42" presetClass="entr" presetSubtype="0" fill="hold" grpId="0" nodeType="withEffect">
                                  <p:stCondLst>
                                    <p:cond delay="4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550"/>
                                        <p:tgtEl>
                                          <p:spTgt spid="27"/>
                                        </p:tgtEl>
                                      </p:cBhvr>
                                    </p:animEffect>
                                    <p:anim calcmode="lin" valueType="num">
                                      <p:cBhvr>
                                        <p:cTn id="95" dur="550" decel="100000" fill="hold"/>
                                        <p:tgtEl>
                                          <p:spTgt spid="27"/>
                                        </p:tgtEl>
                                        <p:attrNameLst>
                                          <p:attrName>ppt_x</p:attrName>
                                        </p:attrNameLst>
                                      </p:cBhvr>
                                      <p:tavLst>
                                        <p:tav tm="0">
                                          <p:val>
                                            <p:strVal val="#ppt_x"/>
                                          </p:val>
                                        </p:tav>
                                        <p:tav tm="100000">
                                          <p:val>
                                            <p:strVal val="#ppt_x"/>
                                          </p:val>
                                        </p:tav>
                                      </p:tavLst>
                                    </p:anim>
                                    <p:anim calcmode="lin" valueType="num">
                                      <p:cBhvr>
                                        <p:cTn id="96" dur="550" decel="100000" fill="hold"/>
                                        <p:tgtEl>
                                          <p:spTgt spid="27"/>
                                        </p:tgtEl>
                                        <p:attrNameLst>
                                          <p:attrName>ppt_y</p:attrName>
                                        </p:attrNameLst>
                                      </p:cBhvr>
                                      <p:tavLst>
                                        <p:tav tm="0">
                                          <p:val>
                                            <p:strVal val="#ppt_y+0.03"/>
                                          </p:val>
                                        </p:tav>
                                        <p:tav tm="100000">
                                          <p:val>
                                            <p:strVal val="#ppt_y"/>
                                          </p:val>
                                        </p:tav>
                                      </p:tavLst>
                                    </p:anim>
                                  </p:childTnLst>
                                </p:cTn>
                              </p:par>
                              <p:par>
                                <p:cTn id="102" presetID="42" presetClass="entr" presetSubtype="0" fill="hold" grpId="0" nodeType="withEffect">
                                  <p:stCondLst>
                                    <p:cond delay="49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50"/>
                                        <p:tgtEl>
                                          <p:spTgt spid="28"/>
                                        </p:tgtEl>
                                      </p:cBhvr>
                                    </p:animEffect>
                                    <p:anim calcmode="lin" valueType="num">
                                      <p:cBhvr>
                                        <p:cTn id="100" dur="550" decel="100000" fill="hold"/>
                                        <p:tgtEl>
                                          <p:spTgt spid="28"/>
                                        </p:tgtEl>
                                        <p:attrNameLst>
                                          <p:attrName>ppt_x</p:attrName>
                                        </p:attrNameLst>
                                      </p:cBhvr>
                                      <p:tavLst>
                                        <p:tav tm="0">
                                          <p:val>
                                            <p:strVal val="#ppt_x"/>
                                          </p:val>
                                        </p:tav>
                                        <p:tav tm="100000">
                                          <p:val>
                                            <p:strVal val="#ppt_x"/>
                                          </p:val>
                                        </p:tav>
                                      </p:tavLst>
                                    </p:anim>
                                    <p:anim calcmode="lin" valueType="num">
                                      <p:cBhvr>
                                        <p:cTn id="101" dur="550" decel="100000" fill="hold"/>
                                        <p:tgtEl>
                                          <p:spTgt spid="28"/>
                                        </p:tgtEl>
                                        <p:attrNameLst>
                                          <p:attrName>ppt_y</p:attrName>
                                        </p:attrNameLst>
                                      </p:cBhvr>
                                      <p:tavLst>
                                        <p:tav tm="0">
                                          <p:val>
                                            <p:strVal val="#ppt_y+0.03"/>
                                          </p:val>
                                        </p:tav>
                                        <p:tav tm="100000">
                                          <p:val>
                                            <p:strVal val="#ppt_y"/>
                                          </p:val>
                                        </p:tav>
                                      </p:tavLst>
                                    </p:anim>
                                  </p:childTnLst>
                                </p:cTn>
                              </p:par>
                              <p:par>
                                <p:cTn id="107" presetID="42" presetClass="entr" presetSubtype="0" fill="hold" grpId="0" nodeType="withEffect">
                                  <p:stCondLst>
                                    <p:cond delay="490"/>
                                  </p:stCondLst>
                                  <p:childTnLst>
                                    <p:set>
                                      <p:cBhvr>
                                        <p:cTn id="103" dur="1" fill="hold">
                                          <p:stCondLst>
                                            <p:cond delay="0"/>
                                          </p:stCondLst>
                                        </p:cTn>
                                        <p:tgtEl>
                                          <p:spTgt spid="29"/>
                                        </p:tgtEl>
                                        <p:attrNameLst>
                                          <p:attrName>style.visibility</p:attrName>
                                        </p:attrNameLst>
                                      </p:cBhvr>
                                      <p:to>
                                        <p:strVal val="visible"/>
                                      </p:to>
                                    </p:set>
                                    <p:animEffect transition="in" filter="fade">
                                      <p:cBhvr>
                                        <p:cTn id="104" dur="550"/>
                                        <p:tgtEl>
                                          <p:spTgt spid="29"/>
                                        </p:tgtEl>
                                      </p:cBhvr>
                                    </p:animEffect>
                                    <p:anim calcmode="lin" valueType="num">
                                      <p:cBhvr>
                                        <p:cTn id="105" dur="550" decel="100000" fill="hold"/>
                                        <p:tgtEl>
                                          <p:spTgt spid="29"/>
                                        </p:tgtEl>
                                        <p:attrNameLst>
                                          <p:attrName>ppt_x</p:attrName>
                                        </p:attrNameLst>
                                      </p:cBhvr>
                                      <p:tavLst>
                                        <p:tav tm="0">
                                          <p:val>
                                            <p:strVal val="#ppt_x"/>
                                          </p:val>
                                        </p:tav>
                                        <p:tav tm="100000">
                                          <p:val>
                                            <p:strVal val="#ppt_x"/>
                                          </p:val>
                                        </p:tav>
                                      </p:tavLst>
                                    </p:anim>
                                    <p:anim calcmode="lin" valueType="num">
                                      <p:cBhvr>
                                        <p:cTn id="106" dur="550" decel="100000" fill="hold"/>
                                        <p:tgtEl>
                                          <p:spTgt spid="29"/>
                                        </p:tgtEl>
                                        <p:attrNameLst>
                                          <p:attrName>ppt_y</p:attrName>
                                        </p:attrNameLst>
                                      </p:cBhvr>
                                      <p:tavLst>
                                        <p:tav tm="0">
                                          <p:val>
                                            <p:strVal val="#ppt_y+0.03"/>
                                          </p:val>
                                        </p:tav>
                                        <p:tav tm="100000">
                                          <p:val>
                                            <p:strVal val="#ppt_y"/>
                                          </p:val>
                                        </p:tav>
                                      </p:tavLst>
                                    </p:anim>
                                  </p:childTnLst>
                                </p:cTn>
                              </p:par>
                              <p:par>
                                <p:cTn id="112" presetID="42" presetClass="entr" presetSubtype="0" fill="hold" grpId="0" nodeType="withEffect">
                                  <p:stCondLst>
                                    <p:cond delay="58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550"/>
                                        <p:tgtEl>
                                          <p:spTgt spid="30"/>
                                        </p:tgtEl>
                                      </p:cBhvr>
                                    </p:animEffect>
                                    <p:anim calcmode="lin" valueType="num">
                                      <p:cBhvr>
                                        <p:cTn id="110" dur="550" decel="100000" fill="hold"/>
                                        <p:tgtEl>
                                          <p:spTgt spid="30"/>
                                        </p:tgtEl>
                                        <p:attrNameLst>
                                          <p:attrName>ppt_x</p:attrName>
                                        </p:attrNameLst>
                                      </p:cBhvr>
                                      <p:tavLst>
                                        <p:tav tm="0">
                                          <p:val>
                                            <p:strVal val="#ppt_x"/>
                                          </p:val>
                                        </p:tav>
                                        <p:tav tm="100000">
                                          <p:val>
                                            <p:strVal val="#ppt_x"/>
                                          </p:val>
                                        </p:tav>
                                      </p:tavLst>
                                    </p:anim>
                                    <p:anim calcmode="lin" valueType="num">
                                      <p:cBhvr>
                                        <p:cTn id="111" dur="550" decel="100000" fill="hold"/>
                                        <p:tgtEl>
                                          <p:spTgt spid="30"/>
                                        </p:tgtEl>
                                        <p:attrNameLst>
                                          <p:attrName>ppt_y</p:attrName>
                                        </p:attrNameLst>
                                      </p:cBhvr>
                                      <p:tavLst>
                                        <p:tav tm="0">
                                          <p:val>
                                            <p:strVal val="#ppt_y+0.03"/>
                                          </p:val>
                                        </p:tav>
                                        <p:tav tm="100000">
                                          <p:val>
                                            <p:strVal val="#ppt_y"/>
                                          </p:val>
                                        </p:tav>
                                      </p:tavLst>
                                    </p:anim>
                                  </p:childTnLst>
                                </p:cTn>
                              </p:par>
                              <p:par>
                                <p:cTn id="117" presetID="42" presetClass="entr" presetSubtype="0" fill="hold" grpId="0" nodeType="withEffect">
                                  <p:stCondLst>
                                    <p:cond delay="58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550"/>
                                        <p:tgtEl>
                                          <p:spTgt spid="31"/>
                                        </p:tgtEl>
                                      </p:cBhvr>
                                    </p:animEffect>
                                    <p:anim calcmode="lin" valueType="num">
                                      <p:cBhvr>
                                        <p:cTn id="115" dur="550" decel="100000" fill="hold"/>
                                        <p:tgtEl>
                                          <p:spTgt spid="31"/>
                                        </p:tgtEl>
                                        <p:attrNameLst>
                                          <p:attrName>ppt_x</p:attrName>
                                        </p:attrNameLst>
                                      </p:cBhvr>
                                      <p:tavLst>
                                        <p:tav tm="0">
                                          <p:val>
                                            <p:strVal val="#ppt_x"/>
                                          </p:val>
                                        </p:tav>
                                        <p:tav tm="100000">
                                          <p:val>
                                            <p:strVal val="#ppt_x"/>
                                          </p:val>
                                        </p:tav>
                                      </p:tavLst>
                                    </p:anim>
                                    <p:anim calcmode="lin" valueType="num">
                                      <p:cBhvr>
                                        <p:cTn id="116" dur="550" decel="100000" fill="hold"/>
                                        <p:tgtEl>
                                          <p:spTgt spid="31"/>
                                        </p:tgtEl>
                                        <p:attrNameLst>
                                          <p:attrName>ppt_y</p:attrName>
                                        </p:attrNameLst>
                                      </p:cBhvr>
                                      <p:tavLst>
                                        <p:tav tm="0">
                                          <p:val>
                                            <p:strVal val="#ppt_y+0.03"/>
                                          </p:val>
                                        </p:tav>
                                        <p:tav tm="100000">
                                          <p:val>
                                            <p:strVal val="#ppt_y"/>
                                          </p:val>
                                        </p:tav>
                                      </p:tavLst>
                                    </p:anim>
                                  </p:childTnLst>
                                </p:cTn>
                              </p:par>
                              <p:par>
                                <p:cTn id="122" presetID="42" presetClass="entr" presetSubtype="0" fill="hold" grpId="0" nodeType="withEffect">
                                  <p:stCondLst>
                                    <p:cond delay="58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50"/>
                                        <p:tgtEl>
                                          <p:spTgt spid="32"/>
                                        </p:tgtEl>
                                      </p:cBhvr>
                                    </p:animEffect>
                                    <p:anim calcmode="lin" valueType="num">
                                      <p:cBhvr>
                                        <p:cTn id="120" dur="550" decel="100000" fill="hold"/>
                                        <p:tgtEl>
                                          <p:spTgt spid="32"/>
                                        </p:tgtEl>
                                        <p:attrNameLst>
                                          <p:attrName>ppt_x</p:attrName>
                                        </p:attrNameLst>
                                      </p:cBhvr>
                                      <p:tavLst>
                                        <p:tav tm="0">
                                          <p:val>
                                            <p:strVal val="#ppt_x"/>
                                          </p:val>
                                        </p:tav>
                                        <p:tav tm="100000">
                                          <p:val>
                                            <p:strVal val="#ppt_x"/>
                                          </p:val>
                                        </p:tav>
                                      </p:tavLst>
                                    </p:anim>
                                    <p:anim calcmode="lin" valueType="num">
                                      <p:cBhvr>
                                        <p:cTn id="121" dur="550" decel="100000" fill="hold"/>
                                        <p:tgtEl>
                                          <p:spTgt spid="32"/>
                                        </p:tgtEl>
                                        <p:attrNameLst>
                                          <p:attrName>ppt_y</p:attrName>
                                        </p:attrNameLst>
                                      </p:cBhvr>
                                      <p:tavLst>
                                        <p:tav tm="0">
                                          <p:val>
                                            <p:strVal val="#ppt_y+0.03"/>
                                          </p:val>
                                        </p:tav>
                                        <p:tav tm="100000">
                                          <p:val>
                                            <p:strVal val="#ppt_y"/>
                                          </p:val>
                                        </p:tav>
                                      </p:tavLst>
                                    </p:anim>
                                  </p:childTnLst>
                                </p:cTn>
                              </p:par>
                              <p:par>
                                <p:cTn id="127" presetID="42" presetClass="entr" presetSubtype="0" fill="hold" grpId="0" nodeType="withEffect">
                                  <p:stCondLst>
                                    <p:cond delay="58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58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67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2" presetID="42" presetClass="entr" presetSubtype="0" fill="hold" grpId="0" nodeType="withEffect">
                                  <p:stCondLst>
                                    <p:cond delay="670"/>
                                  </p:stCondLst>
                                  <p:childTnLst>
                                    <p:set>
                                      <p:cBhvr>
                                        <p:cTn id="138" dur="1" fill="hold">
                                          <p:stCondLst>
                                            <p:cond delay="0"/>
                                          </p:stCondLst>
                                        </p:cTn>
                                        <p:tgtEl>
                                          <p:spTgt spid="36"/>
                                        </p:tgtEl>
                                        <p:attrNameLst>
                                          <p:attrName>style.visibility</p:attrName>
                                        </p:attrNameLst>
                                      </p:cBhvr>
                                      <p:to>
                                        <p:strVal val="visible"/>
                                      </p:to>
                                    </p:set>
                                    <p:animEffect transition="in" filter="fade">
                                      <p:cBhvr>
                                        <p:cTn id="139" dur="550"/>
                                        <p:tgtEl>
                                          <p:spTgt spid="36"/>
                                        </p:tgtEl>
                                      </p:cBhvr>
                                    </p:animEffect>
                                    <p:anim calcmode="lin" valueType="num">
                                      <p:cBhvr>
                                        <p:cTn id="140" dur="550" decel="100000" fill="hold"/>
                                        <p:tgtEl>
                                          <p:spTgt spid="36"/>
                                        </p:tgtEl>
                                        <p:attrNameLst>
                                          <p:attrName>ppt_x</p:attrName>
                                        </p:attrNameLst>
                                      </p:cBhvr>
                                      <p:tavLst>
                                        <p:tav tm="0">
                                          <p:val>
                                            <p:strVal val="#ppt_x"/>
                                          </p:val>
                                        </p:tav>
                                        <p:tav tm="100000">
                                          <p:val>
                                            <p:strVal val="#ppt_x"/>
                                          </p:val>
                                        </p:tav>
                                      </p:tavLst>
                                    </p:anim>
                                    <p:anim calcmode="lin" valueType="num">
                                      <p:cBhvr>
                                        <p:cTn id="141" dur="550" decel="100000" fill="hold"/>
                                        <p:tgtEl>
                                          <p:spTgt spid="36"/>
                                        </p:tgtEl>
                                        <p:attrNameLst>
                                          <p:attrName>ppt_y</p:attrName>
                                        </p:attrNameLst>
                                      </p:cBhvr>
                                      <p:tavLst>
                                        <p:tav tm="0">
                                          <p:val>
                                            <p:strVal val="#ppt_y+0.03"/>
                                          </p:val>
                                        </p:tav>
                                        <p:tav tm="100000">
                                          <p:val>
                                            <p:strVal val="#ppt_y"/>
                                          </p:val>
                                        </p:tav>
                                      </p:tavLst>
                                    </p:anim>
                                  </p:childTnLst>
                                </p:cTn>
                              </p:par>
                              <p:par>
                                <p:cTn id="147" presetID="42" presetClass="entr" presetSubtype="0" fill="hold" grpId="0" nodeType="withEffect">
                                  <p:stCondLst>
                                    <p:cond delay="67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p:cTn id="145" dur="550" decel="100000" fill="hold"/>
                                        <p:tgtEl>
                                          <p:spTgt spid="37"/>
                                        </p:tgtEl>
                                        <p:attrNameLst>
                                          <p:attrName>ppt_x</p:attrName>
                                        </p:attrNameLst>
                                      </p:cBhvr>
                                      <p:tavLst>
                                        <p:tav tm="0">
                                          <p:val>
                                            <p:strVal val="#ppt_x"/>
                                          </p:val>
                                        </p:tav>
                                        <p:tav tm="100000">
                                          <p:val>
                                            <p:strVal val="#ppt_x"/>
                                          </p:val>
                                        </p:tav>
                                      </p:tavLst>
                                    </p:anim>
                                    <p:anim calcmode="lin" valueType="num">
                                      <p:cBhvr>
                                        <p:cTn id="146" dur="550" decel="100000" fill="hold"/>
                                        <p:tgtEl>
                                          <p:spTgt spid="37"/>
                                        </p:tgtEl>
                                        <p:attrNameLst>
                                          <p:attrName>ppt_y</p:attrName>
                                        </p:attrNameLst>
                                      </p:cBhvr>
                                      <p:tavLst>
                                        <p:tav tm="0">
                                          <p:val>
                                            <p:strVal val="#ppt_y+0.03"/>
                                          </p:val>
                                        </p:tav>
                                        <p:tav tm="100000">
                                          <p:val>
                                            <p:strVal val="#ppt_y"/>
                                          </p:val>
                                        </p:tav>
                                      </p:tavLst>
                                    </p:anim>
                                  </p:childTnLst>
                                </p:cTn>
                              </p:par>
                              <p:par>
                                <p:cTn id="152" presetID="42" presetClass="entr" presetSubtype="0" fill="hold" grpId="0" nodeType="withEffect">
                                  <p:stCondLst>
                                    <p:cond delay="67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550"/>
                                        <p:tgtEl>
                                          <p:spTgt spid="38"/>
                                        </p:tgtEl>
                                      </p:cBhvr>
                                    </p:animEffect>
                                    <p:anim calcmode="lin" valueType="num">
                                      <p:cBhvr>
                                        <p:cTn id="150" dur="550" decel="100000" fill="hold"/>
                                        <p:tgtEl>
                                          <p:spTgt spid="38"/>
                                        </p:tgtEl>
                                        <p:attrNameLst>
                                          <p:attrName>ppt_x</p:attrName>
                                        </p:attrNameLst>
                                      </p:cBhvr>
                                      <p:tavLst>
                                        <p:tav tm="0">
                                          <p:val>
                                            <p:strVal val="#ppt_x"/>
                                          </p:val>
                                        </p:tav>
                                        <p:tav tm="100000">
                                          <p:val>
                                            <p:strVal val="#ppt_x"/>
                                          </p:val>
                                        </p:tav>
                                      </p:tavLst>
                                    </p:anim>
                                    <p:anim calcmode="lin" valueType="num">
                                      <p:cBhvr>
                                        <p:cTn id="151" dur="550" decel="100000" fill="hold"/>
                                        <p:tgtEl>
                                          <p:spTgt spid="38"/>
                                        </p:tgtEl>
                                        <p:attrNameLst>
                                          <p:attrName>ppt_y</p:attrName>
                                        </p:attrNameLst>
                                      </p:cBhvr>
                                      <p:tavLst>
                                        <p:tav tm="0">
                                          <p:val>
                                            <p:strVal val="#ppt_y+0.03"/>
                                          </p:val>
                                        </p:tav>
                                        <p:tav tm="100000">
                                          <p:val>
                                            <p:strVal val="#ppt_y"/>
                                          </p:val>
                                        </p:tav>
                                      </p:tavLst>
                                    </p:anim>
                                  </p:childTnLst>
                                </p:cTn>
                              </p:par>
                              <p:par>
                                <p:cTn id="157" presetID="42" presetClass="entr" presetSubtype="0" fill="hold" grpId="0" nodeType="withEffect">
                                  <p:stCondLst>
                                    <p:cond delay="76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p:cTn id="155" dur="550" decel="100000" fill="hold"/>
                                        <p:tgtEl>
                                          <p:spTgt spid="39"/>
                                        </p:tgtEl>
                                        <p:attrNameLst>
                                          <p:attrName>ppt_x</p:attrName>
                                        </p:attrNameLst>
                                      </p:cBhvr>
                                      <p:tavLst>
                                        <p:tav tm="0">
                                          <p:val>
                                            <p:strVal val="#ppt_x"/>
                                          </p:val>
                                        </p:tav>
                                        <p:tav tm="100000">
                                          <p:val>
                                            <p:strVal val="#ppt_x"/>
                                          </p:val>
                                        </p:tav>
                                      </p:tavLst>
                                    </p:anim>
                                    <p:anim calcmode="lin" valueType="num">
                                      <p:cBhvr>
                                        <p:cTn id="156" dur="550" decel="100000" fill="hold"/>
                                        <p:tgtEl>
                                          <p:spTgt spid="39"/>
                                        </p:tgtEl>
                                        <p:attrNameLst>
                                          <p:attrName>ppt_y</p:attrName>
                                        </p:attrNameLst>
                                      </p:cBhvr>
                                      <p:tavLst>
                                        <p:tav tm="0">
                                          <p:val>
                                            <p:strVal val="#ppt_y+0.03"/>
                                          </p:val>
                                        </p:tav>
                                        <p:tav tm="100000">
                                          <p:val>
                                            <p:strVal val="#ppt_y"/>
                                          </p:val>
                                        </p:tav>
                                      </p:tavLst>
                                    </p:anim>
                                  </p:childTnLst>
                                </p:cTn>
                              </p:par>
                              <p:par>
                                <p:cTn id="162" presetID="42" presetClass="entr" presetSubtype="0" fill="hold" grpId="0" nodeType="withEffect">
                                  <p:stCondLst>
                                    <p:cond delay="76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550"/>
                                        <p:tgtEl>
                                          <p:spTgt spid="40"/>
                                        </p:tgtEl>
                                      </p:cBhvr>
                                    </p:animEffect>
                                    <p:anim calcmode="lin" valueType="num">
                                      <p:cBhvr>
                                        <p:cTn id="160" dur="550" decel="100000" fill="hold"/>
                                        <p:tgtEl>
                                          <p:spTgt spid="40"/>
                                        </p:tgtEl>
                                        <p:attrNameLst>
                                          <p:attrName>ppt_x</p:attrName>
                                        </p:attrNameLst>
                                      </p:cBhvr>
                                      <p:tavLst>
                                        <p:tav tm="0">
                                          <p:val>
                                            <p:strVal val="#ppt_x"/>
                                          </p:val>
                                        </p:tav>
                                        <p:tav tm="100000">
                                          <p:val>
                                            <p:strVal val="#ppt_x"/>
                                          </p:val>
                                        </p:tav>
                                      </p:tavLst>
                                    </p:anim>
                                    <p:anim calcmode="lin" valueType="num">
                                      <p:cBhvr>
                                        <p:cTn id="161" dur="550" decel="100000" fill="hold"/>
                                        <p:tgtEl>
                                          <p:spTgt spid="40"/>
                                        </p:tgtEl>
                                        <p:attrNameLst>
                                          <p:attrName>ppt_y</p:attrName>
                                        </p:attrNameLst>
                                      </p:cBhvr>
                                      <p:tavLst>
                                        <p:tav tm="0">
                                          <p:val>
                                            <p:strVal val="#ppt_y+0.03"/>
                                          </p:val>
                                        </p:tav>
                                        <p:tav tm="100000">
                                          <p:val>
                                            <p:strVal val="#ppt_y"/>
                                          </p:val>
                                        </p:tav>
                                      </p:tavLst>
                                    </p:anim>
                                  </p:childTnLst>
                                </p:cTn>
                              </p:par>
                              <p:par>
                                <p:cTn id="167" presetID="42" presetClass="entr" presetSubtype="0" fill="hold" grpId="0" nodeType="withEffect">
                                  <p:stCondLst>
                                    <p:cond delay="76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anim calcmode="lin" valueType="num">
                                      <p:cBhvr>
                                        <p:cTn id="165" dur="550" decel="100000" fill="hold"/>
                                        <p:tgtEl>
                                          <p:spTgt spid="41"/>
                                        </p:tgtEl>
                                        <p:attrNameLst>
                                          <p:attrName>ppt_x</p:attrName>
                                        </p:attrNameLst>
                                      </p:cBhvr>
                                      <p:tavLst>
                                        <p:tav tm="0">
                                          <p:val>
                                            <p:strVal val="#ppt_x"/>
                                          </p:val>
                                        </p:tav>
                                        <p:tav tm="100000">
                                          <p:val>
                                            <p:strVal val="#ppt_x"/>
                                          </p:val>
                                        </p:tav>
                                      </p:tavLst>
                                    </p:anim>
                                    <p:anim calcmode="lin" valueType="num">
                                      <p:cBhvr>
                                        <p:cTn id="166" dur="550" decel="100000" fill="hold"/>
                                        <p:tgtEl>
                                          <p:spTgt spid="41"/>
                                        </p:tgtEl>
                                        <p:attrNameLst>
                                          <p:attrName>ppt_y</p:attrName>
                                        </p:attrNameLst>
                                      </p:cBhvr>
                                      <p:tavLst>
                                        <p:tav tm="0">
                                          <p:val>
                                            <p:strVal val="#ppt_y+0.03"/>
                                          </p:val>
                                        </p:tav>
                                        <p:tav tm="100000">
                                          <p:val>
                                            <p:strVal val="#ppt_y"/>
                                          </p:val>
                                        </p:tav>
                                      </p:tavLst>
                                    </p:anim>
                                  </p:childTnLst>
                                </p:cTn>
                              </p:par>
                              <p:par>
                                <p:cTn id="172" presetID="42" presetClass="entr" presetSubtype="0" fill="hold" grpId="0" nodeType="withEffect">
                                  <p:stCondLst>
                                    <p:cond delay="760"/>
                                  </p:stCondLst>
                                  <p:childTnLst>
                                    <p:set>
                                      <p:cBhvr>
                                        <p:cTn id="168" dur="1" fill="hold">
                                          <p:stCondLst>
                                            <p:cond delay="0"/>
                                          </p:stCondLst>
                                        </p:cTn>
                                        <p:tgtEl>
                                          <p:spTgt spid="42"/>
                                        </p:tgtEl>
                                        <p:attrNameLst>
                                          <p:attrName>style.visibility</p:attrName>
                                        </p:attrNameLst>
                                      </p:cBhvr>
                                      <p:to>
                                        <p:strVal val="visible"/>
                                      </p:to>
                                    </p:set>
                                    <p:animEffect transition="in" filter="fade">
                                      <p:cBhvr>
                                        <p:cTn id="169" dur="550"/>
                                        <p:tgtEl>
                                          <p:spTgt spid="42"/>
                                        </p:tgtEl>
                                      </p:cBhvr>
                                    </p:animEffect>
                                    <p:anim calcmode="lin" valueType="num">
                                      <p:cBhvr>
                                        <p:cTn id="170" dur="550" decel="100000" fill="hold"/>
                                        <p:tgtEl>
                                          <p:spTgt spid="42"/>
                                        </p:tgtEl>
                                        <p:attrNameLst>
                                          <p:attrName>ppt_x</p:attrName>
                                        </p:attrNameLst>
                                      </p:cBhvr>
                                      <p:tavLst>
                                        <p:tav tm="0">
                                          <p:val>
                                            <p:strVal val="#ppt_x"/>
                                          </p:val>
                                        </p:tav>
                                        <p:tav tm="100000">
                                          <p:val>
                                            <p:strVal val="#ppt_x"/>
                                          </p:val>
                                        </p:tav>
                                      </p:tavLst>
                                    </p:anim>
                                    <p:anim calcmode="lin" valueType="num">
                                      <p:cBhvr>
                                        <p:cTn id="171" dur="550" decel="100000" fill="hold"/>
                                        <p:tgtEl>
                                          <p:spTgt spid="42"/>
                                        </p:tgtEl>
                                        <p:attrNameLst>
                                          <p:attrName>ppt_y</p:attrName>
                                        </p:attrNameLst>
                                      </p:cBhvr>
                                      <p:tavLst>
                                        <p:tav tm="0">
                                          <p:val>
                                            <p:strVal val="#ppt_y+0.03"/>
                                          </p:val>
                                        </p:tav>
                                        <p:tav tm="100000">
                                          <p:val>
                                            <p:strVal val="#ppt_y"/>
                                          </p:val>
                                        </p:tav>
                                      </p:tavLst>
                                    </p:anim>
                                  </p:childTnLst>
                                </p:cTn>
                              </p:par>
                              <p:par>
                                <p:cTn id="177" presetID="42" presetClass="entr" presetSubtype="0" fill="hold" grpId="0" nodeType="withEffect">
                                  <p:stCondLst>
                                    <p:cond delay="760"/>
                                  </p:stCondLst>
                                  <p:childTnLst>
                                    <p:set>
                                      <p:cBhvr>
                                        <p:cTn id="173" dur="1" fill="hold">
                                          <p:stCondLst>
                                            <p:cond delay="0"/>
                                          </p:stCondLst>
                                        </p:cTn>
                                        <p:tgtEl>
                                          <p:spTgt spid="43"/>
                                        </p:tgtEl>
                                        <p:attrNameLst>
                                          <p:attrName>style.visibility</p:attrName>
                                        </p:attrNameLst>
                                      </p:cBhvr>
                                      <p:to>
                                        <p:strVal val="visible"/>
                                      </p:to>
                                    </p:set>
                                    <p:animEffect transition="in" filter="fade">
                                      <p:cBhvr>
                                        <p:cTn id="174" dur="550"/>
                                        <p:tgtEl>
                                          <p:spTgt spid="43"/>
                                        </p:tgtEl>
                                      </p:cBhvr>
                                    </p:animEffect>
                                    <p:anim calcmode="lin" valueType="num">
                                      <p:cBhvr>
                                        <p:cTn id="175" dur="550" decel="100000" fill="hold"/>
                                        <p:tgtEl>
                                          <p:spTgt spid="43"/>
                                        </p:tgtEl>
                                        <p:attrNameLst>
                                          <p:attrName>ppt_x</p:attrName>
                                        </p:attrNameLst>
                                      </p:cBhvr>
                                      <p:tavLst>
                                        <p:tav tm="0">
                                          <p:val>
                                            <p:strVal val="#ppt_x"/>
                                          </p:val>
                                        </p:tav>
                                        <p:tav tm="100000">
                                          <p:val>
                                            <p:strVal val="#ppt_x"/>
                                          </p:val>
                                        </p:tav>
                                      </p:tavLst>
                                    </p:anim>
                                    <p:anim calcmode="lin" valueType="num">
                                      <p:cBhvr>
                                        <p:cTn id="176" dur="550" decel="100000" fill="hold"/>
                                        <p:tgtEl>
                                          <p:spTgt spid="43"/>
                                        </p:tgtEl>
                                        <p:attrNameLst>
                                          <p:attrName>ppt_y</p:attrName>
                                        </p:attrNameLst>
                                      </p:cBhvr>
                                      <p:tavLst>
                                        <p:tav tm="0">
                                          <p:val>
                                            <p:strVal val="#ppt_y+0.03"/>
                                          </p:val>
                                        </p:tav>
                                        <p:tav tm="100000">
                                          <p:val>
                                            <p:strVal val="#ppt_y"/>
                                          </p:val>
                                        </p:tav>
                                      </p:tavLst>
                                    </p:anim>
                                  </p:childTnLst>
                                </p:cTn>
                              </p:par>
                              <p:par>
                                <p:cTn id="182" presetID="42" presetClass="entr" presetSubtype="0" fill="hold" grpId="0" nodeType="withEffect">
                                  <p:stCondLst>
                                    <p:cond delay="850"/>
                                  </p:stCondLst>
                                  <p:childTnLst>
                                    <p:set>
                                      <p:cBhvr>
                                        <p:cTn id="178" dur="1" fill="hold">
                                          <p:stCondLst>
                                            <p:cond delay="0"/>
                                          </p:stCondLst>
                                        </p:cTn>
                                        <p:tgtEl>
                                          <p:spTgt spid="44"/>
                                        </p:tgtEl>
                                        <p:attrNameLst>
                                          <p:attrName>style.visibility</p:attrName>
                                        </p:attrNameLst>
                                      </p:cBhvr>
                                      <p:to>
                                        <p:strVal val="visible"/>
                                      </p:to>
                                    </p:set>
                                    <p:animEffect transition="in" filter="fade">
                                      <p:cBhvr>
                                        <p:cTn id="179" dur="550"/>
                                        <p:tgtEl>
                                          <p:spTgt spid="44"/>
                                        </p:tgtEl>
                                      </p:cBhvr>
                                    </p:animEffect>
                                    <p:anim calcmode="lin" valueType="num">
                                      <p:cBhvr>
                                        <p:cTn id="180" dur="550" decel="100000" fill="hold"/>
                                        <p:tgtEl>
                                          <p:spTgt spid="44"/>
                                        </p:tgtEl>
                                        <p:attrNameLst>
                                          <p:attrName>ppt_x</p:attrName>
                                        </p:attrNameLst>
                                      </p:cBhvr>
                                      <p:tavLst>
                                        <p:tav tm="0">
                                          <p:val>
                                            <p:strVal val="#ppt_x"/>
                                          </p:val>
                                        </p:tav>
                                        <p:tav tm="100000">
                                          <p:val>
                                            <p:strVal val="#ppt_x"/>
                                          </p:val>
                                        </p:tav>
                                      </p:tavLst>
                                    </p:anim>
                                    <p:anim calcmode="lin" valueType="num">
                                      <p:cBhvr>
                                        <p:cTn id="181" dur="550" decel="100000" fill="hold"/>
                                        <p:tgtEl>
                                          <p:spTgt spid="44"/>
                                        </p:tgtEl>
                                        <p:attrNameLst>
                                          <p:attrName>ppt_y</p:attrName>
                                        </p:attrNameLst>
                                      </p:cBhvr>
                                      <p:tavLst>
                                        <p:tav tm="0">
                                          <p:val>
                                            <p:strVal val="#ppt_y+0.03"/>
                                          </p:val>
                                        </p:tav>
                                        <p:tav tm="100000">
                                          <p:val>
                                            <p:strVal val="#ppt_y"/>
                                          </p:val>
                                        </p:tav>
                                      </p:tavLst>
                                    </p:anim>
                                  </p:childTnLst>
                                </p:cTn>
                              </p:par>
                              <p:par>
                                <p:cTn id="187" presetID="42" presetClass="entr" presetSubtype="0" fill="hold" grpId="0" nodeType="withEffect">
                                  <p:stCondLst>
                                    <p:cond delay="850"/>
                                  </p:stCondLst>
                                  <p:childTnLst>
                                    <p:set>
                                      <p:cBhvr>
                                        <p:cTn id="183" dur="1" fill="hold">
                                          <p:stCondLst>
                                            <p:cond delay="0"/>
                                          </p:stCondLst>
                                        </p:cTn>
                                        <p:tgtEl>
                                          <p:spTgt spid="45"/>
                                        </p:tgtEl>
                                        <p:attrNameLst>
                                          <p:attrName>style.visibility</p:attrName>
                                        </p:attrNameLst>
                                      </p:cBhvr>
                                      <p:to>
                                        <p:strVal val="visible"/>
                                      </p:to>
                                    </p:set>
                                    <p:animEffect transition="in" filter="fade">
                                      <p:cBhvr>
                                        <p:cTn id="184" dur="550"/>
                                        <p:tgtEl>
                                          <p:spTgt spid="45"/>
                                        </p:tgtEl>
                                      </p:cBhvr>
                                    </p:animEffect>
                                    <p:anim calcmode="lin" valueType="num">
                                      <p:cBhvr>
                                        <p:cTn id="185" dur="550" decel="100000" fill="hold"/>
                                        <p:tgtEl>
                                          <p:spTgt spid="45"/>
                                        </p:tgtEl>
                                        <p:attrNameLst>
                                          <p:attrName>ppt_x</p:attrName>
                                        </p:attrNameLst>
                                      </p:cBhvr>
                                      <p:tavLst>
                                        <p:tav tm="0">
                                          <p:val>
                                            <p:strVal val="#ppt_x"/>
                                          </p:val>
                                        </p:tav>
                                        <p:tav tm="100000">
                                          <p:val>
                                            <p:strVal val="#ppt_x"/>
                                          </p:val>
                                        </p:tav>
                                      </p:tavLst>
                                    </p:anim>
                                    <p:anim calcmode="lin" valueType="num">
                                      <p:cBhvr>
                                        <p:cTn id="186" dur="550" decel="100000" fill="hold"/>
                                        <p:tgtEl>
                                          <p:spTgt spid="45"/>
                                        </p:tgtEl>
                                        <p:attrNameLst>
                                          <p:attrName>ppt_y</p:attrName>
                                        </p:attrNameLst>
                                      </p:cBhvr>
                                      <p:tavLst>
                                        <p:tav tm="0">
                                          <p:val>
                                            <p:strVal val="#ppt_y+0.03"/>
                                          </p:val>
                                        </p:tav>
                                        <p:tav tm="100000">
                                          <p:val>
                                            <p:strVal val="#ppt_y"/>
                                          </p:val>
                                        </p:tav>
                                      </p:tavLst>
                                    </p:anim>
                                  </p:childTnLst>
                                </p:cTn>
                              </p:par>
                              <p:par>
                                <p:cTn id="192" presetID="42" presetClass="entr" presetSubtype="0" fill="hold" grpId="0" nodeType="withEffect">
                                  <p:stCondLst>
                                    <p:cond delay="850"/>
                                  </p:stCondLst>
                                  <p:childTnLst>
                                    <p:set>
                                      <p:cBhvr>
                                        <p:cTn id="188" dur="1" fill="hold">
                                          <p:stCondLst>
                                            <p:cond delay="0"/>
                                          </p:stCondLst>
                                        </p:cTn>
                                        <p:tgtEl>
                                          <p:spTgt spid="46"/>
                                        </p:tgtEl>
                                        <p:attrNameLst>
                                          <p:attrName>style.visibility</p:attrName>
                                        </p:attrNameLst>
                                      </p:cBhvr>
                                      <p:to>
                                        <p:strVal val="visible"/>
                                      </p:to>
                                    </p:set>
                                    <p:animEffect transition="in" filter="fade">
                                      <p:cBhvr>
                                        <p:cTn id="189" dur="550"/>
                                        <p:tgtEl>
                                          <p:spTgt spid="46"/>
                                        </p:tgtEl>
                                      </p:cBhvr>
                                    </p:animEffect>
                                    <p:anim calcmode="lin" valueType="num">
                                      <p:cBhvr>
                                        <p:cTn id="190" dur="550" decel="100000" fill="hold"/>
                                        <p:tgtEl>
                                          <p:spTgt spid="46"/>
                                        </p:tgtEl>
                                        <p:attrNameLst>
                                          <p:attrName>ppt_x</p:attrName>
                                        </p:attrNameLst>
                                      </p:cBhvr>
                                      <p:tavLst>
                                        <p:tav tm="0">
                                          <p:val>
                                            <p:strVal val="#ppt_x"/>
                                          </p:val>
                                        </p:tav>
                                        <p:tav tm="100000">
                                          <p:val>
                                            <p:strVal val="#ppt_x"/>
                                          </p:val>
                                        </p:tav>
                                      </p:tavLst>
                                    </p:anim>
                                    <p:anim calcmode="lin" valueType="num">
                                      <p:cBhvr>
                                        <p:cTn id="191" dur="550" decel="100000" fill="hold"/>
                                        <p:tgtEl>
                                          <p:spTgt spid="46"/>
                                        </p:tgtEl>
                                        <p:attrNameLst>
                                          <p:attrName>ppt_y</p:attrName>
                                        </p:attrNameLst>
                                      </p:cBhvr>
                                      <p:tavLst>
                                        <p:tav tm="0">
                                          <p:val>
                                            <p:strVal val="#ppt_y+0.03"/>
                                          </p:val>
                                        </p:tav>
                                        <p:tav tm="100000">
                                          <p:val>
                                            <p:strVal val="#ppt_y"/>
                                          </p:val>
                                        </p:tav>
                                      </p:tavLst>
                                    </p:anim>
                                  </p:childTnLst>
                                </p:cTn>
                              </p:par>
                              <p:par>
                                <p:cTn id="197" presetID="42" presetClass="entr" presetSubtype="0" fill="hold" grpId="0" nodeType="withEffect">
                                  <p:stCondLst>
                                    <p:cond delay="850"/>
                                  </p:stCondLst>
                                  <p:childTnLst>
                                    <p:set>
                                      <p:cBhvr>
                                        <p:cTn id="193" dur="1" fill="hold">
                                          <p:stCondLst>
                                            <p:cond delay="0"/>
                                          </p:stCondLst>
                                        </p:cTn>
                                        <p:tgtEl>
                                          <p:spTgt spid="47"/>
                                        </p:tgtEl>
                                        <p:attrNameLst>
                                          <p:attrName>style.visibility</p:attrName>
                                        </p:attrNameLst>
                                      </p:cBhvr>
                                      <p:to>
                                        <p:strVal val="visible"/>
                                      </p:to>
                                    </p:set>
                                    <p:animEffect transition="in" filter="fade">
                                      <p:cBhvr>
                                        <p:cTn id="194" dur="550"/>
                                        <p:tgtEl>
                                          <p:spTgt spid="47"/>
                                        </p:tgtEl>
                                      </p:cBhvr>
                                    </p:animEffect>
                                    <p:anim calcmode="lin" valueType="num">
                                      <p:cBhvr>
                                        <p:cTn id="195" dur="550" decel="100000" fill="hold"/>
                                        <p:tgtEl>
                                          <p:spTgt spid="47"/>
                                        </p:tgtEl>
                                        <p:attrNameLst>
                                          <p:attrName>ppt_x</p:attrName>
                                        </p:attrNameLst>
                                      </p:cBhvr>
                                      <p:tavLst>
                                        <p:tav tm="0">
                                          <p:val>
                                            <p:strVal val="#ppt_x"/>
                                          </p:val>
                                        </p:tav>
                                        <p:tav tm="100000">
                                          <p:val>
                                            <p:strVal val="#ppt_x"/>
                                          </p:val>
                                        </p:tav>
                                      </p:tavLst>
                                    </p:anim>
                                    <p:anim calcmode="lin" valueType="num">
                                      <p:cBhvr>
                                        <p:cTn id="196" dur="550" decel="100000" fill="hold"/>
                                        <p:tgtEl>
                                          <p:spTgt spid="47"/>
                                        </p:tgtEl>
                                        <p:attrNameLst>
                                          <p:attrName>ppt_y</p:attrName>
                                        </p:attrNameLst>
                                      </p:cBhvr>
                                      <p:tavLst>
                                        <p:tav tm="0">
                                          <p:val>
                                            <p:strVal val="#ppt_y+0.03"/>
                                          </p:val>
                                        </p:tav>
                                        <p:tav tm="100000">
                                          <p:val>
                                            <p:strVal val="#ppt_y"/>
                                          </p:val>
                                        </p:tav>
                                      </p:tavLst>
                                    </p:anim>
                                  </p:childTnLst>
                                </p:cTn>
                              </p:par>
                              <p:par>
                                <p:cTn id="202" presetID="42" presetClass="entr" presetSubtype="0" fill="hold" grpId="0" nodeType="withEffect">
                                  <p:stCondLst>
                                    <p:cond delay="1050"/>
                                  </p:stCondLst>
                                  <p:childTnLst>
                                    <p:set>
                                      <p:cBhvr>
                                        <p:cTn id="198" dur="1" fill="hold">
                                          <p:stCondLst>
                                            <p:cond delay="0"/>
                                          </p:stCondLst>
                                        </p:cTn>
                                        <p:tgtEl>
                                          <p:spTgt spid="48"/>
                                        </p:tgtEl>
                                        <p:attrNameLst>
                                          <p:attrName>style.visibility</p:attrName>
                                        </p:attrNameLst>
                                      </p:cBhvr>
                                      <p:to>
                                        <p:strVal val="visible"/>
                                      </p:to>
                                    </p:set>
                                    <p:animEffect transition="in" filter="fade">
                                      <p:cBhvr>
                                        <p:cTn id="199" dur="550"/>
                                        <p:tgtEl>
                                          <p:spTgt spid="48"/>
                                        </p:tgtEl>
                                      </p:cBhvr>
                                    </p:animEffect>
                                    <p:anim calcmode="lin" valueType="num">
                                      <p:cBhvr>
                                        <p:cTn id="200" dur="550" decel="100000" fill="hold"/>
                                        <p:tgtEl>
                                          <p:spTgt spid="48"/>
                                        </p:tgtEl>
                                        <p:attrNameLst>
                                          <p:attrName>ppt_x</p:attrName>
                                        </p:attrNameLst>
                                      </p:cBhvr>
                                      <p:tavLst>
                                        <p:tav tm="0">
                                          <p:val>
                                            <p:strVal val="#ppt_x"/>
                                          </p:val>
                                        </p:tav>
                                        <p:tav tm="100000">
                                          <p:val>
                                            <p:strVal val="#ppt_x"/>
                                          </p:val>
                                        </p:tav>
                                      </p:tavLst>
                                    </p:anim>
                                    <p:anim calcmode="lin" valueType="num">
                                      <p:cBhvr>
                                        <p:cTn id="201" dur="550" decel="100000" fill="hold"/>
                                        <p:tgtEl>
                                          <p:spTgt spid="48"/>
                                        </p:tgtEl>
                                        <p:attrNameLst>
                                          <p:attrName>ppt_y</p:attrName>
                                        </p:attrNameLst>
                                      </p:cBhvr>
                                      <p:tavLst>
                                        <p:tav tm="0">
                                          <p:val>
                                            <p:strVal val="#ppt_y+0.03"/>
                                          </p:val>
                                        </p:tav>
                                        <p:tav tm="100000">
                                          <p:val>
                                            <p:strVal val="#ppt_y"/>
                                          </p:val>
                                        </p:tav>
                                      </p:tavLst>
                                    </p:anim>
                                  </p:childTnLst>
                                </p:cTn>
                              </p:par>
                              <p:par>
                                <p:cTn id="207" presetID="42" presetClass="entr" presetSubtype="0" fill="hold" grpId="0" nodeType="withEffect">
                                  <p:stCondLst>
                                    <p:cond delay="1050"/>
                                  </p:stCondLst>
                                  <p:childTnLst>
                                    <p:set>
                                      <p:cBhvr>
                                        <p:cTn id="203" dur="1" fill="hold">
                                          <p:stCondLst>
                                            <p:cond delay="0"/>
                                          </p:stCondLst>
                                        </p:cTn>
                                        <p:tgtEl>
                                          <p:spTgt spid="49"/>
                                        </p:tgtEl>
                                        <p:attrNameLst>
                                          <p:attrName>style.visibility</p:attrName>
                                        </p:attrNameLst>
                                      </p:cBhvr>
                                      <p:to>
                                        <p:strVal val="visible"/>
                                      </p:to>
                                    </p:set>
                                    <p:animEffect transition="in" filter="fade">
                                      <p:cBhvr>
                                        <p:cTn id="204" dur="550"/>
                                        <p:tgtEl>
                                          <p:spTgt spid="49"/>
                                        </p:tgtEl>
                                      </p:cBhvr>
                                    </p:animEffect>
                                    <p:anim calcmode="lin" valueType="num">
                                      <p:cBhvr>
                                        <p:cTn id="205" dur="550" decel="100000" fill="hold"/>
                                        <p:tgtEl>
                                          <p:spTgt spid="49"/>
                                        </p:tgtEl>
                                        <p:attrNameLst>
                                          <p:attrName>ppt_x</p:attrName>
                                        </p:attrNameLst>
                                      </p:cBhvr>
                                      <p:tavLst>
                                        <p:tav tm="0">
                                          <p:val>
                                            <p:strVal val="#ppt_x"/>
                                          </p:val>
                                        </p:tav>
                                        <p:tav tm="100000">
                                          <p:val>
                                            <p:strVal val="#ppt_x"/>
                                          </p:val>
                                        </p:tav>
                                      </p:tavLst>
                                    </p:anim>
                                    <p:anim calcmode="lin" valueType="num">
                                      <p:cBhvr>
                                        <p:cTn id="206" dur="550" decel="100000" fill="hold"/>
                                        <p:tgtEl>
                                          <p:spTgt spid="49"/>
                                        </p:tgtEl>
                                        <p:attrNameLst>
                                          <p:attrName>ppt_y</p:attrName>
                                        </p:attrNameLst>
                                      </p:cBhvr>
                                      <p:tavLst>
                                        <p:tav tm="0">
                                          <p:val>
                                            <p:strVal val="#ppt_y+0.03"/>
                                          </p:val>
                                        </p:tav>
                                        <p:tav tm="100000">
                                          <p:val>
                                            <p:strVal val="#ppt_y"/>
                                          </p:val>
                                        </p:tav>
                                      </p:tavLst>
                                    </p:anim>
                                  </p:childTnLst>
                                </p:cTn>
                              </p:par>
                              <p:par>
                                <p:cTn id="212" presetID="42" presetClass="entr" presetSubtype="0" fill="hold" grpId="0" nodeType="withEffect">
                                  <p:stCondLst>
                                    <p:cond delay="1050"/>
                                  </p:stCondLst>
                                  <p:childTnLst>
                                    <p:set>
                                      <p:cBhvr>
                                        <p:cTn id="208" dur="1" fill="hold">
                                          <p:stCondLst>
                                            <p:cond delay="0"/>
                                          </p:stCondLst>
                                        </p:cTn>
                                        <p:tgtEl>
                                          <p:spTgt spid="50"/>
                                        </p:tgtEl>
                                        <p:attrNameLst>
                                          <p:attrName>style.visibility</p:attrName>
                                        </p:attrNameLst>
                                      </p:cBhvr>
                                      <p:to>
                                        <p:strVal val="visible"/>
                                      </p:to>
                                    </p:set>
                                    <p:animEffect transition="in" filter="fade">
                                      <p:cBhvr>
                                        <p:cTn id="209" dur="550"/>
                                        <p:tgtEl>
                                          <p:spTgt spid="50"/>
                                        </p:tgtEl>
                                      </p:cBhvr>
                                    </p:animEffect>
                                    <p:anim calcmode="lin" valueType="num">
                                      <p:cBhvr>
                                        <p:cTn id="210" dur="550" decel="100000" fill="hold"/>
                                        <p:tgtEl>
                                          <p:spTgt spid="50"/>
                                        </p:tgtEl>
                                        <p:attrNameLst>
                                          <p:attrName>ppt_x</p:attrName>
                                        </p:attrNameLst>
                                      </p:cBhvr>
                                      <p:tavLst>
                                        <p:tav tm="0">
                                          <p:val>
                                            <p:strVal val="#ppt_x"/>
                                          </p:val>
                                        </p:tav>
                                        <p:tav tm="100000">
                                          <p:val>
                                            <p:strVal val="#ppt_x"/>
                                          </p:val>
                                        </p:tav>
                                      </p:tavLst>
                                    </p:anim>
                                    <p:anim calcmode="lin" valueType="num">
                                      <p:cBhvr>
                                        <p:cTn id="211" dur="550" decel="100000" fill="hold"/>
                                        <p:tgtEl>
                                          <p:spTgt spid="50"/>
                                        </p:tgtEl>
                                        <p:attrNameLst>
                                          <p:attrName>ppt_y</p:attrName>
                                        </p:attrNameLst>
                                      </p:cBhvr>
                                      <p:tavLst>
                                        <p:tav tm="0">
                                          <p:val>
                                            <p:strVal val="#ppt_y+0.03"/>
                                          </p:val>
                                        </p:tav>
                                        <p:tav tm="100000">
                                          <p:val>
                                            <p:strVal val="#ppt_y"/>
                                          </p:val>
                                        </p:tav>
                                      </p:tavLst>
                                    </p:anim>
                                  </p:childTnLst>
                                </p:cTn>
                              </p:par>
                              <p:par>
                                <p:cTn id="217" presetID="42" presetClass="entr" presetSubtype="0" fill="hold" grpId="0" nodeType="withEffect">
                                  <p:stCondLst>
                                    <p:cond delay="1050"/>
                                  </p:stCondLst>
                                  <p:childTnLst>
                                    <p:set>
                                      <p:cBhvr>
                                        <p:cTn id="213" dur="1" fill="hold">
                                          <p:stCondLst>
                                            <p:cond delay="0"/>
                                          </p:stCondLst>
                                        </p:cTn>
                                        <p:tgtEl>
                                          <p:spTgt spid="51"/>
                                        </p:tgtEl>
                                        <p:attrNameLst>
                                          <p:attrName>style.visibility</p:attrName>
                                        </p:attrNameLst>
                                      </p:cBhvr>
                                      <p:to>
                                        <p:strVal val="visible"/>
                                      </p:to>
                                    </p:set>
                                    <p:animEffect transition="in" filter="fade">
                                      <p:cBhvr>
                                        <p:cTn id="214" dur="550"/>
                                        <p:tgtEl>
                                          <p:spTgt spid="51"/>
                                        </p:tgtEl>
                                      </p:cBhvr>
                                    </p:animEffect>
                                    <p:anim calcmode="lin" valueType="num">
                                      <p:cBhvr>
                                        <p:cTn id="215" dur="550" decel="100000" fill="hold"/>
                                        <p:tgtEl>
                                          <p:spTgt spid="51"/>
                                        </p:tgtEl>
                                        <p:attrNameLst>
                                          <p:attrName>ppt_x</p:attrName>
                                        </p:attrNameLst>
                                      </p:cBhvr>
                                      <p:tavLst>
                                        <p:tav tm="0">
                                          <p:val>
                                            <p:strVal val="#ppt_x"/>
                                          </p:val>
                                        </p:tav>
                                        <p:tav tm="100000">
                                          <p:val>
                                            <p:strVal val="#ppt_x"/>
                                          </p:val>
                                        </p:tav>
                                      </p:tavLst>
                                    </p:anim>
                                    <p:anim calcmode="lin" valueType="num">
                                      <p:cBhvr>
                                        <p:cTn id="216" dur="550" decel="100000" fill="hold"/>
                                        <p:tgtEl>
                                          <p:spTgt spid="51"/>
                                        </p:tgtEl>
                                        <p:attrNameLst>
                                          <p:attrName>ppt_y</p:attrName>
                                        </p:attrNameLst>
                                      </p:cBhvr>
                                      <p:tavLst>
                                        <p:tav tm="0">
                                          <p:val>
                                            <p:strVal val="#ppt_y+0.03"/>
                                          </p:val>
                                        </p:tav>
                                        <p:tav tm="100000">
                                          <p:val>
                                            <p:strVal val="#ppt_y"/>
                                          </p:val>
                                        </p:tav>
                                      </p:tavLst>
                                    </p:anim>
                                  </p:childTnLst>
                                </p:cTn>
                              </p:par>
                              <p:par>
                                <p:cTn id="222" presetID="42" presetClass="entr" presetSubtype="0" fill="hold" grpId="0" nodeType="withEffect">
                                  <p:stCondLst>
                                    <p:cond delay="1050"/>
                                  </p:stCondLst>
                                  <p:childTnLst>
                                    <p:set>
                                      <p:cBhvr>
                                        <p:cTn id="218" dur="1" fill="hold">
                                          <p:stCondLst>
                                            <p:cond delay="0"/>
                                          </p:stCondLst>
                                        </p:cTn>
                                        <p:tgtEl>
                                          <p:spTgt spid="52"/>
                                        </p:tgtEl>
                                        <p:attrNameLst>
                                          <p:attrName>style.visibility</p:attrName>
                                        </p:attrNameLst>
                                      </p:cBhvr>
                                      <p:to>
                                        <p:strVal val="visible"/>
                                      </p:to>
                                    </p:set>
                                    <p:animEffect transition="in" filter="fade">
                                      <p:cBhvr>
                                        <p:cTn id="219" dur="550"/>
                                        <p:tgtEl>
                                          <p:spTgt spid="52"/>
                                        </p:tgtEl>
                                      </p:cBhvr>
                                    </p:animEffect>
                                    <p:anim calcmode="lin" valueType="num">
                                      <p:cBhvr>
                                        <p:cTn id="220" dur="550" decel="100000" fill="hold"/>
                                        <p:tgtEl>
                                          <p:spTgt spid="52"/>
                                        </p:tgtEl>
                                        <p:attrNameLst>
                                          <p:attrName>ppt_x</p:attrName>
                                        </p:attrNameLst>
                                      </p:cBhvr>
                                      <p:tavLst>
                                        <p:tav tm="0">
                                          <p:val>
                                            <p:strVal val="#ppt_x"/>
                                          </p:val>
                                        </p:tav>
                                        <p:tav tm="100000">
                                          <p:val>
                                            <p:strVal val="#ppt_x"/>
                                          </p:val>
                                        </p:tav>
                                      </p:tavLst>
                                    </p:anim>
                                    <p:anim calcmode="lin" valueType="num">
                                      <p:cBhvr>
                                        <p:cTn id="221" dur="550" decel="100000" fill="hold"/>
                                        <p:tgtEl>
                                          <p:spTgt spid="52"/>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5" grpId="0" animBg="1"/>
      <p:bldP spid="17" grpId="0" animBg="1"/>
      <p:bldP spid="18" grpId="0" animBg="1"/>
      <p:bldP spid="19" grpId="0" animBg="1"/>
      <p:bldP spid="20" grpId="0" animBg="1"/>
      <p:bldGraphic spid="13" grpId="0">
        <p:bldAsOne/>
      </p:bldGraphic>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1" grpId="0" animBg="1"/>
      <p:bldP spid="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05</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SEXUAL AND REPRODUCTIVE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Early Sex &amp; Early Childbearing: The Strongest Associations</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Early reproductive experiences are strongly associated with reported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06 / 09</a:t>
            </a:r>
            <a:endParaRPr lang="en-US" sz="900" dirty="0"/>
          </a:p>
        </p:txBody>
      </p:sp>
      <p:sp>
        <p:nvSpPr>
          <p:cNvPr id="9" name="Early sex card"/>
          <p:cNvSpPr/>
          <p:nvPr/>
        </p:nvSpPr>
        <p:spPr>
          <a:xfrm>
            <a:off x="548640"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Early sex icon disc"/>
          <p:cNvSpPr/>
          <p:nvPr/>
        </p:nvSpPr>
        <p:spPr>
          <a:xfrm>
            <a:off x="804672" y="1956816"/>
            <a:ext cx="420624" cy="420624"/>
          </a:xfrm>
          <a:prstGeom prst="ellipse">
            <a:avLst/>
          </a:prstGeom>
          <a:solidFill>
            <a:srgbClr val="F4ECF7"/>
          </a:solidFill>
          <a:ln/>
        </p:spPr>
      </p:sp>
      <p:pic>
        <p:nvPicPr>
          <p:cNvPr id="11" name="Early sex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Early sex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EARLY SEX</a:t>
            </a:r>
            <a:endParaRPr lang="en-US" sz="1000" dirty="0"/>
          </a:p>
        </p:txBody>
      </p:sp>
      <p:sp>
        <p:nvSpPr>
          <p:cNvPr id="13" name="Text"/>
          <p:cNvSpPr txBox="1"/>
          <p:nvPr/>
        </p:nvSpPr>
        <p:spPr>
          <a:xfrm>
            <a:off x="822960"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5.14</a:t>
            </a:r>
            <a:pPr indent="0" marL="0">
              <a:buNone/>
            </a:pPr>
            <a:r>
              <a:rPr lang="en-US" sz="1300" b="1" dirty="0">
                <a:solidFill>
                  <a:srgbClr val="1E2F5C"/>
                </a:solidFill>
              </a:rPr>
              <a:t>  times the odds</a:t>
            </a:r>
            <a:endParaRPr lang="en-US" sz="4600" dirty="0"/>
          </a:p>
        </p:txBody>
      </p:sp>
      <p:sp>
        <p:nvSpPr>
          <p:cNvPr id="14" name="Divider"/>
          <p:cNvSpPr/>
          <p:nvPr/>
        </p:nvSpPr>
        <p:spPr>
          <a:xfrm>
            <a:off x="822960" y="3401568"/>
            <a:ext cx="2966618" cy="0"/>
          </a:xfrm>
          <a:prstGeom prst="line">
            <a:avLst/>
          </a:prstGeom>
          <a:noFill/>
          <a:ln w="12700">
            <a:solidFill>
              <a:srgbClr val="E3E8EF"/>
            </a:solidFill>
            <a:prstDash val="solid"/>
          </a:ln>
        </p:spPr>
      </p:sp>
      <p:sp>
        <p:nvSpPr>
          <p:cNvPr id="15" name="Text"/>
          <p:cNvSpPr txBox="1"/>
          <p:nvPr/>
        </p:nvSpPr>
        <p:spPr>
          <a:xfrm>
            <a:off x="822960"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reported sex before age 18 had approximately 5.1 times the odds of reporting child marriage compared with those who did not report sex before age 18.</a:t>
            </a:r>
            <a:endParaRPr lang="en-US" sz="1100" dirty="0"/>
          </a:p>
        </p:txBody>
      </p:sp>
      <p:sp>
        <p:nvSpPr>
          <p:cNvPr id="16" name="Having one child card"/>
          <p:cNvSpPr/>
          <p:nvPr/>
        </p:nvSpPr>
        <p:spPr>
          <a:xfrm>
            <a:off x="4338218"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7" name="Having one child icon disc"/>
          <p:cNvSpPr/>
          <p:nvPr/>
        </p:nvSpPr>
        <p:spPr>
          <a:xfrm>
            <a:off x="4594250" y="1956816"/>
            <a:ext cx="420624" cy="420624"/>
          </a:xfrm>
          <a:prstGeom prst="ellipse">
            <a:avLst/>
          </a:prstGeom>
          <a:solidFill>
            <a:srgbClr val="F4ECF7"/>
          </a:solidFill>
          <a:ln/>
        </p:spPr>
      </p:sp>
      <p:pic>
        <p:nvPicPr>
          <p:cNvPr id="18" name="Having one child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9" name="Having one child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ONE CHILD</a:t>
            </a:r>
            <a:endParaRPr lang="en-US" sz="1000" dirty="0"/>
          </a:p>
        </p:txBody>
      </p:sp>
      <p:sp>
        <p:nvSpPr>
          <p:cNvPr id="20" name="Text"/>
          <p:cNvSpPr txBox="1"/>
          <p:nvPr/>
        </p:nvSpPr>
        <p:spPr>
          <a:xfrm>
            <a:off x="4612538"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4.81</a:t>
            </a:r>
            <a:pPr indent="0" marL="0">
              <a:buNone/>
            </a:pPr>
            <a:r>
              <a:rPr lang="en-US" sz="1300" b="1" dirty="0">
                <a:solidFill>
                  <a:srgbClr val="1E2F5C"/>
                </a:solidFill>
              </a:rPr>
              <a:t>  times the odds</a:t>
            </a:r>
            <a:endParaRPr lang="en-US" sz="4600" dirty="0"/>
          </a:p>
        </p:txBody>
      </p:sp>
      <p:sp>
        <p:nvSpPr>
          <p:cNvPr id="21" name="Divider"/>
          <p:cNvSpPr/>
          <p:nvPr/>
        </p:nvSpPr>
        <p:spPr>
          <a:xfrm>
            <a:off x="4612538" y="3401568"/>
            <a:ext cx="2966618" cy="0"/>
          </a:xfrm>
          <a:prstGeom prst="line">
            <a:avLst/>
          </a:prstGeom>
          <a:noFill/>
          <a:ln w="12700">
            <a:solidFill>
              <a:srgbClr val="E3E8EF"/>
            </a:solidFill>
            <a:prstDash val="solid"/>
          </a:ln>
        </p:spPr>
      </p:sp>
      <p:sp>
        <p:nvSpPr>
          <p:cNvPr id="22" name="Text"/>
          <p:cNvSpPr txBox="1"/>
          <p:nvPr/>
        </p:nvSpPr>
        <p:spPr>
          <a:xfrm>
            <a:off x="4612538"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one child before age 18 had approximately 4.8 times the odds of reporting child marriage compared with those who had no child.</a:t>
            </a:r>
            <a:endParaRPr lang="en-US" sz="1100" dirty="0"/>
          </a:p>
        </p:txBody>
      </p:sp>
      <p:sp>
        <p:nvSpPr>
          <p:cNvPr id="23" name="Having two children card"/>
          <p:cNvSpPr/>
          <p:nvPr/>
        </p:nvSpPr>
        <p:spPr>
          <a:xfrm>
            <a:off x="8127797" y="1737360"/>
            <a:ext cx="3515258" cy="2944368"/>
          </a:xfrm>
          <a:prstGeom prst="roundRect">
            <a:avLst>
              <a:gd name="adj" fmla="val 248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4" name="Having two children icon disc"/>
          <p:cNvSpPr/>
          <p:nvPr/>
        </p:nvSpPr>
        <p:spPr>
          <a:xfrm>
            <a:off x="8383829" y="1956816"/>
            <a:ext cx="420624" cy="420624"/>
          </a:xfrm>
          <a:prstGeom prst="ellipse">
            <a:avLst/>
          </a:prstGeom>
          <a:solidFill>
            <a:srgbClr val="F4ECF7"/>
          </a:solidFill>
          <a:ln/>
        </p:spPr>
      </p:sp>
      <p:pic>
        <p:nvPicPr>
          <p:cNvPr id="25" name="Having two children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6" name="Having two children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74398A"/>
                </a:solidFill>
              </a:rPr>
              <a:t>HAVING TWO CHILDREN</a:t>
            </a:r>
            <a:endParaRPr lang="en-US" sz="1000" dirty="0"/>
          </a:p>
        </p:txBody>
      </p:sp>
      <p:sp>
        <p:nvSpPr>
          <p:cNvPr id="27" name="Text"/>
          <p:cNvSpPr txBox="1"/>
          <p:nvPr/>
        </p:nvSpPr>
        <p:spPr>
          <a:xfrm>
            <a:off x="8402117" y="2542032"/>
            <a:ext cx="2966618" cy="749808"/>
          </a:xfrm>
          <a:prstGeom prst="rect">
            <a:avLst/>
          </a:prstGeom>
          <a:noFill/>
          <a:ln/>
        </p:spPr>
        <p:txBody>
          <a:bodyPr wrap="square" lIns="0" tIns="0" rIns="0" bIns="0" rtlCol="0" anchor="ctr"/>
          <a:lstStyle/>
          <a:p>
            <a:pPr indent="0" marL="0">
              <a:buNone/>
            </a:pPr>
            <a:r>
              <a:rPr lang="en-US" sz="4600" b="1" dirty="0">
                <a:solidFill>
                  <a:srgbClr val="8E52A3"/>
                </a:solidFill>
              </a:rPr>
              <a:t>5.96</a:t>
            </a:r>
            <a:pPr indent="0" marL="0">
              <a:buNone/>
            </a:pPr>
            <a:r>
              <a:rPr lang="en-US" sz="1300" b="1" dirty="0">
                <a:solidFill>
                  <a:srgbClr val="1E2F5C"/>
                </a:solidFill>
              </a:rPr>
              <a:t>  times the odds</a:t>
            </a:r>
            <a:endParaRPr lang="en-US" sz="4600" dirty="0"/>
          </a:p>
        </p:txBody>
      </p:sp>
      <p:sp>
        <p:nvSpPr>
          <p:cNvPr id="28" name="Divider"/>
          <p:cNvSpPr/>
          <p:nvPr/>
        </p:nvSpPr>
        <p:spPr>
          <a:xfrm>
            <a:off x="8402117" y="3401568"/>
            <a:ext cx="2966618" cy="0"/>
          </a:xfrm>
          <a:prstGeom prst="line">
            <a:avLst/>
          </a:prstGeom>
          <a:noFill/>
          <a:ln w="12700">
            <a:solidFill>
              <a:srgbClr val="E3E8EF"/>
            </a:solidFill>
            <a:prstDash val="solid"/>
          </a:ln>
        </p:spPr>
      </p:sp>
      <p:sp>
        <p:nvSpPr>
          <p:cNvPr id="29" name="Text"/>
          <p:cNvSpPr txBox="1"/>
          <p:nvPr/>
        </p:nvSpPr>
        <p:spPr>
          <a:xfrm>
            <a:off x="8402117" y="3520440"/>
            <a:ext cx="2966618" cy="1005840"/>
          </a:xfrm>
          <a:prstGeom prst="rect">
            <a:avLst/>
          </a:prstGeom>
          <a:noFill/>
          <a:ln/>
        </p:spPr>
        <p:txBody>
          <a:bodyPr wrap="square" lIns="0" tIns="0" rIns="0" bIns="0" rtlCol="0" anchor="t"/>
          <a:lstStyle/>
          <a:p>
            <a:pPr indent="0" marL="0">
              <a:lnSpc>
                <a:spcPct val="108000"/>
              </a:lnSpc>
              <a:buNone/>
            </a:pPr>
            <a:r>
              <a:rPr lang="en-US" sz="1100" dirty="0">
                <a:solidFill>
                  <a:srgbClr val="414A5A"/>
                </a:solidFill>
              </a:rPr>
              <a:t>Respondents who had two children before age 18 had approximately 6 times the odds of reporting child marriage compared with those who had no children.</a:t>
            </a:r>
            <a:endParaRPr lang="en-US" sz="1100" dirty="0"/>
          </a:p>
        </p:txBody>
      </p:sp>
      <p:sp>
        <p:nvSpPr>
          <p:cNvPr id="30" name="Overlap strip"/>
          <p:cNvSpPr/>
          <p:nvPr/>
        </p:nvSpPr>
        <p:spPr>
          <a:xfrm>
            <a:off x="548640" y="4828032"/>
            <a:ext cx="11094415" cy="566928"/>
          </a:xfrm>
          <a:prstGeom prst="roundRect">
            <a:avLst>
              <a:gd name="adj" fmla="val 12903"/>
            </a:avLst>
          </a:prstGeom>
          <a:solidFill>
            <a:srgbClr val="F4ECF7"/>
          </a:solidFill>
          <a:ln/>
        </p:spPr>
      </p:sp>
      <p:sp>
        <p:nvSpPr>
          <p:cNvPr id="31" name="FaLink disc"/>
          <p:cNvSpPr/>
          <p:nvPr/>
        </p:nvSpPr>
        <p:spPr>
          <a:xfrm>
            <a:off x="777240" y="4919472"/>
            <a:ext cx="384048" cy="384048"/>
          </a:xfrm>
          <a:prstGeom prst="ellipse">
            <a:avLst/>
          </a:prstGeom>
          <a:solidFill>
            <a:srgbClr val="8E52A3"/>
          </a:solidFill>
          <a:ln/>
        </p:spPr>
      </p:sp>
      <p:pic>
        <p:nvPicPr>
          <p:cNvPr id="32" name="FaLink" descr="preencoded.png">    </p:cNvPr>
          <p:cNvPicPr>
            <a:picLocks noChangeAspect="1"/>
          </p:cNvPicPr>
          <p:nvPr/>
        </p:nvPicPr>
        <p:blipFill>
          <a:blip r:embed="rId5"/>
          <a:stretch>
            <a:fillRect/>
          </a:stretch>
        </p:blipFill>
        <p:spPr>
          <a:xfrm>
            <a:off x="877092" y="5019324"/>
            <a:ext cx="184343" cy="184343"/>
          </a:xfrm>
          <a:prstGeom prst="rect">
            <a:avLst/>
          </a:prstGeom>
        </p:spPr>
      </p:pic>
      <p:sp>
        <p:nvSpPr>
          <p:cNvPr id="33" name="Text"/>
          <p:cNvSpPr txBox="1"/>
          <p:nvPr/>
        </p:nvSpPr>
        <p:spPr>
          <a:xfrm>
            <a:off x="1325880" y="4828032"/>
            <a:ext cx="10088575" cy="566928"/>
          </a:xfrm>
          <a:prstGeom prst="rect">
            <a:avLst/>
          </a:prstGeom>
          <a:noFill/>
          <a:ln/>
        </p:spPr>
        <p:txBody>
          <a:bodyPr wrap="square" lIns="0" tIns="0" rIns="0" bIns="0" rtlCol="0" anchor="ctr"/>
          <a:lstStyle/>
          <a:p>
            <a:pPr indent="0" marL="0">
              <a:buNone/>
            </a:pPr>
            <a:r>
              <a:rPr lang="en-US" sz="1250" b="1" dirty="0">
                <a:solidFill>
                  <a:srgbClr val="1E2F5C"/>
                </a:solidFill>
              </a:rPr>
              <a:t>These findings demonstrate a </a:t>
            </a:r>
            <a:pPr indent="0" marL="0">
              <a:buNone/>
            </a:pPr>
            <a:r>
              <a:rPr lang="en-US" sz="1250" b="1" dirty="0">
                <a:solidFill>
                  <a:srgbClr val="74398A"/>
                </a:solidFill>
              </a:rPr>
              <a:t>strong overlap</a:t>
            </a:r>
            <a:pPr indent="0" marL="0">
              <a:buNone/>
            </a:pPr>
            <a:r>
              <a:rPr lang="en-US" sz="1250" b="1" dirty="0">
                <a:solidFill>
                  <a:srgbClr val="1E2F5C"/>
                </a:solidFill>
              </a:rPr>
              <a:t> between child marriage, early sexual activity and early childbearing.</a:t>
            </a:r>
            <a:endParaRPr lang="en-US" sz="1250" dirty="0"/>
          </a:p>
        </p:txBody>
      </p:sp>
      <p:sp>
        <p:nvSpPr>
          <p:cNvPr id="3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35" name="Key message disc"/>
          <p:cNvSpPr/>
          <p:nvPr/>
        </p:nvSpPr>
        <p:spPr>
          <a:xfrm>
            <a:off x="777240" y="5660136"/>
            <a:ext cx="420624" cy="420624"/>
          </a:xfrm>
          <a:prstGeom prst="ellipse">
            <a:avLst/>
          </a:prstGeom>
          <a:solidFill>
            <a:srgbClr val="24427E"/>
          </a:solidFill>
          <a:ln/>
        </p:spPr>
      </p:sp>
      <p:pic>
        <p:nvPicPr>
          <p:cNvPr id="36" name="Key message icon" descr="preencoded.png">    </p:cNvPr>
          <p:cNvPicPr>
            <a:picLocks noChangeAspect="1"/>
          </p:cNvPicPr>
          <p:nvPr/>
        </p:nvPicPr>
        <p:blipFill>
          <a:blip r:embed="rId6"/>
          <a:stretch>
            <a:fillRect/>
          </a:stretch>
        </p:blipFill>
        <p:spPr>
          <a:xfrm>
            <a:off x="877824" y="5760720"/>
            <a:ext cx="219456" cy="219456"/>
          </a:xfrm>
          <a:prstGeom prst="rect">
            <a:avLst/>
          </a:prstGeom>
        </p:spPr>
      </p:pic>
      <p:sp>
        <p:nvSpPr>
          <p:cNvPr id="3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HOWEVER</a:t>
            </a:r>
            <a:endParaRPr lang="en-US" sz="900" dirty="0"/>
          </a:p>
        </p:txBody>
      </p:sp>
      <p:sp>
        <p:nvSpPr>
          <p:cNvPr id="3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These relationships should not be interpreted as showing that early sex or childbearing </a:t>
            </a:r>
            <a:pPr indent="0" marL="0">
              <a:lnSpc>
                <a:spcPct val="105000"/>
              </a:lnSpc>
              <a:buNone/>
            </a:pPr>
            <a:r>
              <a:rPr lang="en-US" sz="1300" b="1" dirty="0">
                <a:solidFill>
                  <a:srgbClr val="2D539F"/>
                </a:solidFill>
              </a:rPr>
              <a:t>independently causes</a:t>
            </a:r>
            <a:pPr indent="0" marL="0">
              <a:lnSpc>
                <a:spcPct val="105000"/>
              </a:lnSpc>
              <a:buNone/>
            </a:pPr>
            <a:r>
              <a:rPr lang="en-US" sz="1300" b="1" dirty="0">
                <a:solidFill>
                  <a:srgbClr val="1E2F5C"/>
                </a:solidFill>
              </a:rPr>
              <a:t> child marriage.</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50"/>
                                        <p:tgtEl>
                                          <p:spTgt spid="16"/>
                                        </p:tgtEl>
                                      </p:cBhvr>
                                    </p:animEffect>
                                    <p:anim calcmode="lin" valueType="num">
                                      <p:cBhvr>
                                        <p:cTn id="27" dur="550" decel="100000" fill="hold"/>
                                        <p:tgtEl>
                                          <p:spTgt spid="16"/>
                                        </p:tgtEl>
                                        <p:attrNameLst>
                                          <p:attrName>ppt_x</p:attrName>
                                        </p:attrNameLst>
                                      </p:cBhvr>
                                      <p:tavLst>
                                        <p:tav tm="0">
                                          <p:val>
                                            <p:strVal val="#ppt_x"/>
                                          </p:val>
                                        </p:tav>
                                        <p:tav tm="100000">
                                          <p:val>
                                            <p:strVal val="#ppt_x"/>
                                          </p:val>
                                        </p:tav>
                                      </p:tavLst>
                                    </p:anim>
                                    <p:anim calcmode="lin" valueType="num">
                                      <p:cBhvr>
                                        <p:cTn id="28" dur="550" decel="100000" fill="hold"/>
                                        <p:tgtEl>
                                          <p:spTgt spid="16"/>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50"/>
                                        <p:tgtEl>
                                          <p:spTgt spid="17"/>
                                        </p:tgtEl>
                                      </p:cBhvr>
                                    </p:animEffect>
                                    <p:anim calcmode="lin" valueType="num">
                                      <p:cBhvr>
                                        <p:cTn id="32" dur="550" decel="100000" fill="hold"/>
                                        <p:tgtEl>
                                          <p:spTgt spid="17"/>
                                        </p:tgtEl>
                                        <p:attrNameLst>
                                          <p:attrName>ppt_x</p:attrName>
                                        </p:attrNameLst>
                                      </p:cBhvr>
                                      <p:tavLst>
                                        <p:tav tm="0">
                                          <p:val>
                                            <p:strVal val="#ppt_x"/>
                                          </p:val>
                                        </p:tav>
                                        <p:tav tm="100000">
                                          <p:val>
                                            <p:strVal val="#ppt_x"/>
                                          </p:val>
                                        </p:tav>
                                      </p:tavLst>
                                    </p:anim>
                                    <p:anim calcmode="lin" valueType="num">
                                      <p:cBhvr>
                                        <p:cTn id="33" dur="550" decel="100000" fill="hold"/>
                                        <p:tgtEl>
                                          <p:spTgt spid="17"/>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550"/>
                                        <p:tgtEl>
                                          <p:spTgt spid="18"/>
                                        </p:tgtEl>
                                      </p:cBhvr>
                                    </p:animEffect>
                                    <p:anim calcmode="lin" valueType="num">
                                      <p:cBhvr>
                                        <p:cTn id="37" dur="550" decel="100000" fill="hold"/>
                                        <p:tgtEl>
                                          <p:spTgt spid="18"/>
                                        </p:tgtEl>
                                        <p:attrNameLst>
                                          <p:attrName>ppt_x</p:attrName>
                                        </p:attrNameLst>
                                      </p:cBhvr>
                                      <p:tavLst>
                                        <p:tav tm="0">
                                          <p:val>
                                            <p:strVal val="#ppt_x"/>
                                          </p:val>
                                        </p:tav>
                                        <p:tav tm="100000">
                                          <p:val>
                                            <p:strVal val="#ppt_x"/>
                                          </p:val>
                                        </p:tav>
                                      </p:tavLst>
                                    </p:anim>
                                    <p:anim calcmode="lin" valueType="num">
                                      <p:cBhvr>
                                        <p:cTn id="38" dur="550" decel="100000" fill="hold"/>
                                        <p:tgtEl>
                                          <p:spTgt spid="18"/>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50"/>
                                        <p:tgtEl>
                                          <p:spTgt spid="19"/>
                                        </p:tgtEl>
                                      </p:cBhvr>
                                    </p:animEffect>
                                    <p:anim calcmode="lin" valueType="num">
                                      <p:cBhvr>
                                        <p:cTn id="42" dur="550" decel="100000" fill="hold"/>
                                        <p:tgtEl>
                                          <p:spTgt spid="19"/>
                                        </p:tgtEl>
                                        <p:attrNameLst>
                                          <p:attrName>ppt_x</p:attrName>
                                        </p:attrNameLst>
                                      </p:cBhvr>
                                      <p:tavLst>
                                        <p:tav tm="0">
                                          <p:val>
                                            <p:strVal val="#ppt_x"/>
                                          </p:val>
                                        </p:tav>
                                        <p:tav tm="100000">
                                          <p:val>
                                            <p:strVal val="#ppt_x"/>
                                          </p:val>
                                        </p:tav>
                                      </p:tavLst>
                                    </p:anim>
                                    <p:anim calcmode="lin" valueType="num">
                                      <p:cBhvr>
                                        <p:cTn id="43" dur="550" decel="100000" fill="hold"/>
                                        <p:tgtEl>
                                          <p:spTgt spid="19"/>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50"/>
                                        <p:tgtEl>
                                          <p:spTgt spid="23"/>
                                        </p:tgtEl>
                                      </p:cBhvr>
                                    </p:animEffect>
                                    <p:anim calcmode="lin" valueType="num">
                                      <p:cBhvr>
                                        <p:cTn id="52" dur="550" decel="100000" fill="hold"/>
                                        <p:tgtEl>
                                          <p:spTgt spid="23"/>
                                        </p:tgtEl>
                                        <p:attrNameLst>
                                          <p:attrName>ppt_x</p:attrName>
                                        </p:attrNameLst>
                                      </p:cBhvr>
                                      <p:tavLst>
                                        <p:tav tm="0">
                                          <p:val>
                                            <p:strVal val="#ppt_x"/>
                                          </p:val>
                                        </p:tav>
                                        <p:tav tm="100000">
                                          <p:val>
                                            <p:strVal val="#ppt_x"/>
                                          </p:val>
                                        </p:tav>
                                      </p:tavLst>
                                    </p:anim>
                                    <p:anim calcmode="lin" valueType="num">
                                      <p:cBhvr>
                                        <p:cTn id="53" dur="550" decel="100000" fill="hold"/>
                                        <p:tgtEl>
                                          <p:spTgt spid="23"/>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50"/>
                                        <p:tgtEl>
                                          <p:spTgt spid="24"/>
                                        </p:tgtEl>
                                      </p:cBhvr>
                                    </p:animEffect>
                                    <p:anim calcmode="lin" valueType="num">
                                      <p:cBhvr>
                                        <p:cTn id="57" dur="550" decel="100000" fill="hold"/>
                                        <p:tgtEl>
                                          <p:spTgt spid="24"/>
                                        </p:tgtEl>
                                        <p:attrNameLst>
                                          <p:attrName>ppt_x</p:attrName>
                                        </p:attrNameLst>
                                      </p:cBhvr>
                                      <p:tavLst>
                                        <p:tav tm="0">
                                          <p:val>
                                            <p:strVal val="#ppt_x"/>
                                          </p:val>
                                        </p:tav>
                                        <p:tav tm="100000">
                                          <p:val>
                                            <p:strVal val="#ppt_x"/>
                                          </p:val>
                                        </p:tav>
                                      </p:tavLst>
                                    </p:anim>
                                    <p:anim calcmode="lin" valueType="num">
                                      <p:cBhvr>
                                        <p:cTn id="58" dur="550" decel="100000" fill="hold"/>
                                        <p:tgtEl>
                                          <p:spTgt spid="24"/>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550"/>
                                        <p:tgtEl>
                                          <p:spTgt spid="25"/>
                                        </p:tgtEl>
                                      </p:cBhvr>
                                    </p:animEffect>
                                    <p:anim calcmode="lin" valueType="num">
                                      <p:cBhvr>
                                        <p:cTn id="62" dur="550" decel="100000" fill="hold"/>
                                        <p:tgtEl>
                                          <p:spTgt spid="25"/>
                                        </p:tgtEl>
                                        <p:attrNameLst>
                                          <p:attrName>ppt_x</p:attrName>
                                        </p:attrNameLst>
                                      </p:cBhvr>
                                      <p:tavLst>
                                        <p:tav tm="0">
                                          <p:val>
                                            <p:strVal val="#ppt_x"/>
                                          </p:val>
                                        </p:tav>
                                        <p:tav tm="100000">
                                          <p:val>
                                            <p:strVal val="#ppt_x"/>
                                          </p:val>
                                        </p:tav>
                                      </p:tavLst>
                                    </p:anim>
                                    <p:anim calcmode="lin" valueType="num">
                                      <p:cBhvr>
                                        <p:cTn id="63" dur="550" decel="100000" fill="hold"/>
                                        <p:tgtEl>
                                          <p:spTgt spid="25"/>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550"/>
                                        <p:tgtEl>
                                          <p:spTgt spid="26"/>
                                        </p:tgtEl>
                                      </p:cBhvr>
                                    </p:animEffect>
                                    <p:anim calcmode="lin" valueType="num">
                                      <p:cBhvr>
                                        <p:cTn id="67" dur="550" decel="100000" fill="hold"/>
                                        <p:tgtEl>
                                          <p:spTgt spid="26"/>
                                        </p:tgtEl>
                                        <p:attrNameLst>
                                          <p:attrName>ppt_x</p:attrName>
                                        </p:attrNameLst>
                                      </p:cBhvr>
                                      <p:tavLst>
                                        <p:tav tm="0">
                                          <p:val>
                                            <p:strVal val="#ppt_x"/>
                                          </p:val>
                                        </p:tav>
                                        <p:tav tm="100000">
                                          <p:val>
                                            <p:strVal val="#ppt_x"/>
                                          </p:val>
                                        </p:tav>
                                      </p:tavLst>
                                    </p:anim>
                                    <p:anim calcmode="lin" valueType="num">
                                      <p:cBhvr>
                                        <p:cTn id="68" dur="550" decel="100000" fill="hold"/>
                                        <p:tgtEl>
                                          <p:spTgt spid="26"/>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40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40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550"/>
                                        <p:tgtEl>
                                          <p:spTgt spid="15"/>
                                        </p:tgtEl>
                                      </p:cBhvr>
                                    </p:animEffect>
                                    <p:anim calcmode="lin" valueType="num">
                                      <p:cBhvr>
                                        <p:cTn id="77" dur="550" decel="100000" fill="hold"/>
                                        <p:tgtEl>
                                          <p:spTgt spid="15"/>
                                        </p:tgtEl>
                                        <p:attrNameLst>
                                          <p:attrName>ppt_x</p:attrName>
                                        </p:attrNameLst>
                                      </p:cBhvr>
                                      <p:tavLst>
                                        <p:tav tm="0">
                                          <p:val>
                                            <p:strVal val="#ppt_x"/>
                                          </p:val>
                                        </p:tav>
                                        <p:tav tm="100000">
                                          <p:val>
                                            <p:strVal val="#ppt_x"/>
                                          </p:val>
                                        </p:tav>
                                      </p:tavLst>
                                    </p:anim>
                                    <p:anim calcmode="lin" valueType="num">
                                      <p:cBhvr>
                                        <p:cTn id="78" dur="550" decel="100000" fill="hold"/>
                                        <p:tgtEl>
                                          <p:spTgt spid="15"/>
                                        </p:tgtEl>
                                        <p:attrNameLst>
                                          <p:attrName>ppt_y</p:attrName>
                                        </p:attrNameLst>
                                      </p:cBhvr>
                                      <p:tavLst>
                                        <p:tav tm="0">
                                          <p:val>
                                            <p:strVal val="#ppt_y+0.03"/>
                                          </p:val>
                                        </p:tav>
                                        <p:tav tm="100000">
                                          <p:val>
                                            <p:strVal val="#ppt_y"/>
                                          </p:val>
                                        </p:tav>
                                      </p:tavLst>
                                    </p:anim>
                                  </p:childTnLst>
                                </p:cTn>
                              </p:par>
                              <p:par>
                                <p:cTn id="84" presetID="53" presetClass="entr" presetSubtype="16" fill="hold" grpId="0" nodeType="withEffect">
                                  <p:stCondLst>
                                    <p:cond delay="45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decel="100000" fill="hold"/>
                                        <p:tgtEl>
                                          <p:spTgt spid="20"/>
                                        </p:tgtEl>
                                        <p:attrNameLst>
                                          <p:attrName>ppt_w</p:attrName>
                                        </p:attrNameLst>
                                      </p:cBhvr>
                                      <p:tavLst>
                                        <p:tav tm="0">
                                          <p:val>
                                            <p:strVal val="#ppt_w*0.80"/>
                                          </p:val>
                                        </p:tav>
                                        <p:tav tm="100000">
                                          <p:val>
                                            <p:strVal val="#ppt_w"/>
                                          </p:val>
                                        </p:tav>
                                      </p:tavLst>
                                    </p:anim>
                                    <p:anim calcmode="lin" valueType="num">
                                      <p:cBhvr>
                                        <p:cTn id="83" dur="500" decel="100000" fill="hold"/>
                                        <p:tgtEl>
                                          <p:spTgt spid="20"/>
                                        </p:tgtEl>
                                        <p:attrNameLst>
                                          <p:attrName>ppt_h</p:attrName>
                                        </p:attrNameLst>
                                      </p:cBhvr>
                                      <p:tavLst>
                                        <p:tav tm="0">
                                          <p:val>
                                            <p:strVal val="#ppt_h*0.80"/>
                                          </p:val>
                                        </p:tav>
                                        <p:tav tm="100000">
                                          <p:val>
                                            <p:strVal val="#ppt_h"/>
                                          </p:val>
                                        </p:tav>
                                      </p:tavLst>
                                    </p:anim>
                                  </p:childTnLst>
                                </p:cTn>
                              </p:par>
                              <p:par>
                                <p:cTn id="89" presetID="42" presetClass="entr" presetSubtype="0" fill="hold" grpId="0" nodeType="withEffect">
                                  <p:stCondLst>
                                    <p:cond delay="55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55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53" presetClass="entr" presetSubtype="16" fill="hold" grpId="0" nodeType="withEffect">
                                  <p:stCondLst>
                                    <p:cond delay="6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00"/>
                                        <p:tgtEl>
                                          <p:spTgt spid="27"/>
                                        </p:tgtEl>
                                      </p:cBhvr>
                                    </p:animEffect>
                                    <p:anim calcmode="lin" valueType="num">
                                      <p:cBhvr>
                                        <p:cTn id="97" dur="500" decel="100000" fill="hold"/>
                                        <p:tgtEl>
                                          <p:spTgt spid="27"/>
                                        </p:tgtEl>
                                        <p:attrNameLst>
                                          <p:attrName>ppt_w</p:attrName>
                                        </p:attrNameLst>
                                      </p:cBhvr>
                                      <p:tavLst>
                                        <p:tav tm="0">
                                          <p:val>
                                            <p:strVal val="#ppt_w*0.80"/>
                                          </p:val>
                                        </p:tav>
                                        <p:tav tm="100000">
                                          <p:val>
                                            <p:strVal val="#ppt_w"/>
                                          </p:val>
                                        </p:tav>
                                      </p:tavLst>
                                    </p:anim>
                                    <p:anim calcmode="lin" valueType="num">
                                      <p:cBhvr>
                                        <p:cTn id="98" dur="500" decel="100000" fill="hold"/>
                                        <p:tgtEl>
                                          <p:spTgt spid="27"/>
                                        </p:tgtEl>
                                        <p:attrNameLst>
                                          <p:attrName>ppt_h</p:attrName>
                                        </p:attrNameLst>
                                      </p:cBhvr>
                                      <p:tavLst>
                                        <p:tav tm="0">
                                          <p:val>
                                            <p:strVal val="#ppt_h*0.80"/>
                                          </p:val>
                                        </p:tav>
                                        <p:tav tm="100000">
                                          <p:val>
                                            <p:strVal val="#ppt_h"/>
                                          </p:val>
                                        </p:tav>
                                      </p:tavLst>
                                    </p:anim>
                                  </p:childTnLst>
                                </p:cTn>
                              </p:par>
                              <p:par>
                                <p:cTn id="104" presetID="42" presetClass="entr" presetSubtype="0" fill="hold" grpId="0" nodeType="withEffect">
                                  <p:stCondLst>
                                    <p:cond delay="7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7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4" presetID="42" presetClass="entr" presetSubtype="0" fill="hold" grpId="0" nodeType="withEffect">
                                  <p:stCondLst>
                                    <p:cond delay="95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550"/>
                                        <p:tgtEl>
                                          <p:spTgt spid="32"/>
                                        </p:tgtEl>
                                      </p:cBhvr>
                                    </p:animEffect>
                                    <p:anim calcmode="lin" valueType="num">
                                      <p:cBhvr>
                                        <p:cTn id="122" dur="550" decel="100000" fill="hold"/>
                                        <p:tgtEl>
                                          <p:spTgt spid="32"/>
                                        </p:tgtEl>
                                        <p:attrNameLst>
                                          <p:attrName>ppt_x</p:attrName>
                                        </p:attrNameLst>
                                      </p:cBhvr>
                                      <p:tavLst>
                                        <p:tav tm="0">
                                          <p:val>
                                            <p:strVal val="#ppt_x"/>
                                          </p:val>
                                        </p:tav>
                                        <p:tav tm="100000">
                                          <p:val>
                                            <p:strVal val="#ppt_x"/>
                                          </p:val>
                                        </p:tav>
                                      </p:tavLst>
                                    </p:anim>
                                    <p:anim calcmode="lin" valueType="num">
                                      <p:cBhvr>
                                        <p:cTn id="123" dur="550" decel="100000" fill="hold"/>
                                        <p:tgtEl>
                                          <p:spTgt spid="32"/>
                                        </p:tgtEl>
                                        <p:attrNameLst>
                                          <p:attrName>ppt_y</p:attrName>
                                        </p:attrNameLst>
                                      </p:cBhvr>
                                      <p:tavLst>
                                        <p:tav tm="0">
                                          <p:val>
                                            <p:strVal val="#ppt_y+0.03"/>
                                          </p:val>
                                        </p:tav>
                                        <p:tav tm="100000">
                                          <p:val>
                                            <p:strVal val="#ppt_y"/>
                                          </p:val>
                                        </p:tav>
                                      </p:tavLst>
                                    </p:anim>
                                  </p:childTnLst>
                                </p:cTn>
                              </p:par>
                              <p:par>
                                <p:cTn id="129" presetID="42" presetClass="entr" presetSubtype="0" fill="hold" grpId="0" nodeType="withEffect">
                                  <p:stCondLst>
                                    <p:cond delay="95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anim calcmode="lin" valueType="num">
                                      <p:cBhvr>
                                        <p:cTn id="127" dur="550" decel="100000" fill="hold"/>
                                        <p:tgtEl>
                                          <p:spTgt spid="33"/>
                                        </p:tgtEl>
                                        <p:attrNameLst>
                                          <p:attrName>ppt_x</p:attrName>
                                        </p:attrNameLst>
                                      </p:cBhvr>
                                      <p:tavLst>
                                        <p:tav tm="0">
                                          <p:val>
                                            <p:strVal val="#ppt_x"/>
                                          </p:val>
                                        </p:tav>
                                        <p:tav tm="100000">
                                          <p:val>
                                            <p:strVal val="#ppt_x"/>
                                          </p:val>
                                        </p:tav>
                                      </p:tavLst>
                                    </p:anim>
                                    <p:anim calcmode="lin" valueType="num">
                                      <p:cBhvr>
                                        <p:cTn id="128" dur="550" decel="100000" fill="hold"/>
                                        <p:tgtEl>
                                          <p:spTgt spid="33"/>
                                        </p:tgtEl>
                                        <p:attrNameLst>
                                          <p:attrName>ppt_y</p:attrName>
                                        </p:attrNameLst>
                                      </p:cBhvr>
                                      <p:tavLst>
                                        <p:tav tm="0">
                                          <p:val>
                                            <p:strVal val="#ppt_y+0.03"/>
                                          </p:val>
                                        </p:tav>
                                        <p:tav tm="100000">
                                          <p:val>
                                            <p:strVal val="#ppt_y"/>
                                          </p:val>
                                        </p:tav>
                                      </p:tavLst>
                                    </p:anim>
                                  </p:childTnLst>
                                </p:cTn>
                              </p:par>
                              <p:par>
                                <p:cTn id="134" presetID="42" presetClass="entr" presetSubtype="0" fill="hold" grpId="0" nodeType="withEffect">
                                  <p:stCondLst>
                                    <p:cond delay="115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1" dur="550"/>
                                        <p:tgtEl>
                                          <p:spTgt spid="34"/>
                                        </p:tgtEl>
                                      </p:cBhvr>
                                    </p:animEffect>
                                    <p:anim calcmode="lin" valueType="num">
                                      <p:cBhvr>
                                        <p:cTn id="132" dur="550" decel="100000" fill="hold"/>
                                        <p:tgtEl>
                                          <p:spTgt spid="34"/>
                                        </p:tgtEl>
                                        <p:attrNameLst>
                                          <p:attrName>ppt_x</p:attrName>
                                        </p:attrNameLst>
                                      </p:cBhvr>
                                      <p:tavLst>
                                        <p:tav tm="0">
                                          <p:val>
                                            <p:strVal val="#ppt_x"/>
                                          </p:val>
                                        </p:tav>
                                        <p:tav tm="100000">
                                          <p:val>
                                            <p:strVal val="#ppt_x"/>
                                          </p:val>
                                        </p:tav>
                                      </p:tavLst>
                                    </p:anim>
                                    <p:anim calcmode="lin" valueType="num">
                                      <p:cBhvr>
                                        <p:cTn id="133" dur="550" decel="100000" fill="hold"/>
                                        <p:tgtEl>
                                          <p:spTgt spid="34"/>
                                        </p:tgtEl>
                                        <p:attrNameLst>
                                          <p:attrName>ppt_y</p:attrName>
                                        </p:attrNameLst>
                                      </p:cBhvr>
                                      <p:tavLst>
                                        <p:tav tm="0">
                                          <p:val>
                                            <p:strVal val="#ppt_y+0.03"/>
                                          </p:val>
                                        </p:tav>
                                        <p:tav tm="100000">
                                          <p:val>
                                            <p:strVal val="#ppt_y"/>
                                          </p:val>
                                        </p:tav>
                                      </p:tavLst>
                                    </p:anim>
                                  </p:childTnLst>
                                </p:cTn>
                              </p:par>
                              <p:par>
                                <p:cTn id="139" presetID="42" presetClass="entr" presetSubtype="0" fill="hold" grpId="0" nodeType="withEffect">
                                  <p:stCondLst>
                                    <p:cond delay="11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p:cTn id="137" dur="550" decel="100000" fill="hold"/>
                                        <p:tgtEl>
                                          <p:spTgt spid="35"/>
                                        </p:tgtEl>
                                        <p:attrNameLst>
                                          <p:attrName>ppt_x</p:attrName>
                                        </p:attrNameLst>
                                      </p:cBhvr>
                                      <p:tavLst>
                                        <p:tav tm="0">
                                          <p:val>
                                            <p:strVal val="#ppt_x"/>
                                          </p:val>
                                        </p:tav>
                                        <p:tav tm="100000">
                                          <p:val>
                                            <p:strVal val="#ppt_x"/>
                                          </p:val>
                                        </p:tav>
                                      </p:tavLst>
                                    </p:anim>
                                    <p:anim calcmode="lin" valueType="num">
                                      <p:cBhvr>
                                        <p:cTn id="138" dur="550" decel="100000" fill="hold"/>
                                        <p:tgtEl>
                                          <p:spTgt spid="35"/>
                                        </p:tgtEl>
                                        <p:attrNameLst>
                                          <p:attrName>ppt_y</p:attrName>
                                        </p:attrNameLst>
                                      </p:cBhvr>
                                      <p:tavLst>
                                        <p:tav tm="0">
                                          <p:val>
                                            <p:strVal val="#ppt_y+0.03"/>
                                          </p:val>
                                        </p:tav>
                                        <p:tav tm="100000">
                                          <p:val>
                                            <p:strVal val="#ppt_y"/>
                                          </p:val>
                                        </p:tav>
                                      </p:tavLst>
                                    </p:anim>
                                  </p:childTnLst>
                                </p:cTn>
                              </p:par>
                              <p:par>
                                <p:cTn id="144" presetID="42" presetClass="entr" presetSubtype="0" fill="hold" grpId="0" nodeType="withEffect">
                                  <p:stCondLst>
                                    <p:cond delay="115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1" dur="550"/>
                                        <p:tgtEl>
                                          <p:spTgt spid="36"/>
                                        </p:tgtEl>
                                      </p:cBhvr>
                                    </p:animEffect>
                                    <p:anim calcmode="lin" valueType="num">
                                      <p:cBhvr>
                                        <p:cTn id="142" dur="550" decel="100000" fill="hold"/>
                                        <p:tgtEl>
                                          <p:spTgt spid="36"/>
                                        </p:tgtEl>
                                        <p:attrNameLst>
                                          <p:attrName>ppt_x</p:attrName>
                                        </p:attrNameLst>
                                      </p:cBhvr>
                                      <p:tavLst>
                                        <p:tav tm="0">
                                          <p:val>
                                            <p:strVal val="#ppt_x"/>
                                          </p:val>
                                        </p:tav>
                                        <p:tav tm="100000">
                                          <p:val>
                                            <p:strVal val="#ppt_x"/>
                                          </p:val>
                                        </p:tav>
                                      </p:tavLst>
                                    </p:anim>
                                    <p:anim calcmode="lin" valueType="num">
                                      <p:cBhvr>
                                        <p:cTn id="143" dur="550" decel="100000" fill="hold"/>
                                        <p:tgtEl>
                                          <p:spTgt spid="36"/>
                                        </p:tgtEl>
                                        <p:attrNameLst>
                                          <p:attrName>ppt_y</p:attrName>
                                        </p:attrNameLst>
                                      </p:cBhvr>
                                      <p:tavLst>
                                        <p:tav tm="0">
                                          <p:val>
                                            <p:strVal val="#ppt_y+0.03"/>
                                          </p:val>
                                        </p:tav>
                                        <p:tav tm="100000">
                                          <p:val>
                                            <p:strVal val="#ppt_y"/>
                                          </p:val>
                                        </p:tav>
                                      </p:tavLst>
                                    </p:anim>
                                  </p:childTnLst>
                                </p:cTn>
                              </p:par>
                              <p:par>
                                <p:cTn id="149" presetID="42" presetClass="entr" presetSubtype="0" fill="hold" grpId="0" nodeType="withEffect">
                                  <p:stCondLst>
                                    <p:cond delay="115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p:cTn id="147" dur="550" decel="100000" fill="hold"/>
                                        <p:tgtEl>
                                          <p:spTgt spid="37"/>
                                        </p:tgtEl>
                                        <p:attrNameLst>
                                          <p:attrName>ppt_x</p:attrName>
                                        </p:attrNameLst>
                                      </p:cBhvr>
                                      <p:tavLst>
                                        <p:tav tm="0">
                                          <p:val>
                                            <p:strVal val="#ppt_x"/>
                                          </p:val>
                                        </p:tav>
                                        <p:tav tm="100000">
                                          <p:val>
                                            <p:strVal val="#ppt_x"/>
                                          </p:val>
                                        </p:tav>
                                      </p:tavLst>
                                    </p:anim>
                                    <p:anim calcmode="lin" valueType="num">
                                      <p:cBhvr>
                                        <p:cTn id="148" dur="550" decel="100000" fill="hold"/>
                                        <p:tgtEl>
                                          <p:spTgt spid="37"/>
                                        </p:tgtEl>
                                        <p:attrNameLst>
                                          <p:attrName>ppt_y</p:attrName>
                                        </p:attrNameLst>
                                      </p:cBhvr>
                                      <p:tavLst>
                                        <p:tav tm="0">
                                          <p:val>
                                            <p:strVal val="#ppt_y+0.03"/>
                                          </p:val>
                                        </p:tav>
                                        <p:tav tm="100000">
                                          <p:val>
                                            <p:strVal val="#ppt_y"/>
                                          </p:val>
                                        </p:tav>
                                      </p:tavLst>
                                    </p:anim>
                                  </p:childTnLst>
                                </p:cTn>
                              </p:par>
                              <p:par>
                                <p:cTn id="154" presetID="42" presetClass="entr" presetSubtype="0" fill="hold" grpId="0" nodeType="withEffect">
                                  <p:stCondLst>
                                    <p:cond delay="115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550"/>
                                        <p:tgtEl>
                                          <p:spTgt spid="38"/>
                                        </p:tgtEl>
                                      </p:cBhvr>
                                    </p:animEffect>
                                    <p:anim calcmode="lin" valueType="num">
                                      <p:cBhvr>
                                        <p:cTn id="152" dur="550" decel="100000" fill="hold"/>
                                        <p:tgtEl>
                                          <p:spTgt spid="38"/>
                                        </p:tgtEl>
                                        <p:attrNameLst>
                                          <p:attrName>ppt_x</p:attrName>
                                        </p:attrNameLst>
                                      </p:cBhvr>
                                      <p:tavLst>
                                        <p:tav tm="0">
                                          <p:val>
                                            <p:strVal val="#ppt_x"/>
                                          </p:val>
                                        </p:tav>
                                        <p:tav tm="100000">
                                          <p:val>
                                            <p:strVal val="#ppt_x"/>
                                          </p:val>
                                        </p:tav>
                                      </p:tavLst>
                                    </p:anim>
                                    <p:anim calcmode="lin" valueType="num">
                                      <p:cBhvr>
                                        <p:cTn id="153" dur="550" decel="100000" fill="hold"/>
                                        <p:tgtEl>
                                          <p:spTgt spid="3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6" grpId="0" animBg="1"/>
      <p:bldP spid="17" grpId="0" animBg="1"/>
      <p:bldP spid="19" grpId="0" animBg="1"/>
      <p:bldP spid="13" grpId="0" animBg="1"/>
      <p:bldP spid="23" grpId="0" animBg="1"/>
      <p:bldP spid="24" grpId="0" animBg="1"/>
      <p:bldP spid="26" grpId="0" animBg="1"/>
      <p:bldP spid="14" grpId="0" animBg="1"/>
      <p:bldP spid="15" grpId="0" animBg="1"/>
      <p:bldP spid="20" grpId="0" animBg="1"/>
      <p:bldP spid="21" grpId="0" animBg="1"/>
      <p:bldP spid="22" grpId="0" animBg="1"/>
      <p:bldP spid="27" grpId="0" animBg="1"/>
      <p:bldP spid="28" grpId="0" animBg="1"/>
      <p:bldP spid="29" grpId="0" animBg="1"/>
      <p:bldP spid="30" grpId="0" animBg="1"/>
      <p:bldP spid="31" grpId="0" animBg="1"/>
      <p:bldP spid="33" grpId="0" animBg="1"/>
      <p:bldP spid="34" grpId="0" animBg="1"/>
      <p:bldP spid="35"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06</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ECONOMIC AND PROTECTION VULNERABILITY</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Poverty, Child Labour &amp; Orphanhood</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Economic vulnerability is closely connected to child marriage.</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07 / 09</a:t>
            </a:r>
            <a:endParaRPr lang="en-US" sz="900" dirty="0"/>
          </a:p>
        </p:txBody>
      </p:sp>
      <p:sp>
        <p:nvSpPr>
          <p:cNvPr id="9" name="Child labour card"/>
          <p:cNvSpPr/>
          <p:nvPr/>
        </p:nvSpPr>
        <p:spPr>
          <a:xfrm>
            <a:off x="548640"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Child labour icon disc"/>
          <p:cNvSpPr/>
          <p:nvPr/>
        </p:nvSpPr>
        <p:spPr>
          <a:xfrm>
            <a:off x="804672" y="1956816"/>
            <a:ext cx="420624" cy="420624"/>
          </a:xfrm>
          <a:prstGeom prst="ellipse">
            <a:avLst/>
          </a:prstGeom>
          <a:solidFill>
            <a:srgbClr val="E4F4F5"/>
          </a:solidFill>
          <a:ln/>
        </p:spPr>
      </p:sp>
      <p:pic>
        <p:nvPicPr>
          <p:cNvPr id="11" name="Child labour icon" descr="preencoded.png">    </p:cNvPr>
          <p:cNvPicPr>
            <a:picLocks noChangeAspect="1"/>
          </p:cNvPicPr>
          <p:nvPr/>
        </p:nvPicPr>
        <p:blipFill>
          <a:blip r:embed="rId2"/>
          <a:stretch>
            <a:fillRect/>
          </a:stretch>
        </p:blipFill>
        <p:spPr>
          <a:xfrm>
            <a:off x="905256" y="2057400"/>
            <a:ext cx="219456" cy="219456"/>
          </a:xfrm>
          <a:prstGeom prst="rect">
            <a:avLst/>
          </a:prstGeom>
        </p:spPr>
      </p:pic>
      <p:sp>
        <p:nvSpPr>
          <p:cNvPr id="12" name="Child labour label"/>
          <p:cNvSpPr txBox="1"/>
          <p:nvPr/>
        </p:nvSpPr>
        <p:spPr>
          <a:xfrm>
            <a:off x="1353312"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CHILD LABOUR</a:t>
            </a:r>
            <a:endParaRPr lang="en-US" sz="1000" dirty="0"/>
          </a:p>
        </p:txBody>
      </p:sp>
      <p:sp>
        <p:nvSpPr>
          <p:cNvPr id="13" name="Text"/>
          <p:cNvSpPr txBox="1"/>
          <p:nvPr/>
        </p:nvSpPr>
        <p:spPr>
          <a:xfrm>
            <a:off x="822960"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2.14</a:t>
            </a:r>
            <a:endParaRPr lang="en-US" sz="3800" dirty="0"/>
          </a:p>
          <a:p>
            <a:pPr indent="0" marL="0">
              <a:buNone/>
            </a:pPr>
            <a:r>
              <a:rPr lang="en-US" sz="950" b="1" dirty="0">
                <a:solidFill>
                  <a:srgbClr val="1E2F5C"/>
                </a:solidFill>
              </a:rPr>
              <a:t>times the odds</a:t>
            </a:r>
            <a:endParaRPr lang="en-US" sz="3800" dirty="0"/>
          </a:p>
        </p:txBody>
      </p:sp>
      <p:sp>
        <p:nvSpPr>
          <p:cNvPr id="14" name="Text"/>
          <p:cNvSpPr txBox="1"/>
          <p:nvPr/>
        </p:nvSpPr>
        <p:spPr>
          <a:xfrm>
            <a:off x="2331720"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involved in child labour had approximately 2.1 times the odds of reporting child marriage.</a:t>
            </a:r>
            <a:endParaRPr lang="en-US" sz="1050" dirty="0"/>
          </a:p>
        </p:txBody>
      </p:sp>
      <p:sp>
        <p:nvSpPr>
          <p:cNvPr id="15" name="Poverty card"/>
          <p:cNvSpPr/>
          <p:nvPr/>
        </p:nvSpPr>
        <p:spPr>
          <a:xfrm>
            <a:off x="4338218"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6" name="Poverty icon disc"/>
          <p:cNvSpPr/>
          <p:nvPr/>
        </p:nvSpPr>
        <p:spPr>
          <a:xfrm>
            <a:off x="4594250" y="1956816"/>
            <a:ext cx="420624" cy="420624"/>
          </a:xfrm>
          <a:prstGeom prst="ellipse">
            <a:avLst/>
          </a:prstGeom>
          <a:solidFill>
            <a:srgbClr val="E4F4F5"/>
          </a:solidFill>
          <a:ln/>
        </p:spPr>
      </p:sp>
      <p:pic>
        <p:nvPicPr>
          <p:cNvPr id="17" name="Poverty icon" descr="preencoded.png">    </p:cNvPr>
          <p:cNvPicPr>
            <a:picLocks noChangeAspect="1"/>
          </p:cNvPicPr>
          <p:nvPr/>
        </p:nvPicPr>
        <p:blipFill>
          <a:blip r:embed="rId3"/>
          <a:stretch>
            <a:fillRect/>
          </a:stretch>
        </p:blipFill>
        <p:spPr>
          <a:xfrm>
            <a:off x="4694834" y="2057400"/>
            <a:ext cx="219456" cy="219456"/>
          </a:xfrm>
          <a:prstGeom prst="rect">
            <a:avLst/>
          </a:prstGeom>
        </p:spPr>
      </p:pic>
      <p:sp>
        <p:nvSpPr>
          <p:cNvPr id="18" name="Poverty label"/>
          <p:cNvSpPr txBox="1"/>
          <p:nvPr/>
        </p:nvSpPr>
        <p:spPr>
          <a:xfrm>
            <a:off x="5142890" y="1956816"/>
            <a:ext cx="2509418" cy="420624"/>
          </a:xfrm>
          <a:prstGeom prst="rect">
            <a:avLst/>
          </a:prstGeom>
          <a:noFill/>
          <a:ln/>
        </p:spPr>
        <p:txBody>
          <a:bodyPr wrap="square" lIns="0" tIns="0" rIns="0" bIns="0" rtlCol="0" anchor="ctr"/>
          <a:lstStyle/>
          <a:p>
            <a:pPr indent="0" marL="0">
              <a:buNone/>
            </a:pPr>
            <a:r>
              <a:rPr lang="en-US" sz="1000" b="1" spc="120" kern="0" dirty="0">
                <a:solidFill>
                  <a:srgbClr val="0D7480"/>
                </a:solidFill>
              </a:rPr>
              <a:t>POVERTY</a:t>
            </a:r>
            <a:endParaRPr lang="en-US" sz="1000" dirty="0"/>
          </a:p>
        </p:txBody>
      </p:sp>
      <p:sp>
        <p:nvSpPr>
          <p:cNvPr id="19" name="Text"/>
          <p:cNvSpPr txBox="1"/>
          <p:nvPr/>
        </p:nvSpPr>
        <p:spPr>
          <a:xfrm>
            <a:off x="4612538" y="2514600"/>
            <a:ext cx="1463040" cy="868680"/>
          </a:xfrm>
          <a:prstGeom prst="rect">
            <a:avLst/>
          </a:prstGeom>
          <a:noFill/>
          <a:ln/>
        </p:spPr>
        <p:txBody>
          <a:bodyPr wrap="square" lIns="0" tIns="0" rIns="0" bIns="0" rtlCol="0" anchor="ctr"/>
          <a:lstStyle/>
          <a:p>
            <a:pPr indent="0" marL="0">
              <a:buNone/>
            </a:pPr>
            <a:r>
              <a:rPr lang="en-US" sz="3800" b="1" dirty="0">
                <a:solidFill>
                  <a:srgbClr val="1A9DA8"/>
                </a:solidFill>
              </a:rPr>
              <a:t>1.94</a:t>
            </a:r>
            <a:endParaRPr lang="en-US" sz="3800" dirty="0"/>
          </a:p>
          <a:p>
            <a:pPr indent="0" marL="0">
              <a:buNone/>
            </a:pPr>
            <a:r>
              <a:rPr lang="en-US" sz="950" b="1" dirty="0">
                <a:solidFill>
                  <a:srgbClr val="1E2F5C"/>
                </a:solidFill>
              </a:rPr>
              <a:t>times the odds</a:t>
            </a:r>
            <a:endParaRPr lang="en-US" sz="3800" dirty="0"/>
          </a:p>
        </p:txBody>
      </p:sp>
      <p:sp>
        <p:nvSpPr>
          <p:cNvPr id="20" name="Text"/>
          <p:cNvSpPr txBox="1"/>
          <p:nvPr/>
        </p:nvSpPr>
        <p:spPr>
          <a:xfrm>
            <a:off x="6121298"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Respondents experiencing poverty had approximately 1.9 times the odds of reporting child marriage.</a:t>
            </a:r>
            <a:endParaRPr lang="en-US" sz="1050" dirty="0"/>
          </a:p>
        </p:txBody>
      </p:sp>
      <p:sp>
        <p:nvSpPr>
          <p:cNvPr id="21" name="Orphanhood card"/>
          <p:cNvSpPr/>
          <p:nvPr/>
        </p:nvSpPr>
        <p:spPr>
          <a:xfrm>
            <a:off x="8127797" y="1737360"/>
            <a:ext cx="3515258" cy="1810512"/>
          </a:xfrm>
          <a:prstGeom prst="roundRect">
            <a:avLst>
              <a:gd name="adj" fmla="val 4040"/>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2" name="Orphanhood icon disc"/>
          <p:cNvSpPr/>
          <p:nvPr/>
        </p:nvSpPr>
        <p:spPr>
          <a:xfrm>
            <a:off x="8383829" y="1956816"/>
            <a:ext cx="420624" cy="420624"/>
          </a:xfrm>
          <a:prstGeom prst="ellipse">
            <a:avLst/>
          </a:prstGeom>
          <a:solidFill>
            <a:srgbClr val="FEF1E7"/>
          </a:solidFill>
          <a:ln/>
        </p:spPr>
      </p:sp>
      <p:pic>
        <p:nvPicPr>
          <p:cNvPr id="23" name="Orphanhood icon" descr="preencoded.png">    </p:cNvPr>
          <p:cNvPicPr>
            <a:picLocks noChangeAspect="1"/>
          </p:cNvPicPr>
          <p:nvPr/>
        </p:nvPicPr>
        <p:blipFill>
          <a:blip r:embed="rId4"/>
          <a:stretch>
            <a:fillRect/>
          </a:stretch>
        </p:blipFill>
        <p:spPr>
          <a:xfrm>
            <a:off x="8484413" y="2057400"/>
            <a:ext cx="219456" cy="219456"/>
          </a:xfrm>
          <a:prstGeom prst="rect">
            <a:avLst/>
          </a:prstGeom>
        </p:spPr>
      </p:pic>
      <p:sp>
        <p:nvSpPr>
          <p:cNvPr id="24" name="Orphanhood label"/>
          <p:cNvSpPr txBox="1"/>
          <p:nvPr/>
        </p:nvSpPr>
        <p:spPr>
          <a:xfrm>
            <a:off x="8932469" y="1956816"/>
            <a:ext cx="2509418" cy="420624"/>
          </a:xfrm>
          <a:prstGeom prst="rect">
            <a:avLst/>
          </a:prstGeom>
          <a:noFill/>
          <a:ln/>
        </p:spPr>
        <p:txBody>
          <a:bodyPr wrap="square" lIns="0" tIns="0" rIns="0" bIns="0" rtlCol="0" anchor="ctr"/>
          <a:lstStyle/>
          <a:p>
            <a:pPr indent="0" marL="0">
              <a:buNone/>
            </a:pPr>
            <a:r>
              <a:rPr lang="en-US" sz="1000" b="1" spc="120" kern="0" dirty="0">
                <a:solidFill>
                  <a:srgbClr val="B85A1A"/>
                </a:solidFill>
              </a:rPr>
              <a:t>ORPHANHOOD</a:t>
            </a:r>
            <a:endParaRPr lang="en-US" sz="1000" dirty="0"/>
          </a:p>
        </p:txBody>
      </p:sp>
      <p:sp>
        <p:nvSpPr>
          <p:cNvPr id="25" name="Text"/>
          <p:cNvSpPr txBox="1"/>
          <p:nvPr/>
        </p:nvSpPr>
        <p:spPr>
          <a:xfrm>
            <a:off x="8402117" y="2514600"/>
            <a:ext cx="1463040" cy="868680"/>
          </a:xfrm>
          <a:prstGeom prst="rect">
            <a:avLst/>
          </a:prstGeom>
          <a:noFill/>
          <a:ln/>
        </p:spPr>
        <p:txBody>
          <a:bodyPr wrap="square" lIns="0" tIns="0" rIns="0" bIns="0" rtlCol="0" anchor="ctr"/>
          <a:lstStyle/>
          <a:p>
            <a:pPr indent="0" marL="0">
              <a:buNone/>
            </a:pPr>
            <a:r>
              <a:rPr lang="en-US" sz="3800" b="1" dirty="0">
                <a:solidFill>
                  <a:srgbClr val="F08236"/>
                </a:solidFill>
              </a:rPr>
              <a:t>1.47</a:t>
            </a:r>
            <a:endParaRPr lang="en-US" sz="3800" dirty="0"/>
          </a:p>
          <a:p>
            <a:pPr indent="0" marL="0">
              <a:buNone/>
            </a:pPr>
            <a:r>
              <a:rPr lang="en-US" sz="950" b="1" dirty="0">
                <a:solidFill>
                  <a:srgbClr val="1E2F5C"/>
                </a:solidFill>
              </a:rPr>
              <a:t>significant association</a:t>
            </a:r>
            <a:endParaRPr lang="en-US" sz="3800" dirty="0"/>
          </a:p>
        </p:txBody>
      </p:sp>
      <p:sp>
        <p:nvSpPr>
          <p:cNvPr id="26" name="Text"/>
          <p:cNvSpPr txBox="1"/>
          <p:nvPr/>
        </p:nvSpPr>
        <p:spPr>
          <a:xfrm>
            <a:off x="9910877" y="2514600"/>
            <a:ext cx="1503578" cy="868680"/>
          </a:xfrm>
          <a:prstGeom prst="rect">
            <a:avLst/>
          </a:prstGeom>
          <a:noFill/>
          <a:ln/>
        </p:spPr>
        <p:txBody>
          <a:bodyPr wrap="square" lIns="0" tIns="0" rIns="0" bIns="0" rtlCol="0" anchor="ctr"/>
          <a:lstStyle/>
          <a:p>
            <a:pPr indent="0" marL="0">
              <a:lnSpc>
                <a:spcPct val="105000"/>
              </a:lnSpc>
              <a:buNone/>
            </a:pPr>
            <a:r>
              <a:rPr lang="en-US" sz="1050" dirty="0">
                <a:solidFill>
                  <a:srgbClr val="414A5A"/>
                </a:solidFill>
              </a:rPr>
              <a:t>Double orphanhood was significantly associated with child marriage.</a:t>
            </a:r>
            <a:endParaRPr lang="en-US" sz="1050" dirty="0"/>
          </a:p>
        </p:txBody>
      </p:sp>
      <p:sp>
        <p:nvSpPr>
          <p:cNvPr id="27" name="Pathway panel"/>
          <p:cNvSpPr/>
          <p:nvPr/>
        </p:nvSpPr>
        <p:spPr>
          <a:xfrm>
            <a:off x="548640" y="3749040"/>
            <a:ext cx="11094415" cy="1645920"/>
          </a:xfrm>
          <a:prstGeom prst="roundRect">
            <a:avLst>
              <a:gd name="adj" fmla="val 444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8" name="Text"/>
          <p:cNvSpPr txBox="1"/>
          <p:nvPr/>
        </p:nvSpPr>
        <p:spPr>
          <a:xfrm>
            <a:off x="822960" y="3913632"/>
            <a:ext cx="10545775" cy="274320"/>
          </a:xfrm>
          <a:prstGeom prst="rect">
            <a:avLst/>
          </a:prstGeom>
          <a:noFill/>
          <a:ln/>
        </p:spPr>
        <p:txBody>
          <a:bodyPr wrap="square" lIns="0" tIns="0" rIns="0" bIns="0" rtlCol="0" anchor="ctr"/>
          <a:lstStyle/>
          <a:p>
            <a:pPr indent="0" marL="0">
              <a:buNone/>
            </a:pPr>
            <a:r>
              <a:rPr lang="en-US" sz="950" b="1" spc="150" kern="0" dirty="0">
                <a:solidFill>
                  <a:srgbClr val="1E2F5C"/>
                </a:solidFill>
              </a:rPr>
              <a:t>HOW THESE FACTORS MAY BE CONNECTED</a:t>
            </a:r>
            <a:pPr indent="0" marL="0">
              <a:buNone/>
            </a:pPr>
            <a:r>
              <a:rPr lang="en-US" sz="950" i="1" dirty="0">
                <a:solidFill>
                  <a:srgbClr val="6B7383"/>
                </a:solidFill>
              </a:rPr>
              <a:t>   Based on qualitative evidence</a:t>
            </a:r>
            <a:endParaRPr lang="en-US" sz="950" dirty="0"/>
          </a:p>
        </p:txBody>
      </p:sp>
      <p:sp>
        <p:nvSpPr>
          <p:cNvPr id="29" name="FaCoins disc"/>
          <p:cNvSpPr/>
          <p:nvPr/>
        </p:nvSpPr>
        <p:spPr>
          <a:xfrm>
            <a:off x="822960" y="4389120"/>
            <a:ext cx="658368" cy="658368"/>
          </a:xfrm>
          <a:prstGeom prst="ellipse">
            <a:avLst/>
          </a:prstGeom>
          <a:solidFill>
            <a:srgbClr val="1A9DA8"/>
          </a:solidFill>
          <a:ln/>
        </p:spPr>
      </p:sp>
      <p:pic>
        <p:nvPicPr>
          <p:cNvPr id="30" name="FaCoins" descr="preencoded.png">    </p:cNvPr>
          <p:cNvPicPr>
            <a:picLocks noChangeAspect="1"/>
          </p:cNvPicPr>
          <p:nvPr/>
        </p:nvPicPr>
        <p:blipFill>
          <a:blip r:embed="rId5"/>
          <a:stretch>
            <a:fillRect/>
          </a:stretch>
        </p:blipFill>
        <p:spPr>
          <a:xfrm>
            <a:off x="994136" y="4560296"/>
            <a:ext cx="316017" cy="316017"/>
          </a:xfrm>
          <a:prstGeom prst="rect">
            <a:avLst/>
          </a:prstGeom>
        </p:spPr>
      </p:pic>
      <p:sp>
        <p:nvSpPr>
          <p:cNvPr id="31" name="Text"/>
          <p:cNvSpPr txBox="1"/>
          <p:nvPr/>
        </p:nvSpPr>
        <p:spPr>
          <a:xfrm>
            <a:off x="1600200"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Economic hardship</a:t>
            </a:r>
            <a:endParaRPr lang="en-US" sz="1200" dirty="0"/>
          </a:p>
          <a:p>
            <a:pPr indent="0" marL="0">
              <a:buNone/>
            </a:pPr>
            <a:r>
              <a:rPr lang="en-US" sz="1050" dirty="0">
                <a:solidFill>
                  <a:srgbClr val="6B7383"/>
                </a:solidFill>
              </a:rPr>
              <a:t>Poverty, hunger</a:t>
            </a:r>
            <a:endParaRPr lang="en-US" sz="1200" dirty="0"/>
          </a:p>
        </p:txBody>
      </p:sp>
      <p:pic>
        <p:nvPicPr>
          <p:cNvPr id="32" name="Arrow" descr="preencoded.png">    </p:cNvPr>
          <p:cNvPicPr>
            <a:picLocks noChangeAspect="1"/>
          </p:cNvPicPr>
          <p:nvPr/>
        </p:nvPicPr>
        <p:blipFill>
          <a:blip r:embed="rId6"/>
          <a:stretch>
            <a:fillRect/>
          </a:stretch>
        </p:blipFill>
        <p:spPr>
          <a:xfrm>
            <a:off x="3229813" y="4590288"/>
            <a:ext cx="256032" cy="256032"/>
          </a:xfrm>
          <a:prstGeom prst="rect">
            <a:avLst/>
          </a:prstGeom>
        </p:spPr>
      </p:pic>
      <p:sp>
        <p:nvSpPr>
          <p:cNvPr id="33" name="FaHardHat disc"/>
          <p:cNvSpPr/>
          <p:nvPr/>
        </p:nvSpPr>
        <p:spPr>
          <a:xfrm>
            <a:off x="3560978" y="4389120"/>
            <a:ext cx="658368" cy="658368"/>
          </a:xfrm>
          <a:prstGeom prst="ellipse">
            <a:avLst/>
          </a:prstGeom>
          <a:solidFill>
            <a:srgbClr val="1A9DA8"/>
          </a:solidFill>
          <a:ln/>
        </p:spPr>
      </p:sp>
      <p:pic>
        <p:nvPicPr>
          <p:cNvPr id="34" name="FaHardHat" descr="preencoded.png">    </p:cNvPr>
          <p:cNvPicPr>
            <a:picLocks noChangeAspect="1"/>
          </p:cNvPicPr>
          <p:nvPr/>
        </p:nvPicPr>
        <p:blipFill>
          <a:blip r:embed="rId7"/>
          <a:stretch>
            <a:fillRect/>
          </a:stretch>
        </p:blipFill>
        <p:spPr>
          <a:xfrm>
            <a:off x="3732154" y="4560296"/>
            <a:ext cx="316017" cy="316017"/>
          </a:xfrm>
          <a:prstGeom prst="rect">
            <a:avLst/>
          </a:prstGeom>
        </p:spPr>
      </p:pic>
      <p:sp>
        <p:nvSpPr>
          <p:cNvPr id="35" name="Text"/>
          <p:cNvSpPr txBox="1"/>
          <p:nvPr/>
        </p:nvSpPr>
        <p:spPr>
          <a:xfrm>
            <a:off x="4338218"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Child labour</a:t>
            </a:r>
            <a:endParaRPr lang="en-US" sz="1200" dirty="0"/>
          </a:p>
          <a:p>
            <a:pPr indent="0" marL="0">
              <a:buNone/>
            </a:pPr>
            <a:r>
              <a:rPr lang="en-US" sz="1050" dirty="0">
                <a:solidFill>
                  <a:srgbClr val="6B7383"/>
                </a:solidFill>
              </a:rPr>
              <a:t>School disruption</a:t>
            </a:r>
            <a:endParaRPr lang="en-US" sz="1200" dirty="0"/>
          </a:p>
        </p:txBody>
      </p:sp>
      <p:pic>
        <p:nvPicPr>
          <p:cNvPr id="36" name="Arrow" descr="preencoded.png">    </p:cNvPr>
          <p:cNvPicPr>
            <a:picLocks noChangeAspect="1"/>
          </p:cNvPicPr>
          <p:nvPr/>
        </p:nvPicPr>
        <p:blipFill>
          <a:blip r:embed="rId8"/>
          <a:stretch>
            <a:fillRect/>
          </a:stretch>
        </p:blipFill>
        <p:spPr>
          <a:xfrm>
            <a:off x="5967832" y="4590288"/>
            <a:ext cx="256032" cy="256032"/>
          </a:xfrm>
          <a:prstGeom prst="rect">
            <a:avLst/>
          </a:prstGeom>
        </p:spPr>
      </p:pic>
      <p:sp>
        <p:nvSpPr>
          <p:cNvPr id="37" name="FaUserShield disc"/>
          <p:cNvSpPr/>
          <p:nvPr/>
        </p:nvSpPr>
        <p:spPr>
          <a:xfrm>
            <a:off x="6298997" y="4389120"/>
            <a:ext cx="658368" cy="658368"/>
          </a:xfrm>
          <a:prstGeom prst="ellipse">
            <a:avLst/>
          </a:prstGeom>
          <a:solidFill>
            <a:srgbClr val="F08236"/>
          </a:solidFill>
          <a:ln/>
        </p:spPr>
      </p:sp>
      <p:pic>
        <p:nvPicPr>
          <p:cNvPr id="38" name="FaUserShield" descr="preencoded.png">    </p:cNvPr>
          <p:cNvPicPr>
            <a:picLocks noChangeAspect="1"/>
          </p:cNvPicPr>
          <p:nvPr/>
        </p:nvPicPr>
        <p:blipFill>
          <a:blip r:embed="rId9"/>
          <a:stretch>
            <a:fillRect/>
          </a:stretch>
        </p:blipFill>
        <p:spPr>
          <a:xfrm>
            <a:off x="6470172" y="4560296"/>
            <a:ext cx="316017" cy="316017"/>
          </a:xfrm>
          <a:prstGeom prst="rect">
            <a:avLst/>
          </a:prstGeom>
        </p:spPr>
      </p:pic>
      <p:sp>
        <p:nvSpPr>
          <p:cNvPr id="39" name="Text"/>
          <p:cNvSpPr txBox="1"/>
          <p:nvPr/>
        </p:nvSpPr>
        <p:spPr>
          <a:xfrm>
            <a:off x="7076237"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Increased vulnerability</a:t>
            </a:r>
            <a:endParaRPr lang="en-US" sz="1200" dirty="0"/>
          </a:p>
          <a:p>
            <a:pPr indent="0" marL="0">
              <a:buNone/>
            </a:pPr>
            <a:r>
              <a:rPr lang="en-US" sz="1050" dirty="0">
                <a:solidFill>
                  <a:srgbClr val="6B7383"/>
                </a:solidFill>
              </a:rPr>
              <a:t>Loss of parental protection</a:t>
            </a:r>
            <a:endParaRPr lang="en-US" sz="1200" dirty="0"/>
          </a:p>
        </p:txBody>
      </p:sp>
      <p:pic>
        <p:nvPicPr>
          <p:cNvPr id="40" name="Arrow" descr="preencoded.png">    </p:cNvPr>
          <p:cNvPicPr>
            <a:picLocks noChangeAspect="1"/>
          </p:cNvPicPr>
          <p:nvPr/>
        </p:nvPicPr>
        <p:blipFill>
          <a:blip r:embed="rId10"/>
          <a:stretch>
            <a:fillRect/>
          </a:stretch>
        </p:blipFill>
        <p:spPr>
          <a:xfrm>
            <a:off x="8705850" y="4590288"/>
            <a:ext cx="256032" cy="256032"/>
          </a:xfrm>
          <a:prstGeom prst="rect">
            <a:avLst/>
          </a:prstGeom>
        </p:spPr>
      </p:pic>
      <p:sp>
        <p:nvSpPr>
          <p:cNvPr id="41" name="GiLinkedRings disc"/>
          <p:cNvSpPr/>
          <p:nvPr/>
        </p:nvSpPr>
        <p:spPr>
          <a:xfrm>
            <a:off x="9037015" y="4389120"/>
            <a:ext cx="658368" cy="658368"/>
          </a:xfrm>
          <a:prstGeom prst="ellipse">
            <a:avLst/>
          </a:prstGeom>
          <a:solidFill>
            <a:srgbClr val="3B67C4"/>
          </a:solidFill>
          <a:ln/>
        </p:spPr>
      </p:sp>
      <p:pic>
        <p:nvPicPr>
          <p:cNvPr id="42" name="GiLinkedRings" descr="preencoded.png">    </p:cNvPr>
          <p:cNvPicPr>
            <a:picLocks noChangeAspect="1"/>
          </p:cNvPicPr>
          <p:nvPr/>
        </p:nvPicPr>
        <p:blipFill>
          <a:blip r:embed="rId11"/>
          <a:stretch>
            <a:fillRect/>
          </a:stretch>
        </p:blipFill>
        <p:spPr>
          <a:xfrm>
            <a:off x="9208191" y="4560296"/>
            <a:ext cx="316017" cy="316017"/>
          </a:xfrm>
          <a:prstGeom prst="rect">
            <a:avLst/>
          </a:prstGeom>
        </p:spPr>
      </p:pic>
      <p:sp>
        <p:nvSpPr>
          <p:cNvPr id="43" name="Text"/>
          <p:cNvSpPr txBox="1"/>
          <p:nvPr/>
        </p:nvSpPr>
        <p:spPr>
          <a:xfrm>
            <a:off x="9814255" y="4315968"/>
            <a:ext cx="1554480" cy="822960"/>
          </a:xfrm>
          <a:prstGeom prst="rect">
            <a:avLst/>
          </a:prstGeom>
          <a:noFill/>
          <a:ln/>
        </p:spPr>
        <p:txBody>
          <a:bodyPr wrap="square" lIns="0" tIns="0" rIns="0" bIns="0" rtlCol="0" anchor="ctr"/>
          <a:lstStyle/>
          <a:p>
            <a:pPr indent="0" marL="0">
              <a:buNone/>
            </a:pPr>
            <a:r>
              <a:rPr lang="en-US" sz="1200" b="1" dirty="0">
                <a:solidFill>
                  <a:srgbClr val="1E2F5C"/>
                </a:solidFill>
              </a:rPr>
              <a:t>Higher risk of early marriage</a:t>
            </a:r>
            <a:endParaRPr lang="en-US" sz="1200" dirty="0"/>
          </a:p>
        </p:txBody>
      </p:sp>
      <p:sp>
        <p:nvSpPr>
          <p:cNvPr id="44"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5" name="Key message disc"/>
          <p:cNvSpPr/>
          <p:nvPr/>
        </p:nvSpPr>
        <p:spPr>
          <a:xfrm>
            <a:off x="777240" y="5660136"/>
            <a:ext cx="420624" cy="420624"/>
          </a:xfrm>
          <a:prstGeom prst="ellipse">
            <a:avLst/>
          </a:prstGeom>
          <a:solidFill>
            <a:srgbClr val="24427E"/>
          </a:solidFill>
          <a:ln/>
        </p:spPr>
      </p:sp>
      <p:pic>
        <p:nvPicPr>
          <p:cNvPr id="46" name="Key message icon" descr="preencoded.png">    </p:cNvPr>
          <p:cNvPicPr>
            <a:picLocks noChangeAspect="1"/>
          </p:cNvPicPr>
          <p:nvPr/>
        </p:nvPicPr>
        <p:blipFill>
          <a:blip r:embed="rId12"/>
          <a:stretch>
            <a:fillRect/>
          </a:stretch>
        </p:blipFill>
        <p:spPr>
          <a:xfrm>
            <a:off x="877824" y="5760720"/>
            <a:ext cx="219456" cy="219456"/>
          </a:xfrm>
          <a:prstGeom prst="rect">
            <a:avLst/>
          </a:prstGeom>
        </p:spPr>
      </p:pic>
      <p:sp>
        <p:nvSpPr>
          <p:cNvPr id="47"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CAUTION</a:t>
            </a:r>
            <a:endParaRPr lang="en-US" sz="900" dirty="0"/>
          </a:p>
        </p:txBody>
      </p:sp>
      <p:sp>
        <p:nvSpPr>
          <p:cNvPr id="48"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This represents an </a:t>
            </a:r>
            <a:pPr indent="0" marL="0">
              <a:lnSpc>
                <a:spcPct val="105000"/>
              </a:lnSpc>
              <a:buNone/>
            </a:pPr>
            <a:r>
              <a:rPr lang="en-US" sz="1300" b="1" dirty="0">
                <a:solidFill>
                  <a:srgbClr val="2D539F"/>
                </a:solidFill>
              </a:rPr>
              <a:t>explanatory pathway</a:t>
            </a:r>
            <a:pPr indent="0" marL="0">
              <a:lnSpc>
                <a:spcPct val="105000"/>
              </a:lnSpc>
              <a:buNone/>
            </a:pPr>
            <a:r>
              <a:rPr lang="en-US" sz="1300" b="1" dirty="0">
                <a:solidFill>
                  <a:srgbClr val="1E2F5C"/>
                </a:solidFill>
              </a:rPr>
              <a:t> emerging from the combined evidence; it should not be presented as a proven causal pathway.</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1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50"/>
                                        <p:tgtEl>
                                          <p:spTgt spid="15"/>
                                        </p:tgtEl>
                                      </p:cBhvr>
                                    </p:animEffect>
                                    <p:anim calcmode="lin" valueType="num">
                                      <p:cBhvr>
                                        <p:cTn id="27" dur="550" decel="100000" fill="hold"/>
                                        <p:tgtEl>
                                          <p:spTgt spid="15"/>
                                        </p:tgtEl>
                                        <p:attrNameLst>
                                          <p:attrName>ppt_x</p:attrName>
                                        </p:attrNameLst>
                                      </p:cBhvr>
                                      <p:tavLst>
                                        <p:tav tm="0">
                                          <p:val>
                                            <p:strVal val="#ppt_x"/>
                                          </p:val>
                                        </p:tav>
                                        <p:tav tm="100000">
                                          <p:val>
                                            <p:strVal val="#ppt_x"/>
                                          </p:val>
                                        </p:tav>
                                      </p:tavLst>
                                    </p:anim>
                                    <p:anim calcmode="lin" valueType="num">
                                      <p:cBhvr>
                                        <p:cTn id="28" dur="550" decel="100000" fill="hold"/>
                                        <p:tgtEl>
                                          <p:spTgt spid="15"/>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15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550"/>
                                        <p:tgtEl>
                                          <p:spTgt spid="16"/>
                                        </p:tgtEl>
                                      </p:cBhvr>
                                    </p:animEffect>
                                    <p:anim calcmode="lin" valueType="num">
                                      <p:cBhvr>
                                        <p:cTn id="32" dur="550" decel="100000" fill="hold"/>
                                        <p:tgtEl>
                                          <p:spTgt spid="16"/>
                                        </p:tgtEl>
                                        <p:attrNameLst>
                                          <p:attrName>ppt_x</p:attrName>
                                        </p:attrNameLst>
                                      </p:cBhvr>
                                      <p:tavLst>
                                        <p:tav tm="0">
                                          <p:val>
                                            <p:strVal val="#ppt_x"/>
                                          </p:val>
                                        </p:tav>
                                        <p:tav tm="100000">
                                          <p:val>
                                            <p:strVal val="#ppt_x"/>
                                          </p:val>
                                        </p:tav>
                                      </p:tavLst>
                                    </p:anim>
                                    <p:anim calcmode="lin" valueType="num">
                                      <p:cBhvr>
                                        <p:cTn id="33" dur="550" decel="100000" fill="hold"/>
                                        <p:tgtEl>
                                          <p:spTgt spid="16"/>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1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50"/>
                                        <p:tgtEl>
                                          <p:spTgt spid="17"/>
                                        </p:tgtEl>
                                      </p:cBhvr>
                                    </p:animEffect>
                                    <p:anim calcmode="lin" valueType="num">
                                      <p:cBhvr>
                                        <p:cTn id="37" dur="550" decel="100000" fill="hold"/>
                                        <p:tgtEl>
                                          <p:spTgt spid="17"/>
                                        </p:tgtEl>
                                        <p:attrNameLst>
                                          <p:attrName>ppt_x</p:attrName>
                                        </p:attrNameLst>
                                      </p:cBhvr>
                                      <p:tavLst>
                                        <p:tav tm="0">
                                          <p:val>
                                            <p:strVal val="#ppt_x"/>
                                          </p:val>
                                        </p:tav>
                                        <p:tav tm="100000">
                                          <p:val>
                                            <p:strVal val="#ppt_x"/>
                                          </p:val>
                                        </p:tav>
                                      </p:tavLst>
                                    </p:anim>
                                    <p:anim calcmode="lin" valueType="num">
                                      <p:cBhvr>
                                        <p:cTn id="38" dur="550" decel="100000" fill="hold"/>
                                        <p:tgtEl>
                                          <p:spTgt spid="17"/>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15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50"/>
                                        <p:tgtEl>
                                          <p:spTgt spid="18"/>
                                        </p:tgtEl>
                                      </p:cBhvr>
                                    </p:animEffect>
                                    <p:anim calcmode="lin" valueType="num">
                                      <p:cBhvr>
                                        <p:cTn id="42" dur="550" decel="100000" fill="hold"/>
                                        <p:tgtEl>
                                          <p:spTgt spid="18"/>
                                        </p:tgtEl>
                                        <p:attrNameLst>
                                          <p:attrName>ppt_x</p:attrName>
                                        </p:attrNameLst>
                                      </p:cBhvr>
                                      <p:tavLst>
                                        <p:tav tm="0">
                                          <p:val>
                                            <p:strVal val="#ppt_x"/>
                                          </p:val>
                                        </p:tav>
                                        <p:tav tm="100000">
                                          <p:val>
                                            <p:strVal val="#ppt_x"/>
                                          </p:val>
                                        </p:tav>
                                      </p:tavLst>
                                    </p:anim>
                                    <p:anim calcmode="lin" valueType="num">
                                      <p:cBhvr>
                                        <p:cTn id="43" dur="550" decel="100000" fill="hold"/>
                                        <p:tgtEl>
                                          <p:spTgt spid="18"/>
                                        </p:tgtEl>
                                        <p:attrNameLst>
                                          <p:attrName>ppt_y</p:attrName>
                                        </p:attrNameLst>
                                      </p:cBhvr>
                                      <p:tavLst>
                                        <p:tav tm="0">
                                          <p:val>
                                            <p:strVal val="#ppt_y+0.03"/>
                                          </p:val>
                                        </p:tav>
                                        <p:tav tm="100000">
                                          <p:val>
                                            <p:strVal val="#ppt_y"/>
                                          </p:val>
                                        </p:tav>
                                      </p:tavLst>
                                    </p:anim>
                                  </p:childTnLst>
                                </p:cTn>
                              </p:par>
                              <p:par>
                                <p:cTn id="49" presetID="53" presetClass="entr" presetSubtype="16" fill="hold" grpId="0" nodeType="withEffect">
                                  <p:stCondLst>
                                    <p:cond delay="2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decel="100000" fill="hold"/>
                                        <p:tgtEl>
                                          <p:spTgt spid="13"/>
                                        </p:tgtEl>
                                        <p:attrNameLst>
                                          <p:attrName>ppt_w</p:attrName>
                                        </p:attrNameLst>
                                      </p:cBhvr>
                                      <p:tavLst>
                                        <p:tav tm="0">
                                          <p:val>
                                            <p:strVal val="#ppt_w*0.80"/>
                                          </p:val>
                                        </p:tav>
                                        <p:tav tm="100000">
                                          <p:val>
                                            <p:strVal val="#ppt_w"/>
                                          </p:val>
                                        </p:tav>
                                      </p:tavLst>
                                    </p:anim>
                                    <p:anim calcmode="lin" valueType="num">
                                      <p:cBhvr>
                                        <p:cTn id="48" dur="500" decel="100000" fill="hold"/>
                                        <p:tgtEl>
                                          <p:spTgt spid="13"/>
                                        </p:tgtEl>
                                        <p:attrNameLst>
                                          <p:attrName>ppt_h</p:attrName>
                                        </p:attrNameLst>
                                      </p:cBhvr>
                                      <p:tavLst>
                                        <p:tav tm="0">
                                          <p:val>
                                            <p:strVal val="#ppt_h*0.80"/>
                                          </p:val>
                                        </p:tav>
                                        <p:tav tm="100000">
                                          <p:val>
                                            <p:strVal val="#ppt_h"/>
                                          </p:val>
                                        </p:tav>
                                      </p:tavLst>
                                    </p:anim>
                                  </p:childTnLst>
                                </p:cTn>
                              </p:par>
                              <p:par>
                                <p:cTn id="54" presetID="42" presetClass="entr" presetSubtype="0" fill="hold" grpId="0" nodeType="withEffect">
                                  <p:stCondLst>
                                    <p:cond delay="30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550"/>
                                        <p:tgtEl>
                                          <p:spTgt spid="21"/>
                                        </p:tgtEl>
                                      </p:cBhvr>
                                    </p:animEffect>
                                    <p:anim calcmode="lin" valueType="num">
                                      <p:cBhvr>
                                        <p:cTn id="52" dur="550" decel="100000" fill="hold"/>
                                        <p:tgtEl>
                                          <p:spTgt spid="21"/>
                                        </p:tgtEl>
                                        <p:attrNameLst>
                                          <p:attrName>ppt_x</p:attrName>
                                        </p:attrNameLst>
                                      </p:cBhvr>
                                      <p:tavLst>
                                        <p:tav tm="0">
                                          <p:val>
                                            <p:strVal val="#ppt_x"/>
                                          </p:val>
                                        </p:tav>
                                        <p:tav tm="100000">
                                          <p:val>
                                            <p:strVal val="#ppt_x"/>
                                          </p:val>
                                        </p:tav>
                                      </p:tavLst>
                                    </p:anim>
                                    <p:anim calcmode="lin" valueType="num">
                                      <p:cBhvr>
                                        <p:cTn id="53" dur="550" decel="1000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3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550"/>
                                        <p:tgtEl>
                                          <p:spTgt spid="22"/>
                                        </p:tgtEl>
                                      </p:cBhvr>
                                    </p:animEffect>
                                    <p:anim calcmode="lin" valueType="num">
                                      <p:cBhvr>
                                        <p:cTn id="57" dur="550" decel="100000" fill="hold"/>
                                        <p:tgtEl>
                                          <p:spTgt spid="22"/>
                                        </p:tgtEl>
                                        <p:attrNameLst>
                                          <p:attrName>ppt_x</p:attrName>
                                        </p:attrNameLst>
                                      </p:cBhvr>
                                      <p:tavLst>
                                        <p:tav tm="0">
                                          <p:val>
                                            <p:strVal val="#ppt_x"/>
                                          </p:val>
                                        </p:tav>
                                        <p:tav tm="100000">
                                          <p:val>
                                            <p:strVal val="#ppt_x"/>
                                          </p:val>
                                        </p:tav>
                                      </p:tavLst>
                                    </p:anim>
                                    <p:anim calcmode="lin" valueType="num">
                                      <p:cBhvr>
                                        <p:cTn id="58" dur="550" decel="100000" fill="hold"/>
                                        <p:tgtEl>
                                          <p:spTgt spid="22"/>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30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550"/>
                                        <p:tgtEl>
                                          <p:spTgt spid="23"/>
                                        </p:tgtEl>
                                      </p:cBhvr>
                                    </p:animEffect>
                                    <p:anim calcmode="lin" valueType="num">
                                      <p:cBhvr>
                                        <p:cTn id="62" dur="550" decel="100000" fill="hold"/>
                                        <p:tgtEl>
                                          <p:spTgt spid="23"/>
                                        </p:tgtEl>
                                        <p:attrNameLst>
                                          <p:attrName>ppt_x</p:attrName>
                                        </p:attrNameLst>
                                      </p:cBhvr>
                                      <p:tavLst>
                                        <p:tav tm="0">
                                          <p:val>
                                            <p:strVal val="#ppt_x"/>
                                          </p:val>
                                        </p:tav>
                                        <p:tav tm="100000">
                                          <p:val>
                                            <p:strVal val="#ppt_x"/>
                                          </p:val>
                                        </p:tav>
                                      </p:tavLst>
                                    </p:anim>
                                    <p:anim calcmode="lin" valueType="num">
                                      <p:cBhvr>
                                        <p:cTn id="63" dur="550" decel="100000" fill="hold"/>
                                        <p:tgtEl>
                                          <p:spTgt spid="23"/>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300"/>
                                  </p:stCondLst>
                                  <p:childTnLst>
                                    <p:set>
                                      <p:cBhvr>
                                        <p:cTn id="65" dur="1" fill="hold">
                                          <p:stCondLst>
                                            <p:cond delay="0"/>
                                          </p:stCondLst>
                                        </p:cTn>
                                        <p:tgtEl>
                                          <p:spTgt spid="24"/>
                                        </p:tgtEl>
                                        <p:attrNameLst>
                                          <p:attrName>style.visibility</p:attrName>
                                        </p:attrNameLst>
                                      </p:cBhvr>
                                      <p:to>
                                        <p:strVal val="visible"/>
                                      </p:to>
                                    </p:set>
                                    <p:animEffect transition="in" filter="fade">
                                      <p:cBhvr>
                                        <p:cTn id="66" dur="550"/>
                                        <p:tgtEl>
                                          <p:spTgt spid="24"/>
                                        </p:tgtEl>
                                      </p:cBhvr>
                                    </p:animEffect>
                                    <p:anim calcmode="lin" valueType="num">
                                      <p:cBhvr>
                                        <p:cTn id="67" dur="550" decel="100000" fill="hold"/>
                                        <p:tgtEl>
                                          <p:spTgt spid="24"/>
                                        </p:tgtEl>
                                        <p:attrNameLst>
                                          <p:attrName>ppt_x</p:attrName>
                                        </p:attrNameLst>
                                      </p:cBhvr>
                                      <p:tavLst>
                                        <p:tav tm="0">
                                          <p:val>
                                            <p:strVal val="#ppt_x"/>
                                          </p:val>
                                        </p:tav>
                                        <p:tav tm="100000">
                                          <p:val>
                                            <p:strVal val="#ppt_x"/>
                                          </p:val>
                                        </p:tav>
                                      </p:tavLst>
                                    </p:anim>
                                    <p:anim calcmode="lin" valueType="num">
                                      <p:cBhvr>
                                        <p:cTn id="68" dur="550" decel="100000" fill="hold"/>
                                        <p:tgtEl>
                                          <p:spTgt spid="24"/>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35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550"/>
                                        <p:tgtEl>
                                          <p:spTgt spid="14"/>
                                        </p:tgtEl>
                                      </p:cBhvr>
                                    </p:animEffect>
                                    <p:anim calcmode="lin" valueType="num">
                                      <p:cBhvr>
                                        <p:cTn id="72" dur="550" decel="100000" fill="hold"/>
                                        <p:tgtEl>
                                          <p:spTgt spid="14"/>
                                        </p:tgtEl>
                                        <p:attrNameLst>
                                          <p:attrName>ppt_x</p:attrName>
                                        </p:attrNameLst>
                                      </p:cBhvr>
                                      <p:tavLst>
                                        <p:tav tm="0">
                                          <p:val>
                                            <p:strVal val="#ppt_x"/>
                                          </p:val>
                                        </p:tav>
                                        <p:tav tm="100000">
                                          <p:val>
                                            <p:strVal val="#ppt_x"/>
                                          </p:val>
                                        </p:tav>
                                      </p:tavLst>
                                    </p:anim>
                                    <p:anim calcmode="lin" valueType="num">
                                      <p:cBhvr>
                                        <p:cTn id="73" dur="550" decel="100000" fill="hold"/>
                                        <p:tgtEl>
                                          <p:spTgt spid="14"/>
                                        </p:tgtEl>
                                        <p:attrNameLst>
                                          <p:attrName>ppt_y</p:attrName>
                                        </p:attrNameLst>
                                      </p:cBhvr>
                                      <p:tavLst>
                                        <p:tav tm="0">
                                          <p:val>
                                            <p:strVal val="#ppt_y+0.03"/>
                                          </p:val>
                                        </p:tav>
                                        <p:tav tm="100000">
                                          <p:val>
                                            <p:strVal val="#ppt_y"/>
                                          </p:val>
                                        </p:tav>
                                      </p:tavLst>
                                    </p:anim>
                                  </p:childTnLst>
                                </p:cTn>
                              </p:par>
                              <p:par>
                                <p:cTn id="79" presetID="53" presetClass="entr" presetSubtype="16" fill="hold" grpId="0" nodeType="withEffect">
                                  <p:stCondLst>
                                    <p:cond delay="40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00"/>
                                        <p:tgtEl>
                                          <p:spTgt spid="19"/>
                                        </p:tgtEl>
                                      </p:cBhvr>
                                    </p:animEffect>
                                    <p:anim calcmode="lin" valueType="num">
                                      <p:cBhvr>
                                        <p:cTn id="77" dur="500" decel="100000" fill="hold"/>
                                        <p:tgtEl>
                                          <p:spTgt spid="19"/>
                                        </p:tgtEl>
                                        <p:attrNameLst>
                                          <p:attrName>ppt_w</p:attrName>
                                        </p:attrNameLst>
                                      </p:cBhvr>
                                      <p:tavLst>
                                        <p:tav tm="0">
                                          <p:val>
                                            <p:strVal val="#ppt_w*0.80"/>
                                          </p:val>
                                        </p:tav>
                                        <p:tav tm="100000">
                                          <p:val>
                                            <p:strVal val="#ppt_w"/>
                                          </p:val>
                                        </p:tav>
                                      </p:tavLst>
                                    </p:anim>
                                    <p:anim calcmode="lin" valueType="num">
                                      <p:cBhvr>
                                        <p:cTn id="78" dur="500" decel="100000" fill="hold"/>
                                        <p:tgtEl>
                                          <p:spTgt spid="19"/>
                                        </p:tgtEl>
                                        <p:attrNameLst>
                                          <p:attrName>ppt_h</p:attrName>
                                        </p:attrNameLst>
                                      </p:cBhvr>
                                      <p:tavLst>
                                        <p:tav tm="0">
                                          <p:val>
                                            <p:strVal val="#ppt_h*0.80"/>
                                          </p:val>
                                        </p:tav>
                                        <p:tav tm="100000">
                                          <p:val>
                                            <p:strVal val="#ppt_h"/>
                                          </p:val>
                                        </p:tav>
                                      </p:tavLst>
                                    </p:anim>
                                  </p:childTnLst>
                                </p:cTn>
                              </p:par>
                              <p:par>
                                <p:cTn id="84" presetID="42" presetClass="entr" presetSubtype="0" fill="hold" grpId="0" nodeType="withEffect">
                                  <p:stCondLst>
                                    <p:cond delay="5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53" presetClass="entr" presetSubtype="16" fill="hold" grpId="0" nodeType="withEffect">
                                  <p:stCondLst>
                                    <p:cond delay="55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00"/>
                                        <p:tgtEl>
                                          <p:spTgt spid="25"/>
                                        </p:tgtEl>
                                      </p:cBhvr>
                                    </p:animEffect>
                                    <p:anim calcmode="lin" valueType="num">
                                      <p:cBhvr>
                                        <p:cTn id="87" dur="500" decel="100000" fill="hold"/>
                                        <p:tgtEl>
                                          <p:spTgt spid="25"/>
                                        </p:tgtEl>
                                        <p:attrNameLst>
                                          <p:attrName>ppt_w</p:attrName>
                                        </p:attrNameLst>
                                      </p:cBhvr>
                                      <p:tavLst>
                                        <p:tav tm="0">
                                          <p:val>
                                            <p:strVal val="#ppt_w*0.80"/>
                                          </p:val>
                                        </p:tav>
                                        <p:tav tm="100000">
                                          <p:val>
                                            <p:strVal val="#ppt_w"/>
                                          </p:val>
                                        </p:tav>
                                      </p:tavLst>
                                    </p:anim>
                                    <p:anim calcmode="lin" valueType="num">
                                      <p:cBhvr>
                                        <p:cTn id="88" dur="500" decel="100000" fill="hold"/>
                                        <p:tgtEl>
                                          <p:spTgt spid="25"/>
                                        </p:tgtEl>
                                        <p:attrNameLst>
                                          <p:attrName>ppt_h</p:attrName>
                                        </p:attrNameLst>
                                      </p:cBhvr>
                                      <p:tavLst>
                                        <p:tav tm="0">
                                          <p:val>
                                            <p:strVal val="#ppt_h*0.80"/>
                                          </p:val>
                                        </p:tav>
                                        <p:tav tm="100000">
                                          <p:val>
                                            <p:strVal val="#ppt_h"/>
                                          </p:val>
                                        </p:tav>
                                      </p:tavLst>
                                    </p:anim>
                                  </p:childTnLst>
                                </p:cTn>
                              </p:par>
                              <p:par>
                                <p:cTn id="94" presetID="42" presetClass="entr" presetSubtype="0" fill="hold" grpId="0" nodeType="withEffect">
                                  <p:stCondLst>
                                    <p:cond delay="65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50"/>
                                        <p:tgtEl>
                                          <p:spTgt spid="26"/>
                                        </p:tgtEl>
                                      </p:cBhvr>
                                    </p:animEffect>
                                    <p:anim calcmode="lin" valueType="num">
                                      <p:cBhvr>
                                        <p:cTn id="92" dur="550" decel="100000" fill="hold"/>
                                        <p:tgtEl>
                                          <p:spTgt spid="26"/>
                                        </p:tgtEl>
                                        <p:attrNameLst>
                                          <p:attrName>ppt_x</p:attrName>
                                        </p:attrNameLst>
                                      </p:cBhvr>
                                      <p:tavLst>
                                        <p:tav tm="0">
                                          <p:val>
                                            <p:strVal val="#ppt_x"/>
                                          </p:val>
                                        </p:tav>
                                        <p:tav tm="100000">
                                          <p:val>
                                            <p:strVal val="#ppt_x"/>
                                          </p:val>
                                        </p:tav>
                                      </p:tavLst>
                                    </p:anim>
                                    <p:anim calcmode="lin" valueType="num">
                                      <p:cBhvr>
                                        <p:cTn id="93" dur="550" decel="100000" fill="hold"/>
                                        <p:tgtEl>
                                          <p:spTgt spid="26"/>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7"/>
                                        </p:tgtEl>
                                        <p:attrNameLst>
                                          <p:attrName>style.visibility</p:attrName>
                                        </p:attrNameLst>
                                      </p:cBhvr>
                                      <p:to>
                                        <p:strVal val="visible"/>
                                      </p:to>
                                    </p:set>
                                    <p:animEffect transition="in" filter="fade">
                                      <p:cBhvr>
                                        <p:cTn id="96" dur="550"/>
                                        <p:tgtEl>
                                          <p:spTgt spid="27"/>
                                        </p:tgtEl>
                                      </p:cBhvr>
                                    </p:animEffect>
                                    <p:anim calcmode="lin" valueType="num">
                                      <p:cBhvr>
                                        <p:cTn id="97" dur="550" decel="100000" fill="hold"/>
                                        <p:tgtEl>
                                          <p:spTgt spid="27"/>
                                        </p:tgtEl>
                                        <p:attrNameLst>
                                          <p:attrName>ppt_x</p:attrName>
                                        </p:attrNameLst>
                                      </p:cBhvr>
                                      <p:tavLst>
                                        <p:tav tm="0">
                                          <p:val>
                                            <p:strVal val="#ppt_x"/>
                                          </p:val>
                                        </p:tav>
                                        <p:tav tm="100000">
                                          <p:val>
                                            <p:strVal val="#ppt_x"/>
                                          </p:val>
                                        </p:tav>
                                      </p:tavLst>
                                    </p:anim>
                                    <p:anim calcmode="lin" valueType="num">
                                      <p:cBhvr>
                                        <p:cTn id="98" dur="550" decel="100000" fill="hold"/>
                                        <p:tgtEl>
                                          <p:spTgt spid="27"/>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p:cTn id="102" dur="550" decel="100000" fill="hold"/>
                                        <p:tgtEl>
                                          <p:spTgt spid="28"/>
                                        </p:tgtEl>
                                        <p:attrNameLst>
                                          <p:attrName>ppt_x</p:attrName>
                                        </p:attrNameLst>
                                      </p:cBhvr>
                                      <p:tavLst>
                                        <p:tav tm="0">
                                          <p:val>
                                            <p:strVal val="#ppt_x"/>
                                          </p:val>
                                        </p:tav>
                                        <p:tav tm="100000">
                                          <p:val>
                                            <p:strVal val="#ppt_x"/>
                                          </p:val>
                                        </p:tav>
                                      </p:tavLst>
                                    </p:anim>
                                    <p:anim calcmode="lin" valueType="num">
                                      <p:cBhvr>
                                        <p:cTn id="103" dur="550" decel="100000" fill="hold"/>
                                        <p:tgtEl>
                                          <p:spTgt spid="28"/>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9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550"/>
                                        <p:tgtEl>
                                          <p:spTgt spid="29"/>
                                        </p:tgtEl>
                                      </p:cBhvr>
                                    </p:animEffect>
                                    <p:anim calcmode="lin" valueType="num">
                                      <p:cBhvr>
                                        <p:cTn id="107" dur="550" decel="100000" fill="hold"/>
                                        <p:tgtEl>
                                          <p:spTgt spid="29"/>
                                        </p:tgtEl>
                                        <p:attrNameLst>
                                          <p:attrName>ppt_x</p:attrName>
                                        </p:attrNameLst>
                                      </p:cBhvr>
                                      <p:tavLst>
                                        <p:tav tm="0">
                                          <p:val>
                                            <p:strVal val="#ppt_x"/>
                                          </p:val>
                                        </p:tav>
                                        <p:tav tm="100000">
                                          <p:val>
                                            <p:strVal val="#ppt_x"/>
                                          </p:val>
                                        </p:tav>
                                      </p:tavLst>
                                    </p:anim>
                                    <p:anim calcmode="lin" valueType="num">
                                      <p:cBhvr>
                                        <p:cTn id="108" dur="550" decel="100000" fill="hold"/>
                                        <p:tgtEl>
                                          <p:spTgt spid="29"/>
                                        </p:tgtEl>
                                        <p:attrNameLst>
                                          <p:attrName>ppt_y</p:attrName>
                                        </p:attrNameLst>
                                      </p:cBhvr>
                                      <p:tavLst>
                                        <p:tav tm="0">
                                          <p:val>
                                            <p:strVal val="#ppt_y+0.03"/>
                                          </p:val>
                                        </p:tav>
                                        <p:tav tm="100000">
                                          <p:val>
                                            <p:strVal val="#ppt_y"/>
                                          </p:val>
                                        </p:tav>
                                      </p:tavLst>
                                    </p:anim>
                                  </p:childTnLst>
                                </p:cTn>
                              </p:par>
                              <p:par>
                                <p:cTn id="114" presetID="42" presetClass="entr" presetSubtype="0" fill="hold" grpId="0" nodeType="withEffect">
                                  <p:stCondLst>
                                    <p:cond delay="950"/>
                                  </p:stCondLst>
                                  <p:childTnLst>
                                    <p:set>
                                      <p:cBhvr>
                                        <p:cTn id="110" dur="1" fill="hold">
                                          <p:stCondLst>
                                            <p:cond delay="0"/>
                                          </p:stCondLst>
                                        </p:cTn>
                                        <p:tgtEl>
                                          <p:spTgt spid="30"/>
                                        </p:tgtEl>
                                        <p:attrNameLst>
                                          <p:attrName>style.visibility</p:attrName>
                                        </p:attrNameLst>
                                      </p:cBhvr>
                                      <p:to>
                                        <p:strVal val="visible"/>
                                      </p:to>
                                    </p:set>
                                    <p:animEffect transition="in" filter="fade">
                                      <p:cBhvr>
                                        <p:cTn id="111" dur="550"/>
                                        <p:tgtEl>
                                          <p:spTgt spid="30"/>
                                        </p:tgtEl>
                                      </p:cBhvr>
                                    </p:animEffect>
                                    <p:anim calcmode="lin" valueType="num">
                                      <p:cBhvr>
                                        <p:cTn id="112" dur="550" decel="100000" fill="hold"/>
                                        <p:tgtEl>
                                          <p:spTgt spid="30"/>
                                        </p:tgtEl>
                                        <p:attrNameLst>
                                          <p:attrName>ppt_x</p:attrName>
                                        </p:attrNameLst>
                                      </p:cBhvr>
                                      <p:tavLst>
                                        <p:tav tm="0">
                                          <p:val>
                                            <p:strVal val="#ppt_x"/>
                                          </p:val>
                                        </p:tav>
                                        <p:tav tm="100000">
                                          <p:val>
                                            <p:strVal val="#ppt_x"/>
                                          </p:val>
                                        </p:tav>
                                      </p:tavLst>
                                    </p:anim>
                                    <p:anim calcmode="lin" valueType="num">
                                      <p:cBhvr>
                                        <p:cTn id="113" dur="550" decel="100000" fill="hold"/>
                                        <p:tgtEl>
                                          <p:spTgt spid="30"/>
                                        </p:tgtEl>
                                        <p:attrNameLst>
                                          <p:attrName>ppt_y</p:attrName>
                                        </p:attrNameLst>
                                      </p:cBhvr>
                                      <p:tavLst>
                                        <p:tav tm="0">
                                          <p:val>
                                            <p:strVal val="#ppt_y+0.03"/>
                                          </p:val>
                                        </p:tav>
                                        <p:tav tm="100000">
                                          <p:val>
                                            <p:strVal val="#ppt_y"/>
                                          </p:val>
                                        </p:tav>
                                      </p:tavLst>
                                    </p:anim>
                                  </p:childTnLst>
                                </p:cTn>
                              </p:par>
                              <p:par>
                                <p:cTn id="119" presetID="42" presetClass="entr" presetSubtype="0" fill="hold" grpId="0" nodeType="withEffect">
                                  <p:stCondLst>
                                    <p:cond delay="95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p:cTn id="117" dur="550" decel="100000" fill="hold"/>
                                        <p:tgtEl>
                                          <p:spTgt spid="31"/>
                                        </p:tgtEl>
                                        <p:attrNameLst>
                                          <p:attrName>ppt_x</p:attrName>
                                        </p:attrNameLst>
                                      </p:cBhvr>
                                      <p:tavLst>
                                        <p:tav tm="0">
                                          <p:val>
                                            <p:strVal val="#ppt_x"/>
                                          </p:val>
                                        </p:tav>
                                        <p:tav tm="100000">
                                          <p:val>
                                            <p:strVal val="#ppt_x"/>
                                          </p:val>
                                        </p:tav>
                                      </p:tavLst>
                                    </p:anim>
                                    <p:anim calcmode="lin" valueType="num">
                                      <p:cBhvr>
                                        <p:cTn id="118" dur="550" decel="100000" fill="hold"/>
                                        <p:tgtEl>
                                          <p:spTgt spid="31"/>
                                        </p:tgtEl>
                                        <p:attrNameLst>
                                          <p:attrName>ppt_y</p:attrName>
                                        </p:attrNameLst>
                                      </p:cBhvr>
                                      <p:tavLst>
                                        <p:tav tm="0">
                                          <p:val>
                                            <p:strVal val="#ppt_y+0.03"/>
                                          </p:val>
                                        </p:tav>
                                        <p:tav tm="100000">
                                          <p:val>
                                            <p:strVal val="#ppt_y"/>
                                          </p:val>
                                        </p:tav>
                                      </p:tavLst>
                                    </p:anim>
                                  </p:childTnLst>
                                </p:cTn>
                              </p:par>
                              <p:par>
                                <p:cTn id="122" presetID="22" presetClass="entr" presetSubtype="8" fill="hold" grpId="0" nodeType="withEffect">
                                  <p:stCondLst>
                                    <p:cond delay="1050"/>
                                  </p:stCondLst>
                                  <p:childTnLst>
                                    <p:set>
                                      <p:cBhvr>
                                        <p:cTn id="120" dur="1" fill="hold">
                                          <p:stCondLst>
                                            <p:cond delay="0"/>
                                          </p:stCondLst>
                                        </p:cTn>
                                        <p:tgtEl>
                                          <p:spTgt spid="32"/>
                                        </p:tgtEl>
                                        <p:attrNameLst>
                                          <p:attrName>style.visibility</p:attrName>
                                        </p:attrNameLst>
                                      </p:cBhvr>
                                      <p:to>
                                        <p:strVal val="visible"/>
                                      </p:to>
                                    </p:set>
                                    <p:animEffect transition="in" filter="wipe(left)">
                                      <p:cBhvr>
                                        <p:cTn id="121" dur="600"/>
                                        <p:tgtEl>
                                          <p:spTgt spid="32"/>
                                        </p:tgtEl>
                                      </p:cBhvr>
                                    </p:animEffect>
                                  </p:childTnLst>
                                </p:cTn>
                              </p:par>
                              <p:par>
                                <p:cTn id="127" presetID="42" presetClass="entr" presetSubtype="0" fill="hold" grpId="0" nodeType="withEffect">
                                  <p:stCondLst>
                                    <p:cond delay="115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4" dur="550"/>
                                        <p:tgtEl>
                                          <p:spTgt spid="33"/>
                                        </p:tgtEl>
                                      </p:cBhvr>
                                    </p:animEffect>
                                    <p:anim calcmode="lin" valueType="num">
                                      <p:cBhvr>
                                        <p:cTn id="125" dur="550" decel="100000" fill="hold"/>
                                        <p:tgtEl>
                                          <p:spTgt spid="33"/>
                                        </p:tgtEl>
                                        <p:attrNameLst>
                                          <p:attrName>ppt_x</p:attrName>
                                        </p:attrNameLst>
                                      </p:cBhvr>
                                      <p:tavLst>
                                        <p:tav tm="0">
                                          <p:val>
                                            <p:strVal val="#ppt_x"/>
                                          </p:val>
                                        </p:tav>
                                        <p:tav tm="100000">
                                          <p:val>
                                            <p:strVal val="#ppt_x"/>
                                          </p:val>
                                        </p:tav>
                                      </p:tavLst>
                                    </p:anim>
                                    <p:anim calcmode="lin" valueType="num">
                                      <p:cBhvr>
                                        <p:cTn id="126" dur="550" decel="100000" fill="hold"/>
                                        <p:tgtEl>
                                          <p:spTgt spid="33"/>
                                        </p:tgtEl>
                                        <p:attrNameLst>
                                          <p:attrName>ppt_y</p:attrName>
                                        </p:attrNameLst>
                                      </p:cBhvr>
                                      <p:tavLst>
                                        <p:tav tm="0">
                                          <p:val>
                                            <p:strVal val="#ppt_y+0.03"/>
                                          </p:val>
                                        </p:tav>
                                        <p:tav tm="100000">
                                          <p:val>
                                            <p:strVal val="#ppt_y"/>
                                          </p:val>
                                        </p:tav>
                                      </p:tavLst>
                                    </p:anim>
                                  </p:childTnLst>
                                </p:cTn>
                              </p:par>
                              <p:par>
                                <p:cTn id="132" presetID="42" presetClass="entr" presetSubtype="0" fill="hold" grpId="0" nodeType="withEffect">
                                  <p:stCondLst>
                                    <p:cond delay="115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550"/>
                                        <p:tgtEl>
                                          <p:spTgt spid="34"/>
                                        </p:tgtEl>
                                      </p:cBhvr>
                                    </p:animEffect>
                                    <p:anim calcmode="lin" valueType="num">
                                      <p:cBhvr>
                                        <p:cTn id="130" dur="550" decel="100000" fill="hold"/>
                                        <p:tgtEl>
                                          <p:spTgt spid="34"/>
                                        </p:tgtEl>
                                        <p:attrNameLst>
                                          <p:attrName>ppt_x</p:attrName>
                                        </p:attrNameLst>
                                      </p:cBhvr>
                                      <p:tavLst>
                                        <p:tav tm="0">
                                          <p:val>
                                            <p:strVal val="#ppt_x"/>
                                          </p:val>
                                        </p:tav>
                                        <p:tav tm="100000">
                                          <p:val>
                                            <p:strVal val="#ppt_x"/>
                                          </p:val>
                                        </p:tav>
                                      </p:tavLst>
                                    </p:anim>
                                    <p:anim calcmode="lin" valueType="num">
                                      <p:cBhvr>
                                        <p:cTn id="131" dur="550" decel="100000" fill="hold"/>
                                        <p:tgtEl>
                                          <p:spTgt spid="34"/>
                                        </p:tgtEl>
                                        <p:attrNameLst>
                                          <p:attrName>ppt_y</p:attrName>
                                        </p:attrNameLst>
                                      </p:cBhvr>
                                      <p:tavLst>
                                        <p:tav tm="0">
                                          <p:val>
                                            <p:strVal val="#ppt_y+0.03"/>
                                          </p:val>
                                        </p:tav>
                                        <p:tav tm="100000">
                                          <p:val>
                                            <p:strVal val="#ppt_y"/>
                                          </p:val>
                                        </p:tav>
                                      </p:tavLst>
                                    </p:anim>
                                  </p:childTnLst>
                                </p:cTn>
                              </p:par>
                              <p:par>
                                <p:cTn id="137" presetID="42" presetClass="entr" presetSubtype="0" fill="hold" grpId="0" nodeType="withEffect">
                                  <p:stCondLst>
                                    <p:cond delay="115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p:cTn id="135" dur="550" decel="100000" fill="hold"/>
                                        <p:tgtEl>
                                          <p:spTgt spid="35"/>
                                        </p:tgtEl>
                                        <p:attrNameLst>
                                          <p:attrName>ppt_x</p:attrName>
                                        </p:attrNameLst>
                                      </p:cBhvr>
                                      <p:tavLst>
                                        <p:tav tm="0">
                                          <p:val>
                                            <p:strVal val="#ppt_x"/>
                                          </p:val>
                                        </p:tav>
                                        <p:tav tm="100000">
                                          <p:val>
                                            <p:strVal val="#ppt_x"/>
                                          </p:val>
                                        </p:tav>
                                      </p:tavLst>
                                    </p:anim>
                                    <p:anim calcmode="lin" valueType="num">
                                      <p:cBhvr>
                                        <p:cTn id="136" dur="550" decel="100000" fill="hold"/>
                                        <p:tgtEl>
                                          <p:spTgt spid="35"/>
                                        </p:tgtEl>
                                        <p:attrNameLst>
                                          <p:attrName>ppt_y</p:attrName>
                                        </p:attrNameLst>
                                      </p:cBhvr>
                                      <p:tavLst>
                                        <p:tav tm="0">
                                          <p:val>
                                            <p:strVal val="#ppt_y+0.03"/>
                                          </p:val>
                                        </p:tav>
                                        <p:tav tm="100000">
                                          <p:val>
                                            <p:strVal val="#ppt_y"/>
                                          </p:val>
                                        </p:tav>
                                      </p:tavLst>
                                    </p:anim>
                                  </p:childTnLst>
                                </p:cTn>
                              </p:par>
                              <p:par>
                                <p:cTn id="140" presetID="22" presetClass="entr" presetSubtype="8" fill="hold" grpId="0" nodeType="withEffect">
                                  <p:stCondLst>
                                    <p:cond delay="125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600"/>
                                        <p:tgtEl>
                                          <p:spTgt spid="36"/>
                                        </p:tgtEl>
                                      </p:cBhvr>
                                    </p:animEffect>
                                  </p:childTnLst>
                                </p:cTn>
                              </p:par>
                              <p:par>
                                <p:cTn id="145" presetID="42" presetClass="entr" presetSubtype="0" fill="hold" grpId="0" nodeType="withEffect">
                                  <p:stCondLst>
                                    <p:cond delay="135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p:cTn id="143" dur="550" decel="100000" fill="hold"/>
                                        <p:tgtEl>
                                          <p:spTgt spid="37"/>
                                        </p:tgtEl>
                                        <p:attrNameLst>
                                          <p:attrName>ppt_x</p:attrName>
                                        </p:attrNameLst>
                                      </p:cBhvr>
                                      <p:tavLst>
                                        <p:tav tm="0">
                                          <p:val>
                                            <p:strVal val="#ppt_x"/>
                                          </p:val>
                                        </p:tav>
                                        <p:tav tm="100000">
                                          <p:val>
                                            <p:strVal val="#ppt_x"/>
                                          </p:val>
                                        </p:tav>
                                      </p:tavLst>
                                    </p:anim>
                                    <p:anim calcmode="lin" valueType="num">
                                      <p:cBhvr>
                                        <p:cTn id="144" dur="550" decel="100000" fill="hold"/>
                                        <p:tgtEl>
                                          <p:spTgt spid="37"/>
                                        </p:tgtEl>
                                        <p:attrNameLst>
                                          <p:attrName>ppt_y</p:attrName>
                                        </p:attrNameLst>
                                      </p:cBhvr>
                                      <p:tavLst>
                                        <p:tav tm="0">
                                          <p:val>
                                            <p:strVal val="#ppt_y+0.03"/>
                                          </p:val>
                                        </p:tav>
                                        <p:tav tm="100000">
                                          <p:val>
                                            <p:strVal val="#ppt_y"/>
                                          </p:val>
                                        </p:tav>
                                      </p:tavLst>
                                    </p:anim>
                                  </p:childTnLst>
                                </p:cTn>
                              </p:par>
                              <p:par>
                                <p:cTn id="150" presetID="42" presetClass="entr" presetSubtype="0" fill="hold" grpId="0" nodeType="withEffect">
                                  <p:stCondLst>
                                    <p:cond delay="1350"/>
                                  </p:stCondLst>
                                  <p:childTnLst>
                                    <p:set>
                                      <p:cBhvr>
                                        <p:cTn id="146" dur="1" fill="hold">
                                          <p:stCondLst>
                                            <p:cond delay="0"/>
                                          </p:stCondLst>
                                        </p:cTn>
                                        <p:tgtEl>
                                          <p:spTgt spid="38"/>
                                        </p:tgtEl>
                                        <p:attrNameLst>
                                          <p:attrName>style.visibility</p:attrName>
                                        </p:attrNameLst>
                                      </p:cBhvr>
                                      <p:to>
                                        <p:strVal val="visible"/>
                                      </p:to>
                                    </p:set>
                                    <p:animEffect transition="in" filter="fade">
                                      <p:cBhvr>
                                        <p:cTn id="147" dur="550"/>
                                        <p:tgtEl>
                                          <p:spTgt spid="38"/>
                                        </p:tgtEl>
                                      </p:cBhvr>
                                    </p:animEffect>
                                    <p:anim calcmode="lin" valueType="num">
                                      <p:cBhvr>
                                        <p:cTn id="148" dur="550" decel="100000" fill="hold"/>
                                        <p:tgtEl>
                                          <p:spTgt spid="38"/>
                                        </p:tgtEl>
                                        <p:attrNameLst>
                                          <p:attrName>ppt_x</p:attrName>
                                        </p:attrNameLst>
                                      </p:cBhvr>
                                      <p:tavLst>
                                        <p:tav tm="0">
                                          <p:val>
                                            <p:strVal val="#ppt_x"/>
                                          </p:val>
                                        </p:tav>
                                        <p:tav tm="100000">
                                          <p:val>
                                            <p:strVal val="#ppt_x"/>
                                          </p:val>
                                        </p:tav>
                                      </p:tavLst>
                                    </p:anim>
                                    <p:anim calcmode="lin" valueType="num">
                                      <p:cBhvr>
                                        <p:cTn id="149" dur="550" decel="100000" fill="hold"/>
                                        <p:tgtEl>
                                          <p:spTgt spid="38"/>
                                        </p:tgtEl>
                                        <p:attrNameLst>
                                          <p:attrName>ppt_y</p:attrName>
                                        </p:attrNameLst>
                                      </p:cBhvr>
                                      <p:tavLst>
                                        <p:tav tm="0">
                                          <p:val>
                                            <p:strVal val="#ppt_y+0.03"/>
                                          </p:val>
                                        </p:tav>
                                        <p:tav tm="100000">
                                          <p:val>
                                            <p:strVal val="#ppt_y"/>
                                          </p:val>
                                        </p:tav>
                                      </p:tavLst>
                                    </p:anim>
                                  </p:childTnLst>
                                </p:cTn>
                              </p:par>
                              <p:par>
                                <p:cTn id="155" presetID="42" presetClass="entr" presetSubtype="0" fill="hold" grpId="0" nodeType="withEffect">
                                  <p:stCondLst>
                                    <p:cond delay="135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p:cTn id="153" dur="550" decel="100000" fill="hold"/>
                                        <p:tgtEl>
                                          <p:spTgt spid="39"/>
                                        </p:tgtEl>
                                        <p:attrNameLst>
                                          <p:attrName>ppt_x</p:attrName>
                                        </p:attrNameLst>
                                      </p:cBhvr>
                                      <p:tavLst>
                                        <p:tav tm="0">
                                          <p:val>
                                            <p:strVal val="#ppt_x"/>
                                          </p:val>
                                        </p:tav>
                                        <p:tav tm="100000">
                                          <p:val>
                                            <p:strVal val="#ppt_x"/>
                                          </p:val>
                                        </p:tav>
                                      </p:tavLst>
                                    </p:anim>
                                    <p:anim calcmode="lin" valueType="num">
                                      <p:cBhvr>
                                        <p:cTn id="154" dur="550" decel="100000" fill="hold"/>
                                        <p:tgtEl>
                                          <p:spTgt spid="39"/>
                                        </p:tgtEl>
                                        <p:attrNameLst>
                                          <p:attrName>ppt_y</p:attrName>
                                        </p:attrNameLst>
                                      </p:cBhvr>
                                      <p:tavLst>
                                        <p:tav tm="0">
                                          <p:val>
                                            <p:strVal val="#ppt_y+0.03"/>
                                          </p:val>
                                        </p:tav>
                                        <p:tav tm="100000">
                                          <p:val>
                                            <p:strVal val="#ppt_y"/>
                                          </p:val>
                                        </p:tav>
                                      </p:tavLst>
                                    </p:anim>
                                  </p:childTnLst>
                                </p:cTn>
                              </p:par>
                              <p:par>
                                <p:cTn id="158" presetID="22" presetClass="entr" presetSubtype="8" fill="hold" grpId="0" nodeType="withEffect">
                                  <p:stCondLst>
                                    <p:cond delay="1450"/>
                                  </p:stCondLst>
                                  <p:childTnLst>
                                    <p:set>
                                      <p:cBhvr>
                                        <p:cTn id="156" dur="1" fill="hold">
                                          <p:stCondLst>
                                            <p:cond delay="0"/>
                                          </p:stCondLst>
                                        </p:cTn>
                                        <p:tgtEl>
                                          <p:spTgt spid="40"/>
                                        </p:tgtEl>
                                        <p:attrNameLst>
                                          <p:attrName>style.visibility</p:attrName>
                                        </p:attrNameLst>
                                      </p:cBhvr>
                                      <p:to>
                                        <p:strVal val="visible"/>
                                      </p:to>
                                    </p:set>
                                    <p:animEffect transition="in" filter="wipe(left)">
                                      <p:cBhvr>
                                        <p:cTn id="157" dur="600"/>
                                        <p:tgtEl>
                                          <p:spTgt spid="40"/>
                                        </p:tgtEl>
                                      </p:cBhvr>
                                    </p:animEffect>
                                  </p:childTnLst>
                                </p:cTn>
                              </p:par>
                              <p:par>
                                <p:cTn id="163" presetID="42" presetClass="entr" presetSubtype="0" fill="hold" grpId="0" nodeType="withEffect">
                                  <p:stCondLst>
                                    <p:cond delay="15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5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5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7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par>
                                <p:cTn id="183" presetID="42" presetClass="entr" presetSubtype="0" fill="hold" grpId="0" nodeType="withEffect">
                                  <p:stCondLst>
                                    <p:cond delay="175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anim calcmode="lin" valueType="num">
                                      <p:cBhvr>
                                        <p:cTn id="181" dur="550" decel="100000" fill="hold"/>
                                        <p:tgtEl>
                                          <p:spTgt spid="45"/>
                                        </p:tgtEl>
                                        <p:attrNameLst>
                                          <p:attrName>ppt_x</p:attrName>
                                        </p:attrNameLst>
                                      </p:cBhvr>
                                      <p:tavLst>
                                        <p:tav tm="0">
                                          <p:val>
                                            <p:strVal val="#ppt_x"/>
                                          </p:val>
                                        </p:tav>
                                        <p:tav tm="100000">
                                          <p:val>
                                            <p:strVal val="#ppt_x"/>
                                          </p:val>
                                        </p:tav>
                                      </p:tavLst>
                                    </p:anim>
                                    <p:anim calcmode="lin" valueType="num">
                                      <p:cBhvr>
                                        <p:cTn id="182" dur="550" decel="100000" fill="hold"/>
                                        <p:tgtEl>
                                          <p:spTgt spid="45"/>
                                        </p:tgtEl>
                                        <p:attrNameLst>
                                          <p:attrName>ppt_y</p:attrName>
                                        </p:attrNameLst>
                                      </p:cBhvr>
                                      <p:tavLst>
                                        <p:tav tm="0">
                                          <p:val>
                                            <p:strVal val="#ppt_y+0.03"/>
                                          </p:val>
                                        </p:tav>
                                        <p:tav tm="100000">
                                          <p:val>
                                            <p:strVal val="#ppt_y"/>
                                          </p:val>
                                        </p:tav>
                                      </p:tavLst>
                                    </p:anim>
                                  </p:childTnLst>
                                </p:cTn>
                              </p:par>
                              <p:par>
                                <p:cTn id="188" presetID="42" presetClass="entr" presetSubtype="0" fill="hold" grpId="0" nodeType="withEffect">
                                  <p:stCondLst>
                                    <p:cond delay="1750"/>
                                  </p:stCondLst>
                                  <p:childTnLst>
                                    <p:set>
                                      <p:cBhvr>
                                        <p:cTn id="184" dur="1" fill="hold">
                                          <p:stCondLst>
                                            <p:cond delay="0"/>
                                          </p:stCondLst>
                                        </p:cTn>
                                        <p:tgtEl>
                                          <p:spTgt spid="46"/>
                                        </p:tgtEl>
                                        <p:attrNameLst>
                                          <p:attrName>style.visibility</p:attrName>
                                        </p:attrNameLst>
                                      </p:cBhvr>
                                      <p:to>
                                        <p:strVal val="visible"/>
                                      </p:to>
                                    </p:set>
                                    <p:animEffect transition="in" filter="fade">
                                      <p:cBhvr>
                                        <p:cTn id="185" dur="550"/>
                                        <p:tgtEl>
                                          <p:spTgt spid="46"/>
                                        </p:tgtEl>
                                      </p:cBhvr>
                                    </p:animEffect>
                                    <p:anim calcmode="lin" valueType="num">
                                      <p:cBhvr>
                                        <p:cTn id="186" dur="550" decel="100000" fill="hold"/>
                                        <p:tgtEl>
                                          <p:spTgt spid="46"/>
                                        </p:tgtEl>
                                        <p:attrNameLst>
                                          <p:attrName>ppt_x</p:attrName>
                                        </p:attrNameLst>
                                      </p:cBhvr>
                                      <p:tavLst>
                                        <p:tav tm="0">
                                          <p:val>
                                            <p:strVal val="#ppt_x"/>
                                          </p:val>
                                        </p:tav>
                                        <p:tav tm="100000">
                                          <p:val>
                                            <p:strVal val="#ppt_x"/>
                                          </p:val>
                                        </p:tav>
                                      </p:tavLst>
                                    </p:anim>
                                    <p:anim calcmode="lin" valueType="num">
                                      <p:cBhvr>
                                        <p:cTn id="187" dur="550" decel="100000" fill="hold"/>
                                        <p:tgtEl>
                                          <p:spTgt spid="46"/>
                                        </p:tgtEl>
                                        <p:attrNameLst>
                                          <p:attrName>ppt_y</p:attrName>
                                        </p:attrNameLst>
                                      </p:cBhvr>
                                      <p:tavLst>
                                        <p:tav tm="0">
                                          <p:val>
                                            <p:strVal val="#ppt_y+0.03"/>
                                          </p:val>
                                        </p:tav>
                                        <p:tav tm="100000">
                                          <p:val>
                                            <p:strVal val="#ppt_y"/>
                                          </p:val>
                                        </p:tav>
                                      </p:tavLst>
                                    </p:anim>
                                  </p:childTnLst>
                                </p:cTn>
                              </p:par>
                              <p:par>
                                <p:cTn id="193" presetID="42" presetClass="entr" presetSubtype="0" fill="hold" grpId="0" nodeType="withEffect">
                                  <p:stCondLst>
                                    <p:cond delay="1750"/>
                                  </p:stCondLst>
                                  <p:childTnLst>
                                    <p:set>
                                      <p:cBhvr>
                                        <p:cTn id="189" dur="1" fill="hold">
                                          <p:stCondLst>
                                            <p:cond delay="0"/>
                                          </p:stCondLst>
                                        </p:cTn>
                                        <p:tgtEl>
                                          <p:spTgt spid="47"/>
                                        </p:tgtEl>
                                        <p:attrNameLst>
                                          <p:attrName>style.visibility</p:attrName>
                                        </p:attrNameLst>
                                      </p:cBhvr>
                                      <p:to>
                                        <p:strVal val="visible"/>
                                      </p:to>
                                    </p:set>
                                    <p:animEffect transition="in" filter="fade">
                                      <p:cBhvr>
                                        <p:cTn id="190" dur="550"/>
                                        <p:tgtEl>
                                          <p:spTgt spid="47"/>
                                        </p:tgtEl>
                                      </p:cBhvr>
                                    </p:animEffect>
                                    <p:anim calcmode="lin" valueType="num">
                                      <p:cBhvr>
                                        <p:cTn id="191" dur="550" decel="100000" fill="hold"/>
                                        <p:tgtEl>
                                          <p:spTgt spid="47"/>
                                        </p:tgtEl>
                                        <p:attrNameLst>
                                          <p:attrName>ppt_x</p:attrName>
                                        </p:attrNameLst>
                                      </p:cBhvr>
                                      <p:tavLst>
                                        <p:tav tm="0">
                                          <p:val>
                                            <p:strVal val="#ppt_x"/>
                                          </p:val>
                                        </p:tav>
                                        <p:tav tm="100000">
                                          <p:val>
                                            <p:strVal val="#ppt_x"/>
                                          </p:val>
                                        </p:tav>
                                      </p:tavLst>
                                    </p:anim>
                                    <p:anim calcmode="lin" valueType="num">
                                      <p:cBhvr>
                                        <p:cTn id="192" dur="550" decel="100000" fill="hold"/>
                                        <p:tgtEl>
                                          <p:spTgt spid="47"/>
                                        </p:tgtEl>
                                        <p:attrNameLst>
                                          <p:attrName>ppt_y</p:attrName>
                                        </p:attrNameLst>
                                      </p:cBhvr>
                                      <p:tavLst>
                                        <p:tav tm="0">
                                          <p:val>
                                            <p:strVal val="#ppt_y+0.03"/>
                                          </p:val>
                                        </p:tav>
                                        <p:tav tm="100000">
                                          <p:val>
                                            <p:strVal val="#ppt_y"/>
                                          </p:val>
                                        </p:tav>
                                      </p:tavLst>
                                    </p:anim>
                                  </p:childTnLst>
                                </p:cTn>
                              </p:par>
                              <p:par>
                                <p:cTn id="198" presetID="42" presetClass="entr" presetSubtype="0" fill="hold" grpId="0" nodeType="withEffect">
                                  <p:stCondLst>
                                    <p:cond delay="1750"/>
                                  </p:stCondLst>
                                  <p:childTnLst>
                                    <p:set>
                                      <p:cBhvr>
                                        <p:cTn id="194" dur="1" fill="hold">
                                          <p:stCondLst>
                                            <p:cond delay="0"/>
                                          </p:stCondLst>
                                        </p:cTn>
                                        <p:tgtEl>
                                          <p:spTgt spid="48"/>
                                        </p:tgtEl>
                                        <p:attrNameLst>
                                          <p:attrName>style.visibility</p:attrName>
                                        </p:attrNameLst>
                                      </p:cBhvr>
                                      <p:to>
                                        <p:strVal val="visible"/>
                                      </p:to>
                                    </p:set>
                                    <p:animEffect transition="in" filter="fade">
                                      <p:cBhvr>
                                        <p:cTn id="195" dur="550"/>
                                        <p:tgtEl>
                                          <p:spTgt spid="48"/>
                                        </p:tgtEl>
                                      </p:cBhvr>
                                    </p:animEffect>
                                    <p:anim calcmode="lin" valueType="num">
                                      <p:cBhvr>
                                        <p:cTn id="196" dur="550" decel="100000" fill="hold"/>
                                        <p:tgtEl>
                                          <p:spTgt spid="48"/>
                                        </p:tgtEl>
                                        <p:attrNameLst>
                                          <p:attrName>ppt_x</p:attrName>
                                        </p:attrNameLst>
                                      </p:cBhvr>
                                      <p:tavLst>
                                        <p:tav tm="0">
                                          <p:val>
                                            <p:strVal val="#ppt_x"/>
                                          </p:val>
                                        </p:tav>
                                        <p:tav tm="100000">
                                          <p:val>
                                            <p:strVal val="#ppt_x"/>
                                          </p:val>
                                        </p:tav>
                                      </p:tavLst>
                                    </p:anim>
                                    <p:anim calcmode="lin" valueType="num">
                                      <p:cBhvr>
                                        <p:cTn id="197" dur="550" decel="100000" fill="hold"/>
                                        <p:tgtEl>
                                          <p:spTgt spid="48"/>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5" grpId="0" animBg="1"/>
      <p:bldP spid="16" grpId="0" animBg="1"/>
      <p:bldP spid="18" grpId="0" animBg="1"/>
      <p:bldP spid="13" grpId="0" animBg="1"/>
      <p:bldP spid="21" grpId="0" animBg="1"/>
      <p:bldP spid="22" grpId="0" animBg="1"/>
      <p:bldP spid="24" grpId="0" animBg="1"/>
      <p:bldP spid="14" grpId="0" animBg="1"/>
      <p:bldP spid="19" grpId="0" animBg="1"/>
      <p:bldP spid="20" grpId="0" animBg="1"/>
      <p:bldP spid="25" grpId="0" animBg="1"/>
      <p:bldP spid="26" grpId="0" animBg="1"/>
      <p:bldP spid="27" grpId="0" animBg="1"/>
      <p:bldP spid="28" grpId="0" animBg="1"/>
      <p:bldP spid="29" grpId="0" animBg="1"/>
      <p:bldP spid="31"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13232" y="402336"/>
            <a:ext cx="640080" cy="502920"/>
          </a:xfrm>
          <a:prstGeom prst="rect">
            <a:avLst/>
          </a:prstGeom>
          <a:noFill/>
          <a:ln/>
        </p:spPr>
        <p:txBody>
          <a:bodyPr wrap="square" lIns="0" tIns="0" rIns="0" bIns="0" rtlCol="0" anchor="ctr"/>
          <a:lstStyle/>
          <a:p>
            <a:pPr indent="0" marL="0">
              <a:buNone/>
            </a:pPr>
            <a:r>
              <a:rPr lang="en-US" sz="2800" b="1" dirty="0">
                <a:solidFill>
                  <a:srgbClr val="C9D2DE"/>
                </a:solidFill>
              </a:rPr>
              <a:t>07</a:t>
            </a:r>
            <a:endParaRPr lang="en-US" sz="2800" dirty="0"/>
          </a:p>
        </p:txBody>
      </p:sp>
      <p:sp>
        <p:nvSpPr>
          <p:cNvPr id="3" name="Text 6"/>
          <p:cNvSpPr/>
          <p:nvPr>
            <p:ph idx="106" type="body" hasCustomPrompt="1"/>
          </p:nvPr>
        </p:nvSpPr>
        <p:spPr>
          <a:xfrm>
            <a:off x="1371600" y="402336"/>
            <a:ext cx="8778240" cy="237744"/>
          </a:xfrm>
          <a:prstGeom prst="rect">
            <a:avLst/>
          </a:prstGeom>
          <a:noFill/>
          <a:ln/>
        </p:spPr>
        <p:txBody>
          <a:bodyPr wrap="square" lIns="0" tIns="0" rIns="0" bIns="0" rtlCol="0"/>
          <a:lstStyle/>
          <a:p>
            <a:pPr indent="0" marL="0">
              <a:buNone/>
            </a:pPr>
            <a:r>
              <a:rPr lang="en-US" sz="1000" b="1" spc="250" kern="0" dirty="0">
                <a:solidFill>
                  <a:srgbClr val="0B79A8"/>
                </a:solidFill>
              </a:rPr>
              <a:t>PROGRAMMING</a:t>
            </a:r>
            <a:endParaRPr lang="en-US" sz="1000" dirty="0"/>
          </a:p>
        </p:txBody>
      </p:sp>
      <p:sp>
        <p:nvSpPr>
          <p:cNvPr id="4" name="Text 6"/>
          <p:cNvSpPr/>
          <p:nvPr>
            <p:ph idx="107" type="title" hasCustomPrompt="1"/>
          </p:nvPr>
        </p:nvSpPr>
        <p:spPr>
          <a:xfrm>
            <a:off x="1371600" y="640080"/>
            <a:ext cx="9418320" cy="457200"/>
          </a:xfrm>
          <a:prstGeom prst="rect">
            <a:avLst/>
          </a:prstGeom>
          <a:noFill/>
          <a:ln/>
        </p:spPr>
        <p:txBody>
          <a:bodyPr wrap="square" lIns="0" tIns="0" rIns="0" bIns="0" rtlCol="0" anchor="ctr"/>
          <a:lstStyle/>
          <a:p>
            <a:pPr algn="l" indent="0" marL="0">
              <a:buNone/>
            </a:pPr>
            <a:r>
              <a:rPr lang="en-US" sz="2600" b="1" dirty="0">
                <a:solidFill>
                  <a:srgbClr val="1E2F5C"/>
                </a:solidFill>
              </a:rPr>
              <a:t>What Do These Findings Mean for Programming?</a:t>
            </a:r>
            <a:endParaRPr lang="en-US" sz="2600" dirty="0"/>
          </a:p>
        </p:txBody>
      </p:sp>
      <p:sp>
        <p:nvSpPr>
          <p:cNvPr id="5" name="Text 6"/>
          <p:cNvSpPr/>
          <p:nvPr>
            <p:ph idx="108" type="body" hasCustomPrompt="1"/>
          </p:nvPr>
        </p:nvSpPr>
        <p:spPr>
          <a:xfrm>
            <a:off x="1371600" y="1069848"/>
            <a:ext cx="9418320" cy="274320"/>
          </a:xfrm>
          <a:prstGeom prst="rect">
            <a:avLst/>
          </a:prstGeom>
          <a:noFill/>
          <a:ln/>
        </p:spPr>
        <p:txBody>
          <a:bodyPr wrap="square" lIns="0" tIns="0" rIns="0" bIns="0" rtlCol="0"/>
          <a:lstStyle/>
          <a:p>
            <a:pPr indent="0" marL="0">
              <a:buNone/>
            </a:pPr>
            <a:r>
              <a:rPr lang="en-US" sz="1300" dirty="0">
                <a:solidFill>
                  <a:srgbClr val="6B7383"/>
                </a:solidFill>
              </a:rPr>
              <a:t>Child marriage should be understood as part of a broader vulnerability system.</a:t>
            </a:r>
            <a:endParaRPr lang="en-US" sz="1300" dirty="0"/>
          </a:p>
        </p:txBody>
      </p:sp>
      <p:sp>
        <p:nvSpPr>
          <p:cNvPr id="6" name="Header icon disc"/>
          <p:cNvSpPr/>
          <p:nvPr/>
        </p:nvSpPr>
        <p:spPr>
          <a:xfrm>
            <a:off x="11000232" y="548640"/>
            <a:ext cx="640080" cy="640080"/>
          </a:xfrm>
          <a:prstGeom prst="ellipse">
            <a:avLst/>
          </a:prstGeom>
          <a:solidFill>
            <a:srgbClr val="E6F6FC"/>
          </a:solidFill>
          <a:ln/>
        </p:spPr>
      </p:sp>
      <p:pic>
        <p:nvPicPr>
          <p:cNvPr id="7" name="Header icon" descr="preencoded.png">    </p:cNvPr>
          <p:cNvPicPr>
            <a:picLocks noChangeAspect="1"/>
          </p:cNvPicPr>
          <p:nvPr/>
        </p:nvPicPr>
        <p:blipFill>
          <a:blip r:embed="rId1"/>
          <a:stretch>
            <a:fillRect/>
          </a:stretch>
        </p:blipFill>
        <p:spPr>
          <a:xfrm>
            <a:off x="11160252" y="708660"/>
            <a:ext cx="320040" cy="320040"/>
          </a:xfrm>
          <a:prstGeom prst="rect">
            <a:avLst/>
          </a:prstGeom>
        </p:spPr>
      </p:pic>
      <p:sp>
        <p:nvSpPr>
          <p:cNvPr id="8"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08 / 09</a:t>
            </a:r>
            <a:endParaRPr lang="en-US" sz="900" dirty="0"/>
          </a:p>
        </p:txBody>
      </p:sp>
      <p:sp>
        <p:nvSpPr>
          <p:cNvPr id="9" name="Economic vulnerability box"/>
          <p:cNvSpPr/>
          <p:nvPr/>
        </p:nvSpPr>
        <p:spPr>
          <a:xfrm>
            <a:off x="548640"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0" name="Shape"/>
          <p:cNvSpPr/>
          <p:nvPr/>
        </p:nvSpPr>
        <p:spPr>
          <a:xfrm>
            <a:off x="658368" y="1847088"/>
            <a:ext cx="2267712" cy="512064"/>
          </a:xfrm>
          <a:prstGeom prst="roundRect">
            <a:avLst>
              <a:gd name="adj" fmla="val 10714"/>
            </a:avLst>
          </a:prstGeom>
          <a:solidFill>
            <a:srgbClr val="E4F4F5"/>
          </a:solidFill>
          <a:ln/>
        </p:spPr>
      </p:sp>
      <p:sp>
        <p:nvSpPr>
          <p:cNvPr id="11" name="Text"/>
          <p:cNvSpPr txBox="1"/>
          <p:nvPr/>
        </p:nvSpPr>
        <p:spPr>
          <a:xfrm>
            <a:off x="777240" y="1847088"/>
            <a:ext cx="2029968" cy="512064"/>
          </a:xfrm>
          <a:prstGeom prst="rect">
            <a:avLst/>
          </a:prstGeom>
          <a:noFill/>
          <a:ln/>
        </p:spPr>
        <p:txBody>
          <a:bodyPr wrap="square" lIns="0" tIns="0" rIns="0" bIns="0" rtlCol="0" anchor="ctr"/>
          <a:lstStyle/>
          <a:p>
            <a:pPr indent="0" marL="0">
              <a:buNone/>
            </a:pPr>
            <a:r>
              <a:rPr lang="en-US" sz="1050" b="1" dirty="0">
                <a:solidFill>
                  <a:srgbClr val="0D7480"/>
                </a:solidFill>
              </a:rPr>
              <a:t>Economic vulnerability</a:t>
            </a:r>
            <a:endParaRPr lang="en-US" sz="1050" dirty="0"/>
          </a:p>
        </p:txBody>
      </p:sp>
      <p:sp>
        <p:nvSpPr>
          <p:cNvPr id="12" name="Text"/>
          <p:cNvSpPr txBox="1"/>
          <p:nvPr/>
        </p:nvSpPr>
        <p:spPr>
          <a:xfrm>
            <a:off x="777240"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Poverty</a:t>
            </a:r>
            <a:endParaRPr lang="en-US" sz="1050" dirty="0"/>
          </a:p>
          <a:p>
            <a:pPr marL="139700" indent="-139700">
              <a:spcAft>
                <a:spcPts val="300"/>
              </a:spcAft>
              <a:buSzPct val="100000"/>
              <a:buChar char="•"/>
            </a:pPr>
            <a:r>
              <a:rPr lang="en-US" sz="1050" dirty="0">
                <a:solidFill>
                  <a:srgbClr val="414A5A"/>
                </a:solidFill>
              </a:rPr>
              <a:t>Hunger</a:t>
            </a:r>
            <a:endParaRPr lang="en-US" sz="1050" dirty="0"/>
          </a:p>
          <a:p>
            <a:pPr marL="139700" indent="-139700">
              <a:spcAft>
                <a:spcPts val="300"/>
              </a:spcAft>
              <a:buSzPct val="100000"/>
              <a:buChar char="•"/>
            </a:pPr>
            <a:r>
              <a:rPr lang="en-US" sz="1050" dirty="0">
                <a:solidFill>
                  <a:srgbClr val="414A5A"/>
                </a:solidFill>
              </a:rPr>
              <a:t>Child labour</a:t>
            </a:r>
            <a:endParaRPr lang="en-US" sz="1050" dirty="0"/>
          </a:p>
        </p:txBody>
      </p:sp>
      <p:pic>
        <p:nvPicPr>
          <p:cNvPr id="13" name="Arrow" descr="preencoded.png">    </p:cNvPr>
          <p:cNvPicPr>
            <a:picLocks noChangeAspect="1"/>
          </p:cNvPicPr>
          <p:nvPr/>
        </p:nvPicPr>
        <p:blipFill>
          <a:blip r:embed="rId2"/>
          <a:stretch>
            <a:fillRect/>
          </a:stretch>
        </p:blipFill>
        <p:spPr>
          <a:xfrm>
            <a:off x="3117037" y="2496312"/>
            <a:ext cx="219456" cy="219456"/>
          </a:xfrm>
          <a:prstGeom prst="rect">
            <a:avLst/>
          </a:prstGeom>
        </p:spPr>
      </p:pic>
      <p:sp>
        <p:nvSpPr>
          <p:cNvPr id="14" name="Education &amp; protection vulnerability box"/>
          <p:cNvSpPr/>
          <p:nvPr/>
        </p:nvSpPr>
        <p:spPr>
          <a:xfrm>
            <a:off x="3417722"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Shape"/>
          <p:cNvSpPr/>
          <p:nvPr/>
        </p:nvSpPr>
        <p:spPr>
          <a:xfrm>
            <a:off x="3527450" y="1847088"/>
            <a:ext cx="2267712" cy="512064"/>
          </a:xfrm>
          <a:prstGeom prst="roundRect">
            <a:avLst>
              <a:gd name="adj" fmla="val 10714"/>
            </a:avLst>
          </a:prstGeom>
          <a:solidFill>
            <a:srgbClr val="FEF1E7"/>
          </a:solidFill>
          <a:ln/>
        </p:spPr>
      </p:sp>
      <p:sp>
        <p:nvSpPr>
          <p:cNvPr id="16" name="Text"/>
          <p:cNvSpPr txBox="1"/>
          <p:nvPr/>
        </p:nvSpPr>
        <p:spPr>
          <a:xfrm>
            <a:off x="3646322" y="1847088"/>
            <a:ext cx="2029968" cy="512064"/>
          </a:xfrm>
          <a:prstGeom prst="rect">
            <a:avLst/>
          </a:prstGeom>
          <a:noFill/>
          <a:ln/>
        </p:spPr>
        <p:txBody>
          <a:bodyPr wrap="square" lIns="0" tIns="0" rIns="0" bIns="0" rtlCol="0" anchor="ctr"/>
          <a:lstStyle/>
          <a:p>
            <a:pPr indent="0" marL="0">
              <a:buNone/>
            </a:pPr>
            <a:r>
              <a:rPr lang="en-US" sz="1050" b="1" dirty="0">
                <a:solidFill>
                  <a:srgbClr val="B85A1A"/>
                </a:solidFill>
              </a:rPr>
              <a:t>Education &amp; protection vulnerability</a:t>
            </a:r>
            <a:endParaRPr lang="en-US" sz="1050" dirty="0"/>
          </a:p>
        </p:txBody>
      </p:sp>
      <p:sp>
        <p:nvSpPr>
          <p:cNvPr id="17" name="Text"/>
          <p:cNvSpPr txBox="1"/>
          <p:nvPr/>
        </p:nvSpPr>
        <p:spPr>
          <a:xfrm>
            <a:off x="3646322"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School disruption</a:t>
            </a:r>
            <a:endParaRPr lang="en-US" sz="1050" dirty="0"/>
          </a:p>
          <a:p>
            <a:pPr marL="139700" indent="-139700">
              <a:spcAft>
                <a:spcPts val="300"/>
              </a:spcAft>
              <a:buSzPct val="100000"/>
              <a:buChar char="•"/>
            </a:pPr>
            <a:r>
              <a:rPr lang="en-US" sz="1050" dirty="0">
                <a:solidFill>
                  <a:srgbClr val="414A5A"/>
                </a:solidFill>
              </a:rPr>
              <a:t>Loss of parental protection</a:t>
            </a:r>
            <a:endParaRPr lang="en-US" sz="1050" dirty="0"/>
          </a:p>
          <a:p>
            <a:pPr marL="139700" indent="-139700">
              <a:spcAft>
                <a:spcPts val="300"/>
              </a:spcAft>
              <a:buSzPct val="100000"/>
              <a:buChar char="•"/>
            </a:pPr>
            <a:r>
              <a:rPr lang="en-US" sz="1050" dirty="0">
                <a:solidFill>
                  <a:srgbClr val="414A5A"/>
                </a:solidFill>
              </a:rPr>
              <a:t>Increased exposure to harmful environments</a:t>
            </a:r>
            <a:endParaRPr lang="en-US" sz="1050" dirty="0"/>
          </a:p>
        </p:txBody>
      </p:sp>
      <p:pic>
        <p:nvPicPr>
          <p:cNvPr id="18" name="Arrow" descr="preencoded.png">    </p:cNvPr>
          <p:cNvPicPr>
            <a:picLocks noChangeAspect="1"/>
          </p:cNvPicPr>
          <p:nvPr/>
        </p:nvPicPr>
        <p:blipFill>
          <a:blip r:embed="rId3"/>
          <a:stretch>
            <a:fillRect/>
          </a:stretch>
        </p:blipFill>
        <p:spPr>
          <a:xfrm>
            <a:off x="5986120" y="2496312"/>
            <a:ext cx="219456" cy="219456"/>
          </a:xfrm>
          <a:prstGeom prst="rect">
            <a:avLst/>
          </a:prstGeom>
        </p:spPr>
      </p:pic>
      <p:sp>
        <p:nvSpPr>
          <p:cNvPr id="19" name="Sexual &amp; reproductive vulnerability box"/>
          <p:cNvSpPr/>
          <p:nvPr/>
        </p:nvSpPr>
        <p:spPr>
          <a:xfrm>
            <a:off x="6286805"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0" name="Shape"/>
          <p:cNvSpPr/>
          <p:nvPr/>
        </p:nvSpPr>
        <p:spPr>
          <a:xfrm>
            <a:off x="6396533" y="1847088"/>
            <a:ext cx="2267712" cy="512064"/>
          </a:xfrm>
          <a:prstGeom prst="roundRect">
            <a:avLst>
              <a:gd name="adj" fmla="val 10714"/>
            </a:avLst>
          </a:prstGeom>
          <a:solidFill>
            <a:srgbClr val="F4ECF7"/>
          </a:solidFill>
          <a:ln/>
        </p:spPr>
      </p:sp>
      <p:sp>
        <p:nvSpPr>
          <p:cNvPr id="21" name="Text"/>
          <p:cNvSpPr txBox="1"/>
          <p:nvPr/>
        </p:nvSpPr>
        <p:spPr>
          <a:xfrm>
            <a:off x="6515405" y="1847088"/>
            <a:ext cx="2029968" cy="512064"/>
          </a:xfrm>
          <a:prstGeom prst="rect">
            <a:avLst/>
          </a:prstGeom>
          <a:noFill/>
          <a:ln/>
        </p:spPr>
        <p:txBody>
          <a:bodyPr wrap="square" lIns="0" tIns="0" rIns="0" bIns="0" rtlCol="0" anchor="ctr"/>
          <a:lstStyle/>
          <a:p>
            <a:pPr indent="0" marL="0">
              <a:buNone/>
            </a:pPr>
            <a:r>
              <a:rPr lang="en-US" sz="1050" b="1" dirty="0">
                <a:solidFill>
                  <a:srgbClr val="74398A"/>
                </a:solidFill>
              </a:rPr>
              <a:t>Sexual &amp; reproductive vulnerability</a:t>
            </a:r>
            <a:endParaRPr lang="en-US" sz="1050" dirty="0"/>
          </a:p>
        </p:txBody>
      </p:sp>
      <p:sp>
        <p:nvSpPr>
          <p:cNvPr id="22" name="Text"/>
          <p:cNvSpPr txBox="1"/>
          <p:nvPr/>
        </p:nvSpPr>
        <p:spPr>
          <a:xfrm>
            <a:off x="6515405" y="2487168"/>
            <a:ext cx="2075688" cy="914400"/>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414A5A"/>
                </a:solidFill>
              </a:rPr>
              <a:t>Early sexual activity</a:t>
            </a:r>
            <a:endParaRPr lang="en-US" sz="1050" dirty="0"/>
          </a:p>
          <a:p>
            <a:pPr marL="139700" indent="-139700">
              <a:spcAft>
                <a:spcPts val="300"/>
              </a:spcAft>
              <a:buSzPct val="100000"/>
              <a:buChar char="•"/>
            </a:pPr>
            <a:r>
              <a:rPr lang="en-US" sz="1050" dirty="0">
                <a:solidFill>
                  <a:srgbClr val="414A5A"/>
                </a:solidFill>
              </a:rPr>
              <a:t>Early pregnancy</a:t>
            </a:r>
            <a:endParaRPr lang="en-US" sz="1050" dirty="0"/>
          </a:p>
          <a:p>
            <a:pPr marL="139700" indent="-139700">
              <a:spcAft>
                <a:spcPts val="300"/>
              </a:spcAft>
              <a:buSzPct val="100000"/>
              <a:buChar char="•"/>
            </a:pPr>
            <a:r>
              <a:rPr lang="en-US" sz="1050" dirty="0">
                <a:solidFill>
                  <a:srgbClr val="414A5A"/>
                </a:solidFill>
              </a:rPr>
              <a:t>Early childbearing</a:t>
            </a:r>
            <a:endParaRPr lang="en-US" sz="1050" dirty="0"/>
          </a:p>
        </p:txBody>
      </p:sp>
      <p:pic>
        <p:nvPicPr>
          <p:cNvPr id="23" name="Arrow" descr="preencoded.png">    </p:cNvPr>
          <p:cNvPicPr>
            <a:picLocks noChangeAspect="1"/>
          </p:cNvPicPr>
          <p:nvPr/>
        </p:nvPicPr>
        <p:blipFill>
          <a:blip r:embed="rId4"/>
          <a:stretch>
            <a:fillRect/>
          </a:stretch>
        </p:blipFill>
        <p:spPr>
          <a:xfrm>
            <a:off x="8855202" y="2496312"/>
            <a:ext cx="219456" cy="219456"/>
          </a:xfrm>
          <a:prstGeom prst="rect">
            <a:avLst/>
          </a:prstGeom>
        </p:spPr>
      </p:pic>
      <p:sp>
        <p:nvSpPr>
          <p:cNvPr id="24" name="Child marriage box"/>
          <p:cNvSpPr/>
          <p:nvPr/>
        </p:nvSpPr>
        <p:spPr>
          <a:xfrm>
            <a:off x="9155887" y="1737360"/>
            <a:ext cx="248716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5" name="Shape"/>
          <p:cNvSpPr/>
          <p:nvPr/>
        </p:nvSpPr>
        <p:spPr>
          <a:xfrm>
            <a:off x="9265615" y="1847088"/>
            <a:ext cx="2267712" cy="512064"/>
          </a:xfrm>
          <a:prstGeom prst="roundRect">
            <a:avLst>
              <a:gd name="adj" fmla="val 10714"/>
            </a:avLst>
          </a:prstGeom>
          <a:solidFill>
            <a:srgbClr val="EBF0FA"/>
          </a:solidFill>
          <a:ln/>
        </p:spPr>
      </p:sp>
      <p:sp>
        <p:nvSpPr>
          <p:cNvPr id="26" name="Text"/>
          <p:cNvSpPr txBox="1"/>
          <p:nvPr/>
        </p:nvSpPr>
        <p:spPr>
          <a:xfrm>
            <a:off x="9384487" y="1847088"/>
            <a:ext cx="2029968" cy="512064"/>
          </a:xfrm>
          <a:prstGeom prst="rect">
            <a:avLst/>
          </a:prstGeom>
          <a:noFill/>
          <a:ln/>
        </p:spPr>
        <p:txBody>
          <a:bodyPr wrap="square" lIns="0" tIns="0" rIns="0" bIns="0" rtlCol="0" anchor="ctr"/>
          <a:lstStyle/>
          <a:p>
            <a:pPr indent="0" marL="0">
              <a:buNone/>
            </a:pPr>
            <a:r>
              <a:rPr lang="en-US" sz="1050" b="1" dirty="0">
                <a:solidFill>
                  <a:srgbClr val="2D539F"/>
                </a:solidFill>
              </a:rPr>
              <a:t>Child marriage</a:t>
            </a:r>
            <a:endParaRPr lang="en-US" sz="1050" dirty="0"/>
          </a:p>
        </p:txBody>
      </p:sp>
      <p:sp>
        <p:nvSpPr>
          <p:cNvPr id="27" name="GiLinkedRings disc"/>
          <p:cNvSpPr/>
          <p:nvPr/>
        </p:nvSpPr>
        <p:spPr>
          <a:xfrm>
            <a:off x="10015423" y="2523744"/>
            <a:ext cx="768096" cy="768096"/>
          </a:xfrm>
          <a:prstGeom prst="ellipse">
            <a:avLst/>
          </a:prstGeom>
          <a:solidFill>
            <a:srgbClr val="3B67C4"/>
          </a:solidFill>
          <a:ln/>
        </p:spPr>
      </p:sp>
      <p:pic>
        <p:nvPicPr>
          <p:cNvPr id="28" name="GiLinkedRings" descr="preencoded.png">    </p:cNvPr>
          <p:cNvPicPr>
            <a:picLocks noChangeAspect="1"/>
          </p:cNvPicPr>
          <p:nvPr/>
        </p:nvPicPr>
        <p:blipFill>
          <a:blip r:embed="rId5"/>
          <a:stretch>
            <a:fillRect/>
          </a:stretch>
        </p:blipFill>
        <p:spPr>
          <a:xfrm>
            <a:off x="10215128" y="2723449"/>
            <a:ext cx="368686" cy="368686"/>
          </a:xfrm>
          <a:prstGeom prst="rect">
            <a:avLst/>
          </a:prstGeom>
        </p:spPr>
      </p:pic>
      <p:sp>
        <p:nvSpPr>
          <p:cNvPr id="29" name="What the evidence can support card"/>
          <p:cNvSpPr/>
          <p:nvPr/>
        </p:nvSpPr>
        <p:spPr>
          <a:xfrm>
            <a:off x="548640"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0" name="What the evidence can support icon disc"/>
          <p:cNvSpPr/>
          <p:nvPr/>
        </p:nvSpPr>
        <p:spPr>
          <a:xfrm>
            <a:off x="804672" y="3877056"/>
            <a:ext cx="420624" cy="420624"/>
          </a:xfrm>
          <a:prstGeom prst="ellipse">
            <a:avLst/>
          </a:prstGeom>
          <a:solidFill>
            <a:srgbClr val="E8F5EE"/>
          </a:solidFill>
          <a:ln/>
        </p:spPr>
      </p:sp>
      <p:pic>
        <p:nvPicPr>
          <p:cNvPr id="31" name="What the evidence can support icon" descr="preencoded.png">    </p:cNvPr>
          <p:cNvPicPr>
            <a:picLocks noChangeAspect="1"/>
          </p:cNvPicPr>
          <p:nvPr/>
        </p:nvPicPr>
        <p:blipFill>
          <a:blip r:embed="rId6"/>
          <a:stretch>
            <a:fillRect/>
          </a:stretch>
        </p:blipFill>
        <p:spPr>
          <a:xfrm>
            <a:off x="905256" y="3977640"/>
            <a:ext cx="219456" cy="219456"/>
          </a:xfrm>
          <a:prstGeom prst="rect">
            <a:avLst/>
          </a:prstGeom>
        </p:spPr>
      </p:pic>
      <p:sp>
        <p:nvSpPr>
          <p:cNvPr id="32" name="What the evidence can support label"/>
          <p:cNvSpPr txBox="1"/>
          <p:nvPr/>
        </p:nvSpPr>
        <p:spPr>
          <a:xfrm>
            <a:off x="1353312" y="3877056"/>
            <a:ext cx="4404208" cy="420624"/>
          </a:xfrm>
          <a:prstGeom prst="rect">
            <a:avLst/>
          </a:prstGeom>
          <a:noFill/>
          <a:ln/>
        </p:spPr>
        <p:txBody>
          <a:bodyPr wrap="square" lIns="0" tIns="0" rIns="0" bIns="0" rtlCol="0" anchor="ctr"/>
          <a:lstStyle/>
          <a:p>
            <a:pPr indent="0" marL="0">
              <a:buNone/>
            </a:pPr>
            <a:r>
              <a:rPr lang="en-US" sz="1000" b="1" spc="120" kern="0" dirty="0">
                <a:solidFill>
                  <a:srgbClr val="1D7A48"/>
                </a:solidFill>
              </a:rPr>
              <a:t>WHAT THE EVIDENCE CAN SUPPORT</a:t>
            </a:r>
            <a:endParaRPr lang="en-US" sz="1000" dirty="0"/>
          </a:p>
        </p:txBody>
      </p:sp>
      <p:sp>
        <p:nvSpPr>
          <p:cNvPr id="33" name="Text"/>
          <p:cNvSpPr txBox="1"/>
          <p:nvPr/>
        </p:nvSpPr>
        <p:spPr>
          <a:xfrm>
            <a:off x="822960" y="4434840"/>
            <a:ext cx="2331720"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priority vulnerabilities</a:t>
            </a:r>
            <a:endParaRPr lang="en-US" sz="1100" dirty="0"/>
          </a:p>
          <a:p>
            <a:pPr marL="139700" indent="-139700">
              <a:spcAft>
                <a:spcPts val="400"/>
              </a:spcAft>
              <a:buSzPct val="100000"/>
              <a:buChar char="•"/>
            </a:pPr>
            <a:r>
              <a:rPr lang="en-US" sz="1100" dirty="0">
                <a:solidFill>
                  <a:srgbClr val="414A5A"/>
                </a:solidFill>
              </a:rPr>
              <a:t>Generate research questions</a:t>
            </a:r>
            <a:endParaRPr lang="en-US" sz="1100" dirty="0"/>
          </a:p>
          <a:p>
            <a:pPr marL="139700" indent="-139700">
              <a:spcAft>
                <a:spcPts val="400"/>
              </a:spcAft>
              <a:buSzPct val="100000"/>
              <a:buChar char="•"/>
            </a:pPr>
            <a:r>
              <a:rPr lang="en-US" sz="1100" dirty="0">
                <a:solidFill>
                  <a:srgbClr val="414A5A"/>
                </a:solidFill>
              </a:rPr>
              <a:t>Strengthen programme design</a:t>
            </a:r>
            <a:endParaRPr lang="en-US" sz="1100" dirty="0"/>
          </a:p>
        </p:txBody>
      </p:sp>
      <p:sp>
        <p:nvSpPr>
          <p:cNvPr id="34" name="Text"/>
          <p:cNvSpPr txBox="1"/>
          <p:nvPr/>
        </p:nvSpPr>
        <p:spPr>
          <a:xfrm>
            <a:off x="3246120" y="4434840"/>
            <a:ext cx="248396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Identify areas for qualitative investigation</a:t>
            </a:r>
            <a:endParaRPr lang="en-US" sz="1100" dirty="0"/>
          </a:p>
          <a:p>
            <a:pPr marL="139700" indent="-139700">
              <a:spcAft>
                <a:spcPts val="400"/>
              </a:spcAft>
              <a:buSzPct val="100000"/>
              <a:buChar char="•"/>
            </a:pPr>
            <a:r>
              <a:rPr lang="en-US" sz="1100" dirty="0">
                <a:solidFill>
                  <a:srgbClr val="414A5A"/>
                </a:solidFill>
              </a:rPr>
              <a:t>Explore convergence between quantitative and qualitative evidence</a:t>
            </a:r>
            <a:endParaRPr lang="en-US" sz="1100" dirty="0"/>
          </a:p>
        </p:txBody>
      </p:sp>
      <p:sp>
        <p:nvSpPr>
          <p:cNvPr id="35" name="What it should NOT be used for card"/>
          <p:cNvSpPr/>
          <p:nvPr/>
        </p:nvSpPr>
        <p:spPr>
          <a:xfrm>
            <a:off x="6233008" y="3657600"/>
            <a:ext cx="5410048" cy="1737360"/>
          </a:xfrm>
          <a:prstGeom prst="roundRect">
            <a:avLst>
              <a:gd name="adj" fmla="val 4211"/>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36" name="What it should NOT be used for icon disc"/>
          <p:cNvSpPr/>
          <p:nvPr/>
        </p:nvSpPr>
        <p:spPr>
          <a:xfrm>
            <a:off x="6489040" y="3877056"/>
            <a:ext cx="420624" cy="420624"/>
          </a:xfrm>
          <a:prstGeom prst="ellipse">
            <a:avLst/>
          </a:prstGeom>
          <a:solidFill>
            <a:srgbClr val="FCEDEC"/>
          </a:solidFill>
          <a:ln/>
        </p:spPr>
      </p:sp>
      <p:pic>
        <p:nvPicPr>
          <p:cNvPr id="37" name="What it should NOT be used for icon" descr="preencoded.png">    </p:cNvPr>
          <p:cNvPicPr>
            <a:picLocks noChangeAspect="1"/>
          </p:cNvPicPr>
          <p:nvPr/>
        </p:nvPicPr>
        <p:blipFill>
          <a:blip r:embed="rId7"/>
          <a:stretch>
            <a:fillRect/>
          </a:stretch>
        </p:blipFill>
        <p:spPr>
          <a:xfrm>
            <a:off x="6589624" y="3977640"/>
            <a:ext cx="219456" cy="219456"/>
          </a:xfrm>
          <a:prstGeom prst="rect">
            <a:avLst/>
          </a:prstGeom>
        </p:spPr>
      </p:pic>
      <p:sp>
        <p:nvSpPr>
          <p:cNvPr id="38" name="What it should NOT be used for label"/>
          <p:cNvSpPr txBox="1"/>
          <p:nvPr/>
        </p:nvSpPr>
        <p:spPr>
          <a:xfrm>
            <a:off x="7037680" y="3877056"/>
            <a:ext cx="4404208" cy="420624"/>
          </a:xfrm>
          <a:prstGeom prst="rect">
            <a:avLst/>
          </a:prstGeom>
          <a:noFill/>
          <a:ln/>
        </p:spPr>
        <p:txBody>
          <a:bodyPr wrap="square" lIns="0" tIns="0" rIns="0" bIns="0" rtlCol="0" anchor="ctr"/>
          <a:lstStyle/>
          <a:p>
            <a:pPr indent="0" marL="0">
              <a:buNone/>
            </a:pPr>
            <a:r>
              <a:rPr lang="en-US" sz="1000" b="1" spc="120" kern="0" dirty="0">
                <a:solidFill>
                  <a:srgbClr val="B53A35"/>
                </a:solidFill>
              </a:rPr>
              <a:t>WHAT IT SHOULD NOT BE USED FOR</a:t>
            </a:r>
            <a:endParaRPr lang="en-US" sz="1000" dirty="0"/>
          </a:p>
        </p:txBody>
      </p:sp>
      <p:sp>
        <p:nvSpPr>
          <p:cNvPr id="39" name="Text"/>
          <p:cNvSpPr txBox="1"/>
          <p:nvPr/>
        </p:nvSpPr>
        <p:spPr>
          <a:xfrm>
            <a:off x="6507328" y="4434840"/>
            <a:ext cx="4861408" cy="868680"/>
          </a:xfrm>
          <a:prstGeom prst="rect">
            <a:avLst/>
          </a:prstGeom>
          <a:noFill/>
          <a:ln/>
        </p:spPr>
        <p:txBody>
          <a:bodyPr wrap="square" lIns="0" tIns="0" rIns="0" bIns="0" rtlCol="0" anchor="t"/>
          <a:lstStyle/>
          <a:p>
            <a:pPr marL="139700" indent="-139700">
              <a:spcAft>
                <a:spcPts val="400"/>
              </a:spcAft>
              <a:buSzPct val="100000"/>
              <a:buChar char="•"/>
            </a:pPr>
            <a:r>
              <a:rPr lang="en-US" sz="1100" dirty="0">
                <a:solidFill>
                  <a:srgbClr val="414A5A"/>
                </a:solidFill>
              </a:rPr>
              <a:t>National prevalence estimates</a:t>
            </a:r>
            <a:endParaRPr lang="en-US" sz="1100" dirty="0"/>
          </a:p>
          <a:p>
            <a:pPr marL="139700" indent="-139700">
              <a:spcAft>
                <a:spcPts val="400"/>
              </a:spcAft>
              <a:buSzPct val="100000"/>
              <a:buChar char="•"/>
            </a:pPr>
            <a:r>
              <a:rPr lang="en-US" sz="1100" dirty="0">
                <a:solidFill>
                  <a:srgbClr val="414A5A"/>
                </a:solidFill>
              </a:rPr>
              <a:t>Causal claims</a:t>
            </a:r>
            <a:endParaRPr lang="en-US" sz="1100" dirty="0"/>
          </a:p>
          <a:p>
            <a:pPr marL="139700" indent="-139700">
              <a:spcAft>
                <a:spcPts val="400"/>
              </a:spcAft>
              <a:buSzPct val="100000"/>
              <a:buChar char="•"/>
            </a:pPr>
            <a:r>
              <a:rPr lang="en-US" sz="1100" dirty="0">
                <a:solidFill>
                  <a:srgbClr val="414A5A"/>
                </a:solidFill>
              </a:rPr>
              <a:t>Donor reporting of these figures as national statistics</a:t>
            </a:r>
            <a:endParaRPr lang="en-US" sz="1100" dirty="0"/>
          </a:p>
        </p:txBody>
      </p:sp>
      <p:sp>
        <p:nvSpPr>
          <p:cNvPr id="40" name="Key message panel"/>
          <p:cNvSpPr/>
          <p:nvPr/>
        </p:nvSpPr>
        <p:spPr>
          <a:xfrm>
            <a:off x="548640" y="5541264"/>
            <a:ext cx="11094415" cy="658368"/>
          </a:xfrm>
          <a:prstGeom prst="roundRect">
            <a:avLst>
              <a:gd name="adj" fmla="val 11111"/>
            </a:avLst>
          </a:prstGeom>
          <a:solidFill>
            <a:srgbClr val="EAF0F8"/>
          </a:solidFill>
          <a:ln w="9525">
            <a:solidFill>
              <a:srgbClr val="D5E0EF"/>
            </a:solidFill>
            <a:prstDash val="solid"/>
          </a:ln>
        </p:spPr>
      </p:sp>
      <p:sp>
        <p:nvSpPr>
          <p:cNvPr id="41" name="Key message disc"/>
          <p:cNvSpPr/>
          <p:nvPr/>
        </p:nvSpPr>
        <p:spPr>
          <a:xfrm>
            <a:off x="777240" y="5660136"/>
            <a:ext cx="420624" cy="420624"/>
          </a:xfrm>
          <a:prstGeom prst="ellipse">
            <a:avLst/>
          </a:prstGeom>
          <a:solidFill>
            <a:srgbClr val="24427E"/>
          </a:solidFill>
          <a:ln/>
        </p:spPr>
      </p:sp>
      <p:pic>
        <p:nvPicPr>
          <p:cNvPr id="42" name="Key message icon" descr="preencoded.png">    </p:cNvPr>
          <p:cNvPicPr>
            <a:picLocks noChangeAspect="1"/>
          </p:cNvPicPr>
          <p:nvPr/>
        </p:nvPicPr>
        <p:blipFill>
          <a:blip r:embed="rId8"/>
          <a:stretch>
            <a:fillRect/>
          </a:stretch>
        </p:blipFill>
        <p:spPr>
          <a:xfrm>
            <a:off x="877824" y="5760720"/>
            <a:ext cx="219456" cy="219456"/>
          </a:xfrm>
          <a:prstGeom prst="rect">
            <a:avLst/>
          </a:prstGeom>
        </p:spPr>
      </p:pic>
      <p:sp>
        <p:nvSpPr>
          <p:cNvPr id="43" name="Key message label"/>
          <p:cNvSpPr txBox="1"/>
          <p:nvPr/>
        </p:nvSpPr>
        <p:spPr>
          <a:xfrm>
            <a:off x="1353312" y="5541264"/>
            <a:ext cx="1463040" cy="658368"/>
          </a:xfrm>
          <a:prstGeom prst="rect">
            <a:avLst/>
          </a:prstGeom>
          <a:noFill/>
          <a:ln/>
        </p:spPr>
        <p:txBody>
          <a:bodyPr wrap="square" lIns="0" tIns="0" rIns="0" bIns="0" rtlCol="0" anchor="ctr"/>
          <a:lstStyle/>
          <a:p>
            <a:pPr indent="0" marL="0">
              <a:buNone/>
            </a:pPr>
            <a:r>
              <a:rPr lang="en-US" sz="900" b="1" spc="200" kern="0" dirty="0">
                <a:solidFill>
                  <a:srgbClr val="2D539F"/>
                </a:solidFill>
              </a:rPr>
              <a:t>KEY MESSAGE</a:t>
            </a:r>
            <a:endParaRPr lang="en-US" sz="900" dirty="0"/>
          </a:p>
        </p:txBody>
      </p:sp>
      <p:sp>
        <p:nvSpPr>
          <p:cNvPr id="44" name="Key message"/>
          <p:cNvSpPr txBox="1"/>
          <p:nvPr/>
        </p:nvSpPr>
        <p:spPr>
          <a:xfrm>
            <a:off x="2880360" y="5541264"/>
            <a:ext cx="8534095" cy="658368"/>
          </a:xfrm>
          <a:prstGeom prst="rect">
            <a:avLst/>
          </a:prstGeom>
          <a:noFill/>
          <a:ln/>
        </p:spPr>
        <p:txBody>
          <a:bodyPr wrap="square" lIns="0" tIns="0" rIns="0" bIns="0" rtlCol="0" anchor="ctr"/>
          <a:lstStyle/>
          <a:p>
            <a:pPr indent="0" marL="0">
              <a:lnSpc>
                <a:spcPct val="105000"/>
              </a:lnSpc>
              <a:buNone/>
            </a:pPr>
            <a:r>
              <a:rPr lang="en-US" sz="1300" b="1" dirty="0">
                <a:solidFill>
                  <a:srgbClr val="1E2F5C"/>
                </a:solidFill>
              </a:rPr>
              <a:t>The quantitative findings provide important signals about </a:t>
            </a:r>
            <a:pPr indent="0" marL="0">
              <a:lnSpc>
                <a:spcPct val="105000"/>
              </a:lnSpc>
              <a:buNone/>
            </a:pPr>
            <a:r>
              <a:rPr lang="en-US" sz="1300" b="1" dirty="0">
                <a:solidFill>
                  <a:srgbClr val="2D539F"/>
                </a:solidFill>
              </a:rPr>
              <a:t>who is more vulnerable</a:t>
            </a:r>
            <a:pPr indent="0" marL="0">
              <a:lnSpc>
                <a:spcPct val="105000"/>
              </a:lnSpc>
              <a:buNone/>
            </a:pPr>
            <a:r>
              <a:rPr lang="en-US" sz="1300" b="1" dirty="0">
                <a:solidFill>
                  <a:srgbClr val="1E2F5C"/>
                </a:solidFill>
              </a:rPr>
              <a:t> and how vulnerabilities intersect, while qualitative evidence helps explain </a:t>
            </a:r>
            <a:pPr indent="0" marL="0">
              <a:lnSpc>
                <a:spcPct val="105000"/>
              </a:lnSpc>
              <a:buNone/>
            </a:pPr>
            <a:r>
              <a:rPr lang="en-US" sz="1300" b="1" dirty="0">
                <a:solidFill>
                  <a:srgbClr val="2D539F"/>
                </a:solidFill>
              </a:rPr>
              <a:t>how and why</a:t>
            </a:r>
            <a:pPr indent="0" marL="0">
              <a:lnSpc>
                <a:spcPct val="105000"/>
              </a:lnSpc>
              <a:buNone/>
            </a:pPr>
            <a:r>
              <a:rPr lang="en-US" sz="1300" b="1" dirty="0">
                <a:solidFill>
                  <a:srgbClr val="1E2F5C"/>
                </a:solidFill>
              </a:rPr>
              <a:t> these vulnerabilities may connect.</a:t>
            </a:r>
            <a:endParaRPr lang="en-US" sz="130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50"/>
                                        <p:tgtEl>
                                          <p:spTgt spid="9"/>
                                        </p:tgtEl>
                                      </p:cBhvr>
                                    </p:animEffect>
                                    <p:anim calcmode="lin" valueType="num">
                                      <p:cBhvr>
                                        <p:cTn id="7" dur="550" decel="100000" fill="hold"/>
                                        <p:tgtEl>
                                          <p:spTgt spid="9"/>
                                        </p:tgtEl>
                                        <p:attrNameLst>
                                          <p:attrName>ppt_x</p:attrName>
                                        </p:attrNameLst>
                                      </p:cBhvr>
                                      <p:tavLst>
                                        <p:tav tm="0">
                                          <p:val>
                                            <p:strVal val="#ppt_x"/>
                                          </p:val>
                                        </p:tav>
                                        <p:tav tm="100000">
                                          <p:val>
                                            <p:strVal val="#ppt_x"/>
                                          </p:val>
                                        </p:tav>
                                      </p:tavLst>
                                    </p:anim>
                                    <p:anim calcmode="lin" valueType="num">
                                      <p:cBhvr>
                                        <p:cTn id="8" dur="550" decel="100000" fill="hold"/>
                                        <p:tgtEl>
                                          <p:spTgt spid="9"/>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50"/>
                                        <p:tgtEl>
                                          <p:spTgt spid="10"/>
                                        </p:tgtEl>
                                      </p:cBhvr>
                                    </p:animEffect>
                                    <p:anim calcmode="lin" valueType="num">
                                      <p:cBhvr>
                                        <p:cTn id="12" dur="550" decel="100000" fill="hold"/>
                                        <p:tgtEl>
                                          <p:spTgt spid="10"/>
                                        </p:tgtEl>
                                        <p:attrNameLst>
                                          <p:attrName>ppt_x</p:attrName>
                                        </p:attrNameLst>
                                      </p:cBhvr>
                                      <p:tavLst>
                                        <p:tav tm="0">
                                          <p:val>
                                            <p:strVal val="#ppt_x"/>
                                          </p:val>
                                        </p:tav>
                                        <p:tav tm="100000">
                                          <p:val>
                                            <p:strVal val="#ppt_x"/>
                                          </p:val>
                                        </p:tav>
                                      </p:tavLst>
                                    </p:anim>
                                    <p:anim calcmode="lin" valueType="num">
                                      <p:cBhvr>
                                        <p:cTn id="13" dur="550" decel="100000" fill="hold"/>
                                        <p:tgtEl>
                                          <p:spTgt spid="10"/>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p:cTn id="17" dur="550" decel="100000" fill="hold"/>
                                        <p:tgtEl>
                                          <p:spTgt spid="11"/>
                                        </p:tgtEl>
                                        <p:attrNameLst>
                                          <p:attrName>ppt_x</p:attrName>
                                        </p:attrNameLst>
                                      </p:cBhvr>
                                      <p:tavLst>
                                        <p:tav tm="0">
                                          <p:val>
                                            <p:strVal val="#ppt_x"/>
                                          </p:val>
                                        </p:tav>
                                        <p:tav tm="100000">
                                          <p:val>
                                            <p:strVal val="#ppt_x"/>
                                          </p:val>
                                        </p:tav>
                                      </p:tavLst>
                                    </p:anim>
                                    <p:anim calcmode="lin" valueType="num">
                                      <p:cBhvr>
                                        <p:cTn id="18" dur="550" decel="100000" fill="hold"/>
                                        <p:tgtEl>
                                          <p:spTgt spid="11"/>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50"/>
                                        <p:tgtEl>
                                          <p:spTgt spid="12"/>
                                        </p:tgtEl>
                                      </p:cBhvr>
                                    </p:animEffect>
                                    <p:anim calcmode="lin" valueType="num">
                                      <p:cBhvr>
                                        <p:cTn id="22" dur="550" decel="100000" fill="hold"/>
                                        <p:tgtEl>
                                          <p:spTgt spid="12"/>
                                        </p:tgtEl>
                                        <p:attrNameLst>
                                          <p:attrName>ppt_x</p:attrName>
                                        </p:attrNameLst>
                                      </p:cBhvr>
                                      <p:tavLst>
                                        <p:tav tm="0">
                                          <p:val>
                                            <p:strVal val="#ppt_x"/>
                                          </p:val>
                                        </p:tav>
                                        <p:tav tm="100000">
                                          <p:val>
                                            <p:strVal val="#ppt_x"/>
                                          </p:val>
                                        </p:tav>
                                      </p:tavLst>
                                    </p:anim>
                                    <p:anim calcmode="lin" valueType="num">
                                      <p:cBhvr>
                                        <p:cTn id="23" dur="550" decel="100000" fill="hold"/>
                                        <p:tgtEl>
                                          <p:spTgt spid="12"/>
                                        </p:tgtEl>
                                        <p:attrNameLst>
                                          <p:attrName>ppt_y</p:attrName>
                                        </p:attrNameLst>
                                      </p:cBhvr>
                                      <p:tavLst>
                                        <p:tav tm="0">
                                          <p:val>
                                            <p:strVal val="#ppt_y+0.03"/>
                                          </p:val>
                                        </p:tav>
                                        <p:tav tm="100000">
                                          <p:val>
                                            <p:strVal val="#ppt_y"/>
                                          </p:val>
                                        </p:tav>
                                      </p:tavLst>
                                    </p:anim>
                                  </p:childTnLst>
                                </p:cTn>
                              </p:par>
                              <p:par>
                                <p:cTn id="27" presetID="22" presetClass="entr" presetSubtype="8"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600"/>
                                        <p:tgtEl>
                                          <p:spTgt spid="13"/>
                                        </p:tgtEl>
                                      </p:cBhvr>
                                    </p:animEffect>
                                  </p:childTnLst>
                                </p:cTn>
                              </p:par>
                              <p:par>
                                <p:cTn id="32" presetID="42" presetClass="entr" presetSubtype="0" fill="hold" grpId="0" nodeType="withEffect">
                                  <p:stCondLst>
                                    <p:cond delay="2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50"/>
                                        <p:tgtEl>
                                          <p:spTgt spid="14"/>
                                        </p:tgtEl>
                                      </p:cBhvr>
                                    </p:animEffect>
                                    <p:anim calcmode="lin" valueType="num">
                                      <p:cBhvr>
                                        <p:cTn id="30" dur="550" decel="100000" fill="hold"/>
                                        <p:tgtEl>
                                          <p:spTgt spid="14"/>
                                        </p:tgtEl>
                                        <p:attrNameLst>
                                          <p:attrName>ppt_x</p:attrName>
                                        </p:attrNameLst>
                                      </p:cBhvr>
                                      <p:tavLst>
                                        <p:tav tm="0">
                                          <p:val>
                                            <p:strVal val="#ppt_x"/>
                                          </p:val>
                                        </p:tav>
                                        <p:tav tm="100000">
                                          <p:val>
                                            <p:strVal val="#ppt_x"/>
                                          </p:val>
                                        </p:tav>
                                      </p:tavLst>
                                    </p:anim>
                                    <p:anim calcmode="lin" valueType="num">
                                      <p:cBhvr>
                                        <p:cTn id="31" dur="550" decel="100000" fill="hold"/>
                                        <p:tgtEl>
                                          <p:spTgt spid="14"/>
                                        </p:tgtEl>
                                        <p:attrNameLst>
                                          <p:attrName>ppt_y</p:attrName>
                                        </p:attrNameLst>
                                      </p:cBhvr>
                                      <p:tavLst>
                                        <p:tav tm="0">
                                          <p:val>
                                            <p:strVal val="#ppt_y+0.03"/>
                                          </p:val>
                                        </p:tav>
                                        <p:tav tm="100000">
                                          <p:val>
                                            <p:strVal val="#ppt_y"/>
                                          </p:val>
                                        </p:tav>
                                      </p:tavLst>
                                    </p:anim>
                                  </p:childTnLst>
                                </p:cTn>
                              </p:par>
                              <p:par>
                                <p:cTn id="37" presetID="42" presetClass="entr" presetSubtype="0" fill="hold" grpId="0" nodeType="withEffect">
                                  <p:stCondLst>
                                    <p:cond delay="2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50"/>
                                        <p:tgtEl>
                                          <p:spTgt spid="15"/>
                                        </p:tgtEl>
                                      </p:cBhvr>
                                    </p:animEffect>
                                    <p:anim calcmode="lin" valueType="num">
                                      <p:cBhvr>
                                        <p:cTn id="35" dur="550" decel="100000" fill="hold"/>
                                        <p:tgtEl>
                                          <p:spTgt spid="15"/>
                                        </p:tgtEl>
                                        <p:attrNameLst>
                                          <p:attrName>ppt_x</p:attrName>
                                        </p:attrNameLst>
                                      </p:cBhvr>
                                      <p:tavLst>
                                        <p:tav tm="0">
                                          <p:val>
                                            <p:strVal val="#ppt_x"/>
                                          </p:val>
                                        </p:tav>
                                        <p:tav tm="100000">
                                          <p:val>
                                            <p:strVal val="#ppt_x"/>
                                          </p:val>
                                        </p:tav>
                                      </p:tavLst>
                                    </p:anim>
                                    <p:anim calcmode="lin" valueType="num">
                                      <p:cBhvr>
                                        <p:cTn id="36" dur="550" decel="100000" fill="hold"/>
                                        <p:tgtEl>
                                          <p:spTgt spid="15"/>
                                        </p:tgtEl>
                                        <p:attrNameLst>
                                          <p:attrName>ppt_y</p:attrName>
                                        </p:attrNameLst>
                                      </p:cBhvr>
                                      <p:tavLst>
                                        <p:tav tm="0">
                                          <p:val>
                                            <p:strVal val="#ppt_y+0.03"/>
                                          </p:val>
                                        </p:tav>
                                        <p:tav tm="100000">
                                          <p:val>
                                            <p:strVal val="#ppt_y"/>
                                          </p:val>
                                        </p:tav>
                                      </p:tavLst>
                                    </p:anim>
                                  </p:childTnLst>
                                </p:cTn>
                              </p:par>
                              <p:par>
                                <p:cTn id="42" presetID="42" presetClass="entr" presetSubtype="0" fill="hold" grpId="0" nodeType="withEffect">
                                  <p:stCondLst>
                                    <p:cond delay="20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50"/>
                                        <p:tgtEl>
                                          <p:spTgt spid="16"/>
                                        </p:tgtEl>
                                      </p:cBhvr>
                                    </p:animEffect>
                                    <p:anim calcmode="lin" valueType="num">
                                      <p:cBhvr>
                                        <p:cTn id="40" dur="550" decel="100000" fill="hold"/>
                                        <p:tgtEl>
                                          <p:spTgt spid="16"/>
                                        </p:tgtEl>
                                        <p:attrNameLst>
                                          <p:attrName>ppt_x</p:attrName>
                                        </p:attrNameLst>
                                      </p:cBhvr>
                                      <p:tavLst>
                                        <p:tav tm="0">
                                          <p:val>
                                            <p:strVal val="#ppt_x"/>
                                          </p:val>
                                        </p:tav>
                                        <p:tav tm="100000">
                                          <p:val>
                                            <p:strVal val="#ppt_x"/>
                                          </p:val>
                                        </p:tav>
                                      </p:tavLst>
                                    </p:anim>
                                    <p:anim calcmode="lin" valueType="num">
                                      <p:cBhvr>
                                        <p:cTn id="41" dur="550" decel="100000" fill="hold"/>
                                        <p:tgtEl>
                                          <p:spTgt spid="16"/>
                                        </p:tgtEl>
                                        <p:attrNameLst>
                                          <p:attrName>ppt_y</p:attrName>
                                        </p:attrNameLst>
                                      </p:cBhvr>
                                      <p:tavLst>
                                        <p:tav tm="0">
                                          <p:val>
                                            <p:strVal val="#ppt_y+0.03"/>
                                          </p:val>
                                        </p:tav>
                                        <p:tav tm="100000">
                                          <p:val>
                                            <p:strVal val="#ppt_y"/>
                                          </p:val>
                                        </p:tav>
                                      </p:tavLst>
                                    </p:anim>
                                  </p:childTnLst>
                                </p:cTn>
                              </p:par>
                              <p:par>
                                <p:cTn id="47" presetID="42" presetClass="entr" presetSubtype="0" fill="hold" grpId="0" nodeType="withEffect">
                                  <p:stCondLst>
                                    <p:cond delay="20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550"/>
                                        <p:tgtEl>
                                          <p:spTgt spid="17"/>
                                        </p:tgtEl>
                                      </p:cBhvr>
                                    </p:animEffect>
                                    <p:anim calcmode="lin" valueType="num">
                                      <p:cBhvr>
                                        <p:cTn id="45" dur="550" decel="100000" fill="hold"/>
                                        <p:tgtEl>
                                          <p:spTgt spid="17"/>
                                        </p:tgtEl>
                                        <p:attrNameLst>
                                          <p:attrName>ppt_x</p:attrName>
                                        </p:attrNameLst>
                                      </p:cBhvr>
                                      <p:tavLst>
                                        <p:tav tm="0">
                                          <p:val>
                                            <p:strVal val="#ppt_x"/>
                                          </p:val>
                                        </p:tav>
                                        <p:tav tm="100000">
                                          <p:val>
                                            <p:strVal val="#ppt_x"/>
                                          </p:val>
                                        </p:tav>
                                      </p:tavLst>
                                    </p:anim>
                                    <p:anim calcmode="lin" valueType="num">
                                      <p:cBhvr>
                                        <p:cTn id="46" dur="550" decel="100000" fill="hold"/>
                                        <p:tgtEl>
                                          <p:spTgt spid="17"/>
                                        </p:tgtEl>
                                        <p:attrNameLst>
                                          <p:attrName>ppt_y</p:attrName>
                                        </p:attrNameLst>
                                      </p:cBhvr>
                                      <p:tavLst>
                                        <p:tav tm="0">
                                          <p:val>
                                            <p:strVal val="#ppt_y+0.03"/>
                                          </p:val>
                                        </p:tav>
                                        <p:tav tm="100000">
                                          <p:val>
                                            <p:strVal val="#ppt_y"/>
                                          </p:val>
                                        </p:tav>
                                      </p:tavLst>
                                    </p:anim>
                                  </p:childTnLst>
                                </p:cTn>
                              </p:par>
                              <p:par>
                                <p:cTn id="50" presetID="22" presetClass="entr" presetSubtype="8" fill="hold" grpId="0" nodeType="withEffect">
                                  <p:stCondLst>
                                    <p:cond delay="320"/>
                                  </p:stCondLst>
                                  <p:childTnLst>
                                    <p:set>
                                      <p:cBhvr>
                                        <p:cTn id="48" dur="1" fill="hold">
                                          <p:stCondLst>
                                            <p:cond delay="0"/>
                                          </p:stCondLst>
                                        </p:cTn>
                                        <p:tgtEl>
                                          <p:spTgt spid="18"/>
                                        </p:tgtEl>
                                        <p:attrNameLst>
                                          <p:attrName>style.visibility</p:attrName>
                                        </p:attrNameLst>
                                      </p:cBhvr>
                                      <p:to>
                                        <p:strVal val="visible"/>
                                      </p:to>
                                    </p:set>
                                    <p:animEffect transition="in" filter="wipe(left)">
                                      <p:cBhvr>
                                        <p:cTn id="49" dur="600"/>
                                        <p:tgtEl>
                                          <p:spTgt spid="18"/>
                                        </p:tgtEl>
                                      </p:cBhvr>
                                    </p:animEffect>
                                  </p:childTnLst>
                                </p:cTn>
                              </p:par>
                              <p:par>
                                <p:cTn id="55" presetID="42" presetClass="entr" presetSubtype="0" fill="hold" grpId="0" nodeType="withEffect">
                                  <p:stCondLst>
                                    <p:cond delay="4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50"/>
                                        <p:tgtEl>
                                          <p:spTgt spid="19"/>
                                        </p:tgtEl>
                                      </p:cBhvr>
                                    </p:animEffect>
                                    <p:anim calcmode="lin" valueType="num">
                                      <p:cBhvr>
                                        <p:cTn id="53" dur="550" decel="100000" fill="hold"/>
                                        <p:tgtEl>
                                          <p:spTgt spid="19"/>
                                        </p:tgtEl>
                                        <p:attrNameLst>
                                          <p:attrName>ppt_x</p:attrName>
                                        </p:attrNameLst>
                                      </p:cBhvr>
                                      <p:tavLst>
                                        <p:tav tm="0">
                                          <p:val>
                                            <p:strVal val="#ppt_x"/>
                                          </p:val>
                                        </p:tav>
                                        <p:tav tm="100000">
                                          <p:val>
                                            <p:strVal val="#ppt_x"/>
                                          </p:val>
                                        </p:tav>
                                      </p:tavLst>
                                    </p:anim>
                                    <p:anim calcmode="lin" valueType="num">
                                      <p:cBhvr>
                                        <p:cTn id="54" dur="550" decel="100000" fill="hold"/>
                                        <p:tgtEl>
                                          <p:spTgt spid="19"/>
                                        </p:tgtEl>
                                        <p:attrNameLst>
                                          <p:attrName>ppt_y</p:attrName>
                                        </p:attrNameLst>
                                      </p:cBhvr>
                                      <p:tavLst>
                                        <p:tav tm="0">
                                          <p:val>
                                            <p:strVal val="#ppt_y+0.03"/>
                                          </p:val>
                                        </p:tav>
                                        <p:tav tm="100000">
                                          <p:val>
                                            <p:strVal val="#ppt_y"/>
                                          </p:val>
                                        </p:tav>
                                      </p:tavLst>
                                    </p:anim>
                                  </p:childTnLst>
                                </p:cTn>
                              </p:par>
                              <p:par>
                                <p:cTn id="60" presetID="42" presetClass="entr" presetSubtype="0" fill="hold" grpId="0" nodeType="withEffect">
                                  <p:stCondLst>
                                    <p:cond delay="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50"/>
                                        <p:tgtEl>
                                          <p:spTgt spid="20"/>
                                        </p:tgtEl>
                                      </p:cBhvr>
                                    </p:animEffect>
                                    <p:anim calcmode="lin" valueType="num">
                                      <p:cBhvr>
                                        <p:cTn id="58" dur="550" decel="100000" fill="hold"/>
                                        <p:tgtEl>
                                          <p:spTgt spid="20"/>
                                        </p:tgtEl>
                                        <p:attrNameLst>
                                          <p:attrName>ppt_x</p:attrName>
                                        </p:attrNameLst>
                                      </p:cBhvr>
                                      <p:tavLst>
                                        <p:tav tm="0">
                                          <p:val>
                                            <p:strVal val="#ppt_x"/>
                                          </p:val>
                                        </p:tav>
                                        <p:tav tm="100000">
                                          <p:val>
                                            <p:strVal val="#ppt_x"/>
                                          </p:val>
                                        </p:tav>
                                      </p:tavLst>
                                    </p:anim>
                                    <p:anim calcmode="lin" valueType="num">
                                      <p:cBhvr>
                                        <p:cTn id="59" dur="550" decel="100000" fill="hold"/>
                                        <p:tgtEl>
                                          <p:spTgt spid="20"/>
                                        </p:tgtEl>
                                        <p:attrNameLst>
                                          <p:attrName>ppt_y</p:attrName>
                                        </p:attrNameLst>
                                      </p:cBhvr>
                                      <p:tavLst>
                                        <p:tav tm="0">
                                          <p:val>
                                            <p:strVal val="#ppt_y+0.03"/>
                                          </p:val>
                                        </p:tav>
                                        <p:tav tm="100000">
                                          <p:val>
                                            <p:strVal val="#ppt_y"/>
                                          </p:val>
                                        </p:tav>
                                      </p:tavLst>
                                    </p:anim>
                                  </p:childTnLst>
                                </p:cTn>
                              </p:par>
                              <p:par>
                                <p:cTn id="65" presetID="42" presetClass="entr" presetSubtype="0" fill="hold" grpId="0" nodeType="withEffect">
                                  <p:stCondLst>
                                    <p:cond delay="4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50"/>
                                        <p:tgtEl>
                                          <p:spTgt spid="21"/>
                                        </p:tgtEl>
                                      </p:cBhvr>
                                    </p:animEffect>
                                    <p:anim calcmode="lin" valueType="num">
                                      <p:cBhvr>
                                        <p:cTn id="63" dur="550" decel="100000" fill="hold"/>
                                        <p:tgtEl>
                                          <p:spTgt spid="21"/>
                                        </p:tgtEl>
                                        <p:attrNameLst>
                                          <p:attrName>ppt_x</p:attrName>
                                        </p:attrNameLst>
                                      </p:cBhvr>
                                      <p:tavLst>
                                        <p:tav tm="0">
                                          <p:val>
                                            <p:strVal val="#ppt_x"/>
                                          </p:val>
                                        </p:tav>
                                        <p:tav tm="100000">
                                          <p:val>
                                            <p:strVal val="#ppt_x"/>
                                          </p:val>
                                        </p:tav>
                                      </p:tavLst>
                                    </p:anim>
                                    <p:anim calcmode="lin" valueType="num">
                                      <p:cBhvr>
                                        <p:cTn id="64" dur="550" decel="1000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fill="hold" grpId="0" nodeType="withEffect">
                                  <p:stCondLst>
                                    <p:cond delay="4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50"/>
                                        <p:tgtEl>
                                          <p:spTgt spid="22"/>
                                        </p:tgtEl>
                                      </p:cBhvr>
                                    </p:animEffect>
                                    <p:anim calcmode="lin" valueType="num">
                                      <p:cBhvr>
                                        <p:cTn id="68" dur="550" decel="100000" fill="hold"/>
                                        <p:tgtEl>
                                          <p:spTgt spid="22"/>
                                        </p:tgtEl>
                                        <p:attrNameLst>
                                          <p:attrName>ppt_x</p:attrName>
                                        </p:attrNameLst>
                                      </p:cBhvr>
                                      <p:tavLst>
                                        <p:tav tm="0">
                                          <p:val>
                                            <p:strVal val="#ppt_x"/>
                                          </p:val>
                                        </p:tav>
                                        <p:tav tm="100000">
                                          <p:val>
                                            <p:strVal val="#ppt_x"/>
                                          </p:val>
                                        </p:tav>
                                      </p:tavLst>
                                    </p:anim>
                                    <p:anim calcmode="lin" valueType="num">
                                      <p:cBhvr>
                                        <p:cTn id="69" dur="550" decel="100000" fill="hold"/>
                                        <p:tgtEl>
                                          <p:spTgt spid="22"/>
                                        </p:tgtEl>
                                        <p:attrNameLst>
                                          <p:attrName>ppt_y</p:attrName>
                                        </p:attrNameLst>
                                      </p:cBhvr>
                                      <p:tavLst>
                                        <p:tav tm="0">
                                          <p:val>
                                            <p:strVal val="#ppt_y+0.03"/>
                                          </p:val>
                                        </p:tav>
                                        <p:tav tm="100000">
                                          <p:val>
                                            <p:strVal val="#ppt_y"/>
                                          </p:val>
                                        </p:tav>
                                      </p:tavLst>
                                    </p:anim>
                                  </p:childTnLst>
                                </p:cTn>
                              </p:par>
                              <p:par>
                                <p:cTn id="73" presetID="22" presetClass="entr" presetSubtype="8" fill="hold" grpId="0" nodeType="withEffect">
                                  <p:stCondLst>
                                    <p:cond delay="520"/>
                                  </p:stCondLst>
                                  <p:childTnLst>
                                    <p:set>
                                      <p:cBhvr>
                                        <p:cTn id="71" dur="1" fill="hold">
                                          <p:stCondLst>
                                            <p:cond delay="0"/>
                                          </p:stCondLst>
                                        </p:cTn>
                                        <p:tgtEl>
                                          <p:spTgt spid="23"/>
                                        </p:tgtEl>
                                        <p:attrNameLst>
                                          <p:attrName>style.visibility</p:attrName>
                                        </p:attrNameLst>
                                      </p:cBhvr>
                                      <p:to>
                                        <p:strVal val="visible"/>
                                      </p:to>
                                    </p:set>
                                    <p:animEffect transition="in" filter="wipe(left)">
                                      <p:cBhvr>
                                        <p:cTn id="72" dur="600"/>
                                        <p:tgtEl>
                                          <p:spTgt spid="23"/>
                                        </p:tgtEl>
                                      </p:cBhvr>
                                    </p:animEffect>
                                  </p:childTnLst>
                                </p:cTn>
                              </p:par>
                              <p:par>
                                <p:cTn id="78" presetID="42" presetClass="entr" presetSubtype="0" fill="hold" grpId="0" nodeType="withEffect">
                                  <p:stCondLst>
                                    <p:cond delay="60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50"/>
                                        <p:tgtEl>
                                          <p:spTgt spid="24"/>
                                        </p:tgtEl>
                                      </p:cBhvr>
                                    </p:animEffect>
                                    <p:anim calcmode="lin" valueType="num">
                                      <p:cBhvr>
                                        <p:cTn id="76" dur="550" decel="100000" fill="hold"/>
                                        <p:tgtEl>
                                          <p:spTgt spid="24"/>
                                        </p:tgtEl>
                                        <p:attrNameLst>
                                          <p:attrName>ppt_x</p:attrName>
                                        </p:attrNameLst>
                                      </p:cBhvr>
                                      <p:tavLst>
                                        <p:tav tm="0">
                                          <p:val>
                                            <p:strVal val="#ppt_x"/>
                                          </p:val>
                                        </p:tav>
                                        <p:tav tm="100000">
                                          <p:val>
                                            <p:strVal val="#ppt_x"/>
                                          </p:val>
                                        </p:tav>
                                      </p:tavLst>
                                    </p:anim>
                                    <p:anim calcmode="lin" valueType="num">
                                      <p:cBhvr>
                                        <p:cTn id="77" dur="550" decel="100000" fill="hold"/>
                                        <p:tgtEl>
                                          <p:spTgt spid="24"/>
                                        </p:tgtEl>
                                        <p:attrNameLst>
                                          <p:attrName>ppt_y</p:attrName>
                                        </p:attrNameLst>
                                      </p:cBhvr>
                                      <p:tavLst>
                                        <p:tav tm="0">
                                          <p:val>
                                            <p:strVal val="#ppt_y+0.03"/>
                                          </p:val>
                                        </p:tav>
                                        <p:tav tm="100000">
                                          <p:val>
                                            <p:strVal val="#ppt_y"/>
                                          </p:val>
                                        </p:tav>
                                      </p:tavLst>
                                    </p:anim>
                                  </p:childTnLst>
                                </p:cTn>
                              </p:par>
                              <p:par>
                                <p:cTn id="83" presetID="42" presetClass="entr" presetSubtype="0" fill="hold" grpId="0" nodeType="withEffect">
                                  <p:stCondLst>
                                    <p:cond delay="60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50"/>
                                        <p:tgtEl>
                                          <p:spTgt spid="25"/>
                                        </p:tgtEl>
                                      </p:cBhvr>
                                    </p:animEffect>
                                    <p:anim calcmode="lin" valueType="num">
                                      <p:cBhvr>
                                        <p:cTn id="81" dur="550" decel="100000" fill="hold"/>
                                        <p:tgtEl>
                                          <p:spTgt spid="25"/>
                                        </p:tgtEl>
                                        <p:attrNameLst>
                                          <p:attrName>ppt_x</p:attrName>
                                        </p:attrNameLst>
                                      </p:cBhvr>
                                      <p:tavLst>
                                        <p:tav tm="0">
                                          <p:val>
                                            <p:strVal val="#ppt_x"/>
                                          </p:val>
                                        </p:tav>
                                        <p:tav tm="100000">
                                          <p:val>
                                            <p:strVal val="#ppt_x"/>
                                          </p:val>
                                        </p:tav>
                                      </p:tavLst>
                                    </p:anim>
                                    <p:anim calcmode="lin" valueType="num">
                                      <p:cBhvr>
                                        <p:cTn id="82" dur="550" decel="1000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fill="hold" grpId="0" nodeType="withEffect">
                                  <p:stCondLst>
                                    <p:cond delay="60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50"/>
                                        <p:tgtEl>
                                          <p:spTgt spid="26"/>
                                        </p:tgtEl>
                                      </p:cBhvr>
                                    </p:animEffect>
                                    <p:anim calcmode="lin" valueType="num">
                                      <p:cBhvr>
                                        <p:cTn id="86" dur="550" decel="100000" fill="hold"/>
                                        <p:tgtEl>
                                          <p:spTgt spid="26"/>
                                        </p:tgtEl>
                                        <p:attrNameLst>
                                          <p:attrName>ppt_x</p:attrName>
                                        </p:attrNameLst>
                                      </p:cBhvr>
                                      <p:tavLst>
                                        <p:tav tm="0">
                                          <p:val>
                                            <p:strVal val="#ppt_x"/>
                                          </p:val>
                                        </p:tav>
                                        <p:tav tm="100000">
                                          <p:val>
                                            <p:strVal val="#ppt_x"/>
                                          </p:val>
                                        </p:tav>
                                      </p:tavLst>
                                    </p:anim>
                                    <p:anim calcmode="lin" valueType="num">
                                      <p:cBhvr>
                                        <p:cTn id="87" dur="550" decel="1000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fill="hold" grpId="0" nodeType="withEffect">
                                  <p:stCondLst>
                                    <p:cond delay="60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50"/>
                                        <p:tgtEl>
                                          <p:spTgt spid="27"/>
                                        </p:tgtEl>
                                      </p:cBhvr>
                                    </p:animEffect>
                                    <p:anim calcmode="lin" valueType="num">
                                      <p:cBhvr>
                                        <p:cTn id="91" dur="550" decel="100000" fill="hold"/>
                                        <p:tgtEl>
                                          <p:spTgt spid="27"/>
                                        </p:tgtEl>
                                        <p:attrNameLst>
                                          <p:attrName>ppt_x</p:attrName>
                                        </p:attrNameLst>
                                      </p:cBhvr>
                                      <p:tavLst>
                                        <p:tav tm="0">
                                          <p:val>
                                            <p:strVal val="#ppt_x"/>
                                          </p:val>
                                        </p:tav>
                                        <p:tav tm="100000">
                                          <p:val>
                                            <p:strVal val="#ppt_x"/>
                                          </p:val>
                                        </p:tav>
                                      </p:tavLst>
                                    </p:anim>
                                    <p:anim calcmode="lin" valueType="num">
                                      <p:cBhvr>
                                        <p:cTn id="92" dur="550" decel="100000" fill="hold"/>
                                        <p:tgtEl>
                                          <p:spTgt spid="27"/>
                                        </p:tgtEl>
                                        <p:attrNameLst>
                                          <p:attrName>ppt_y</p:attrName>
                                        </p:attrNameLst>
                                      </p:cBhvr>
                                      <p:tavLst>
                                        <p:tav tm="0">
                                          <p:val>
                                            <p:strVal val="#ppt_y+0.03"/>
                                          </p:val>
                                        </p:tav>
                                        <p:tav tm="100000">
                                          <p:val>
                                            <p:strVal val="#ppt_y"/>
                                          </p:val>
                                        </p:tav>
                                      </p:tavLst>
                                    </p:anim>
                                  </p:childTnLst>
                                </p:cTn>
                              </p:par>
                              <p:par>
                                <p:cTn id="98" presetID="42" presetClass="entr" presetSubtype="0" fill="hold" grpId="0" nodeType="withEffect">
                                  <p:stCondLst>
                                    <p:cond delay="60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550"/>
                                        <p:tgtEl>
                                          <p:spTgt spid="28"/>
                                        </p:tgtEl>
                                      </p:cBhvr>
                                    </p:animEffect>
                                    <p:anim calcmode="lin" valueType="num">
                                      <p:cBhvr>
                                        <p:cTn id="96" dur="550" decel="100000" fill="hold"/>
                                        <p:tgtEl>
                                          <p:spTgt spid="28"/>
                                        </p:tgtEl>
                                        <p:attrNameLst>
                                          <p:attrName>ppt_x</p:attrName>
                                        </p:attrNameLst>
                                      </p:cBhvr>
                                      <p:tavLst>
                                        <p:tav tm="0">
                                          <p:val>
                                            <p:strVal val="#ppt_x"/>
                                          </p:val>
                                        </p:tav>
                                        <p:tav tm="100000">
                                          <p:val>
                                            <p:strVal val="#ppt_x"/>
                                          </p:val>
                                        </p:tav>
                                      </p:tavLst>
                                    </p:anim>
                                    <p:anim calcmode="lin" valueType="num">
                                      <p:cBhvr>
                                        <p:cTn id="97" dur="550" decel="1000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fill="hold" grpId="0" nodeType="withEffect">
                                  <p:stCondLst>
                                    <p:cond delay="90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550"/>
                                        <p:tgtEl>
                                          <p:spTgt spid="29"/>
                                        </p:tgtEl>
                                      </p:cBhvr>
                                    </p:animEffect>
                                    <p:anim calcmode="lin" valueType="num">
                                      <p:cBhvr>
                                        <p:cTn id="101" dur="550" decel="100000" fill="hold"/>
                                        <p:tgtEl>
                                          <p:spTgt spid="29"/>
                                        </p:tgtEl>
                                        <p:attrNameLst>
                                          <p:attrName>ppt_x</p:attrName>
                                        </p:attrNameLst>
                                      </p:cBhvr>
                                      <p:tavLst>
                                        <p:tav tm="0">
                                          <p:val>
                                            <p:strVal val="#ppt_x"/>
                                          </p:val>
                                        </p:tav>
                                        <p:tav tm="100000">
                                          <p:val>
                                            <p:strVal val="#ppt_x"/>
                                          </p:val>
                                        </p:tav>
                                      </p:tavLst>
                                    </p:anim>
                                    <p:anim calcmode="lin" valueType="num">
                                      <p:cBhvr>
                                        <p:cTn id="102" dur="550" decel="1000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fill="hold" grpId="0" nodeType="withEffect">
                                  <p:stCondLst>
                                    <p:cond delay="900"/>
                                  </p:stCondLst>
                                  <p:childTnLst>
                                    <p:set>
                                      <p:cBhvr>
                                        <p:cTn id="104" dur="1" fill="hold">
                                          <p:stCondLst>
                                            <p:cond delay="0"/>
                                          </p:stCondLst>
                                        </p:cTn>
                                        <p:tgtEl>
                                          <p:spTgt spid="30"/>
                                        </p:tgtEl>
                                        <p:attrNameLst>
                                          <p:attrName>style.visibility</p:attrName>
                                        </p:attrNameLst>
                                      </p:cBhvr>
                                      <p:to>
                                        <p:strVal val="visible"/>
                                      </p:to>
                                    </p:set>
                                    <p:animEffect transition="in" filter="fade">
                                      <p:cBhvr>
                                        <p:cTn id="105" dur="550"/>
                                        <p:tgtEl>
                                          <p:spTgt spid="30"/>
                                        </p:tgtEl>
                                      </p:cBhvr>
                                    </p:animEffect>
                                    <p:anim calcmode="lin" valueType="num">
                                      <p:cBhvr>
                                        <p:cTn id="106" dur="550" decel="100000" fill="hold"/>
                                        <p:tgtEl>
                                          <p:spTgt spid="30"/>
                                        </p:tgtEl>
                                        <p:attrNameLst>
                                          <p:attrName>ppt_x</p:attrName>
                                        </p:attrNameLst>
                                      </p:cBhvr>
                                      <p:tavLst>
                                        <p:tav tm="0">
                                          <p:val>
                                            <p:strVal val="#ppt_x"/>
                                          </p:val>
                                        </p:tav>
                                        <p:tav tm="100000">
                                          <p:val>
                                            <p:strVal val="#ppt_x"/>
                                          </p:val>
                                        </p:tav>
                                      </p:tavLst>
                                    </p:anim>
                                    <p:anim calcmode="lin" valueType="num">
                                      <p:cBhvr>
                                        <p:cTn id="107" dur="550" decel="100000" fill="hold"/>
                                        <p:tgtEl>
                                          <p:spTgt spid="30"/>
                                        </p:tgtEl>
                                        <p:attrNameLst>
                                          <p:attrName>ppt_y</p:attrName>
                                        </p:attrNameLst>
                                      </p:cBhvr>
                                      <p:tavLst>
                                        <p:tav tm="0">
                                          <p:val>
                                            <p:strVal val="#ppt_y+0.03"/>
                                          </p:val>
                                        </p:tav>
                                        <p:tav tm="100000">
                                          <p:val>
                                            <p:strVal val="#ppt_y"/>
                                          </p:val>
                                        </p:tav>
                                      </p:tavLst>
                                    </p:anim>
                                  </p:childTnLst>
                                </p:cTn>
                              </p:par>
                              <p:par>
                                <p:cTn id="113" presetID="42" presetClass="entr" presetSubtype="0" fill="hold" grpId="0" nodeType="withEffect">
                                  <p:stCondLst>
                                    <p:cond delay="90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550"/>
                                        <p:tgtEl>
                                          <p:spTgt spid="31"/>
                                        </p:tgtEl>
                                      </p:cBhvr>
                                    </p:animEffect>
                                    <p:anim calcmode="lin" valueType="num">
                                      <p:cBhvr>
                                        <p:cTn id="111" dur="550" decel="100000" fill="hold"/>
                                        <p:tgtEl>
                                          <p:spTgt spid="31"/>
                                        </p:tgtEl>
                                        <p:attrNameLst>
                                          <p:attrName>ppt_x</p:attrName>
                                        </p:attrNameLst>
                                      </p:cBhvr>
                                      <p:tavLst>
                                        <p:tav tm="0">
                                          <p:val>
                                            <p:strVal val="#ppt_x"/>
                                          </p:val>
                                        </p:tav>
                                        <p:tav tm="100000">
                                          <p:val>
                                            <p:strVal val="#ppt_x"/>
                                          </p:val>
                                        </p:tav>
                                      </p:tavLst>
                                    </p:anim>
                                    <p:anim calcmode="lin" valueType="num">
                                      <p:cBhvr>
                                        <p:cTn id="112" dur="550" decel="100000" fill="hold"/>
                                        <p:tgtEl>
                                          <p:spTgt spid="31"/>
                                        </p:tgtEl>
                                        <p:attrNameLst>
                                          <p:attrName>ppt_y</p:attrName>
                                        </p:attrNameLst>
                                      </p:cBhvr>
                                      <p:tavLst>
                                        <p:tav tm="0">
                                          <p:val>
                                            <p:strVal val="#ppt_y+0.03"/>
                                          </p:val>
                                        </p:tav>
                                        <p:tav tm="100000">
                                          <p:val>
                                            <p:strVal val="#ppt_y"/>
                                          </p:val>
                                        </p:tav>
                                      </p:tavLst>
                                    </p:anim>
                                  </p:childTnLst>
                                </p:cTn>
                              </p:par>
                              <p:par>
                                <p:cTn id="118" presetID="42" presetClass="entr" presetSubtype="0" fill="hold" grpId="0" nodeType="withEffect">
                                  <p:stCondLst>
                                    <p:cond delay="90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550"/>
                                        <p:tgtEl>
                                          <p:spTgt spid="32"/>
                                        </p:tgtEl>
                                      </p:cBhvr>
                                    </p:animEffect>
                                    <p:anim calcmode="lin" valueType="num">
                                      <p:cBhvr>
                                        <p:cTn id="116" dur="550" decel="100000" fill="hold"/>
                                        <p:tgtEl>
                                          <p:spTgt spid="32"/>
                                        </p:tgtEl>
                                        <p:attrNameLst>
                                          <p:attrName>ppt_x</p:attrName>
                                        </p:attrNameLst>
                                      </p:cBhvr>
                                      <p:tavLst>
                                        <p:tav tm="0">
                                          <p:val>
                                            <p:strVal val="#ppt_x"/>
                                          </p:val>
                                        </p:tav>
                                        <p:tav tm="100000">
                                          <p:val>
                                            <p:strVal val="#ppt_x"/>
                                          </p:val>
                                        </p:tav>
                                      </p:tavLst>
                                    </p:anim>
                                    <p:anim calcmode="lin" valueType="num">
                                      <p:cBhvr>
                                        <p:cTn id="117" dur="550" decel="1000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fill="hold" grpId="0" nodeType="withEffect">
                                  <p:stCondLst>
                                    <p:cond delay="900"/>
                                  </p:stCondLst>
                                  <p:childTnLst>
                                    <p:set>
                                      <p:cBhvr>
                                        <p:cTn id="119" dur="1" fill="hold">
                                          <p:stCondLst>
                                            <p:cond delay="0"/>
                                          </p:stCondLst>
                                        </p:cTn>
                                        <p:tgtEl>
                                          <p:spTgt spid="33"/>
                                        </p:tgtEl>
                                        <p:attrNameLst>
                                          <p:attrName>style.visibility</p:attrName>
                                        </p:attrNameLst>
                                      </p:cBhvr>
                                      <p:to>
                                        <p:strVal val="visible"/>
                                      </p:to>
                                    </p:set>
                                    <p:animEffect transition="in" filter="fade">
                                      <p:cBhvr>
                                        <p:cTn id="120" dur="550"/>
                                        <p:tgtEl>
                                          <p:spTgt spid="33"/>
                                        </p:tgtEl>
                                      </p:cBhvr>
                                    </p:animEffect>
                                    <p:anim calcmode="lin" valueType="num">
                                      <p:cBhvr>
                                        <p:cTn id="121" dur="550" decel="100000" fill="hold"/>
                                        <p:tgtEl>
                                          <p:spTgt spid="33"/>
                                        </p:tgtEl>
                                        <p:attrNameLst>
                                          <p:attrName>ppt_x</p:attrName>
                                        </p:attrNameLst>
                                      </p:cBhvr>
                                      <p:tavLst>
                                        <p:tav tm="0">
                                          <p:val>
                                            <p:strVal val="#ppt_x"/>
                                          </p:val>
                                        </p:tav>
                                        <p:tav tm="100000">
                                          <p:val>
                                            <p:strVal val="#ppt_x"/>
                                          </p:val>
                                        </p:tav>
                                      </p:tavLst>
                                    </p:anim>
                                    <p:anim calcmode="lin" valueType="num">
                                      <p:cBhvr>
                                        <p:cTn id="122" dur="550" decel="100000" fill="hold"/>
                                        <p:tgtEl>
                                          <p:spTgt spid="33"/>
                                        </p:tgtEl>
                                        <p:attrNameLst>
                                          <p:attrName>ppt_y</p:attrName>
                                        </p:attrNameLst>
                                      </p:cBhvr>
                                      <p:tavLst>
                                        <p:tav tm="0">
                                          <p:val>
                                            <p:strVal val="#ppt_y+0.03"/>
                                          </p:val>
                                        </p:tav>
                                        <p:tav tm="100000">
                                          <p:val>
                                            <p:strVal val="#ppt_y"/>
                                          </p:val>
                                        </p:tav>
                                      </p:tavLst>
                                    </p:anim>
                                  </p:childTnLst>
                                </p:cTn>
                              </p:par>
                              <p:par>
                                <p:cTn id="128" presetID="42" presetClass="entr" presetSubtype="0" fill="hold" grpId="0" nodeType="withEffect">
                                  <p:stCondLst>
                                    <p:cond delay="900"/>
                                  </p:stCondLst>
                                  <p:childTnLst>
                                    <p:set>
                                      <p:cBhvr>
                                        <p:cTn id="124" dur="1" fill="hold">
                                          <p:stCondLst>
                                            <p:cond delay="0"/>
                                          </p:stCondLst>
                                        </p:cTn>
                                        <p:tgtEl>
                                          <p:spTgt spid="34"/>
                                        </p:tgtEl>
                                        <p:attrNameLst>
                                          <p:attrName>style.visibility</p:attrName>
                                        </p:attrNameLst>
                                      </p:cBhvr>
                                      <p:to>
                                        <p:strVal val="visible"/>
                                      </p:to>
                                    </p:set>
                                    <p:animEffect transition="in" filter="fade">
                                      <p:cBhvr>
                                        <p:cTn id="125" dur="550"/>
                                        <p:tgtEl>
                                          <p:spTgt spid="34"/>
                                        </p:tgtEl>
                                      </p:cBhvr>
                                    </p:animEffect>
                                    <p:anim calcmode="lin" valueType="num">
                                      <p:cBhvr>
                                        <p:cTn id="126" dur="550" decel="100000" fill="hold"/>
                                        <p:tgtEl>
                                          <p:spTgt spid="34"/>
                                        </p:tgtEl>
                                        <p:attrNameLst>
                                          <p:attrName>ppt_x</p:attrName>
                                        </p:attrNameLst>
                                      </p:cBhvr>
                                      <p:tavLst>
                                        <p:tav tm="0">
                                          <p:val>
                                            <p:strVal val="#ppt_x"/>
                                          </p:val>
                                        </p:tav>
                                        <p:tav tm="100000">
                                          <p:val>
                                            <p:strVal val="#ppt_x"/>
                                          </p:val>
                                        </p:tav>
                                      </p:tavLst>
                                    </p:anim>
                                    <p:anim calcmode="lin" valueType="num">
                                      <p:cBhvr>
                                        <p:cTn id="127" dur="550" decel="100000" fill="hold"/>
                                        <p:tgtEl>
                                          <p:spTgt spid="34"/>
                                        </p:tgtEl>
                                        <p:attrNameLst>
                                          <p:attrName>ppt_y</p:attrName>
                                        </p:attrNameLst>
                                      </p:cBhvr>
                                      <p:tavLst>
                                        <p:tav tm="0">
                                          <p:val>
                                            <p:strVal val="#ppt_y+0.03"/>
                                          </p:val>
                                        </p:tav>
                                        <p:tav tm="100000">
                                          <p:val>
                                            <p:strVal val="#ppt_y"/>
                                          </p:val>
                                        </p:tav>
                                      </p:tavLst>
                                    </p:anim>
                                  </p:childTnLst>
                                </p:cTn>
                              </p:par>
                              <p:par>
                                <p:cTn id="133" presetID="42" presetClass="entr" presetSubtype="0" fill="hold" grpId="0" nodeType="withEffect">
                                  <p:stCondLst>
                                    <p:cond delay="105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550"/>
                                        <p:tgtEl>
                                          <p:spTgt spid="35"/>
                                        </p:tgtEl>
                                      </p:cBhvr>
                                    </p:animEffect>
                                    <p:anim calcmode="lin" valueType="num">
                                      <p:cBhvr>
                                        <p:cTn id="131" dur="550" decel="100000" fill="hold"/>
                                        <p:tgtEl>
                                          <p:spTgt spid="35"/>
                                        </p:tgtEl>
                                        <p:attrNameLst>
                                          <p:attrName>ppt_x</p:attrName>
                                        </p:attrNameLst>
                                      </p:cBhvr>
                                      <p:tavLst>
                                        <p:tav tm="0">
                                          <p:val>
                                            <p:strVal val="#ppt_x"/>
                                          </p:val>
                                        </p:tav>
                                        <p:tav tm="100000">
                                          <p:val>
                                            <p:strVal val="#ppt_x"/>
                                          </p:val>
                                        </p:tav>
                                      </p:tavLst>
                                    </p:anim>
                                    <p:anim calcmode="lin" valueType="num">
                                      <p:cBhvr>
                                        <p:cTn id="132" dur="550" decel="100000" fill="hold"/>
                                        <p:tgtEl>
                                          <p:spTgt spid="35"/>
                                        </p:tgtEl>
                                        <p:attrNameLst>
                                          <p:attrName>ppt_y</p:attrName>
                                        </p:attrNameLst>
                                      </p:cBhvr>
                                      <p:tavLst>
                                        <p:tav tm="0">
                                          <p:val>
                                            <p:strVal val="#ppt_y+0.03"/>
                                          </p:val>
                                        </p:tav>
                                        <p:tav tm="100000">
                                          <p:val>
                                            <p:strVal val="#ppt_y"/>
                                          </p:val>
                                        </p:tav>
                                      </p:tavLst>
                                    </p:anim>
                                  </p:childTnLst>
                                </p:cTn>
                              </p:par>
                              <p:par>
                                <p:cTn id="138" presetID="42" presetClass="entr" presetSubtype="0" fill="hold" grpId="0" nodeType="withEffect">
                                  <p:stCondLst>
                                    <p:cond delay="1050"/>
                                  </p:stCondLst>
                                  <p:childTnLst>
                                    <p:set>
                                      <p:cBhvr>
                                        <p:cTn id="134" dur="1" fill="hold">
                                          <p:stCondLst>
                                            <p:cond delay="0"/>
                                          </p:stCondLst>
                                        </p:cTn>
                                        <p:tgtEl>
                                          <p:spTgt spid="36"/>
                                        </p:tgtEl>
                                        <p:attrNameLst>
                                          <p:attrName>style.visibility</p:attrName>
                                        </p:attrNameLst>
                                      </p:cBhvr>
                                      <p:to>
                                        <p:strVal val="visible"/>
                                      </p:to>
                                    </p:set>
                                    <p:animEffect transition="in" filter="fade">
                                      <p:cBhvr>
                                        <p:cTn id="135" dur="550"/>
                                        <p:tgtEl>
                                          <p:spTgt spid="36"/>
                                        </p:tgtEl>
                                      </p:cBhvr>
                                    </p:animEffect>
                                    <p:anim calcmode="lin" valueType="num">
                                      <p:cBhvr>
                                        <p:cTn id="136" dur="550" decel="100000" fill="hold"/>
                                        <p:tgtEl>
                                          <p:spTgt spid="36"/>
                                        </p:tgtEl>
                                        <p:attrNameLst>
                                          <p:attrName>ppt_x</p:attrName>
                                        </p:attrNameLst>
                                      </p:cBhvr>
                                      <p:tavLst>
                                        <p:tav tm="0">
                                          <p:val>
                                            <p:strVal val="#ppt_x"/>
                                          </p:val>
                                        </p:tav>
                                        <p:tav tm="100000">
                                          <p:val>
                                            <p:strVal val="#ppt_x"/>
                                          </p:val>
                                        </p:tav>
                                      </p:tavLst>
                                    </p:anim>
                                    <p:anim calcmode="lin" valueType="num">
                                      <p:cBhvr>
                                        <p:cTn id="137" dur="550" decel="100000" fill="hold"/>
                                        <p:tgtEl>
                                          <p:spTgt spid="36"/>
                                        </p:tgtEl>
                                        <p:attrNameLst>
                                          <p:attrName>ppt_y</p:attrName>
                                        </p:attrNameLst>
                                      </p:cBhvr>
                                      <p:tavLst>
                                        <p:tav tm="0">
                                          <p:val>
                                            <p:strVal val="#ppt_y+0.03"/>
                                          </p:val>
                                        </p:tav>
                                        <p:tav tm="100000">
                                          <p:val>
                                            <p:strVal val="#ppt_y"/>
                                          </p:val>
                                        </p:tav>
                                      </p:tavLst>
                                    </p:anim>
                                  </p:childTnLst>
                                </p:cTn>
                              </p:par>
                              <p:par>
                                <p:cTn id="143" presetID="42" presetClass="entr" presetSubtype="0" fill="hold" grpId="0" nodeType="withEffect">
                                  <p:stCondLst>
                                    <p:cond delay="1050"/>
                                  </p:stCondLst>
                                  <p:childTnLst>
                                    <p:set>
                                      <p:cBhvr>
                                        <p:cTn id="139" dur="1" fill="hold">
                                          <p:stCondLst>
                                            <p:cond delay="0"/>
                                          </p:stCondLst>
                                        </p:cTn>
                                        <p:tgtEl>
                                          <p:spTgt spid="37"/>
                                        </p:tgtEl>
                                        <p:attrNameLst>
                                          <p:attrName>style.visibility</p:attrName>
                                        </p:attrNameLst>
                                      </p:cBhvr>
                                      <p:to>
                                        <p:strVal val="visible"/>
                                      </p:to>
                                    </p:set>
                                    <p:animEffect transition="in" filter="fade">
                                      <p:cBhvr>
                                        <p:cTn id="140" dur="550"/>
                                        <p:tgtEl>
                                          <p:spTgt spid="37"/>
                                        </p:tgtEl>
                                      </p:cBhvr>
                                    </p:animEffect>
                                    <p:anim calcmode="lin" valueType="num">
                                      <p:cBhvr>
                                        <p:cTn id="141" dur="550" decel="100000" fill="hold"/>
                                        <p:tgtEl>
                                          <p:spTgt spid="37"/>
                                        </p:tgtEl>
                                        <p:attrNameLst>
                                          <p:attrName>ppt_x</p:attrName>
                                        </p:attrNameLst>
                                      </p:cBhvr>
                                      <p:tavLst>
                                        <p:tav tm="0">
                                          <p:val>
                                            <p:strVal val="#ppt_x"/>
                                          </p:val>
                                        </p:tav>
                                        <p:tav tm="100000">
                                          <p:val>
                                            <p:strVal val="#ppt_x"/>
                                          </p:val>
                                        </p:tav>
                                      </p:tavLst>
                                    </p:anim>
                                    <p:anim calcmode="lin" valueType="num">
                                      <p:cBhvr>
                                        <p:cTn id="142" dur="550" decel="100000" fill="hold"/>
                                        <p:tgtEl>
                                          <p:spTgt spid="37"/>
                                        </p:tgtEl>
                                        <p:attrNameLst>
                                          <p:attrName>ppt_y</p:attrName>
                                        </p:attrNameLst>
                                      </p:cBhvr>
                                      <p:tavLst>
                                        <p:tav tm="0">
                                          <p:val>
                                            <p:strVal val="#ppt_y+0.03"/>
                                          </p:val>
                                        </p:tav>
                                        <p:tav tm="100000">
                                          <p:val>
                                            <p:strVal val="#ppt_y"/>
                                          </p:val>
                                        </p:tav>
                                      </p:tavLst>
                                    </p:anim>
                                  </p:childTnLst>
                                </p:cTn>
                              </p:par>
                              <p:par>
                                <p:cTn id="148" presetID="42" presetClass="entr" presetSubtype="0" fill="hold" grpId="0" nodeType="withEffect">
                                  <p:stCondLst>
                                    <p:cond delay="105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550"/>
                                        <p:tgtEl>
                                          <p:spTgt spid="38"/>
                                        </p:tgtEl>
                                      </p:cBhvr>
                                    </p:animEffect>
                                    <p:anim calcmode="lin" valueType="num">
                                      <p:cBhvr>
                                        <p:cTn id="146" dur="550" decel="100000" fill="hold"/>
                                        <p:tgtEl>
                                          <p:spTgt spid="38"/>
                                        </p:tgtEl>
                                        <p:attrNameLst>
                                          <p:attrName>ppt_x</p:attrName>
                                        </p:attrNameLst>
                                      </p:cBhvr>
                                      <p:tavLst>
                                        <p:tav tm="0">
                                          <p:val>
                                            <p:strVal val="#ppt_x"/>
                                          </p:val>
                                        </p:tav>
                                        <p:tav tm="100000">
                                          <p:val>
                                            <p:strVal val="#ppt_x"/>
                                          </p:val>
                                        </p:tav>
                                      </p:tavLst>
                                    </p:anim>
                                    <p:anim calcmode="lin" valueType="num">
                                      <p:cBhvr>
                                        <p:cTn id="147" dur="550" decel="100000" fill="hold"/>
                                        <p:tgtEl>
                                          <p:spTgt spid="38"/>
                                        </p:tgtEl>
                                        <p:attrNameLst>
                                          <p:attrName>ppt_y</p:attrName>
                                        </p:attrNameLst>
                                      </p:cBhvr>
                                      <p:tavLst>
                                        <p:tav tm="0">
                                          <p:val>
                                            <p:strVal val="#ppt_y+0.03"/>
                                          </p:val>
                                        </p:tav>
                                        <p:tav tm="100000">
                                          <p:val>
                                            <p:strVal val="#ppt_y"/>
                                          </p:val>
                                        </p:tav>
                                      </p:tavLst>
                                    </p:anim>
                                  </p:childTnLst>
                                </p:cTn>
                              </p:par>
                              <p:par>
                                <p:cTn id="153" presetID="42" presetClass="entr" presetSubtype="0" fill="hold" grpId="0" nodeType="withEffect">
                                  <p:stCondLst>
                                    <p:cond delay="105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p:cTn id="151" dur="550" decel="100000" fill="hold"/>
                                        <p:tgtEl>
                                          <p:spTgt spid="39"/>
                                        </p:tgtEl>
                                        <p:attrNameLst>
                                          <p:attrName>ppt_x</p:attrName>
                                        </p:attrNameLst>
                                      </p:cBhvr>
                                      <p:tavLst>
                                        <p:tav tm="0">
                                          <p:val>
                                            <p:strVal val="#ppt_x"/>
                                          </p:val>
                                        </p:tav>
                                        <p:tav tm="100000">
                                          <p:val>
                                            <p:strVal val="#ppt_x"/>
                                          </p:val>
                                        </p:tav>
                                      </p:tavLst>
                                    </p:anim>
                                    <p:anim calcmode="lin" valueType="num">
                                      <p:cBhvr>
                                        <p:cTn id="152" dur="550" decel="100000" fill="hold"/>
                                        <p:tgtEl>
                                          <p:spTgt spid="39"/>
                                        </p:tgtEl>
                                        <p:attrNameLst>
                                          <p:attrName>ppt_y</p:attrName>
                                        </p:attrNameLst>
                                      </p:cBhvr>
                                      <p:tavLst>
                                        <p:tav tm="0">
                                          <p:val>
                                            <p:strVal val="#ppt_y+0.03"/>
                                          </p:val>
                                        </p:tav>
                                        <p:tav tm="100000">
                                          <p:val>
                                            <p:strVal val="#ppt_y"/>
                                          </p:val>
                                        </p:tav>
                                      </p:tavLst>
                                    </p:anim>
                                  </p:childTnLst>
                                </p:cTn>
                              </p:par>
                              <p:par>
                                <p:cTn id="158" presetID="42" presetClass="entr" presetSubtype="0" fill="hold" grpId="0" nodeType="withEffect">
                                  <p:stCondLst>
                                    <p:cond delay="1250"/>
                                  </p:stCondLst>
                                  <p:childTnLst>
                                    <p:set>
                                      <p:cBhvr>
                                        <p:cTn id="154" dur="1" fill="hold">
                                          <p:stCondLst>
                                            <p:cond delay="0"/>
                                          </p:stCondLst>
                                        </p:cTn>
                                        <p:tgtEl>
                                          <p:spTgt spid="40"/>
                                        </p:tgtEl>
                                        <p:attrNameLst>
                                          <p:attrName>style.visibility</p:attrName>
                                        </p:attrNameLst>
                                      </p:cBhvr>
                                      <p:to>
                                        <p:strVal val="visible"/>
                                      </p:to>
                                    </p:set>
                                    <p:animEffect transition="in" filter="fade">
                                      <p:cBhvr>
                                        <p:cTn id="155" dur="550"/>
                                        <p:tgtEl>
                                          <p:spTgt spid="40"/>
                                        </p:tgtEl>
                                      </p:cBhvr>
                                    </p:animEffect>
                                    <p:anim calcmode="lin" valueType="num">
                                      <p:cBhvr>
                                        <p:cTn id="156" dur="550" decel="100000" fill="hold"/>
                                        <p:tgtEl>
                                          <p:spTgt spid="40"/>
                                        </p:tgtEl>
                                        <p:attrNameLst>
                                          <p:attrName>ppt_x</p:attrName>
                                        </p:attrNameLst>
                                      </p:cBhvr>
                                      <p:tavLst>
                                        <p:tav tm="0">
                                          <p:val>
                                            <p:strVal val="#ppt_x"/>
                                          </p:val>
                                        </p:tav>
                                        <p:tav tm="100000">
                                          <p:val>
                                            <p:strVal val="#ppt_x"/>
                                          </p:val>
                                        </p:tav>
                                      </p:tavLst>
                                    </p:anim>
                                    <p:anim calcmode="lin" valueType="num">
                                      <p:cBhvr>
                                        <p:cTn id="157" dur="550" decel="100000" fill="hold"/>
                                        <p:tgtEl>
                                          <p:spTgt spid="40"/>
                                        </p:tgtEl>
                                        <p:attrNameLst>
                                          <p:attrName>ppt_y</p:attrName>
                                        </p:attrNameLst>
                                      </p:cBhvr>
                                      <p:tavLst>
                                        <p:tav tm="0">
                                          <p:val>
                                            <p:strVal val="#ppt_y+0.03"/>
                                          </p:val>
                                        </p:tav>
                                        <p:tav tm="100000">
                                          <p:val>
                                            <p:strVal val="#ppt_y"/>
                                          </p:val>
                                        </p:tav>
                                      </p:tavLst>
                                    </p:anim>
                                  </p:childTnLst>
                                </p:cTn>
                              </p:par>
                              <p:par>
                                <p:cTn id="163" presetID="42" presetClass="entr" presetSubtype="0" fill="hold" grpId="0" nodeType="withEffect">
                                  <p:stCondLst>
                                    <p:cond delay="125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p:cTn id="161" dur="550" decel="100000" fill="hold"/>
                                        <p:tgtEl>
                                          <p:spTgt spid="41"/>
                                        </p:tgtEl>
                                        <p:attrNameLst>
                                          <p:attrName>ppt_x</p:attrName>
                                        </p:attrNameLst>
                                      </p:cBhvr>
                                      <p:tavLst>
                                        <p:tav tm="0">
                                          <p:val>
                                            <p:strVal val="#ppt_x"/>
                                          </p:val>
                                        </p:tav>
                                        <p:tav tm="100000">
                                          <p:val>
                                            <p:strVal val="#ppt_x"/>
                                          </p:val>
                                        </p:tav>
                                      </p:tavLst>
                                    </p:anim>
                                    <p:anim calcmode="lin" valueType="num">
                                      <p:cBhvr>
                                        <p:cTn id="162" dur="550" decel="100000" fill="hold"/>
                                        <p:tgtEl>
                                          <p:spTgt spid="41"/>
                                        </p:tgtEl>
                                        <p:attrNameLst>
                                          <p:attrName>ppt_y</p:attrName>
                                        </p:attrNameLst>
                                      </p:cBhvr>
                                      <p:tavLst>
                                        <p:tav tm="0">
                                          <p:val>
                                            <p:strVal val="#ppt_y+0.03"/>
                                          </p:val>
                                        </p:tav>
                                        <p:tav tm="100000">
                                          <p:val>
                                            <p:strVal val="#ppt_y"/>
                                          </p:val>
                                        </p:tav>
                                      </p:tavLst>
                                    </p:anim>
                                  </p:childTnLst>
                                </p:cTn>
                              </p:par>
                              <p:par>
                                <p:cTn id="168" presetID="42" presetClass="entr" presetSubtype="0" fill="hold" grpId="0" nodeType="withEffect">
                                  <p:stCondLst>
                                    <p:cond delay="1250"/>
                                  </p:stCondLst>
                                  <p:childTnLst>
                                    <p:set>
                                      <p:cBhvr>
                                        <p:cTn id="164" dur="1" fill="hold">
                                          <p:stCondLst>
                                            <p:cond delay="0"/>
                                          </p:stCondLst>
                                        </p:cTn>
                                        <p:tgtEl>
                                          <p:spTgt spid="42"/>
                                        </p:tgtEl>
                                        <p:attrNameLst>
                                          <p:attrName>style.visibility</p:attrName>
                                        </p:attrNameLst>
                                      </p:cBhvr>
                                      <p:to>
                                        <p:strVal val="visible"/>
                                      </p:to>
                                    </p:set>
                                    <p:animEffect transition="in" filter="fade">
                                      <p:cBhvr>
                                        <p:cTn id="165" dur="550"/>
                                        <p:tgtEl>
                                          <p:spTgt spid="42"/>
                                        </p:tgtEl>
                                      </p:cBhvr>
                                    </p:animEffect>
                                    <p:anim calcmode="lin" valueType="num">
                                      <p:cBhvr>
                                        <p:cTn id="166" dur="550" decel="100000" fill="hold"/>
                                        <p:tgtEl>
                                          <p:spTgt spid="42"/>
                                        </p:tgtEl>
                                        <p:attrNameLst>
                                          <p:attrName>ppt_x</p:attrName>
                                        </p:attrNameLst>
                                      </p:cBhvr>
                                      <p:tavLst>
                                        <p:tav tm="0">
                                          <p:val>
                                            <p:strVal val="#ppt_x"/>
                                          </p:val>
                                        </p:tav>
                                        <p:tav tm="100000">
                                          <p:val>
                                            <p:strVal val="#ppt_x"/>
                                          </p:val>
                                        </p:tav>
                                      </p:tavLst>
                                    </p:anim>
                                    <p:anim calcmode="lin" valueType="num">
                                      <p:cBhvr>
                                        <p:cTn id="167" dur="550" decel="100000" fill="hold"/>
                                        <p:tgtEl>
                                          <p:spTgt spid="42"/>
                                        </p:tgtEl>
                                        <p:attrNameLst>
                                          <p:attrName>ppt_y</p:attrName>
                                        </p:attrNameLst>
                                      </p:cBhvr>
                                      <p:tavLst>
                                        <p:tav tm="0">
                                          <p:val>
                                            <p:strVal val="#ppt_y+0.03"/>
                                          </p:val>
                                        </p:tav>
                                        <p:tav tm="100000">
                                          <p:val>
                                            <p:strVal val="#ppt_y"/>
                                          </p:val>
                                        </p:tav>
                                      </p:tavLst>
                                    </p:anim>
                                  </p:childTnLst>
                                </p:cTn>
                              </p:par>
                              <p:par>
                                <p:cTn id="173" presetID="42" presetClass="entr" presetSubtype="0" fill="hold" grpId="0" nodeType="withEffect">
                                  <p:stCondLst>
                                    <p:cond delay="125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p:cTn id="171" dur="550" decel="100000" fill="hold"/>
                                        <p:tgtEl>
                                          <p:spTgt spid="43"/>
                                        </p:tgtEl>
                                        <p:attrNameLst>
                                          <p:attrName>ppt_x</p:attrName>
                                        </p:attrNameLst>
                                      </p:cBhvr>
                                      <p:tavLst>
                                        <p:tav tm="0">
                                          <p:val>
                                            <p:strVal val="#ppt_x"/>
                                          </p:val>
                                        </p:tav>
                                        <p:tav tm="100000">
                                          <p:val>
                                            <p:strVal val="#ppt_x"/>
                                          </p:val>
                                        </p:tav>
                                      </p:tavLst>
                                    </p:anim>
                                    <p:anim calcmode="lin" valueType="num">
                                      <p:cBhvr>
                                        <p:cTn id="172" dur="550" decel="100000" fill="hold"/>
                                        <p:tgtEl>
                                          <p:spTgt spid="43"/>
                                        </p:tgtEl>
                                        <p:attrNameLst>
                                          <p:attrName>ppt_y</p:attrName>
                                        </p:attrNameLst>
                                      </p:cBhvr>
                                      <p:tavLst>
                                        <p:tav tm="0">
                                          <p:val>
                                            <p:strVal val="#ppt_y+0.03"/>
                                          </p:val>
                                        </p:tav>
                                        <p:tav tm="100000">
                                          <p:val>
                                            <p:strVal val="#ppt_y"/>
                                          </p:val>
                                        </p:tav>
                                      </p:tavLst>
                                    </p:anim>
                                  </p:childTnLst>
                                </p:cTn>
                              </p:par>
                              <p:par>
                                <p:cTn id="178" presetID="42" presetClass="entr" presetSubtype="0" fill="hold" grpId="0" nodeType="withEffect">
                                  <p:stCondLst>
                                    <p:cond delay="1250"/>
                                  </p:stCondLst>
                                  <p:childTnLst>
                                    <p:set>
                                      <p:cBhvr>
                                        <p:cTn id="174" dur="1" fill="hold">
                                          <p:stCondLst>
                                            <p:cond delay="0"/>
                                          </p:stCondLst>
                                        </p:cTn>
                                        <p:tgtEl>
                                          <p:spTgt spid="44"/>
                                        </p:tgtEl>
                                        <p:attrNameLst>
                                          <p:attrName>style.visibility</p:attrName>
                                        </p:attrNameLst>
                                      </p:cBhvr>
                                      <p:to>
                                        <p:strVal val="visible"/>
                                      </p:to>
                                    </p:set>
                                    <p:animEffect transition="in" filter="fade">
                                      <p:cBhvr>
                                        <p:cTn id="175" dur="550"/>
                                        <p:tgtEl>
                                          <p:spTgt spid="44"/>
                                        </p:tgtEl>
                                      </p:cBhvr>
                                    </p:animEffect>
                                    <p:anim calcmode="lin" valueType="num">
                                      <p:cBhvr>
                                        <p:cTn id="176" dur="550" decel="100000" fill="hold"/>
                                        <p:tgtEl>
                                          <p:spTgt spid="44"/>
                                        </p:tgtEl>
                                        <p:attrNameLst>
                                          <p:attrName>ppt_x</p:attrName>
                                        </p:attrNameLst>
                                      </p:cBhvr>
                                      <p:tavLst>
                                        <p:tav tm="0">
                                          <p:val>
                                            <p:strVal val="#ppt_x"/>
                                          </p:val>
                                        </p:tav>
                                        <p:tav tm="100000">
                                          <p:val>
                                            <p:strVal val="#ppt_x"/>
                                          </p:val>
                                        </p:tav>
                                      </p:tavLst>
                                    </p:anim>
                                    <p:anim calcmode="lin" valueType="num">
                                      <p:cBhvr>
                                        <p:cTn id="177" dur="550" decel="100000" fill="hold"/>
                                        <p:tgtEl>
                                          <p:spTgt spid="44"/>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2"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66928"/>
            <a:ext cx="11094415" cy="256032"/>
          </a:xfrm>
          <a:prstGeom prst="rect">
            <a:avLst/>
          </a:prstGeom>
          <a:noFill/>
          <a:ln/>
        </p:spPr>
        <p:txBody>
          <a:bodyPr wrap="square" lIns="0" tIns="0" rIns="0" bIns="0" rtlCol="0" anchor="ctr"/>
          <a:lstStyle/>
          <a:p>
            <a:pPr algn="ctr" indent="0" marL="0">
              <a:buNone/>
            </a:pPr>
            <a:r>
              <a:rPr lang="en-US" sz="1000" b="1" spc="300" kern="0" dirty="0">
                <a:solidFill>
                  <a:srgbClr val="0B79A8"/>
                </a:solidFill>
              </a:rPr>
              <a:t>KEY MESSAGE</a:t>
            </a:r>
            <a:endParaRPr lang="en-US" sz="1000" dirty="0"/>
          </a:p>
        </p:txBody>
      </p:sp>
      <p:sp>
        <p:nvSpPr>
          <p:cNvPr id="3" name="Text 1"/>
          <p:cNvSpPr txBox="1"/>
          <p:nvPr/>
        </p:nvSpPr>
        <p:spPr>
          <a:xfrm>
            <a:off x="548640" y="841248"/>
            <a:ext cx="11094415" cy="548640"/>
          </a:xfrm>
          <a:prstGeom prst="rect">
            <a:avLst/>
          </a:prstGeom>
          <a:noFill/>
          <a:ln/>
        </p:spPr>
        <p:txBody>
          <a:bodyPr wrap="square" lIns="0" tIns="0" rIns="0" bIns="0" rtlCol="0" anchor="ctr"/>
          <a:lstStyle/>
          <a:p>
            <a:pPr algn="ctr" indent="0" marL="0">
              <a:buNone/>
            </a:pPr>
            <a:r>
              <a:rPr lang="en-US" sz="3000" b="1" dirty="0">
                <a:solidFill>
                  <a:srgbClr val="1E2F5C"/>
                </a:solidFill>
              </a:rPr>
              <a:t>What the Quantitative Analysis Tells Us</a:t>
            </a:r>
            <a:endParaRPr lang="en-US" sz="3000" dirty="0"/>
          </a:p>
        </p:txBody>
      </p:sp>
      <p:sp>
        <p:nvSpPr>
          <p:cNvPr id="4" name="Page number"/>
          <p:cNvSpPr txBox="1"/>
          <p:nvPr/>
        </p:nvSpPr>
        <p:spPr>
          <a:xfrm>
            <a:off x="10725912" y="6455664"/>
            <a:ext cx="914400" cy="256032"/>
          </a:xfrm>
          <a:prstGeom prst="rect">
            <a:avLst/>
          </a:prstGeom>
          <a:noFill/>
          <a:ln/>
        </p:spPr>
        <p:txBody>
          <a:bodyPr wrap="square" lIns="0" tIns="0" rIns="0" bIns="0" rtlCol="0" anchor="ctr"/>
          <a:lstStyle/>
          <a:p>
            <a:pPr algn="r" indent="0" marL="0">
              <a:buNone/>
            </a:pPr>
            <a:r>
              <a:rPr lang="en-US" sz="900" b="1" dirty="0">
                <a:solidFill>
                  <a:srgbClr val="1E2F5C"/>
                </a:solidFill>
              </a:rPr>
              <a:t>09 / 09</a:t>
            </a:r>
            <a:endParaRPr lang="en-US" sz="900" dirty="0"/>
          </a:p>
        </p:txBody>
      </p:sp>
      <p:sp>
        <p:nvSpPr>
          <p:cNvPr id="5" name="Quote card"/>
          <p:cNvSpPr/>
          <p:nvPr/>
        </p:nvSpPr>
        <p:spPr>
          <a:xfrm>
            <a:off x="1188720" y="1783080"/>
            <a:ext cx="9814255" cy="1600200"/>
          </a:xfrm>
          <a:prstGeom prst="roundRect">
            <a:avLst>
              <a:gd name="adj" fmla="val 571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6" name="Quote mark"/>
          <p:cNvSpPr txBox="1"/>
          <p:nvPr/>
        </p:nvSpPr>
        <p:spPr>
          <a:xfrm>
            <a:off x="1417320" y="1828800"/>
            <a:ext cx="731520" cy="822960"/>
          </a:xfrm>
          <a:prstGeom prst="rect">
            <a:avLst/>
          </a:prstGeom>
          <a:noFill/>
          <a:ln/>
        </p:spPr>
        <p:txBody>
          <a:bodyPr wrap="square" lIns="0" tIns="0" rIns="0" bIns="0" rtlCol="0" anchor="ctr"/>
          <a:lstStyle/>
          <a:p>
            <a:pPr indent="0" marL="0">
              <a:buNone/>
            </a:pPr>
            <a:r>
              <a:rPr lang="en-US" sz="7200" b="1" dirty="0">
                <a:solidFill>
                  <a:srgbClr val="1CABE2"/>
                </a:solidFill>
              </a:rPr>
              <a:t>“</a:t>
            </a:r>
            <a:endParaRPr lang="en-US" sz="7200" dirty="0"/>
          </a:p>
        </p:txBody>
      </p:sp>
      <p:sp>
        <p:nvSpPr>
          <p:cNvPr id="7" name="Text"/>
          <p:cNvSpPr txBox="1"/>
          <p:nvPr/>
        </p:nvSpPr>
        <p:spPr>
          <a:xfrm>
            <a:off x="2194560" y="1965960"/>
            <a:ext cx="8412480" cy="1234440"/>
          </a:xfrm>
          <a:prstGeom prst="rect">
            <a:avLst/>
          </a:prstGeom>
          <a:noFill/>
          <a:ln/>
        </p:spPr>
        <p:txBody>
          <a:bodyPr wrap="square" lIns="0" tIns="0" rIns="0" bIns="0" rtlCol="0" anchor="ctr"/>
          <a:lstStyle/>
          <a:p>
            <a:pPr indent="0" marL="0">
              <a:lnSpc>
                <a:spcPct val="112000"/>
              </a:lnSpc>
              <a:buNone/>
            </a:pPr>
            <a:r>
              <a:rPr lang="en-US" sz="1800" b="1" dirty="0">
                <a:solidFill>
                  <a:srgbClr val="1E2F5C"/>
                </a:solidFill>
              </a:rPr>
              <a:t>The quantitative findings provide important signals about </a:t>
            </a:r>
            <a:pPr indent="0" marL="0">
              <a:lnSpc>
                <a:spcPct val="112000"/>
              </a:lnSpc>
              <a:buNone/>
            </a:pPr>
            <a:r>
              <a:rPr lang="en-US" sz="1800" b="1" dirty="0">
                <a:solidFill>
                  <a:srgbClr val="2D539F"/>
                </a:solidFill>
              </a:rPr>
              <a:t>who is more vulnerable</a:t>
            </a:r>
            <a:pPr indent="0" marL="0">
              <a:lnSpc>
                <a:spcPct val="112000"/>
              </a:lnSpc>
              <a:buNone/>
            </a:pPr>
            <a:r>
              <a:rPr lang="en-US" sz="1800" b="1" dirty="0">
                <a:solidFill>
                  <a:srgbClr val="1E2F5C"/>
                </a:solidFill>
              </a:rPr>
              <a:t> and how vulnerabilities intersect, while qualitative evidence helps explain </a:t>
            </a:r>
            <a:pPr indent="0" marL="0">
              <a:lnSpc>
                <a:spcPct val="112000"/>
              </a:lnSpc>
              <a:buNone/>
            </a:pPr>
            <a:r>
              <a:rPr lang="en-US" sz="1800" b="1" dirty="0">
                <a:solidFill>
                  <a:srgbClr val="2D539F"/>
                </a:solidFill>
              </a:rPr>
              <a:t>how and why</a:t>
            </a:r>
            <a:pPr indent="0" marL="0">
              <a:lnSpc>
                <a:spcPct val="112000"/>
              </a:lnSpc>
              <a:buNone/>
            </a:pPr>
            <a:r>
              <a:rPr lang="en-US" sz="1800" b="1" dirty="0">
                <a:solidFill>
                  <a:srgbClr val="1E2F5C"/>
                </a:solidFill>
              </a:rPr>
              <a:t> these vulnerabilities may connect.</a:t>
            </a:r>
            <a:endParaRPr lang="en-US" sz="1800" dirty="0"/>
          </a:p>
        </p:txBody>
      </p:sp>
      <p:sp>
        <p:nvSpPr>
          <p:cNvPr id="8" name="Associations, not causes card"/>
          <p:cNvSpPr/>
          <p:nvPr/>
        </p:nvSpPr>
        <p:spPr>
          <a:xfrm>
            <a:off x="548640"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9" name="FaSearch disc"/>
          <p:cNvSpPr/>
          <p:nvPr/>
        </p:nvSpPr>
        <p:spPr>
          <a:xfrm>
            <a:off x="822960" y="4069080"/>
            <a:ext cx="548640" cy="548640"/>
          </a:xfrm>
          <a:prstGeom prst="ellipse">
            <a:avLst/>
          </a:prstGeom>
          <a:solidFill>
            <a:srgbClr val="3B67C4"/>
          </a:solidFill>
          <a:ln/>
        </p:spPr>
      </p:sp>
      <p:pic>
        <p:nvPicPr>
          <p:cNvPr id="10" name="FaSearch" descr="preencoded.png">    </p:cNvPr>
          <p:cNvPicPr>
            <a:picLocks noChangeAspect="1"/>
          </p:cNvPicPr>
          <p:nvPr/>
        </p:nvPicPr>
        <p:blipFill>
          <a:blip r:embed="rId1"/>
          <a:stretch>
            <a:fillRect/>
          </a:stretch>
        </p:blipFill>
        <p:spPr>
          <a:xfrm>
            <a:off x="965606" y="4211726"/>
            <a:ext cx="263347" cy="263347"/>
          </a:xfrm>
          <a:prstGeom prst="rect">
            <a:avLst/>
          </a:prstGeom>
        </p:spPr>
      </p:pic>
      <p:sp>
        <p:nvSpPr>
          <p:cNvPr id="11" name="Text"/>
          <p:cNvSpPr txBox="1"/>
          <p:nvPr/>
        </p:nvSpPr>
        <p:spPr>
          <a:xfrm>
            <a:off x="1536192"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Associations, not causes</a:t>
            </a:r>
            <a:endParaRPr lang="en-US" sz="1400" dirty="0"/>
          </a:p>
        </p:txBody>
      </p:sp>
      <p:sp>
        <p:nvSpPr>
          <p:cNvPr id="12" name="Divider"/>
          <p:cNvSpPr/>
          <p:nvPr/>
        </p:nvSpPr>
        <p:spPr>
          <a:xfrm>
            <a:off x="822960" y="4818888"/>
            <a:ext cx="2966618" cy="0"/>
          </a:xfrm>
          <a:prstGeom prst="line">
            <a:avLst/>
          </a:prstGeom>
          <a:noFill/>
          <a:ln w="12700">
            <a:solidFill>
              <a:srgbClr val="E3E8EF"/>
            </a:solidFill>
            <a:prstDash val="solid"/>
          </a:ln>
        </p:spPr>
      </p:sp>
      <p:sp>
        <p:nvSpPr>
          <p:cNvPr id="13" name="Text"/>
          <p:cNvSpPr txBox="1"/>
          <p:nvPr/>
        </p:nvSpPr>
        <p:spPr>
          <a:xfrm>
            <a:off x="822960"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These findings identify associations within the study population. They do not establish causes of child marriage.</a:t>
            </a:r>
            <a:endParaRPr lang="en-US" sz="1150" dirty="0"/>
          </a:p>
        </p:txBody>
      </p:sp>
      <p:sp>
        <p:nvSpPr>
          <p:cNvPr id="14" name="A cluster of vulnerabilities card"/>
          <p:cNvSpPr/>
          <p:nvPr/>
        </p:nvSpPr>
        <p:spPr>
          <a:xfrm>
            <a:off x="4338218"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15" name="FaProjectDiagram disc"/>
          <p:cNvSpPr/>
          <p:nvPr/>
        </p:nvSpPr>
        <p:spPr>
          <a:xfrm>
            <a:off x="4612538" y="4069080"/>
            <a:ext cx="548640" cy="548640"/>
          </a:xfrm>
          <a:prstGeom prst="ellipse">
            <a:avLst/>
          </a:prstGeom>
          <a:solidFill>
            <a:srgbClr val="8E52A3"/>
          </a:solidFill>
          <a:ln/>
        </p:spPr>
      </p:sp>
      <p:pic>
        <p:nvPicPr>
          <p:cNvPr id="16" name="FaProjectDiagram" descr="preencoded.png">    </p:cNvPr>
          <p:cNvPicPr>
            <a:picLocks noChangeAspect="1"/>
          </p:cNvPicPr>
          <p:nvPr/>
        </p:nvPicPr>
        <p:blipFill>
          <a:blip r:embed="rId2"/>
          <a:stretch>
            <a:fillRect/>
          </a:stretch>
        </p:blipFill>
        <p:spPr>
          <a:xfrm>
            <a:off x="4755185" y="4211726"/>
            <a:ext cx="263347" cy="263347"/>
          </a:xfrm>
          <a:prstGeom prst="rect">
            <a:avLst/>
          </a:prstGeom>
        </p:spPr>
      </p:pic>
      <p:sp>
        <p:nvSpPr>
          <p:cNvPr id="17" name="Text"/>
          <p:cNvSpPr txBox="1"/>
          <p:nvPr/>
        </p:nvSpPr>
        <p:spPr>
          <a:xfrm>
            <a:off x="5325770"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A cluster of vulnerabilities</a:t>
            </a:r>
            <a:endParaRPr lang="en-US" sz="1400" dirty="0"/>
          </a:p>
        </p:txBody>
      </p:sp>
      <p:sp>
        <p:nvSpPr>
          <p:cNvPr id="18" name="Divider"/>
          <p:cNvSpPr/>
          <p:nvPr/>
        </p:nvSpPr>
        <p:spPr>
          <a:xfrm>
            <a:off x="4612538" y="4818888"/>
            <a:ext cx="2966618" cy="0"/>
          </a:xfrm>
          <a:prstGeom prst="line">
            <a:avLst/>
          </a:prstGeom>
          <a:noFill/>
          <a:ln w="12700">
            <a:solidFill>
              <a:srgbClr val="E3E8EF"/>
            </a:solidFill>
            <a:prstDash val="solid"/>
          </a:ln>
        </p:spPr>
      </p:sp>
      <p:sp>
        <p:nvSpPr>
          <p:cNvPr id="19" name="Text"/>
          <p:cNvSpPr txBox="1"/>
          <p:nvPr/>
        </p:nvSpPr>
        <p:spPr>
          <a:xfrm>
            <a:off x="4612538"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Child marriage occurs within a broader pattern of interconnected vulnerabilities rather than being associated with a single factor.</a:t>
            </a:r>
            <a:endParaRPr lang="en-US" sz="1150" dirty="0"/>
          </a:p>
        </p:txBody>
      </p:sp>
      <p:sp>
        <p:nvSpPr>
          <p:cNvPr id="20" name="Patterns, not prevalence card"/>
          <p:cNvSpPr/>
          <p:nvPr/>
        </p:nvSpPr>
        <p:spPr>
          <a:xfrm>
            <a:off x="8127797" y="3794760"/>
            <a:ext cx="3515258" cy="2148840"/>
          </a:xfrm>
          <a:prstGeom prst="roundRect">
            <a:avLst>
              <a:gd name="adj" fmla="val 3404"/>
            </a:avLst>
          </a:prstGeom>
          <a:solidFill>
            <a:srgbClr val="FFFFFF"/>
          </a:solidFill>
          <a:ln w="9525">
            <a:solidFill>
              <a:srgbClr val="E3E8EF"/>
            </a:solidFill>
            <a:prstDash val="solid"/>
          </a:ln>
          <a:effectLst>
            <a:outerShdw sx="100000" sy="100000" kx="0" ky="0" algn="bl" rotWithShape="0" blurRad="127000" dist="25400" dir="5400000">
              <a:srgbClr val="1E2F5C">
                <a:alpha val="8000"/>
              </a:srgbClr>
            </a:outerShdw>
          </a:effectLst>
        </p:spPr>
      </p:sp>
      <p:sp>
        <p:nvSpPr>
          <p:cNvPr id="21" name="FaBalanceScale disc"/>
          <p:cNvSpPr/>
          <p:nvPr/>
        </p:nvSpPr>
        <p:spPr>
          <a:xfrm>
            <a:off x="8402117" y="4069080"/>
            <a:ext cx="548640" cy="548640"/>
          </a:xfrm>
          <a:prstGeom prst="ellipse">
            <a:avLst/>
          </a:prstGeom>
          <a:solidFill>
            <a:srgbClr val="1A9DA8"/>
          </a:solidFill>
          <a:ln/>
        </p:spPr>
      </p:sp>
      <p:pic>
        <p:nvPicPr>
          <p:cNvPr id="22" name="FaBalanceScale" descr="preencoded.png">    </p:cNvPr>
          <p:cNvPicPr>
            <a:picLocks noChangeAspect="1"/>
          </p:cNvPicPr>
          <p:nvPr/>
        </p:nvPicPr>
        <p:blipFill>
          <a:blip r:embed="rId3"/>
          <a:stretch>
            <a:fillRect/>
          </a:stretch>
        </p:blipFill>
        <p:spPr>
          <a:xfrm>
            <a:off x="8544763" y="4211726"/>
            <a:ext cx="263347" cy="263347"/>
          </a:xfrm>
          <a:prstGeom prst="rect">
            <a:avLst/>
          </a:prstGeom>
        </p:spPr>
      </p:pic>
      <p:sp>
        <p:nvSpPr>
          <p:cNvPr id="23" name="Text"/>
          <p:cNvSpPr txBox="1"/>
          <p:nvPr/>
        </p:nvSpPr>
        <p:spPr>
          <a:xfrm>
            <a:off x="9115349" y="4069080"/>
            <a:ext cx="2326538" cy="548640"/>
          </a:xfrm>
          <a:prstGeom prst="rect">
            <a:avLst/>
          </a:prstGeom>
          <a:noFill/>
          <a:ln/>
        </p:spPr>
        <p:txBody>
          <a:bodyPr wrap="square" lIns="0" tIns="0" rIns="0" bIns="0" rtlCol="0" anchor="ctr"/>
          <a:lstStyle/>
          <a:p>
            <a:pPr indent="0" marL="0">
              <a:buNone/>
            </a:pPr>
            <a:r>
              <a:rPr lang="en-US" sz="1400" b="1" dirty="0">
                <a:solidFill>
                  <a:srgbClr val="1E2F5C"/>
                </a:solidFill>
              </a:rPr>
              <a:t>Patterns, not prevalence</a:t>
            </a:r>
            <a:endParaRPr lang="en-US" sz="1400" dirty="0"/>
          </a:p>
        </p:txBody>
      </p:sp>
      <p:sp>
        <p:nvSpPr>
          <p:cNvPr id="24" name="Divider"/>
          <p:cNvSpPr/>
          <p:nvPr/>
        </p:nvSpPr>
        <p:spPr>
          <a:xfrm>
            <a:off x="8402117" y="4818888"/>
            <a:ext cx="2966618" cy="0"/>
          </a:xfrm>
          <a:prstGeom prst="line">
            <a:avLst/>
          </a:prstGeom>
          <a:noFill/>
          <a:ln w="12700">
            <a:solidFill>
              <a:srgbClr val="E3E8EF"/>
            </a:solidFill>
            <a:prstDash val="solid"/>
          </a:ln>
        </p:spPr>
      </p:sp>
      <p:sp>
        <p:nvSpPr>
          <p:cNvPr id="25" name="Text"/>
          <p:cNvSpPr txBox="1"/>
          <p:nvPr/>
        </p:nvSpPr>
        <p:spPr>
          <a:xfrm>
            <a:off x="8402117" y="4937760"/>
            <a:ext cx="2966618" cy="1097280"/>
          </a:xfrm>
          <a:prstGeom prst="rect">
            <a:avLst/>
          </a:prstGeom>
          <a:noFill/>
          <a:ln/>
        </p:spPr>
        <p:txBody>
          <a:bodyPr wrap="square" lIns="0" tIns="0" rIns="0" bIns="0" rtlCol="0" anchor="t"/>
          <a:lstStyle/>
          <a:p>
            <a:pPr indent="0" marL="0">
              <a:lnSpc>
                <a:spcPct val="110000"/>
              </a:lnSpc>
              <a:buNone/>
            </a:pPr>
            <a:r>
              <a:rPr lang="en-US" sz="1150" dirty="0">
                <a:solidFill>
                  <a:srgbClr val="414A5A"/>
                </a:solidFill>
              </a:rPr>
              <a:t>The analysis was conducted without sampling weights. Do not treat the results as national prevalence.</a:t>
            </a:r>
            <a:endParaRPr lang="en-US" sz="1150" dirty="0"/>
          </a:p>
        </p:txBody>
      </p:sp>
    </p:spTree>
  </p:cSld>
  <p:clrMapOvr>
    <a:masterClrMapping/>
  </p:clrMapOvr>
  <mc:AlternateContent xmlns:mc="http://schemas.openxmlformats.org/markup-compatibility/2006">
    <mc:Choice xmlns:p14="http://schemas.microsoft.com/office/powerpoint/2010/main" Requires="p14">
      <p:transition spd="slow" p14:dur="700">
        <p:fad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42" presetClass="entr" presetSubtype="0" fill="hold" grpId="0" nodeType="after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anim calcmode="lin" valueType="num">
                                      <p:cBhvr>
                                        <p:cTn id="7" dur="550" decel="100000" fill="hold"/>
                                        <p:tgtEl>
                                          <p:spTgt spid="5"/>
                                        </p:tgtEl>
                                        <p:attrNameLst>
                                          <p:attrName>ppt_x</p:attrName>
                                        </p:attrNameLst>
                                      </p:cBhvr>
                                      <p:tavLst>
                                        <p:tav tm="0">
                                          <p:val>
                                            <p:strVal val="#ppt_x"/>
                                          </p:val>
                                        </p:tav>
                                        <p:tav tm="100000">
                                          <p:val>
                                            <p:strVal val="#ppt_x"/>
                                          </p:val>
                                        </p:tav>
                                      </p:tavLst>
                                    </p:anim>
                                    <p:anim calcmode="lin" valueType="num">
                                      <p:cBhvr>
                                        <p:cTn id="8" dur="550" decel="100000" fill="hold"/>
                                        <p:tgtEl>
                                          <p:spTgt spid="5"/>
                                        </p:tgtEl>
                                        <p:attrNameLst>
                                          <p:attrName>ppt_y</p:attrName>
                                        </p:attrNameLst>
                                      </p:cBhvr>
                                      <p:tavLst>
                                        <p:tav tm="0">
                                          <p:val>
                                            <p:strVal val="#ppt_y+0.03"/>
                                          </p:val>
                                        </p:tav>
                                        <p:tav tm="100000">
                                          <p:val>
                                            <p:strVal val="#ppt_y"/>
                                          </p:val>
                                        </p:tav>
                                      </p:tavLst>
                                    </p:anim>
                                  </p:childTnLst>
                                </p:cTn>
                              </p:par>
                              <p:par>
                                <p:cTn id="14"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50"/>
                                        <p:tgtEl>
                                          <p:spTgt spid="6"/>
                                        </p:tgtEl>
                                      </p:cBhvr>
                                    </p:animEffect>
                                    <p:anim calcmode="lin" valueType="num">
                                      <p:cBhvr>
                                        <p:cTn id="12" dur="550" decel="100000" fill="hold"/>
                                        <p:tgtEl>
                                          <p:spTgt spid="6"/>
                                        </p:tgtEl>
                                        <p:attrNameLst>
                                          <p:attrName>ppt_x</p:attrName>
                                        </p:attrNameLst>
                                      </p:cBhvr>
                                      <p:tavLst>
                                        <p:tav tm="0">
                                          <p:val>
                                            <p:strVal val="#ppt_x"/>
                                          </p:val>
                                        </p:tav>
                                        <p:tav tm="100000">
                                          <p:val>
                                            <p:strVal val="#ppt_x"/>
                                          </p:val>
                                        </p:tav>
                                      </p:tavLst>
                                    </p:anim>
                                    <p:anim calcmode="lin" valueType="num">
                                      <p:cBhvr>
                                        <p:cTn id="13" dur="550" decel="100000" fill="hold"/>
                                        <p:tgtEl>
                                          <p:spTgt spid="6"/>
                                        </p:tgtEl>
                                        <p:attrNameLst>
                                          <p:attrName>ppt_y</p:attrName>
                                        </p:attrNameLst>
                                      </p:cBhvr>
                                      <p:tavLst>
                                        <p:tav tm="0">
                                          <p:val>
                                            <p:strVal val="#ppt_y+0.03"/>
                                          </p:val>
                                        </p:tav>
                                        <p:tav tm="100000">
                                          <p:val>
                                            <p:strVal val="#ppt_y"/>
                                          </p:val>
                                        </p:tav>
                                      </p:tavLst>
                                    </p:anim>
                                  </p:childTnLst>
                                </p:cTn>
                              </p:par>
                              <p:par>
                                <p:cTn id="19" presetID="42"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50"/>
                                        <p:tgtEl>
                                          <p:spTgt spid="7"/>
                                        </p:tgtEl>
                                      </p:cBhvr>
                                    </p:animEffect>
                                    <p:anim calcmode="lin" valueType="num">
                                      <p:cBhvr>
                                        <p:cTn id="17" dur="550" decel="100000" fill="hold"/>
                                        <p:tgtEl>
                                          <p:spTgt spid="7"/>
                                        </p:tgtEl>
                                        <p:attrNameLst>
                                          <p:attrName>ppt_x</p:attrName>
                                        </p:attrNameLst>
                                      </p:cBhvr>
                                      <p:tavLst>
                                        <p:tav tm="0">
                                          <p:val>
                                            <p:strVal val="#ppt_x"/>
                                          </p:val>
                                        </p:tav>
                                        <p:tav tm="100000">
                                          <p:val>
                                            <p:strVal val="#ppt_x"/>
                                          </p:val>
                                        </p:tav>
                                      </p:tavLst>
                                    </p:anim>
                                    <p:anim calcmode="lin" valueType="num">
                                      <p:cBhvr>
                                        <p:cTn id="18" dur="550" decel="100000" fill="hold"/>
                                        <p:tgtEl>
                                          <p:spTgt spid="7"/>
                                        </p:tgtEl>
                                        <p:attrNameLst>
                                          <p:attrName>ppt_y</p:attrName>
                                        </p:attrNameLst>
                                      </p:cBhvr>
                                      <p:tavLst>
                                        <p:tav tm="0">
                                          <p:val>
                                            <p:strVal val="#ppt_y+0.03"/>
                                          </p:val>
                                        </p:tav>
                                        <p:tav tm="100000">
                                          <p:val>
                                            <p:strVal val="#ppt_y"/>
                                          </p:val>
                                        </p:tav>
                                      </p:tavLst>
                                    </p:anim>
                                  </p:childTnLst>
                                </p:cTn>
                              </p:par>
                              <p:par>
                                <p:cTn id="24" presetID="42" presetClass="entr" presetSubtype="0" fill="hold" grpId="0" nodeType="withEffect">
                                  <p:stCondLst>
                                    <p:cond delay="5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50"/>
                                        <p:tgtEl>
                                          <p:spTgt spid="8"/>
                                        </p:tgtEl>
                                      </p:cBhvr>
                                    </p:animEffect>
                                    <p:anim calcmode="lin" valueType="num">
                                      <p:cBhvr>
                                        <p:cTn id="22" dur="550" decel="100000" fill="hold"/>
                                        <p:tgtEl>
                                          <p:spTgt spid="8"/>
                                        </p:tgtEl>
                                        <p:attrNameLst>
                                          <p:attrName>ppt_x</p:attrName>
                                        </p:attrNameLst>
                                      </p:cBhvr>
                                      <p:tavLst>
                                        <p:tav tm="0">
                                          <p:val>
                                            <p:strVal val="#ppt_x"/>
                                          </p:val>
                                        </p:tav>
                                        <p:tav tm="100000">
                                          <p:val>
                                            <p:strVal val="#ppt_x"/>
                                          </p:val>
                                        </p:tav>
                                      </p:tavLst>
                                    </p:anim>
                                    <p:anim calcmode="lin" valueType="num">
                                      <p:cBhvr>
                                        <p:cTn id="23" dur="550" decel="100000" fill="hold"/>
                                        <p:tgtEl>
                                          <p:spTgt spid="8"/>
                                        </p:tgtEl>
                                        <p:attrNameLst>
                                          <p:attrName>ppt_y</p:attrName>
                                        </p:attrNameLst>
                                      </p:cBhvr>
                                      <p:tavLst>
                                        <p:tav tm="0">
                                          <p:val>
                                            <p:strVal val="#ppt_y+0.03"/>
                                          </p:val>
                                        </p:tav>
                                        <p:tav tm="100000">
                                          <p:val>
                                            <p:strVal val="#ppt_y"/>
                                          </p:val>
                                        </p:tav>
                                      </p:tavLst>
                                    </p:anim>
                                  </p:childTnLst>
                                </p:cTn>
                              </p:par>
                              <p:par>
                                <p:cTn id="29" presetID="42" presetClass="entr" presetSubtype="0" fill="hold" grpId="0" nodeType="withEffect">
                                  <p:stCondLst>
                                    <p:cond delay="5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50"/>
                                        <p:tgtEl>
                                          <p:spTgt spid="9"/>
                                        </p:tgtEl>
                                      </p:cBhvr>
                                    </p:animEffect>
                                    <p:anim calcmode="lin" valueType="num">
                                      <p:cBhvr>
                                        <p:cTn id="27" dur="550" decel="100000" fill="hold"/>
                                        <p:tgtEl>
                                          <p:spTgt spid="9"/>
                                        </p:tgtEl>
                                        <p:attrNameLst>
                                          <p:attrName>ppt_x</p:attrName>
                                        </p:attrNameLst>
                                      </p:cBhvr>
                                      <p:tavLst>
                                        <p:tav tm="0">
                                          <p:val>
                                            <p:strVal val="#ppt_x"/>
                                          </p:val>
                                        </p:tav>
                                        <p:tav tm="100000">
                                          <p:val>
                                            <p:strVal val="#ppt_x"/>
                                          </p:val>
                                        </p:tav>
                                      </p:tavLst>
                                    </p:anim>
                                    <p:anim calcmode="lin" valueType="num">
                                      <p:cBhvr>
                                        <p:cTn id="28" dur="550" decel="100000" fill="hold"/>
                                        <p:tgtEl>
                                          <p:spTgt spid="9"/>
                                        </p:tgtEl>
                                        <p:attrNameLst>
                                          <p:attrName>ppt_y</p:attrName>
                                        </p:attrNameLst>
                                      </p:cBhvr>
                                      <p:tavLst>
                                        <p:tav tm="0">
                                          <p:val>
                                            <p:strVal val="#ppt_y+0.03"/>
                                          </p:val>
                                        </p:tav>
                                        <p:tav tm="100000">
                                          <p:val>
                                            <p:strVal val="#ppt_y"/>
                                          </p:val>
                                        </p:tav>
                                      </p:tavLst>
                                    </p:anim>
                                  </p:childTnLst>
                                </p:cTn>
                              </p:par>
                              <p:par>
                                <p:cTn id="34" presetID="42" presetClass="entr" presetSubtype="0"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50"/>
                                        <p:tgtEl>
                                          <p:spTgt spid="10"/>
                                        </p:tgtEl>
                                      </p:cBhvr>
                                    </p:animEffect>
                                    <p:anim calcmode="lin" valueType="num">
                                      <p:cBhvr>
                                        <p:cTn id="32" dur="550" decel="100000" fill="hold"/>
                                        <p:tgtEl>
                                          <p:spTgt spid="10"/>
                                        </p:tgtEl>
                                        <p:attrNameLst>
                                          <p:attrName>ppt_x</p:attrName>
                                        </p:attrNameLst>
                                      </p:cBhvr>
                                      <p:tavLst>
                                        <p:tav tm="0">
                                          <p:val>
                                            <p:strVal val="#ppt_x"/>
                                          </p:val>
                                        </p:tav>
                                        <p:tav tm="100000">
                                          <p:val>
                                            <p:strVal val="#ppt_x"/>
                                          </p:val>
                                        </p:tav>
                                      </p:tavLst>
                                    </p:anim>
                                    <p:anim calcmode="lin" valueType="num">
                                      <p:cBhvr>
                                        <p:cTn id="33" dur="550" decel="100000" fill="hold"/>
                                        <p:tgtEl>
                                          <p:spTgt spid="10"/>
                                        </p:tgtEl>
                                        <p:attrNameLst>
                                          <p:attrName>ppt_y</p:attrName>
                                        </p:attrNameLst>
                                      </p:cBhvr>
                                      <p:tavLst>
                                        <p:tav tm="0">
                                          <p:val>
                                            <p:strVal val="#ppt_y+0.03"/>
                                          </p:val>
                                        </p:tav>
                                        <p:tav tm="100000">
                                          <p:val>
                                            <p:strVal val="#ppt_y"/>
                                          </p:val>
                                        </p:tav>
                                      </p:tavLst>
                                    </p:anim>
                                  </p:childTnLst>
                                </p:cTn>
                              </p:par>
                              <p:par>
                                <p:cTn id="39" presetID="42" presetClass="entr" presetSubtype="0" fill="hold" grpId="0" nodeType="withEffect">
                                  <p:stCondLst>
                                    <p:cond delay="5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50"/>
                                        <p:tgtEl>
                                          <p:spTgt spid="11"/>
                                        </p:tgtEl>
                                      </p:cBhvr>
                                    </p:animEffect>
                                    <p:anim calcmode="lin" valueType="num">
                                      <p:cBhvr>
                                        <p:cTn id="37" dur="550" decel="100000" fill="hold"/>
                                        <p:tgtEl>
                                          <p:spTgt spid="11"/>
                                        </p:tgtEl>
                                        <p:attrNameLst>
                                          <p:attrName>ppt_x</p:attrName>
                                        </p:attrNameLst>
                                      </p:cBhvr>
                                      <p:tavLst>
                                        <p:tav tm="0">
                                          <p:val>
                                            <p:strVal val="#ppt_x"/>
                                          </p:val>
                                        </p:tav>
                                        <p:tav tm="100000">
                                          <p:val>
                                            <p:strVal val="#ppt_x"/>
                                          </p:val>
                                        </p:tav>
                                      </p:tavLst>
                                    </p:anim>
                                    <p:anim calcmode="lin" valueType="num">
                                      <p:cBhvr>
                                        <p:cTn id="38" dur="550" decel="100000" fill="hold"/>
                                        <p:tgtEl>
                                          <p:spTgt spid="11"/>
                                        </p:tgtEl>
                                        <p:attrNameLst>
                                          <p:attrName>ppt_y</p:attrName>
                                        </p:attrNameLst>
                                      </p:cBhvr>
                                      <p:tavLst>
                                        <p:tav tm="0">
                                          <p:val>
                                            <p:strVal val="#ppt_y+0.03"/>
                                          </p:val>
                                        </p:tav>
                                        <p:tav tm="100000">
                                          <p:val>
                                            <p:strVal val="#ppt_y"/>
                                          </p:val>
                                        </p:tav>
                                      </p:tavLst>
                                    </p:anim>
                                  </p:childTnLst>
                                </p:cTn>
                              </p:par>
                              <p:par>
                                <p:cTn id="44" presetID="42" presetClass="entr" presetSubtype="0" fill="hold" grpId="0" nodeType="withEffect">
                                  <p:stCondLst>
                                    <p:cond delay="50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50"/>
                                        <p:tgtEl>
                                          <p:spTgt spid="12"/>
                                        </p:tgtEl>
                                      </p:cBhvr>
                                    </p:animEffect>
                                    <p:anim calcmode="lin" valueType="num">
                                      <p:cBhvr>
                                        <p:cTn id="42" dur="550" decel="100000" fill="hold"/>
                                        <p:tgtEl>
                                          <p:spTgt spid="12"/>
                                        </p:tgtEl>
                                        <p:attrNameLst>
                                          <p:attrName>ppt_x</p:attrName>
                                        </p:attrNameLst>
                                      </p:cBhvr>
                                      <p:tavLst>
                                        <p:tav tm="0">
                                          <p:val>
                                            <p:strVal val="#ppt_x"/>
                                          </p:val>
                                        </p:tav>
                                        <p:tav tm="100000">
                                          <p:val>
                                            <p:strVal val="#ppt_x"/>
                                          </p:val>
                                        </p:tav>
                                      </p:tavLst>
                                    </p:anim>
                                    <p:anim calcmode="lin" valueType="num">
                                      <p:cBhvr>
                                        <p:cTn id="43" dur="550" decel="100000" fill="hold"/>
                                        <p:tgtEl>
                                          <p:spTgt spid="12"/>
                                        </p:tgtEl>
                                        <p:attrNameLst>
                                          <p:attrName>ppt_y</p:attrName>
                                        </p:attrNameLst>
                                      </p:cBhvr>
                                      <p:tavLst>
                                        <p:tav tm="0">
                                          <p:val>
                                            <p:strVal val="#ppt_y+0.03"/>
                                          </p:val>
                                        </p:tav>
                                        <p:tav tm="100000">
                                          <p:val>
                                            <p:strVal val="#ppt_y"/>
                                          </p:val>
                                        </p:tav>
                                      </p:tavLst>
                                    </p:anim>
                                  </p:childTnLst>
                                </p:cTn>
                              </p:par>
                              <p:par>
                                <p:cTn id="49" presetID="42" presetClass="entr" presetSubtype="0" fill="hold" grpId="0" nodeType="withEffect">
                                  <p:stCondLst>
                                    <p:cond delay="5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anim calcmode="lin" valueType="num">
                                      <p:cBhvr>
                                        <p:cTn id="47" dur="550" decel="100000" fill="hold"/>
                                        <p:tgtEl>
                                          <p:spTgt spid="13"/>
                                        </p:tgtEl>
                                        <p:attrNameLst>
                                          <p:attrName>ppt_x</p:attrName>
                                        </p:attrNameLst>
                                      </p:cBhvr>
                                      <p:tavLst>
                                        <p:tav tm="0">
                                          <p:val>
                                            <p:strVal val="#ppt_x"/>
                                          </p:val>
                                        </p:tav>
                                        <p:tav tm="100000">
                                          <p:val>
                                            <p:strVal val="#ppt_x"/>
                                          </p:val>
                                        </p:tav>
                                      </p:tavLst>
                                    </p:anim>
                                    <p:anim calcmode="lin" valueType="num">
                                      <p:cBhvr>
                                        <p:cTn id="48" dur="550" decel="100000" fill="hold"/>
                                        <p:tgtEl>
                                          <p:spTgt spid="13"/>
                                        </p:tgtEl>
                                        <p:attrNameLst>
                                          <p:attrName>ppt_y</p:attrName>
                                        </p:attrNameLst>
                                      </p:cBhvr>
                                      <p:tavLst>
                                        <p:tav tm="0">
                                          <p:val>
                                            <p:strVal val="#ppt_y+0.03"/>
                                          </p:val>
                                        </p:tav>
                                        <p:tav tm="100000">
                                          <p:val>
                                            <p:strVal val="#ppt_y"/>
                                          </p:val>
                                        </p:tav>
                                      </p:tavLst>
                                    </p:anim>
                                  </p:childTnLst>
                                </p:cTn>
                              </p:par>
                              <p:par>
                                <p:cTn id="54" presetID="42" presetClass="entr" presetSubtype="0" fill="hold" grpId="0" nodeType="withEffect">
                                  <p:stCondLst>
                                    <p:cond delay="65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50"/>
                                        <p:tgtEl>
                                          <p:spTgt spid="14"/>
                                        </p:tgtEl>
                                      </p:cBhvr>
                                    </p:animEffect>
                                    <p:anim calcmode="lin" valueType="num">
                                      <p:cBhvr>
                                        <p:cTn id="52" dur="550" decel="100000" fill="hold"/>
                                        <p:tgtEl>
                                          <p:spTgt spid="14"/>
                                        </p:tgtEl>
                                        <p:attrNameLst>
                                          <p:attrName>ppt_x</p:attrName>
                                        </p:attrNameLst>
                                      </p:cBhvr>
                                      <p:tavLst>
                                        <p:tav tm="0">
                                          <p:val>
                                            <p:strVal val="#ppt_x"/>
                                          </p:val>
                                        </p:tav>
                                        <p:tav tm="100000">
                                          <p:val>
                                            <p:strVal val="#ppt_x"/>
                                          </p:val>
                                        </p:tav>
                                      </p:tavLst>
                                    </p:anim>
                                    <p:anim calcmode="lin" valueType="num">
                                      <p:cBhvr>
                                        <p:cTn id="53" dur="550" decel="100000" fill="hold"/>
                                        <p:tgtEl>
                                          <p:spTgt spid="14"/>
                                        </p:tgtEl>
                                        <p:attrNameLst>
                                          <p:attrName>ppt_y</p:attrName>
                                        </p:attrNameLst>
                                      </p:cBhvr>
                                      <p:tavLst>
                                        <p:tav tm="0">
                                          <p:val>
                                            <p:strVal val="#ppt_y+0.03"/>
                                          </p:val>
                                        </p:tav>
                                        <p:tav tm="100000">
                                          <p:val>
                                            <p:strVal val="#ppt_y"/>
                                          </p:val>
                                        </p:tav>
                                      </p:tavLst>
                                    </p:anim>
                                  </p:childTnLst>
                                </p:cTn>
                              </p:par>
                              <p:par>
                                <p:cTn id="59" presetID="42" presetClass="entr" presetSubtype="0" fill="hold" grpId="0" nodeType="withEffect">
                                  <p:stCondLst>
                                    <p:cond delay="65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50"/>
                                        <p:tgtEl>
                                          <p:spTgt spid="15"/>
                                        </p:tgtEl>
                                      </p:cBhvr>
                                    </p:animEffect>
                                    <p:anim calcmode="lin" valueType="num">
                                      <p:cBhvr>
                                        <p:cTn id="57" dur="550" decel="100000" fill="hold"/>
                                        <p:tgtEl>
                                          <p:spTgt spid="15"/>
                                        </p:tgtEl>
                                        <p:attrNameLst>
                                          <p:attrName>ppt_x</p:attrName>
                                        </p:attrNameLst>
                                      </p:cBhvr>
                                      <p:tavLst>
                                        <p:tav tm="0">
                                          <p:val>
                                            <p:strVal val="#ppt_x"/>
                                          </p:val>
                                        </p:tav>
                                        <p:tav tm="100000">
                                          <p:val>
                                            <p:strVal val="#ppt_x"/>
                                          </p:val>
                                        </p:tav>
                                      </p:tavLst>
                                    </p:anim>
                                    <p:anim calcmode="lin" valueType="num">
                                      <p:cBhvr>
                                        <p:cTn id="58" dur="550" decel="100000" fill="hold"/>
                                        <p:tgtEl>
                                          <p:spTgt spid="15"/>
                                        </p:tgtEl>
                                        <p:attrNameLst>
                                          <p:attrName>ppt_y</p:attrName>
                                        </p:attrNameLst>
                                      </p:cBhvr>
                                      <p:tavLst>
                                        <p:tav tm="0">
                                          <p:val>
                                            <p:strVal val="#ppt_y+0.03"/>
                                          </p:val>
                                        </p:tav>
                                        <p:tav tm="100000">
                                          <p:val>
                                            <p:strVal val="#ppt_y"/>
                                          </p:val>
                                        </p:tav>
                                      </p:tavLst>
                                    </p:anim>
                                  </p:childTnLst>
                                </p:cTn>
                              </p:par>
                              <p:par>
                                <p:cTn id="64" presetID="42" presetClass="entr" presetSubtype="0" fill="hold" grpId="0" nodeType="withEffect">
                                  <p:stCondLst>
                                    <p:cond delay="65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50"/>
                                        <p:tgtEl>
                                          <p:spTgt spid="16"/>
                                        </p:tgtEl>
                                      </p:cBhvr>
                                    </p:animEffect>
                                    <p:anim calcmode="lin" valueType="num">
                                      <p:cBhvr>
                                        <p:cTn id="62" dur="550" decel="100000" fill="hold"/>
                                        <p:tgtEl>
                                          <p:spTgt spid="16"/>
                                        </p:tgtEl>
                                        <p:attrNameLst>
                                          <p:attrName>ppt_x</p:attrName>
                                        </p:attrNameLst>
                                      </p:cBhvr>
                                      <p:tavLst>
                                        <p:tav tm="0">
                                          <p:val>
                                            <p:strVal val="#ppt_x"/>
                                          </p:val>
                                        </p:tav>
                                        <p:tav tm="100000">
                                          <p:val>
                                            <p:strVal val="#ppt_x"/>
                                          </p:val>
                                        </p:tav>
                                      </p:tavLst>
                                    </p:anim>
                                    <p:anim calcmode="lin" valueType="num">
                                      <p:cBhvr>
                                        <p:cTn id="63" dur="550" decel="100000" fill="hold"/>
                                        <p:tgtEl>
                                          <p:spTgt spid="16"/>
                                        </p:tgtEl>
                                        <p:attrNameLst>
                                          <p:attrName>ppt_y</p:attrName>
                                        </p:attrNameLst>
                                      </p:cBhvr>
                                      <p:tavLst>
                                        <p:tav tm="0">
                                          <p:val>
                                            <p:strVal val="#ppt_y+0.03"/>
                                          </p:val>
                                        </p:tav>
                                        <p:tav tm="100000">
                                          <p:val>
                                            <p:strVal val="#ppt_y"/>
                                          </p:val>
                                        </p:tav>
                                      </p:tavLst>
                                    </p:anim>
                                  </p:childTnLst>
                                </p:cTn>
                              </p:par>
                              <p:par>
                                <p:cTn id="69" presetID="42" presetClass="entr" presetSubtype="0" fill="hold" grpId="0" nodeType="withEffect">
                                  <p:stCondLst>
                                    <p:cond delay="65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50"/>
                                        <p:tgtEl>
                                          <p:spTgt spid="17"/>
                                        </p:tgtEl>
                                      </p:cBhvr>
                                    </p:animEffect>
                                    <p:anim calcmode="lin" valueType="num">
                                      <p:cBhvr>
                                        <p:cTn id="67" dur="550" decel="100000" fill="hold"/>
                                        <p:tgtEl>
                                          <p:spTgt spid="17"/>
                                        </p:tgtEl>
                                        <p:attrNameLst>
                                          <p:attrName>ppt_x</p:attrName>
                                        </p:attrNameLst>
                                      </p:cBhvr>
                                      <p:tavLst>
                                        <p:tav tm="0">
                                          <p:val>
                                            <p:strVal val="#ppt_x"/>
                                          </p:val>
                                        </p:tav>
                                        <p:tav tm="100000">
                                          <p:val>
                                            <p:strVal val="#ppt_x"/>
                                          </p:val>
                                        </p:tav>
                                      </p:tavLst>
                                    </p:anim>
                                    <p:anim calcmode="lin" valueType="num">
                                      <p:cBhvr>
                                        <p:cTn id="68" dur="550" decel="1000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fill="hold" grpId="0" nodeType="withEffect">
                                  <p:stCondLst>
                                    <p:cond delay="65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550"/>
                                        <p:tgtEl>
                                          <p:spTgt spid="18"/>
                                        </p:tgtEl>
                                      </p:cBhvr>
                                    </p:animEffect>
                                    <p:anim calcmode="lin" valueType="num">
                                      <p:cBhvr>
                                        <p:cTn id="72" dur="550" decel="100000" fill="hold"/>
                                        <p:tgtEl>
                                          <p:spTgt spid="18"/>
                                        </p:tgtEl>
                                        <p:attrNameLst>
                                          <p:attrName>ppt_x</p:attrName>
                                        </p:attrNameLst>
                                      </p:cBhvr>
                                      <p:tavLst>
                                        <p:tav tm="0">
                                          <p:val>
                                            <p:strVal val="#ppt_x"/>
                                          </p:val>
                                        </p:tav>
                                        <p:tav tm="100000">
                                          <p:val>
                                            <p:strVal val="#ppt_x"/>
                                          </p:val>
                                        </p:tav>
                                      </p:tavLst>
                                    </p:anim>
                                    <p:anim calcmode="lin" valueType="num">
                                      <p:cBhvr>
                                        <p:cTn id="73" dur="550" decel="100000" fill="hold"/>
                                        <p:tgtEl>
                                          <p:spTgt spid="18"/>
                                        </p:tgtEl>
                                        <p:attrNameLst>
                                          <p:attrName>ppt_y</p:attrName>
                                        </p:attrNameLst>
                                      </p:cBhvr>
                                      <p:tavLst>
                                        <p:tav tm="0">
                                          <p:val>
                                            <p:strVal val="#ppt_y+0.03"/>
                                          </p:val>
                                        </p:tav>
                                        <p:tav tm="100000">
                                          <p:val>
                                            <p:strVal val="#ppt_y"/>
                                          </p:val>
                                        </p:tav>
                                      </p:tavLst>
                                    </p:anim>
                                  </p:childTnLst>
                                </p:cTn>
                              </p:par>
                              <p:par>
                                <p:cTn id="79" presetID="42" presetClass="entr" presetSubtype="0" fill="hold" grpId="0" nodeType="withEffect">
                                  <p:stCondLst>
                                    <p:cond delay="65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550"/>
                                        <p:tgtEl>
                                          <p:spTgt spid="19"/>
                                        </p:tgtEl>
                                      </p:cBhvr>
                                    </p:animEffect>
                                    <p:anim calcmode="lin" valueType="num">
                                      <p:cBhvr>
                                        <p:cTn id="77" dur="550" decel="100000" fill="hold"/>
                                        <p:tgtEl>
                                          <p:spTgt spid="19"/>
                                        </p:tgtEl>
                                        <p:attrNameLst>
                                          <p:attrName>ppt_x</p:attrName>
                                        </p:attrNameLst>
                                      </p:cBhvr>
                                      <p:tavLst>
                                        <p:tav tm="0">
                                          <p:val>
                                            <p:strVal val="#ppt_x"/>
                                          </p:val>
                                        </p:tav>
                                        <p:tav tm="100000">
                                          <p:val>
                                            <p:strVal val="#ppt_x"/>
                                          </p:val>
                                        </p:tav>
                                      </p:tavLst>
                                    </p:anim>
                                    <p:anim calcmode="lin" valueType="num">
                                      <p:cBhvr>
                                        <p:cTn id="78" dur="550" decel="100000" fill="hold"/>
                                        <p:tgtEl>
                                          <p:spTgt spid="19"/>
                                        </p:tgtEl>
                                        <p:attrNameLst>
                                          <p:attrName>ppt_y</p:attrName>
                                        </p:attrNameLst>
                                      </p:cBhvr>
                                      <p:tavLst>
                                        <p:tav tm="0">
                                          <p:val>
                                            <p:strVal val="#ppt_y+0.03"/>
                                          </p:val>
                                        </p:tav>
                                        <p:tav tm="100000">
                                          <p:val>
                                            <p:strVal val="#ppt_y"/>
                                          </p:val>
                                        </p:tav>
                                      </p:tavLst>
                                    </p:anim>
                                  </p:childTnLst>
                                </p:cTn>
                              </p:par>
                              <p:par>
                                <p:cTn id="84" presetID="42" presetClass="entr" presetSubtype="0" fill="hold" grpId="0" nodeType="withEffect">
                                  <p:stCondLst>
                                    <p:cond delay="80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50"/>
                                        <p:tgtEl>
                                          <p:spTgt spid="20"/>
                                        </p:tgtEl>
                                      </p:cBhvr>
                                    </p:animEffect>
                                    <p:anim calcmode="lin" valueType="num">
                                      <p:cBhvr>
                                        <p:cTn id="82" dur="550" decel="100000" fill="hold"/>
                                        <p:tgtEl>
                                          <p:spTgt spid="20"/>
                                        </p:tgtEl>
                                        <p:attrNameLst>
                                          <p:attrName>ppt_x</p:attrName>
                                        </p:attrNameLst>
                                      </p:cBhvr>
                                      <p:tavLst>
                                        <p:tav tm="0">
                                          <p:val>
                                            <p:strVal val="#ppt_x"/>
                                          </p:val>
                                        </p:tav>
                                        <p:tav tm="100000">
                                          <p:val>
                                            <p:strVal val="#ppt_x"/>
                                          </p:val>
                                        </p:tav>
                                      </p:tavLst>
                                    </p:anim>
                                    <p:anim calcmode="lin" valueType="num">
                                      <p:cBhvr>
                                        <p:cTn id="83" dur="550" decel="100000" fill="hold"/>
                                        <p:tgtEl>
                                          <p:spTgt spid="20"/>
                                        </p:tgtEl>
                                        <p:attrNameLst>
                                          <p:attrName>ppt_y</p:attrName>
                                        </p:attrNameLst>
                                      </p:cBhvr>
                                      <p:tavLst>
                                        <p:tav tm="0">
                                          <p:val>
                                            <p:strVal val="#ppt_y+0.03"/>
                                          </p:val>
                                        </p:tav>
                                        <p:tav tm="100000">
                                          <p:val>
                                            <p:strVal val="#ppt_y"/>
                                          </p:val>
                                        </p:tav>
                                      </p:tavLst>
                                    </p:anim>
                                  </p:childTnLst>
                                </p:cTn>
                              </p:par>
                              <p:par>
                                <p:cTn id="89" presetID="42" presetClass="entr" presetSubtype="0" fill="hold" grpId="0" nodeType="withEffect">
                                  <p:stCondLst>
                                    <p:cond delay="800"/>
                                  </p:stCondLst>
                                  <p:childTnLst>
                                    <p:set>
                                      <p:cBhvr>
                                        <p:cTn id="85" dur="1" fill="hold">
                                          <p:stCondLst>
                                            <p:cond delay="0"/>
                                          </p:stCondLst>
                                        </p:cTn>
                                        <p:tgtEl>
                                          <p:spTgt spid="21"/>
                                        </p:tgtEl>
                                        <p:attrNameLst>
                                          <p:attrName>style.visibility</p:attrName>
                                        </p:attrNameLst>
                                      </p:cBhvr>
                                      <p:to>
                                        <p:strVal val="visible"/>
                                      </p:to>
                                    </p:set>
                                    <p:animEffect transition="in" filter="fade">
                                      <p:cBhvr>
                                        <p:cTn id="86" dur="550"/>
                                        <p:tgtEl>
                                          <p:spTgt spid="21"/>
                                        </p:tgtEl>
                                      </p:cBhvr>
                                    </p:animEffect>
                                    <p:anim calcmode="lin" valueType="num">
                                      <p:cBhvr>
                                        <p:cTn id="87" dur="550" decel="100000" fill="hold"/>
                                        <p:tgtEl>
                                          <p:spTgt spid="21"/>
                                        </p:tgtEl>
                                        <p:attrNameLst>
                                          <p:attrName>ppt_x</p:attrName>
                                        </p:attrNameLst>
                                      </p:cBhvr>
                                      <p:tavLst>
                                        <p:tav tm="0">
                                          <p:val>
                                            <p:strVal val="#ppt_x"/>
                                          </p:val>
                                        </p:tav>
                                        <p:tav tm="100000">
                                          <p:val>
                                            <p:strVal val="#ppt_x"/>
                                          </p:val>
                                        </p:tav>
                                      </p:tavLst>
                                    </p:anim>
                                    <p:anim calcmode="lin" valueType="num">
                                      <p:cBhvr>
                                        <p:cTn id="88" dur="550" decel="100000" fill="hold"/>
                                        <p:tgtEl>
                                          <p:spTgt spid="21"/>
                                        </p:tgtEl>
                                        <p:attrNameLst>
                                          <p:attrName>ppt_y</p:attrName>
                                        </p:attrNameLst>
                                      </p:cBhvr>
                                      <p:tavLst>
                                        <p:tav tm="0">
                                          <p:val>
                                            <p:strVal val="#ppt_y+0.03"/>
                                          </p:val>
                                        </p:tav>
                                        <p:tav tm="100000">
                                          <p:val>
                                            <p:strVal val="#ppt_y"/>
                                          </p:val>
                                        </p:tav>
                                      </p:tavLst>
                                    </p:anim>
                                  </p:childTnLst>
                                </p:cTn>
                              </p:par>
                              <p:par>
                                <p:cTn id="94" presetID="42" presetClass="entr" presetSubtype="0" fill="hold" grpId="0" nodeType="withEffect">
                                  <p:stCondLst>
                                    <p:cond delay="80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550"/>
                                        <p:tgtEl>
                                          <p:spTgt spid="22"/>
                                        </p:tgtEl>
                                      </p:cBhvr>
                                    </p:animEffect>
                                    <p:anim calcmode="lin" valueType="num">
                                      <p:cBhvr>
                                        <p:cTn id="92" dur="550" decel="100000" fill="hold"/>
                                        <p:tgtEl>
                                          <p:spTgt spid="22"/>
                                        </p:tgtEl>
                                        <p:attrNameLst>
                                          <p:attrName>ppt_x</p:attrName>
                                        </p:attrNameLst>
                                      </p:cBhvr>
                                      <p:tavLst>
                                        <p:tav tm="0">
                                          <p:val>
                                            <p:strVal val="#ppt_x"/>
                                          </p:val>
                                        </p:tav>
                                        <p:tav tm="100000">
                                          <p:val>
                                            <p:strVal val="#ppt_x"/>
                                          </p:val>
                                        </p:tav>
                                      </p:tavLst>
                                    </p:anim>
                                    <p:anim calcmode="lin" valueType="num">
                                      <p:cBhvr>
                                        <p:cTn id="93" dur="550" decel="100000" fill="hold"/>
                                        <p:tgtEl>
                                          <p:spTgt spid="22"/>
                                        </p:tgtEl>
                                        <p:attrNameLst>
                                          <p:attrName>ppt_y</p:attrName>
                                        </p:attrNameLst>
                                      </p:cBhvr>
                                      <p:tavLst>
                                        <p:tav tm="0">
                                          <p:val>
                                            <p:strVal val="#ppt_y+0.03"/>
                                          </p:val>
                                        </p:tav>
                                        <p:tav tm="100000">
                                          <p:val>
                                            <p:strVal val="#ppt_y"/>
                                          </p:val>
                                        </p:tav>
                                      </p:tavLst>
                                    </p:anim>
                                  </p:childTnLst>
                                </p:cTn>
                              </p:par>
                              <p:par>
                                <p:cTn id="99" presetID="42" presetClass="entr" presetSubtype="0" fill="hold" grpId="0" nodeType="withEffect">
                                  <p:stCondLst>
                                    <p:cond delay="8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550"/>
                                        <p:tgtEl>
                                          <p:spTgt spid="23"/>
                                        </p:tgtEl>
                                      </p:cBhvr>
                                    </p:animEffect>
                                    <p:anim calcmode="lin" valueType="num">
                                      <p:cBhvr>
                                        <p:cTn id="97" dur="550" decel="100000" fill="hold"/>
                                        <p:tgtEl>
                                          <p:spTgt spid="23"/>
                                        </p:tgtEl>
                                        <p:attrNameLst>
                                          <p:attrName>ppt_x</p:attrName>
                                        </p:attrNameLst>
                                      </p:cBhvr>
                                      <p:tavLst>
                                        <p:tav tm="0">
                                          <p:val>
                                            <p:strVal val="#ppt_x"/>
                                          </p:val>
                                        </p:tav>
                                        <p:tav tm="100000">
                                          <p:val>
                                            <p:strVal val="#ppt_x"/>
                                          </p:val>
                                        </p:tav>
                                      </p:tavLst>
                                    </p:anim>
                                    <p:anim calcmode="lin" valueType="num">
                                      <p:cBhvr>
                                        <p:cTn id="98" dur="550" decel="100000" fill="hold"/>
                                        <p:tgtEl>
                                          <p:spTgt spid="23"/>
                                        </p:tgtEl>
                                        <p:attrNameLst>
                                          <p:attrName>ppt_y</p:attrName>
                                        </p:attrNameLst>
                                      </p:cBhvr>
                                      <p:tavLst>
                                        <p:tav tm="0">
                                          <p:val>
                                            <p:strVal val="#ppt_y+0.03"/>
                                          </p:val>
                                        </p:tav>
                                        <p:tav tm="100000">
                                          <p:val>
                                            <p:strVal val="#ppt_y"/>
                                          </p:val>
                                        </p:tav>
                                      </p:tavLst>
                                    </p:anim>
                                  </p:childTnLst>
                                </p:cTn>
                              </p:par>
                              <p:par>
                                <p:cTn id="104" presetID="42" presetClass="entr" presetSubtype="0" fill="hold" grpId="0" nodeType="withEffect">
                                  <p:stCondLst>
                                    <p:cond delay="80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550"/>
                                        <p:tgtEl>
                                          <p:spTgt spid="24"/>
                                        </p:tgtEl>
                                      </p:cBhvr>
                                    </p:animEffect>
                                    <p:anim calcmode="lin" valueType="num">
                                      <p:cBhvr>
                                        <p:cTn id="102" dur="550" decel="100000" fill="hold"/>
                                        <p:tgtEl>
                                          <p:spTgt spid="24"/>
                                        </p:tgtEl>
                                        <p:attrNameLst>
                                          <p:attrName>ppt_x</p:attrName>
                                        </p:attrNameLst>
                                      </p:cBhvr>
                                      <p:tavLst>
                                        <p:tav tm="0">
                                          <p:val>
                                            <p:strVal val="#ppt_x"/>
                                          </p:val>
                                        </p:tav>
                                        <p:tav tm="100000">
                                          <p:val>
                                            <p:strVal val="#ppt_x"/>
                                          </p:val>
                                        </p:tav>
                                      </p:tavLst>
                                    </p:anim>
                                    <p:anim calcmode="lin" valueType="num">
                                      <p:cBhvr>
                                        <p:cTn id="103" dur="550" decel="100000" fill="hold"/>
                                        <p:tgtEl>
                                          <p:spTgt spid="24"/>
                                        </p:tgtEl>
                                        <p:attrNameLst>
                                          <p:attrName>ppt_y</p:attrName>
                                        </p:attrNameLst>
                                      </p:cBhvr>
                                      <p:tavLst>
                                        <p:tav tm="0">
                                          <p:val>
                                            <p:strVal val="#ppt_y+0.03"/>
                                          </p:val>
                                        </p:tav>
                                        <p:tav tm="100000">
                                          <p:val>
                                            <p:strVal val="#ppt_y"/>
                                          </p:val>
                                        </p:tav>
                                      </p:tavLst>
                                    </p:anim>
                                  </p:childTnLst>
                                </p:cTn>
                              </p:par>
                              <p:par>
                                <p:cTn id="109" presetID="42" presetClass="entr" presetSubtype="0" fill="hold" grpId="0" nodeType="withEffect">
                                  <p:stCondLst>
                                    <p:cond delay="80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p:cTn id="107" dur="550" decel="100000" fill="hold"/>
                                        <p:tgtEl>
                                          <p:spTgt spid="25"/>
                                        </p:tgtEl>
                                        <p:attrNameLst>
                                          <p:attrName>ppt_x</p:attrName>
                                        </p:attrNameLst>
                                      </p:cBhvr>
                                      <p:tavLst>
                                        <p:tav tm="0">
                                          <p:val>
                                            <p:strVal val="#ppt_x"/>
                                          </p:val>
                                        </p:tav>
                                        <p:tav tm="100000">
                                          <p:val>
                                            <p:strVal val="#ppt_x"/>
                                          </p:val>
                                        </p:tav>
                                      </p:tavLst>
                                    </p:anim>
                                    <p:anim calcmode="lin" valueType="num">
                                      <p:cBhvr>
                                        <p:cTn id="108" dur="550" decel="100000" fill="hold"/>
                                        <p:tgtEl>
                                          <p:spTgt spid="25"/>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Lst>
  </p:timing>
</p:sld>
</file>

<file path=ppt/theme/theme1.xml><?xml version="1.0" encoding="utf-8"?>
<a:theme xmlns:a="http://schemas.openxmlformats.org/drawingml/2006/main" name="Understanding the Evidence">
  <a:themeElements>
    <a:clrScheme name="Understanding the Evidence">
      <a:dk1>
        <a:srgbClr val="414A5A"/>
      </a:dk1>
      <a:lt1>
        <a:srgbClr val="FFFFFF"/>
      </a:lt1>
      <a:dk2>
        <a:srgbClr val="1E2F5C"/>
      </a:dk2>
      <a:lt2>
        <a:srgbClr val="F7F9FC"/>
      </a:lt2>
      <a:accent1>
        <a:srgbClr val="3B67C4"/>
      </a:accent1>
      <a:accent2>
        <a:srgbClr val="1CABE2"/>
      </a:accent2>
      <a:accent3>
        <a:srgbClr val="2F9E62"/>
      </a:accent3>
      <a:accent4>
        <a:srgbClr val="F08236"/>
      </a:accent4>
      <a:accent5>
        <a:srgbClr val="8E52A3"/>
      </a:accent5>
      <a:accent6>
        <a:srgbClr val="1A9DA8"/>
      </a:accent6>
      <a:hlink>
        <a:srgbClr val="0B79A8"/>
      </a:hlink>
      <a:folHlink>
        <a:srgbClr val="74398A"/>
      </a:folHlink>
    </a:clrScheme>
    <a:fontScheme name="Understanding the Evid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Child Marriage: What the Quantitative Analysis Tells Us</dc:title>
  <dc:subject>PptxGenJS Presentation</dc:subject>
  <dc:creator>Daniel Kalunga</dc:creator>
  <cp:lastModifiedBy>Daniel Kalunga</cp:lastModifiedBy>
  <cp:revision>1</cp:revision>
  <dcterms:created xsi:type="dcterms:W3CDTF">2026-10-03T06:42:15Z</dcterms:created>
  <dcterms:modified xsi:type="dcterms:W3CDTF">2026-10-03T06:42:15Z</dcterms:modified>
</cp:coreProperties>
</file>