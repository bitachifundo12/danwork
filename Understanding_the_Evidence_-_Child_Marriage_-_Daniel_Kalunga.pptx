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368c48-460b-5aeb-29e7-c8dc07ff810e}">
          <p14:sldIdLst>
            <p14:sldId id="256"/>
            <p14:sldId id="257"/>
          </p14:sldIdLst>
        </p14:section>
        <p14:section name="The Evidence" id="{d7b3088f-faa8-e8c1-30a0-2f87c6f057bf}">
          <p14:sldIdLst>
            <p14:sldId id="258"/>
            <p14:sldId id="259"/>
            <p14:sldId id="260"/>
          </p14:sldIdLst>
        </p14:section>
        <p14:section name="Findings" id="{106d22a8-dfc5-19c4-91a1-4eb1521c2246}">
          <p14:sldIdLst>
            <p14:sldId id="261"/>
            <p14:sldId id="262"/>
            <p14:sldId id="263"/>
          </p14:sldIdLst>
        </p14:section>
        <p14:section name="Implications" id="{9b80f972-b730-c3b3-5ac1-f2c0d18d1f47}">
          <p14:sldIdLst>
            <p14:sldId id="264"/>
          </p14:sldIdLst>
        </p14:section>
        <p14:section name="Closing" id="{c13ff3d9-302d-f73a-b49d-9ad1cb71c4b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Odds ratio</c:v>
                </c:pt>
              </c:strCache>
            </c:strRef>
          </c:tx>
          <c:spPr>
            <a:solidFill>
              <a:srgbClr val="6A1E74"/>
            </a:solidFill>
            <a:effectLst/>
          </c:spPr>
          <c:invertIfNegative val="0"/>
          <c:dLbls>
            <c:numFmt formatCode="0.00" sourceLinked="0"/>
            <c:txPr>
              <a:bodyPr/>
              <a:lstStyle/>
              <a:p>
                <a:pPr>
                  <a:defRPr b="1" i="0" strike="noStrike" sz="1100" u="none">
                    <a:solidFill>
                      <a:srgbClr val="213063"/>
                    </a:solidFill>
                    <a:latin typeface="+mn-lt"/>
                  </a:defRPr>
                </a:pPr>
              </a:p>
            </c:txPr>
            <c:showLegendKey val="0"/>
            <c:showVal val="1"/>
            <c:showCatName val="0"/>
            <c:showSerName val="0"/>
            <c:showPercent val="0"/>
            <c:showBubbleSize val="0"/>
            <c:showLeaderLines val="0"/>
          </c:dLbls>
          <c:dPt>
            <c:idx val="0"/>
            <c:invertIfNegative val="0"/>
            <c:bubble3D val="0"/>
            <c:spPr>
              <a:solidFill>
                <a:srgbClr val="6A1E74"/>
              </a:solidFill>
              <a:effectLst/>
            </c:spPr>
          </c:dPt>
          <c:dPt>
            <c:idx val="1"/>
            <c:invertIfNegative val="0"/>
            <c:bubble3D val="0"/>
            <c:spPr>
              <a:solidFill>
                <a:srgbClr val="6A1E74"/>
              </a:solidFill>
              <a:effectLst/>
            </c:spPr>
          </c:dPt>
          <c:dPt>
            <c:idx val="2"/>
            <c:invertIfNegative val="0"/>
            <c:bubble3D val="0"/>
            <c:spPr>
              <a:solidFill>
                <a:srgbClr val="6A1E74"/>
              </a:solidFill>
              <a:effectLst/>
            </c:spPr>
          </c:dPt>
          <c:dPt>
            <c:idx val="3"/>
            <c:invertIfNegative val="0"/>
            <c:bubble3D val="0"/>
            <c:spPr>
              <a:solidFill>
                <a:srgbClr val="0E8F9E"/>
              </a:solidFill>
              <a:effectLst/>
            </c:spPr>
          </c:dPt>
          <c:dPt>
            <c:idx val="4"/>
            <c:invertIfNegative val="0"/>
            <c:bubble3D val="0"/>
            <c:spPr>
              <a:solidFill>
                <a:srgbClr val="0E8F9E"/>
              </a:solidFill>
              <a:effectLst/>
            </c:spPr>
          </c:dPt>
          <c:dPt>
            <c:idx val="5"/>
            <c:invertIfNegative val="0"/>
            <c:bubble3D val="0"/>
            <c:spPr>
              <a:solidFill>
                <a:srgbClr val="F26A21"/>
              </a:solidFill>
              <a:effectLst/>
            </c:spPr>
          </c:dPt>
          <c:cat>
            <c:multiLvlStrRef>
              <c:f>Sheet1!$A$2:$A$7</c:f>
              <c:multiLvlStrCache>
                <c:ptCount val="6"/>
                <c:lvl>
                  <c:pt idx="0">
                    <c:v>Having two children</c:v>
                  </c:pt>
                  <c:pt idx="1">
                    <c:v>Early sex (before 18)</c:v>
                  </c:pt>
                  <c:pt idx="2">
                    <c:v>Having one child</c:v>
                  </c:pt>
                  <c:pt idx="3">
                    <c:v>Child labour</c:v>
                  </c:pt>
                  <c:pt idx="4">
                    <c:v>Poverty</c:v>
                  </c:pt>
                  <c:pt idx="5">
                    <c:v>Orphanhood (double orphan)</c:v>
                  </c:pt>
                </c:lvl>
              </c:multiLvlStrCache>
            </c:multiLvlStrRef>
          </c:cat>
          <c:val>
            <c:numRef>
              <c:f>Sheet1!$B$2:$B$7</c:f>
              <c:numCache>
                <c:formatCode>General</c:formatCode>
                <c:ptCount val="6"/>
                <c:pt idx="0">
                  <c:v>5.96</c:v>
                </c:pt>
                <c:pt idx="1">
                  <c:v>5.14</c:v>
                </c:pt>
                <c:pt idx="2">
                  <c:v>4.81</c:v>
                </c:pt>
                <c:pt idx="3">
                  <c:v>2.14</c:v>
                </c:pt>
                <c:pt idx="4">
                  <c:v>1.94</c:v>
                </c:pt>
                <c:pt idx="5">
                  <c:v>1.47</c:v>
                </c:pt>
              </c:numCache>
            </c:numRef>
          </c:val>
        </c:ser>
        <c:dLbls>
          <c:numFmt formatCode="0.00" sourceLinked="0"/>
          <c:txPr>
            <a:bodyPr/>
            <a:lstStyle/>
            <a:p>
              <a:pPr>
                <a:defRPr b="1" i="0" strike="noStrike" sz="1100" u="none">
                  <a:solidFill>
                    <a:srgbClr val="21306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404041"/>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b"/>
        <c:majorGridlines>
          <c:spPr>
            <a:ln w="9525" cap="flat">
              <a:solidFill>
                <a:srgbClr val="ECEA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E8E90"/>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page: The Situation of Children in Malawi, Qualitative Findings Report, National Children's Commission,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briefing summarises what the quantitative analysis tells us about child marriage, and just as importantly, what it does not tell us.
The four words on the right are the logic of the deck. Identify the factors that are associated with child marriage. Interpret them carefully, as associations rather than causes. Connect them, because they cluster together. And act, by using them to inform programming.
The tagline is the discipline we need to keep throughout: associations, not causes; patterns in the sample, not national prevalence.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the analysis was for.
Left: three purposes. Examine the factors associated with respondents reporting child marriage. Identify patterns of vulnerability within the sample. And explore how child marriage intersects with other vulnerabilities.
Right: the five vulnerabilities that were examined, grouped into sexual and reproductive, economic, and protection vulnerabilities. Those groupings come back at the end when we talk about programming.
Bottom: how the results should be used. They are evidence for further investigation, for programming discussions and for generating hypotheses.
Close on the key point: these are associations within the study population, not causes of child marriage.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findings were generated.
Left: the study design. A multi-stage sample, data collected across 13 districts and a city, and a regression analysis that estimates an odds ratio for each factor.
Centre: how to read an odds ratio. It compares the odds of reporting child marriage between two groups. Above one means higher odds in the group with the factor, one means no difference, below one means lower odds.
Right: a worked example. An odds ratio of 5.14 for early sex means respondents who reported sex before 18 had about five times the odds of reporting child marriage, compared with those who did not.
Bottom: be explicit about what it does not mean. It does not mean early sex causes child marriage. Odds ratios are associations, not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cautions before we look at the numbers.
One: these are not national prevalence figures. The analysis did not apply sampling weights, so we talk about respondents and the sampled population, never about a percentage of children in Malawi.
Two: an odds ratio is not causation. It tells us that a factor and child marriage tend to occur together. It does not tell us that one causes the other.
Three: what the findings are good for. Patterns, differences between sub-groups, how vulnerabilities cluster, where to investigate further, and what to bring into programming and policy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result. Six factors are associated with respondents reporting child marriage, and every one of them has an odds ratio above one.
The purple bars are sexual and reproductive experiences: having two children, early sex, having one child. They carry the largest odds ratios, between about 4.8 and 6.
The teal bars are economic: child labour at 2.14 and poverty at 1.94.
The orange bar is protection: being a double orphan, at 1.47, which was significantly associated with child marriage.
The point is not any single bar. It is that the factors cluster. Child marriage sits inside a wider pattern of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associations are with early reproductive experiences.
Early sex: about five times the odds. Having one child before 18: about 4.8 times. Having two children before 18: about six times.
Each card names its comparison group, because an odds ratio only makes sense against that group.
These three findings show a strong overlap between child marriage, early sexual activity and early childbearing.
But be careful with the direction. The data cannot tell us whether early sex or childbearing leads to marriage, whether marriage leads to them, or whether something else drives both. They should not be presented as independent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and protection vulnerabilities show smaller but still meaningful associations.
Child labour: about 2.1 times the odds of reporting child marriage. Poverty: about 1.9 times. Double orphanhood was significantly associated, with an odds ratio of 1.47.
The panel below is where the qualitative evidence helps. It suggests one way these factors may connect: economic hardship pushes children into labour and out of school, that increases their vulnerability, including through loss of parental protection, and that raises the risk of early marriage.
Present this as an explanatory pathway that emerges from the combined evidence. It is not a proven causal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means for programming.
Top: treat child marriage as the end point of a vulnerability system, not a stand-alone issue. Economic vulnerability, education and protection vulnerability, and sexual and reproductive vulnerability all converge on it.
Bottom left: what the evidence can legitimately support. Identifying priority vulnerabilities, generating research questions, strengthening programme design, targeting qualitative investigation, and exploring where the quantitative and qualitative evidence converge.
Bottom right: what it should not be used for. Not national prevalence estimates, not causal claims, and not donor reporting of these figures as national statistics.
Close on the key message: the numbers tell us who is more vulnerable and how vulnerabilities intersect; the qualitative evidence helps explain how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pulling the thread together.
One: identify the patterns. Six factors cluster around reported child marriage, and the strongest associations are with early sex and early childbearing.
Two: interpret with care. These are associations within the sample. Not prevalence, not causation. Use population-specific language every time.
Three: investigate and act. Use the findings to target qualitative follow-up and to design an integrated response that addresses the vulnerability system, not a single factor.
Final line: the numbers show where to look; the qualitative evidence shows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chemeClr val="accent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6400800"/>
            <a:ext cx="11091672" cy="0"/>
          </a:xfrm>
          <a:prstGeom prst="line">
            <a:avLst/>
          </a:prstGeom>
          <a:noFill/>
          <a:ln w="38100">
            <a:solidFill>
              <a:srgbClr val="DEDBD5"/>
            </a:solidFill>
            <a:prstDash val="solid"/>
          </a:ln>
        </p:spPr>
      </p:sp>
      <p:sp>
        <p:nvSpPr>
          <p:cNvPr id="3" name="Text 1"/>
          <p:cNvSpPr txBox="1"/>
          <p:nvPr/>
        </p:nvSpPr>
        <p:spPr>
          <a:xfrm>
            <a:off x="548640" y="6473952"/>
            <a:ext cx="685800" cy="274320"/>
          </a:xfrm>
          <a:prstGeom prst="rect">
            <a:avLst/>
          </a:prstGeom>
          <a:noFill/>
          <a:ln/>
        </p:spPr>
        <p:txBody>
          <a:bodyPr wrap="square" lIns="0" tIns="0" rIns="0" bIns="0" rtlCol="0" anchor="ctr"/>
          <a:lstStyle/>
          <a:p>
            <a:pPr indent="0" marL="0">
              <a:buNone/>
            </a:pPr>
            <a:r>
              <a:rPr lang="en-US" sz="1200" b="1" dirty="0">
                <a:solidFill>
                  <a:schemeClr val="accent2"/>
                </a:solidFill>
              </a:rPr>
              <a:t>unicef</a:t>
            </a:r>
            <a:endParaRPr lang="en-US" sz="1200" dirty="0"/>
          </a:p>
        </p:txBody>
      </p:sp>
      <p:sp>
        <p:nvSpPr>
          <p:cNvPr id="4" name="Text 2"/>
          <p:cNvSpPr txBox="1"/>
          <p:nvPr/>
        </p:nvSpPr>
        <p:spPr>
          <a:xfrm>
            <a:off x="1234440" y="6492240"/>
            <a:ext cx="1371600" cy="256032"/>
          </a:xfrm>
          <a:prstGeom prst="rect">
            <a:avLst/>
          </a:prstGeom>
          <a:noFill/>
          <a:ln/>
        </p:spPr>
        <p:txBody>
          <a:bodyPr wrap="square" lIns="0" tIns="0" rIns="0" bIns="0" rtlCol="0" anchor="ctr"/>
          <a:lstStyle/>
          <a:p>
            <a:pPr indent="0" marL="0">
              <a:buNone/>
            </a:pPr>
            <a:r>
              <a:rPr lang="en-US" sz="900" dirty="0">
                <a:solidFill>
                  <a:srgbClr val="8E8E90"/>
                </a:solidFill>
              </a:rPr>
              <a:t>for every child</a:t>
            </a:r>
            <a:endParaRPr lang="en-US" sz="900" dirty="0"/>
          </a:p>
        </p:txBody>
      </p:sp>
      <p:sp>
        <p:nvSpPr>
          <p:cNvPr id="5" name="Text 3"/>
          <p:cNvSpPr txBox="1"/>
          <p:nvPr/>
        </p:nvSpPr>
        <p:spPr>
          <a:xfrm>
            <a:off x="3566160" y="6492240"/>
            <a:ext cx="5120640" cy="256032"/>
          </a:xfrm>
          <a:prstGeom prst="rect">
            <a:avLst/>
          </a:prstGeom>
          <a:noFill/>
          <a:ln/>
        </p:spPr>
        <p:txBody>
          <a:bodyPr wrap="square" lIns="0" tIns="0" rIns="0" bIns="0" rtlCol="0" anchor="ctr"/>
          <a:lstStyle/>
          <a:p>
            <a:pPr algn="ctr" indent="0" marL="0">
              <a:buNone/>
            </a:pPr>
            <a:r>
              <a:rPr lang="en-US" sz="800" dirty="0">
                <a:solidFill>
                  <a:srgbClr val="8E8E90"/>
                </a:solidFill>
              </a:rPr>
              <a:t>Understanding the Evidence  |  Child Marriage Analysis  |  Daniel Kalunga</a:t>
            </a:r>
            <a:endParaRPr lang="en-US" sz="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365760"/>
            <a:ext cx="54864" cy="914400"/>
          </a:xfrm>
          <a:prstGeom prst="rect">
            <a:avLst/>
          </a:prstGeom>
          <a:solidFill>
            <a:schemeClr val="accent2"/>
          </a:solidFill>
          <a:ln/>
        </p:spPr>
      </p:sp>
      <p:sp>
        <p:nvSpPr>
          <p:cNvPr id="3" name="Shape 1"/>
          <p:cNvSpPr/>
          <p:nvPr/>
        </p:nvSpPr>
        <p:spPr>
          <a:xfrm>
            <a:off x="548640" y="1463040"/>
            <a:ext cx="11091672" cy="0"/>
          </a:xfrm>
          <a:prstGeom prst="line">
            <a:avLst/>
          </a:prstGeom>
          <a:noFill/>
          <a:ln w="38100">
            <a:solidFill>
              <a:srgbClr val="DEDBD5"/>
            </a:solidFill>
            <a:prstDash val="solid"/>
          </a:ln>
        </p:spPr>
      </p:sp>
      <p:sp>
        <p:nvSpPr>
          <p:cNvPr id="4" name="Shape 2"/>
          <p:cNvSpPr/>
          <p:nvPr/>
        </p:nvSpPr>
        <p:spPr>
          <a:xfrm>
            <a:off x="548640" y="1463040"/>
            <a:ext cx="1280160" cy="0"/>
          </a:xfrm>
          <a:prstGeom prst="line">
            <a:avLst/>
          </a:prstGeom>
          <a:noFill/>
          <a:ln w="38100">
            <a:solidFill>
              <a:srgbClr val="1CABE2"/>
            </a:solidFill>
            <a:prstDash val="solid"/>
          </a:ln>
        </p:spPr>
      </p:sp>
      <p:sp>
        <p:nvSpPr>
          <p:cNvPr id="5" name="Shape 3"/>
          <p:cNvSpPr/>
          <p:nvPr/>
        </p:nvSpPr>
        <p:spPr>
          <a:xfrm>
            <a:off x="548640" y="6400800"/>
            <a:ext cx="11091672" cy="0"/>
          </a:xfrm>
          <a:prstGeom prst="line">
            <a:avLst/>
          </a:prstGeom>
          <a:noFill/>
          <a:ln w="38100">
            <a:solidFill>
              <a:srgbClr val="DEDBD5"/>
            </a:solidFill>
            <a:prstDash val="solid"/>
          </a:ln>
        </p:spPr>
      </p:sp>
      <p:sp>
        <p:nvSpPr>
          <p:cNvPr id="6" name="Text 4"/>
          <p:cNvSpPr txBox="1"/>
          <p:nvPr/>
        </p:nvSpPr>
        <p:spPr>
          <a:xfrm>
            <a:off x="548640" y="6473952"/>
            <a:ext cx="685800" cy="274320"/>
          </a:xfrm>
          <a:prstGeom prst="rect">
            <a:avLst/>
          </a:prstGeom>
          <a:noFill/>
          <a:ln/>
        </p:spPr>
        <p:txBody>
          <a:bodyPr wrap="square" lIns="0" tIns="0" rIns="0" bIns="0" rtlCol="0" anchor="ctr"/>
          <a:lstStyle/>
          <a:p>
            <a:pPr indent="0" marL="0">
              <a:buNone/>
            </a:pPr>
            <a:r>
              <a:rPr lang="en-US" sz="1200" b="1" dirty="0">
                <a:solidFill>
                  <a:schemeClr val="accent2"/>
                </a:solidFill>
              </a:rPr>
              <a:t>unicef</a:t>
            </a:r>
            <a:endParaRPr lang="en-US" sz="1200" dirty="0"/>
          </a:p>
        </p:txBody>
      </p:sp>
      <p:sp>
        <p:nvSpPr>
          <p:cNvPr id="7" name="Text 5"/>
          <p:cNvSpPr txBox="1"/>
          <p:nvPr/>
        </p:nvSpPr>
        <p:spPr>
          <a:xfrm>
            <a:off x="1234440" y="6492240"/>
            <a:ext cx="1371600" cy="256032"/>
          </a:xfrm>
          <a:prstGeom prst="rect">
            <a:avLst/>
          </a:prstGeom>
          <a:noFill/>
          <a:ln/>
        </p:spPr>
        <p:txBody>
          <a:bodyPr wrap="square" lIns="0" tIns="0" rIns="0" bIns="0" rtlCol="0" anchor="ctr"/>
          <a:lstStyle/>
          <a:p>
            <a:pPr indent="0" marL="0">
              <a:buNone/>
            </a:pPr>
            <a:r>
              <a:rPr lang="en-US" sz="900" dirty="0">
                <a:solidFill>
                  <a:srgbClr val="8E8E90"/>
                </a:solidFill>
              </a:rPr>
              <a:t>for every child</a:t>
            </a:r>
            <a:endParaRPr lang="en-US" sz="900" dirty="0"/>
          </a:p>
        </p:txBody>
      </p:sp>
      <p:sp>
        <p:nvSpPr>
          <p:cNvPr id="8" name="Text 6"/>
          <p:cNvSpPr txBox="1"/>
          <p:nvPr/>
        </p:nvSpPr>
        <p:spPr>
          <a:xfrm>
            <a:off x="3566160" y="6492240"/>
            <a:ext cx="5120640" cy="256032"/>
          </a:xfrm>
          <a:prstGeom prst="rect">
            <a:avLst/>
          </a:prstGeom>
          <a:noFill/>
          <a:ln/>
        </p:spPr>
        <p:txBody>
          <a:bodyPr wrap="square" lIns="0" tIns="0" rIns="0" bIns="0" rtlCol="0" anchor="ctr"/>
          <a:lstStyle/>
          <a:p>
            <a:pPr algn="ctr" indent="0" marL="0">
              <a:buNone/>
            </a:pPr>
            <a:r>
              <a:rPr lang="en-US" sz="800" dirty="0">
                <a:solidFill>
                  <a:srgbClr val="8E8E90"/>
                </a:solidFill>
              </a:rPr>
              <a:t>Understanding the Evidence  |  Child Marriage Analysis  |  Daniel Kalunga</a:t>
            </a:r>
            <a:endParaRPr lang="en-US" sz="800" dirty="0"/>
          </a:p>
        </p:txBody>
      </p:sp>
      <p:sp>
        <p:nvSpPr>
          <p:cNvPr id="9" name="Text 7"/>
          <p:cNvSpPr/>
          <p:nvPr>
            <p:ph idx="107" type="body" hasCustomPrompt="1"/>
          </p:nvPr>
        </p:nvSpPr>
        <p:spPr>
          <a:xfrm>
            <a:off x="1280160" y="310896"/>
            <a:ext cx="8686800" cy="256032"/>
          </a:xfrm>
          <a:prstGeom prst="rect">
            <a:avLst/>
          </a:prstGeom>
          <a:noFill/>
          <a:ln/>
        </p:spPr>
        <p:txBody>
          <a:bodyPr wrap="square" rtlCol="0"/>
          <a:lstStyle>
            <a:lvl1pPr indent="0" marL="0">
              <a:buNone/>
              <a:defRPr lang="en-US" sz="900" b="1" spc="300" kern="0" dirty="0">
                <a:solidFill>
                  <a:schemeClr val="accent2"/>
                </a:solidFill>
              </a:defRPr>
            </a:lvl1pPr>
          </a:lstStyle>
          <a:p>
            <a:pPr indent="0" marL="0">
              <a:buNone/>
            </a:pPr>
            <a:endParaRPr lang="en-US" sz="900" dirty="0"/>
          </a:p>
        </p:txBody>
      </p:sp>
      <p:sp>
        <p:nvSpPr>
          <p:cNvPr id="10" name="Text 7"/>
          <p:cNvSpPr/>
          <p:nvPr>
            <p:ph idx="108" type="title" hasCustomPrompt="1"/>
          </p:nvPr>
        </p:nvSpPr>
        <p:spPr>
          <a:xfrm>
            <a:off x="1280160" y="566928"/>
            <a:ext cx="9418320" cy="5029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11" name="Text 7"/>
          <p:cNvSpPr/>
          <p:nvPr>
            <p:ph idx="109" type="body" hasCustomPrompt="1"/>
          </p:nvPr>
        </p:nvSpPr>
        <p:spPr>
          <a:xfrm>
            <a:off x="1280160" y="1051560"/>
            <a:ext cx="9418320" cy="292608"/>
          </a:xfrm>
          <a:prstGeom prst="rect">
            <a:avLst/>
          </a:prstGeom>
          <a:noFill/>
          <a:ln/>
        </p:spPr>
        <p:txBody>
          <a:bodyPr wrap="square" rtlCol="0"/>
          <a:lstStyle>
            <a:lvl1pPr indent="0" marL="0">
              <a:buNone/>
              <a:defRPr lang="en-US" sz="1200" dirty="0">
                <a:solidFill>
                  <a:srgbClr val="5B5B5E"/>
                </a:solidFill>
              </a:defRPr>
            </a:lvl1pPr>
          </a:lstStyle>
          <a:p>
            <a:pPr indent="0" marL="0">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slideLayout" Target="../slideLayouts/slideLayout5.xml"/><Relationship Id="rId1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slideLayout" Target="../slideLayouts/slideLayout5.xml"/><Relationship Id="rId1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5.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5.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5.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5.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slideLayout" Target="../slideLayouts/slideLayout4.xml"/><Relationship Id="rId1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over image" descr="Cover: The Situation of Children in Malawi, Qualitative Findings Report, September 2026">    </p:cNvPr>
          <p:cNvPicPr>
            <a:picLocks noChangeAspect="1"/>
          </p:cNvPicPr>
          <p:nvPr/>
        </p:nvPicPr>
        <p:blipFill>
          <a:blip r:embed="rId2"/>
          <a:stretch>
            <a:fillRect/>
          </a:stretch>
        </p:blipFill>
        <p:spPr>
          <a:xfrm>
            <a:off x="3409757" y="0"/>
            <a:ext cx="5372181" cy="6858000"/>
          </a:xfrm>
          <a:prstGeom prst="rect">
            <a:avLst/>
          </a:prstGeom>
          <a:effectLst>
            <a:outerShdw sx="100000" sy="100000" kx="0" ky="0" algn="bl" rotWithShape="0" blurRad="152400" dist="50800" dir="1620000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868680"/>
            <a:ext cx="5943600" cy="274320"/>
          </a:xfrm>
          <a:prstGeom prst="rect">
            <a:avLst/>
          </a:prstGeom>
          <a:noFill/>
          <a:ln/>
        </p:spPr>
        <p:txBody>
          <a:bodyPr wrap="square" lIns="0" tIns="0" rIns="0" bIns="0" rtlCol="0" anchor="ctr"/>
          <a:lstStyle/>
          <a:p>
            <a:pPr indent="0" marL="0">
              <a:buNone/>
            </a:pPr>
            <a:r>
              <a:rPr lang="en-US" sz="900" b="1" spc="400" kern="0" dirty="0">
                <a:solidFill>
                  <a:schemeClr val="accent2"/>
                </a:solidFill>
              </a:rPr>
              <a:t>MALAWI  |  CHILD MARRIAGE EVIDENCE BRIEF</a:t>
            </a:r>
            <a:endParaRPr lang="en-US" sz="900" dirty="0"/>
          </a:p>
        </p:txBody>
      </p:sp>
      <p:sp>
        <p:nvSpPr>
          <p:cNvPr id="3" name="Deck title"/>
          <p:cNvSpPr txBox="1"/>
          <p:nvPr/>
        </p:nvSpPr>
        <p:spPr>
          <a:xfrm>
            <a:off x="685800" y="1280160"/>
            <a:ext cx="6583680" cy="1600200"/>
          </a:xfrm>
          <a:prstGeom prst="rect">
            <a:avLst/>
          </a:prstGeom>
          <a:noFill/>
          <a:ln/>
        </p:spPr>
        <p:txBody>
          <a:bodyPr wrap="square" lIns="0" tIns="0" rIns="0" bIns="0" rtlCol="0" anchor="t"/>
          <a:lstStyle/>
          <a:p>
            <a:pPr indent="0" marL="0">
              <a:buNone/>
            </a:pPr>
            <a:r>
              <a:rPr lang="en-US" sz="4800" b="1" dirty="0">
                <a:solidFill>
                  <a:schemeClr val="bg1"/>
                </a:solidFill>
              </a:rPr>
              <a:t>UNDERSTANDING</a:t>
            </a:r>
            <a:endParaRPr lang="en-US" sz="4800" dirty="0"/>
          </a:p>
          <a:p>
            <a:pPr indent="0" marL="0">
              <a:buNone/>
            </a:pPr>
            <a:r>
              <a:rPr lang="en-US" sz="4800" b="1" dirty="0">
                <a:solidFill>
                  <a:schemeClr val="accent2"/>
                </a:solidFill>
              </a:rPr>
              <a:t>THE EVIDENCE</a:t>
            </a:r>
            <a:endParaRPr lang="en-US" sz="4800" dirty="0"/>
          </a:p>
        </p:txBody>
      </p:sp>
      <p:sp>
        <p:nvSpPr>
          <p:cNvPr id="4" name="Shape 2"/>
          <p:cNvSpPr/>
          <p:nvPr/>
        </p:nvSpPr>
        <p:spPr>
          <a:xfrm>
            <a:off x="713232" y="3017520"/>
            <a:ext cx="1005840" cy="0"/>
          </a:xfrm>
          <a:prstGeom prst="line">
            <a:avLst/>
          </a:prstGeom>
          <a:noFill/>
          <a:ln w="38100">
            <a:solidFill>
              <a:srgbClr val="FFFFFF"/>
            </a:solidFill>
            <a:prstDash val="solid"/>
          </a:ln>
        </p:spPr>
      </p:sp>
      <p:sp>
        <p:nvSpPr>
          <p:cNvPr id="5" name="Text 3"/>
          <p:cNvSpPr txBox="1"/>
          <p:nvPr/>
        </p:nvSpPr>
        <p:spPr>
          <a:xfrm>
            <a:off x="685800" y="3246120"/>
            <a:ext cx="6035040" cy="685800"/>
          </a:xfrm>
          <a:prstGeom prst="rect">
            <a:avLst/>
          </a:prstGeom>
          <a:noFill/>
          <a:ln/>
        </p:spPr>
        <p:txBody>
          <a:bodyPr wrap="square" lIns="0" tIns="0" rIns="0" bIns="0" rtlCol="0" anchor="ctr"/>
          <a:lstStyle/>
          <a:p>
            <a:pPr indent="0" marL="0">
              <a:buNone/>
            </a:pPr>
            <a:r>
              <a:rPr lang="en-US" sz="1700" dirty="0">
                <a:solidFill>
                  <a:schemeClr val="bg1"/>
                </a:solidFill>
              </a:rPr>
              <a:t>Child Marriage: What the Quantitative Analysis Tells Us</a:t>
            </a:r>
            <a:endParaRPr lang="en-US" sz="1700" dirty="0"/>
          </a:p>
        </p:txBody>
      </p:sp>
      <p:sp>
        <p:nvSpPr>
          <p:cNvPr id="6" name="Shape 4"/>
          <p:cNvSpPr/>
          <p:nvPr/>
        </p:nvSpPr>
        <p:spPr>
          <a:xfrm>
            <a:off x="685800" y="4206240"/>
            <a:ext cx="45720" cy="868680"/>
          </a:xfrm>
          <a:prstGeom prst="rect">
            <a:avLst/>
          </a:prstGeom>
          <a:solidFill>
            <a:schemeClr val="accent2"/>
          </a:solidFill>
          <a:ln/>
        </p:spPr>
      </p:sp>
      <p:sp>
        <p:nvSpPr>
          <p:cNvPr id="7" name="Text 5"/>
          <p:cNvSpPr txBox="1"/>
          <p:nvPr/>
        </p:nvSpPr>
        <p:spPr>
          <a:xfrm>
            <a:off x="868680" y="4160520"/>
            <a:ext cx="4572000" cy="960120"/>
          </a:xfrm>
          <a:prstGeom prst="rect">
            <a:avLst/>
          </a:prstGeom>
          <a:noFill/>
          <a:ln/>
        </p:spPr>
        <p:txBody>
          <a:bodyPr wrap="square" lIns="0" tIns="0" rIns="0" bIns="0" rtlCol="0" anchor="ctr"/>
          <a:lstStyle/>
          <a:p>
            <a:pPr indent="0" marL="0">
              <a:spcAft>
                <a:spcPts val="300"/>
              </a:spcAft>
              <a:buNone/>
            </a:pPr>
            <a:r>
              <a:rPr lang="en-US" sz="1600" b="1" dirty="0">
                <a:solidFill>
                  <a:schemeClr val="bg1"/>
                </a:solidFill>
              </a:rPr>
              <a:t>Daniel Kalunga</a:t>
            </a:r>
            <a:endParaRPr lang="en-US" sz="1600" dirty="0"/>
          </a:p>
          <a:p>
            <a:pPr indent="0" marL="0">
              <a:spcAft>
                <a:spcPts val="300"/>
              </a:spcAft>
              <a:buNone/>
            </a:pPr>
            <a:r>
              <a:rPr lang="en-US" sz="1000" dirty="0">
                <a:solidFill>
                  <a:srgbClr val="B9C3E6"/>
                </a:solidFill>
              </a:rPr>
              <a:t>Quantitative Analysis Briefing</a:t>
            </a:r>
            <a:endParaRPr lang="en-US" sz="1600" dirty="0"/>
          </a:p>
          <a:p>
            <a:pPr indent="0" marL="0">
              <a:spcAft>
                <a:spcPts val="300"/>
              </a:spcAft>
              <a:buNone/>
            </a:pPr>
            <a:r>
              <a:rPr lang="en-US" sz="1000" dirty="0">
                <a:solidFill>
                  <a:srgbClr val="B9C3E6"/>
                </a:solidFill>
              </a:rPr>
              <a:t>Monitoring and Evaluation Specialist</a:t>
            </a:r>
            <a:endParaRPr lang="en-US" sz="1600" dirty="0"/>
          </a:p>
        </p:txBody>
      </p:sp>
      <p:sp>
        <p:nvSpPr>
          <p:cNvPr id="8" name="Shape 6"/>
          <p:cNvSpPr/>
          <p:nvPr/>
        </p:nvSpPr>
        <p:spPr>
          <a:xfrm>
            <a:off x="7818120" y="914400"/>
            <a:ext cx="0" cy="4343400"/>
          </a:xfrm>
          <a:prstGeom prst="line">
            <a:avLst/>
          </a:prstGeom>
          <a:noFill/>
          <a:ln w="19050">
            <a:solidFill>
              <a:srgbClr val="3C4C86"/>
            </a:solidFill>
            <a:prstDash val="solid"/>
          </a:ln>
        </p:spPr>
      </p:sp>
      <p:sp>
        <p:nvSpPr>
          <p:cNvPr id="9" name="Shape 7"/>
          <p:cNvSpPr/>
          <p:nvPr/>
        </p:nvSpPr>
        <p:spPr>
          <a:xfrm>
            <a:off x="8092440" y="960120"/>
            <a:ext cx="566928" cy="566928"/>
          </a:xfrm>
          <a:prstGeom prst="ellipse">
            <a:avLst/>
          </a:prstGeom>
          <a:solidFill>
            <a:schemeClr val="accent1"/>
          </a:solidFill>
          <a:ln w="19050">
            <a:solidFill>
              <a:srgbClr val="1CABE2"/>
            </a:solidFill>
            <a:prstDash val="solid"/>
          </a:ln>
        </p:spPr>
      </p:sp>
      <p:pic>
        <p:nvPicPr>
          <p:cNvPr id="10" name="Image 0" descr="preencoded.png">    </p:cNvPr>
          <p:cNvPicPr>
            <a:picLocks noChangeAspect="1"/>
          </p:cNvPicPr>
          <p:nvPr/>
        </p:nvPicPr>
        <p:blipFill>
          <a:blip r:embed="rId1"/>
          <a:stretch>
            <a:fillRect/>
          </a:stretch>
        </p:blipFill>
        <p:spPr>
          <a:xfrm>
            <a:off x="8247888" y="1115568"/>
            <a:ext cx="256032" cy="256032"/>
          </a:xfrm>
          <a:prstGeom prst="rect">
            <a:avLst/>
          </a:prstGeom>
        </p:spPr>
      </p:pic>
      <p:sp>
        <p:nvSpPr>
          <p:cNvPr id="11" name="Text 8"/>
          <p:cNvSpPr txBox="1"/>
          <p:nvPr/>
        </p:nvSpPr>
        <p:spPr>
          <a:xfrm>
            <a:off x="8823960" y="923544"/>
            <a:ext cx="2926080" cy="640080"/>
          </a:xfrm>
          <a:prstGeom prst="rect">
            <a:avLst/>
          </a:prstGeom>
          <a:noFill/>
          <a:ln/>
        </p:spPr>
        <p:txBody>
          <a:bodyPr wrap="square" lIns="0" tIns="0" rIns="0" bIns="0" rtlCol="0" anchor="ctr"/>
          <a:lstStyle/>
          <a:p>
            <a:pPr indent="0" marL="0">
              <a:buNone/>
            </a:pPr>
            <a:r>
              <a:rPr lang="en-US" sz="1200" b="1" spc="200" kern="0" dirty="0">
                <a:solidFill>
                  <a:schemeClr val="bg1"/>
                </a:solidFill>
              </a:rPr>
              <a:t>IDENTIFY</a:t>
            </a:r>
            <a:endParaRPr lang="en-US" sz="1200" dirty="0"/>
          </a:p>
          <a:p>
            <a:pPr indent="0" marL="0">
              <a:buNone/>
            </a:pPr>
            <a:r>
              <a:rPr lang="en-US" sz="1000" dirty="0">
                <a:solidFill>
                  <a:srgbClr val="B9C3E6"/>
                </a:solidFill>
              </a:rPr>
              <a:t>factors linked to child marriage</a:t>
            </a:r>
            <a:endParaRPr lang="en-US" sz="1200" dirty="0"/>
          </a:p>
        </p:txBody>
      </p:sp>
      <p:sp>
        <p:nvSpPr>
          <p:cNvPr id="12" name="Shape 9"/>
          <p:cNvSpPr/>
          <p:nvPr/>
        </p:nvSpPr>
        <p:spPr>
          <a:xfrm>
            <a:off x="8092440" y="2039112"/>
            <a:ext cx="566928" cy="566928"/>
          </a:xfrm>
          <a:prstGeom prst="ellipse">
            <a:avLst/>
          </a:prstGeom>
          <a:solidFill>
            <a:schemeClr val="accent1"/>
          </a:solidFill>
          <a:ln w="19050">
            <a:solidFill>
              <a:srgbClr val="1CABE2"/>
            </a:solidFill>
            <a:prstDash val="solid"/>
          </a:ln>
        </p:spPr>
      </p:sp>
      <p:pic>
        <p:nvPicPr>
          <p:cNvPr id="13" name="Image 1" descr="preencoded.png">    </p:cNvPr>
          <p:cNvPicPr>
            <a:picLocks noChangeAspect="1"/>
          </p:cNvPicPr>
          <p:nvPr/>
        </p:nvPicPr>
        <p:blipFill>
          <a:blip r:embed="rId2"/>
          <a:stretch>
            <a:fillRect/>
          </a:stretch>
        </p:blipFill>
        <p:spPr>
          <a:xfrm>
            <a:off x="8247888" y="2194560"/>
            <a:ext cx="256032" cy="256032"/>
          </a:xfrm>
          <a:prstGeom prst="rect">
            <a:avLst/>
          </a:prstGeom>
        </p:spPr>
      </p:pic>
      <p:sp>
        <p:nvSpPr>
          <p:cNvPr id="14" name="Text 10"/>
          <p:cNvSpPr txBox="1"/>
          <p:nvPr/>
        </p:nvSpPr>
        <p:spPr>
          <a:xfrm>
            <a:off x="8823960" y="2002536"/>
            <a:ext cx="2926080" cy="640080"/>
          </a:xfrm>
          <a:prstGeom prst="rect">
            <a:avLst/>
          </a:prstGeom>
          <a:noFill/>
          <a:ln/>
        </p:spPr>
        <p:txBody>
          <a:bodyPr wrap="square" lIns="0" tIns="0" rIns="0" bIns="0" rtlCol="0" anchor="ctr"/>
          <a:lstStyle/>
          <a:p>
            <a:pPr indent="0" marL="0">
              <a:buNone/>
            </a:pPr>
            <a:r>
              <a:rPr lang="en-US" sz="1200" b="1" spc="200" kern="0" dirty="0">
                <a:solidFill>
                  <a:schemeClr val="bg1"/>
                </a:solidFill>
              </a:rPr>
              <a:t>INTERPRET</a:t>
            </a:r>
            <a:endParaRPr lang="en-US" sz="1200" dirty="0"/>
          </a:p>
          <a:p>
            <a:pPr indent="0" marL="0">
              <a:buNone/>
            </a:pPr>
            <a:r>
              <a:rPr lang="en-US" sz="1000" dirty="0">
                <a:solidFill>
                  <a:srgbClr val="B9C3E6"/>
                </a:solidFill>
              </a:rPr>
              <a:t>associations, not causes</a:t>
            </a:r>
            <a:endParaRPr lang="en-US" sz="1200" dirty="0"/>
          </a:p>
        </p:txBody>
      </p:sp>
      <p:sp>
        <p:nvSpPr>
          <p:cNvPr id="15" name="Shape 11"/>
          <p:cNvSpPr/>
          <p:nvPr/>
        </p:nvSpPr>
        <p:spPr>
          <a:xfrm>
            <a:off x="8092440" y="3118104"/>
            <a:ext cx="566928" cy="566928"/>
          </a:xfrm>
          <a:prstGeom prst="ellipse">
            <a:avLst/>
          </a:prstGeom>
          <a:solidFill>
            <a:schemeClr val="accent1"/>
          </a:solidFill>
          <a:ln w="19050">
            <a:solidFill>
              <a:srgbClr val="1CABE2"/>
            </a:solidFill>
            <a:prstDash val="solid"/>
          </a:ln>
        </p:spPr>
      </p:sp>
      <p:pic>
        <p:nvPicPr>
          <p:cNvPr id="16" name="Image 2" descr="preencoded.png">    </p:cNvPr>
          <p:cNvPicPr>
            <a:picLocks noChangeAspect="1"/>
          </p:cNvPicPr>
          <p:nvPr/>
        </p:nvPicPr>
        <p:blipFill>
          <a:blip r:embed="rId3"/>
          <a:stretch>
            <a:fillRect/>
          </a:stretch>
        </p:blipFill>
        <p:spPr>
          <a:xfrm>
            <a:off x="8247888" y="3273552"/>
            <a:ext cx="256032" cy="256032"/>
          </a:xfrm>
          <a:prstGeom prst="rect">
            <a:avLst/>
          </a:prstGeom>
        </p:spPr>
      </p:pic>
      <p:sp>
        <p:nvSpPr>
          <p:cNvPr id="17" name="Text 12"/>
          <p:cNvSpPr txBox="1"/>
          <p:nvPr/>
        </p:nvSpPr>
        <p:spPr>
          <a:xfrm>
            <a:off x="8823960" y="3081528"/>
            <a:ext cx="2926080" cy="640080"/>
          </a:xfrm>
          <a:prstGeom prst="rect">
            <a:avLst/>
          </a:prstGeom>
          <a:noFill/>
          <a:ln/>
        </p:spPr>
        <p:txBody>
          <a:bodyPr wrap="square" lIns="0" tIns="0" rIns="0" bIns="0" rtlCol="0" anchor="ctr"/>
          <a:lstStyle/>
          <a:p>
            <a:pPr indent="0" marL="0">
              <a:buNone/>
            </a:pPr>
            <a:r>
              <a:rPr lang="en-US" sz="1200" b="1" spc="200" kern="0" dirty="0">
                <a:solidFill>
                  <a:schemeClr val="bg1"/>
                </a:solidFill>
              </a:rPr>
              <a:t>CONNECT</a:t>
            </a:r>
            <a:endParaRPr lang="en-US" sz="1200" dirty="0"/>
          </a:p>
          <a:p>
            <a:pPr indent="0" marL="0">
              <a:buNone/>
            </a:pPr>
            <a:r>
              <a:rPr lang="en-US" sz="1000" dirty="0">
                <a:solidFill>
                  <a:srgbClr val="B9C3E6"/>
                </a:solidFill>
              </a:rPr>
              <a:t>interconnected vulnerabilities</a:t>
            </a:r>
            <a:endParaRPr lang="en-US" sz="1200" dirty="0"/>
          </a:p>
        </p:txBody>
      </p:sp>
      <p:sp>
        <p:nvSpPr>
          <p:cNvPr id="18" name="Shape 13"/>
          <p:cNvSpPr/>
          <p:nvPr/>
        </p:nvSpPr>
        <p:spPr>
          <a:xfrm>
            <a:off x="8092440" y="4197096"/>
            <a:ext cx="566928" cy="566928"/>
          </a:xfrm>
          <a:prstGeom prst="ellipse">
            <a:avLst/>
          </a:prstGeom>
          <a:solidFill>
            <a:schemeClr val="accent1"/>
          </a:solidFill>
          <a:ln w="19050">
            <a:solidFill>
              <a:srgbClr val="1CABE2"/>
            </a:solidFill>
            <a:prstDash val="solid"/>
          </a:ln>
        </p:spPr>
      </p:sp>
      <p:pic>
        <p:nvPicPr>
          <p:cNvPr id="19" name="Image 3" descr="preencoded.png">    </p:cNvPr>
          <p:cNvPicPr>
            <a:picLocks noChangeAspect="1"/>
          </p:cNvPicPr>
          <p:nvPr/>
        </p:nvPicPr>
        <p:blipFill>
          <a:blip r:embed="rId4"/>
          <a:stretch>
            <a:fillRect/>
          </a:stretch>
        </p:blipFill>
        <p:spPr>
          <a:xfrm>
            <a:off x="8247888" y="4352544"/>
            <a:ext cx="256032" cy="256032"/>
          </a:xfrm>
          <a:prstGeom prst="rect">
            <a:avLst/>
          </a:prstGeom>
        </p:spPr>
      </p:pic>
      <p:sp>
        <p:nvSpPr>
          <p:cNvPr id="20" name="Text 14"/>
          <p:cNvSpPr txBox="1"/>
          <p:nvPr/>
        </p:nvSpPr>
        <p:spPr>
          <a:xfrm>
            <a:off x="8823960" y="4160520"/>
            <a:ext cx="2926080" cy="640080"/>
          </a:xfrm>
          <a:prstGeom prst="rect">
            <a:avLst/>
          </a:prstGeom>
          <a:noFill/>
          <a:ln/>
        </p:spPr>
        <p:txBody>
          <a:bodyPr wrap="square" lIns="0" tIns="0" rIns="0" bIns="0" rtlCol="0" anchor="ctr"/>
          <a:lstStyle/>
          <a:p>
            <a:pPr indent="0" marL="0">
              <a:buNone/>
            </a:pPr>
            <a:r>
              <a:rPr lang="en-US" sz="1200" b="1" spc="200" kern="0" dirty="0">
                <a:solidFill>
                  <a:schemeClr val="bg1"/>
                </a:solidFill>
              </a:rPr>
              <a:t>ACT</a:t>
            </a:r>
            <a:endParaRPr lang="en-US" sz="1200" dirty="0"/>
          </a:p>
          <a:p>
            <a:pPr indent="0" marL="0">
              <a:buNone/>
            </a:pPr>
            <a:r>
              <a:rPr lang="en-US" sz="1000" dirty="0">
                <a:solidFill>
                  <a:srgbClr val="B9C3E6"/>
                </a:solidFill>
              </a:rPr>
              <a:t>inform programming</a:t>
            </a:r>
            <a:endParaRPr lang="en-US" sz="1200" dirty="0"/>
          </a:p>
        </p:txBody>
      </p:sp>
      <p:sp>
        <p:nvSpPr>
          <p:cNvPr id="21" name="Shape 15"/>
          <p:cNvSpPr/>
          <p:nvPr/>
        </p:nvSpPr>
        <p:spPr>
          <a:xfrm>
            <a:off x="0" y="5897880"/>
            <a:ext cx="12191695" cy="0"/>
          </a:xfrm>
          <a:prstGeom prst="line">
            <a:avLst/>
          </a:prstGeom>
          <a:noFill/>
          <a:ln w="12700">
            <a:solidFill>
              <a:srgbClr val="3C4C86"/>
            </a:solidFill>
            <a:prstDash val="solid"/>
          </a:ln>
        </p:spPr>
      </p:sp>
      <p:sp>
        <p:nvSpPr>
          <p:cNvPr id="22" name="Text 16"/>
          <p:cNvSpPr txBox="1"/>
          <p:nvPr/>
        </p:nvSpPr>
        <p:spPr>
          <a:xfrm>
            <a:off x="685800" y="6108192"/>
            <a:ext cx="1097280" cy="411480"/>
          </a:xfrm>
          <a:prstGeom prst="rect">
            <a:avLst/>
          </a:prstGeom>
          <a:noFill/>
          <a:ln/>
        </p:spPr>
        <p:txBody>
          <a:bodyPr wrap="square" lIns="0" tIns="0" rIns="0" bIns="0" rtlCol="0" anchor="ctr"/>
          <a:lstStyle/>
          <a:p>
            <a:pPr indent="0" marL="0">
              <a:buNone/>
            </a:pPr>
            <a:r>
              <a:rPr lang="en-US" sz="2000" b="1" dirty="0">
                <a:solidFill>
                  <a:schemeClr val="bg1"/>
                </a:solidFill>
              </a:rPr>
              <a:t>unicef</a:t>
            </a:r>
            <a:endParaRPr lang="en-US" sz="2000" dirty="0"/>
          </a:p>
        </p:txBody>
      </p:sp>
      <p:sp>
        <p:nvSpPr>
          <p:cNvPr id="23" name="Text 17"/>
          <p:cNvSpPr txBox="1"/>
          <p:nvPr/>
        </p:nvSpPr>
        <p:spPr>
          <a:xfrm>
            <a:off x="1965960" y="6163056"/>
            <a:ext cx="1463040" cy="320040"/>
          </a:xfrm>
          <a:prstGeom prst="rect">
            <a:avLst/>
          </a:prstGeom>
          <a:noFill/>
          <a:ln/>
        </p:spPr>
        <p:txBody>
          <a:bodyPr wrap="square" lIns="0" tIns="0" rIns="0" bIns="0" rtlCol="0" anchor="ctr"/>
          <a:lstStyle/>
          <a:p>
            <a:pPr indent="0" marL="0">
              <a:buNone/>
            </a:pPr>
            <a:r>
              <a:rPr lang="en-US" sz="1000" dirty="0">
                <a:solidFill>
                  <a:srgbClr val="B9C3E6"/>
                </a:solidFill>
              </a:rPr>
              <a:t>for every child</a:t>
            </a:r>
            <a:endParaRPr lang="en-US" sz="1000" dirty="0"/>
          </a:p>
        </p:txBody>
      </p:sp>
      <p:sp>
        <p:nvSpPr>
          <p:cNvPr id="24" name="Text 18"/>
          <p:cNvSpPr txBox="1"/>
          <p:nvPr/>
        </p:nvSpPr>
        <p:spPr>
          <a:xfrm>
            <a:off x="5120640" y="6108192"/>
            <a:ext cx="6400800" cy="411480"/>
          </a:xfrm>
          <a:prstGeom prst="rect">
            <a:avLst/>
          </a:prstGeom>
          <a:noFill/>
          <a:ln/>
        </p:spPr>
        <p:txBody>
          <a:bodyPr wrap="square" lIns="0" tIns="0" rIns="0" bIns="0" rtlCol="0" anchor="ctr"/>
          <a:lstStyle/>
          <a:p>
            <a:pPr algn="r" indent="0" marL="0">
              <a:buNone/>
            </a:pPr>
            <a:r>
              <a:rPr lang="en-US" sz="1050" dirty="0">
                <a:solidFill>
                  <a:schemeClr val="bg1"/>
                </a:solidFill>
              </a:rPr>
              <a:t>Associations, not causes.  Patterns, not prevalence.  </a:t>
            </a:r>
            <a:pPr algn="r" indent="0" marL="0">
              <a:buNone/>
            </a:pPr>
            <a:r>
              <a:rPr lang="en-US" sz="1050" b="1" dirty="0">
                <a:solidFill>
                  <a:schemeClr val="accent2"/>
                </a:solidFill>
              </a:rPr>
              <a:t>Evidence for every child.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01</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PURPOSE</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Understanding the Evidence</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What the quantitative analysis set out to do, and how its results should be read.</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03 / 10</a:t>
            </a:r>
            <a:endParaRPr lang="en-US" sz="900" dirty="0"/>
          </a:p>
        </p:txBody>
      </p:sp>
      <p:sp>
        <p:nvSpPr>
          <p:cNvPr id="9" name="Purpose of the analysis card"/>
          <p:cNvSpPr/>
          <p:nvPr/>
        </p:nvSpPr>
        <p:spPr>
          <a:xfrm>
            <a:off x="548640" y="1691640"/>
            <a:ext cx="5120640" cy="2926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Purpose of the analysis card edge"/>
          <p:cNvSpPr/>
          <p:nvPr/>
        </p:nvSpPr>
        <p:spPr>
          <a:xfrm>
            <a:off x="548640" y="1691640"/>
            <a:ext cx="5120640" cy="54864"/>
          </a:xfrm>
          <a:prstGeom prst="rect">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77240" y="1874520"/>
            <a:ext cx="329184" cy="329184"/>
          </a:xfrm>
          <a:prstGeom prst="rect">
            <a:avLst/>
          </a:prstGeom>
        </p:spPr>
      </p:pic>
      <p:sp>
        <p:nvSpPr>
          <p:cNvPr id="12" name="Purpose of the analysis header"/>
          <p:cNvSpPr txBox="1"/>
          <p:nvPr/>
        </p:nvSpPr>
        <p:spPr>
          <a:xfrm>
            <a:off x="1234440" y="1819656"/>
            <a:ext cx="4297680" cy="438912"/>
          </a:xfrm>
          <a:prstGeom prst="rect">
            <a:avLst/>
          </a:prstGeom>
          <a:noFill/>
          <a:ln/>
        </p:spPr>
        <p:txBody>
          <a:bodyPr wrap="square" lIns="0" tIns="0" rIns="0" bIns="0" rtlCol="0" anchor="ctr"/>
          <a:lstStyle/>
          <a:p>
            <a:pPr indent="0" marL="0">
              <a:buNone/>
            </a:pPr>
            <a:r>
              <a:rPr lang="en-US" sz="1050" b="1" spc="150" kern="0" dirty="0">
                <a:solidFill>
                  <a:schemeClr val="accent1"/>
                </a:solidFill>
              </a:rPr>
              <a:t>PURPOSE OF THE ANALYSIS</a:t>
            </a:r>
            <a:endParaRPr lang="en-US" sz="1050" dirty="0"/>
          </a:p>
        </p:txBody>
      </p:sp>
      <p:sp>
        <p:nvSpPr>
          <p:cNvPr id="13" name="Shape 9"/>
          <p:cNvSpPr/>
          <p:nvPr/>
        </p:nvSpPr>
        <p:spPr>
          <a:xfrm>
            <a:off x="822960" y="2468880"/>
            <a:ext cx="457200" cy="45720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941832" y="2587752"/>
            <a:ext cx="219456" cy="219456"/>
          </a:xfrm>
          <a:prstGeom prst="rect">
            <a:avLst/>
          </a:prstGeom>
        </p:spPr>
      </p:pic>
      <p:sp>
        <p:nvSpPr>
          <p:cNvPr id="15" name="Text 10"/>
          <p:cNvSpPr txBox="1"/>
          <p:nvPr/>
        </p:nvSpPr>
        <p:spPr>
          <a:xfrm>
            <a:off x="1463040" y="2423160"/>
            <a:ext cx="3977640" cy="548640"/>
          </a:xfrm>
          <a:prstGeom prst="rect">
            <a:avLst/>
          </a:prstGeom>
          <a:noFill/>
          <a:ln/>
        </p:spPr>
        <p:txBody>
          <a:bodyPr wrap="square" lIns="0" tIns="0" rIns="0" bIns="0" rtlCol="0" anchor="ctr"/>
          <a:lstStyle/>
          <a:p>
            <a:pPr indent="0" marL="0">
              <a:buNone/>
            </a:pPr>
            <a:r>
              <a:rPr lang="en-US" sz="1150" b="1" dirty="0">
                <a:solidFill>
                  <a:schemeClr val="tx2"/>
                </a:solidFill>
              </a:rPr>
              <a:t>Examine factors </a:t>
            </a:r>
            <a:pPr indent="0" marL="0">
              <a:buNone/>
            </a:pPr>
            <a:r>
              <a:rPr lang="en-US" sz="1150" dirty="0">
                <a:solidFill>
                  <a:schemeClr val="tx1"/>
                </a:solidFill>
              </a:rPr>
              <a:t>associated with respondents reporting child marriage.</a:t>
            </a:r>
            <a:endParaRPr lang="en-US" sz="1150" dirty="0"/>
          </a:p>
        </p:txBody>
      </p:sp>
      <p:sp>
        <p:nvSpPr>
          <p:cNvPr id="16" name="Shape 11"/>
          <p:cNvSpPr/>
          <p:nvPr/>
        </p:nvSpPr>
        <p:spPr>
          <a:xfrm>
            <a:off x="822960" y="3054096"/>
            <a:ext cx="4572000" cy="0"/>
          </a:xfrm>
          <a:prstGeom prst="line">
            <a:avLst/>
          </a:prstGeom>
          <a:noFill/>
          <a:ln w="19050">
            <a:solidFill>
              <a:srgbClr val="ECEAE5"/>
            </a:solidFill>
            <a:prstDash val="solid"/>
          </a:ln>
        </p:spPr>
      </p:sp>
      <p:sp>
        <p:nvSpPr>
          <p:cNvPr id="17" name="Shape 12"/>
          <p:cNvSpPr/>
          <p:nvPr/>
        </p:nvSpPr>
        <p:spPr>
          <a:xfrm>
            <a:off x="822960" y="3154680"/>
            <a:ext cx="457200" cy="45720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941832" y="3273552"/>
            <a:ext cx="219456" cy="219456"/>
          </a:xfrm>
          <a:prstGeom prst="rect">
            <a:avLst/>
          </a:prstGeom>
        </p:spPr>
      </p:pic>
      <p:sp>
        <p:nvSpPr>
          <p:cNvPr id="19" name="Text 13"/>
          <p:cNvSpPr txBox="1"/>
          <p:nvPr/>
        </p:nvSpPr>
        <p:spPr>
          <a:xfrm>
            <a:off x="1463040" y="3108960"/>
            <a:ext cx="3977640" cy="548640"/>
          </a:xfrm>
          <a:prstGeom prst="rect">
            <a:avLst/>
          </a:prstGeom>
          <a:noFill/>
          <a:ln/>
        </p:spPr>
        <p:txBody>
          <a:bodyPr wrap="square" lIns="0" tIns="0" rIns="0" bIns="0" rtlCol="0" anchor="ctr"/>
          <a:lstStyle/>
          <a:p>
            <a:pPr indent="0" marL="0">
              <a:buNone/>
            </a:pPr>
            <a:r>
              <a:rPr lang="en-US" sz="1150" b="1" dirty="0">
                <a:solidFill>
                  <a:schemeClr val="tx2"/>
                </a:solidFill>
              </a:rPr>
              <a:t>Identify patterns </a:t>
            </a:r>
            <a:pPr indent="0" marL="0">
              <a:buNone/>
            </a:pPr>
            <a:r>
              <a:rPr lang="en-US" sz="1150" dirty="0">
                <a:solidFill>
                  <a:schemeClr val="tx1"/>
                </a:solidFill>
              </a:rPr>
              <a:t>of vulnerability within the sampled population.</a:t>
            </a:r>
            <a:endParaRPr lang="en-US" sz="1150" dirty="0"/>
          </a:p>
        </p:txBody>
      </p:sp>
      <p:sp>
        <p:nvSpPr>
          <p:cNvPr id="20" name="Shape 14"/>
          <p:cNvSpPr/>
          <p:nvPr/>
        </p:nvSpPr>
        <p:spPr>
          <a:xfrm>
            <a:off x="822960" y="3739896"/>
            <a:ext cx="4572000" cy="0"/>
          </a:xfrm>
          <a:prstGeom prst="line">
            <a:avLst/>
          </a:prstGeom>
          <a:noFill/>
          <a:ln w="19050">
            <a:solidFill>
              <a:srgbClr val="ECEAE5"/>
            </a:solidFill>
            <a:prstDash val="solid"/>
          </a:ln>
        </p:spPr>
      </p:sp>
      <p:sp>
        <p:nvSpPr>
          <p:cNvPr id="21" name="Shape 15"/>
          <p:cNvSpPr/>
          <p:nvPr/>
        </p:nvSpPr>
        <p:spPr>
          <a:xfrm>
            <a:off x="822960" y="3840480"/>
            <a:ext cx="457200" cy="45720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941832" y="3959352"/>
            <a:ext cx="219456" cy="219456"/>
          </a:xfrm>
          <a:prstGeom prst="rect">
            <a:avLst/>
          </a:prstGeom>
        </p:spPr>
      </p:pic>
      <p:sp>
        <p:nvSpPr>
          <p:cNvPr id="23" name="Text 16"/>
          <p:cNvSpPr txBox="1"/>
          <p:nvPr/>
        </p:nvSpPr>
        <p:spPr>
          <a:xfrm>
            <a:off x="1463040" y="3794760"/>
            <a:ext cx="3977640" cy="548640"/>
          </a:xfrm>
          <a:prstGeom prst="rect">
            <a:avLst/>
          </a:prstGeom>
          <a:noFill/>
          <a:ln/>
        </p:spPr>
        <p:txBody>
          <a:bodyPr wrap="square" lIns="0" tIns="0" rIns="0" bIns="0" rtlCol="0" anchor="ctr"/>
          <a:lstStyle/>
          <a:p>
            <a:pPr indent="0" marL="0">
              <a:buNone/>
            </a:pPr>
            <a:r>
              <a:rPr lang="en-US" sz="1150" b="1" dirty="0">
                <a:solidFill>
                  <a:schemeClr val="tx2"/>
                </a:solidFill>
              </a:rPr>
              <a:t>Explore how child marriage intersects </a:t>
            </a:r>
            <a:pPr indent="0" marL="0">
              <a:buNone/>
            </a:pPr>
            <a:r>
              <a:rPr lang="en-US" sz="1150" dirty="0">
                <a:solidFill>
                  <a:schemeClr val="tx1"/>
                </a:solidFill>
              </a:rPr>
              <a:t>with early sex, early childbearing, child labour, poverty and orphanhood.</a:t>
            </a:r>
            <a:endParaRPr lang="en-US" sz="1150" dirty="0"/>
          </a:p>
        </p:txBody>
      </p:sp>
      <p:sp>
        <p:nvSpPr>
          <p:cNvPr id="24" name="Vulnerabilities examined card"/>
          <p:cNvSpPr/>
          <p:nvPr/>
        </p:nvSpPr>
        <p:spPr>
          <a:xfrm>
            <a:off x="5943600" y="1691640"/>
            <a:ext cx="5696712" cy="2926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5" name="Vulnerabilities examined card edge"/>
          <p:cNvSpPr/>
          <p:nvPr/>
        </p:nvSpPr>
        <p:spPr>
          <a:xfrm>
            <a:off x="5943600" y="1691640"/>
            <a:ext cx="5696712" cy="54864"/>
          </a:xfrm>
          <a:prstGeom prst="rect">
            <a:avLst/>
          </a:prstGeom>
          <a:solidFill>
            <a:schemeClr val="accent3"/>
          </a:solidFill>
          <a:ln/>
        </p:spPr>
      </p:sp>
      <p:pic>
        <p:nvPicPr>
          <p:cNvPr id="26" name="Image 5" descr="preencoded.png">    </p:cNvPr>
          <p:cNvPicPr>
            <a:picLocks noChangeAspect="1"/>
          </p:cNvPicPr>
          <p:nvPr/>
        </p:nvPicPr>
        <p:blipFill>
          <a:blip r:embed="rId6"/>
          <a:stretch>
            <a:fillRect/>
          </a:stretch>
        </p:blipFill>
        <p:spPr>
          <a:xfrm>
            <a:off x="6172200" y="1874520"/>
            <a:ext cx="329184" cy="329184"/>
          </a:xfrm>
          <a:prstGeom prst="rect">
            <a:avLst/>
          </a:prstGeom>
        </p:spPr>
      </p:pic>
      <p:sp>
        <p:nvSpPr>
          <p:cNvPr id="27" name="Vulnerabilities examined header"/>
          <p:cNvSpPr txBox="1"/>
          <p:nvPr/>
        </p:nvSpPr>
        <p:spPr>
          <a:xfrm>
            <a:off x="6629400" y="1819656"/>
            <a:ext cx="4873752" cy="438912"/>
          </a:xfrm>
          <a:prstGeom prst="rect">
            <a:avLst/>
          </a:prstGeom>
          <a:noFill/>
          <a:ln/>
        </p:spPr>
        <p:txBody>
          <a:bodyPr wrap="square" lIns="0" tIns="0" rIns="0" bIns="0" rtlCol="0" anchor="ctr"/>
          <a:lstStyle/>
          <a:p>
            <a:pPr indent="0" marL="0">
              <a:buNone/>
            </a:pPr>
            <a:r>
              <a:rPr lang="en-US" sz="1050" b="1" spc="150" kern="0" dirty="0">
                <a:solidFill>
                  <a:schemeClr val="accent3"/>
                </a:solidFill>
              </a:rPr>
              <a:t>VULNERABILITIES EXAMINED</a:t>
            </a:r>
            <a:endParaRPr lang="en-US" sz="1050" dirty="0"/>
          </a:p>
        </p:txBody>
      </p:sp>
      <p:sp>
        <p:nvSpPr>
          <p:cNvPr id="28" name="Shape 20"/>
          <p:cNvSpPr/>
          <p:nvPr/>
        </p:nvSpPr>
        <p:spPr>
          <a:xfrm>
            <a:off x="6350508" y="2468880"/>
            <a:ext cx="640080" cy="640080"/>
          </a:xfrm>
          <a:prstGeom prst="ellipse">
            <a:avLst/>
          </a:prstGeom>
          <a:solidFill>
            <a:schemeClr val="accent5"/>
          </a:solidFill>
          <a:ln/>
        </p:spPr>
      </p:sp>
      <p:pic>
        <p:nvPicPr>
          <p:cNvPr id="29" name="Image 6" descr="preencoded.png">    </p:cNvPr>
          <p:cNvPicPr>
            <a:picLocks noChangeAspect="1"/>
          </p:cNvPicPr>
          <p:nvPr/>
        </p:nvPicPr>
        <p:blipFill>
          <a:blip r:embed="rId7"/>
          <a:stretch>
            <a:fillRect/>
          </a:stretch>
        </p:blipFill>
        <p:spPr>
          <a:xfrm>
            <a:off x="6515100" y="2633472"/>
            <a:ext cx="310896" cy="310896"/>
          </a:xfrm>
          <a:prstGeom prst="rect">
            <a:avLst/>
          </a:prstGeom>
        </p:spPr>
      </p:pic>
      <p:sp>
        <p:nvSpPr>
          <p:cNvPr id="30" name="Text 21"/>
          <p:cNvSpPr txBox="1"/>
          <p:nvPr/>
        </p:nvSpPr>
        <p:spPr>
          <a:xfrm>
            <a:off x="6144768" y="3200400"/>
            <a:ext cx="1051560" cy="457200"/>
          </a:xfrm>
          <a:prstGeom prst="rect">
            <a:avLst/>
          </a:prstGeom>
          <a:noFill/>
          <a:ln/>
        </p:spPr>
        <p:txBody>
          <a:bodyPr wrap="square" lIns="0" tIns="0" rIns="0" bIns="0" rtlCol="0" anchor="t"/>
          <a:lstStyle/>
          <a:p>
            <a:pPr algn="ctr" indent="0" marL="0">
              <a:buNone/>
            </a:pPr>
            <a:r>
              <a:rPr lang="en-US" sz="1100" b="1" dirty="0">
                <a:solidFill>
                  <a:schemeClr val="tx2"/>
                </a:solidFill>
              </a:rPr>
              <a:t>Early sexual activity</a:t>
            </a:r>
            <a:endParaRPr lang="en-US" sz="1100" dirty="0"/>
          </a:p>
        </p:txBody>
      </p:sp>
      <p:sp>
        <p:nvSpPr>
          <p:cNvPr id="31" name="Text 22"/>
          <p:cNvSpPr txBox="1"/>
          <p:nvPr/>
        </p:nvSpPr>
        <p:spPr>
          <a:xfrm>
            <a:off x="6144768" y="3675888"/>
            <a:ext cx="1051560" cy="365760"/>
          </a:xfrm>
          <a:prstGeom prst="rect">
            <a:avLst/>
          </a:prstGeom>
          <a:noFill/>
          <a:ln/>
        </p:spPr>
        <p:txBody>
          <a:bodyPr wrap="square" lIns="0" tIns="0" rIns="0" bIns="0" rtlCol="0" anchor="t"/>
          <a:lstStyle/>
          <a:p>
            <a:pPr algn="ctr" indent="0" marL="0">
              <a:buNone/>
            </a:pPr>
            <a:r>
              <a:rPr lang="en-US" sz="850" dirty="0">
                <a:solidFill>
                  <a:schemeClr val="accent5"/>
                </a:solidFill>
              </a:rPr>
              <a:t>Sexual &amp; reproductive</a:t>
            </a:r>
            <a:endParaRPr lang="en-US" sz="850" dirty="0"/>
          </a:p>
        </p:txBody>
      </p:sp>
      <p:sp>
        <p:nvSpPr>
          <p:cNvPr id="32" name="Shape 23"/>
          <p:cNvSpPr/>
          <p:nvPr/>
        </p:nvSpPr>
        <p:spPr>
          <a:xfrm>
            <a:off x="7438644" y="2468880"/>
            <a:ext cx="640080" cy="640080"/>
          </a:xfrm>
          <a:prstGeom prst="ellipse">
            <a:avLst/>
          </a:prstGeom>
          <a:solidFill>
            <a:schemeClr val="accent5"/>
          </a:solidFill>
          <a:ln/>
        </p:spPr>
      </p:sp>
      <p:pic>
        <p:nvPicPr>
          <p:cNvPr id="33" name="Image 7" descr="preencoded.png">    </p:cNvPr>
          <p:cNvPicPr>
            <a:picLocks noChangeAspect="1"/>
          </p:cNvPicPr>
          <p:nvPr/>
        </p:nvPicPr>
        <p:blipFill>
          <a:blip r:embed="rId8"/>
          <a:stretch>
            <a:fillRect/>
          </a:stretch>
        </p:blipFill>
        <p:spPr>
          <a:xfrm>
            <a:off x="7603236" y="2633472"/>
            <a:ext cx="310896" cy="310896"/>
          </a:xfrm>
          <a:prstGeom prst="rect">
            <a:avLst/>
          </a:prstGeom>
        </p:spPr>
      </p:pic>
      <p:sp>
        <p:nvSpPr>
          <p:cNvPr id="34" name="Text 24"/>
          <p:cNvSpPr txBox="1"/>
          <p:nvPr/>
        </p:nvSpPr>
        <p:spPr>
          <a:xfrm>
            <a:off x="7232904" y="3200400"/>
            <a:ext cx="1051560" cy="457200"/>
          </a:xfrm>
          <a:prstGeom prst="rect">
            <a:avLst/>
          </a:prstGeom>
          <a:noFill/>
          <a:ln/>
        </p:spPr>
        <p:txBody>
          <a:bodyPr wrap="square" lIns="0" tIns="0" rIns="0" bIns="0" rtlCol="0" anchor="t"/>
          <a:lstStyle/>
          <a:p>
            <a:pPr algn="ctr" indent="0" marL="0">
              <a:buNone/>
            </a:pPr>
            <a:r>
              <a:rPr lang="en-US" sz="1100" b="1" dirty="0">
                <a:solidFill>
                  <a:schemeClr val="tx2"/>
                </a:solidFill>
              </a:rPr>
              <a:t>Early childbearing</a:t>
            </a:r>
            <a:endParaRPr lang="en-US" sz="1100" dirty="0"/>
          </a:p>
        </p:txBody>
      </p:sp>
      <p:sp>
        <p:nvSpPr>
          <p:cNvPr id="35" name="Text 25"/>
          <p:cNvSpPr txBox="1"/>
          <p:nvPr/>
        </p:nvSpPr>
        <p:spPr>
          <a:xfrm>
            <a:off x="7232904" y="3675888"/>
            <a:ext cx="1051560" cy="365760"/>
          </a:xfrm>
          <a:prstGeom prst="rect">
            <a:avLst/>
          </a:prstGeom>
          <a:noFill/>
          <a:ln/>
        </p:spPr>
        <p:txBody>
          <a:bodyPr wrap="square" lIns="0" tIns="0" rIns="0" bIns="0" rtlCol="0" anchor="t"/>
          <a:lstStyle/>
          <a:p>
            <a:pPr algn="ctr" indent="0" marL="0">
              <a:buNone/>
            </a:pPr>
            <a:r>
              <a:rPr lang="en-US" sz="850" dirty="0">
                <a:solidFill>
                  <a:schemeClr val="accent5"/>
                </a:solidFill>
              </a:rPr>
              <a:t>Sexual &amp; reproductive</a:t>
            </a:r>
            <a:endParaRPr lang="en-US" sz="850" dirty="0"/>
          </a:p>
        </p:txBody>
      </p:sp>
      <p:sp>
        <p:nvSpPr>
          <p:cNvPr id="36" name="Shape 26"/>
          <p:cNvSpPr/>
          <p:nvPr/>
        </p:nvSpPr>
        <p:spPr>
          <a:xfrm>
            <a:off x="8526780" y="2468880"/>
            <a:ext cx="640080" cy="640080"/>
          </a:xfrm>
          <a:prstGeom prst="ellipse">
            <a:avLst/>
          </a:prstGeom>
          <a:solidFill>
            <a:schemeClr val="accent6"/>
          </a:solidFill>
          <a:ln/>
        </p:spPr>
      </p:sp>
      <p:pic>
        <p:nvPicPr>
          <p:cNvPr id="37" name="Image 8" descr="preencoded.png">    </p:cNvPr>
          <p:cNvPicPr>
            <a:picLocks noChangeAspect="1"/>
          </p:cNvPicPr>
          <p:nvPr/>
        </p:nvPicPr>
        <p:blipFill>
          <a:blip r:embed="rId9"/>
          <a:stretch>
            <a:fillRect/>
          </a:stretch>
        </p:blipFill>
        <p:spPr>
          <a:xfrm>
            <a:off x="8691372" y="2633472"/>
            <a:ext cx="310896" cy="310896"/>
          </a:xfrm>
          <a:prstGeom prst="rect">
            <a:avLst/>
          </a:prstGeom>
        </p:spPr>
      </p:pic>
      <p:sp>
        <p:nvSpPr>
          <p:cNvPr id="38" name="Text 27"/>
          <p:cNvSpPr txBox="1"/>
          <p:nvPr/>
        </p:nvSpPr>
        <p:spPr>
          <a:xfrm>
            <a:off x="8321040" y="3200400"/>
            <a:ext cx="1051560" cy="457200"/>
          </a:xfrm>
          <a:prstGeom prst="rect">
            <a:avLst/>
          </a:prstGeom>
          <a:noFill/>
          <a:ln/>
        </p:spPr>
        <p:txBody>
          <a:bodyPr wrap="square" lIns="0" tIns="0" rIns="0" bIns="0" rtlCol="0" anchor="t"/>
          <a:lstStyle/>
          <a:p>
            <a:pPr algn="ctr" indent="0" marL="0">
              <a:buNone/>
            </a:pPr>
            <a:r>
              <a:rPr lang="en-US" sz="1100" b="1" dirty="0">
                <a:solidFill>
                  <a:schemeClr val="tx2"/>
                </a:solidFill>
              </a:rPr>
              <a:t>Child labour</a:t>
            </a:r>
            <a:endParaRPr lang="en-US" sz="1100" dirty="0"/>
          </a:p>
        </p:txBody>
      </p:sp>
      <p:sp>
        <p:nvSpPr>
          <p:cNvPr id="39" name="Text 28"/>
          <p:cNvSpPr txBox="1"/>
          <p:nvPr/>
        </p:nvSpPr>
        <p:spPr>
          <a:xfrm>
            <a:off x="8321040" y="3675888"/>
            <a:ext cx="1051560" cy="365760"/>
          </a:xfrm>
          <a:prstGeom prst="rect">
            <a:avLst/>
          </a:prstGeom>
          <a:noFill/>
          <a:ln/>
        </p:spPr>
        <p:txBody>
          <a:bodyPr wrap="square" lIns="0" tIns="0" rIns="0" bIns="0" rtlCol="0" anchor="t"/>
          <a:lstStyle/>
          <a:p>
            <a:pPr algn="ctr" indent="0" marL="0">
              <a:buNone/>
            </a:pPr>
            <a:r>
              <a:rPr lang="en-US" sz="850" dirty="0">
                <a:solidFill>
                  <a:schemeClr val="accent6"/>
                </a:solidFill>
              </a:rPr>
              <a:t>Economic</a:t>
            </a:r>
            <a:endParaRPr lang="en-US" sz="850" dirty="0"/>
          </a:p>
        </p:txBody>
      </p:sp>
      <p:sp>
        <p:nvSpPr>
          <p:cNvPr id="40" name="Shape 29"/>
          <p:cNvSpPr/>
          <p:nvPr/>
        </p:nvSpPr>
        <p:spPr>
          <a:xfrm>
            <a:off x="9614916" y="2468880"/>
            <a:ext cx="640080" cy="640080"/>
          </a:xfrm>
          <a:prstGeom prst="ellipse">
            <a:avLst/>
          </a:prstGeom>
          <a:solidFill>
            <a:schemeClr val="accent6"/>
          </a:solidFill>
          <a:ln/>
        </p:spPr>
      </p:sp>
      <p:pic>
        <p:nvPicPr>
          <p:cNvPr id="41" name="Image 9" descr="preencoded.png">    </p:cNvPr>
          <p:cNvPicPr>
            <a:picLocks noChangeAspect="1"/>
          </p:cNvPicPr>
          <p:nvPr/>
        </p:nvPicPr>
        <p:blipFill>
          <a:blip r:embed="rId10"/>
          <a:stretch>
            <a:fillRect/>
          </a:stretch>
        </p:blipFill>
        <p:spPr>
          <a:xfrm>
            <a:off x="9779508" y="2633472"/>
            <a:ext cx="310896" cy="310896"/>
          </a:xfrm>
          <a:prstGeom prst="rect">
            <a:avLst/>
          </a:prstGeom>
        </p:spPr>
      </p:pic>
      <p:sp>
        <p:nvSpPr>
          <p:cNvPr id="42" name="Text 30"/>
          <p:cNvSpPr txBox="1"/>
          <p:nvPr/>
        </p:nvSpPr>
        <p:spPr>
          <a:xfrm>
            <a:off x="9409176" y="3200400"/>
            <a:ext cx="1051560" cy="457200"/>
          </a:xfrm>
          <a:prstGeom prst="rect">
            <a:avLst/>
          </a:prstGeom>
          <a:noFill/>
          <a:ln/>
        </p:spPr>
        <p:txBody>
          <a:bodyPr wrap="square" lIns="0" tIns="0" rIns="0" bIns="0" rtlCol="0" anchor="t"/>
          <a:lstStyle/>
          <a:p>
            <a:pPr algn="ctr" indent="0" marL="0">
              <a:buNone/>
            </a:pPr>
            <a:r>
              <a:rPr lang="en-US" sz="1100" b="1" dirty="0">
                <a:solidFill>
                  <a:schemeClr val="tx2"/>
                </a:solidFill>
              </a:rPr>
              <a:t>Poverty</a:t>
            </a:r>
            <a:endParaRPr lang="en-US" sz="1100" dirty="0"/>
          </a:p>
        </p:txBody>
      </p:sp>
      <p:sp>
        <p:nvSpPr>
          <p:cNvPr id="43" name="Text 31"/>
          <p:cNvSpPr txBox="1"/>
          <p:nvPr/>
        </p:nvSpPr>
        <p:spPr>
          <a:xfrm>
            <a:off x="9409176" y="3675888"/>
            <a:ext cx="1051560" cy="365760"/>
          </a:xfrm>
          <a:prstGeom prst="rect">
            <a:avLst/>
          </a:prstGeom>
          <a:noFill/>
          <a:ln/>
        </p:spPr>
        <p:txBody>
          <a:bodyPr wrap="square" lIns="0" tIns="0" rIns="0" bIns="0" rtlCol="0" anchor="t"/>
          <a:lstStyle/>
          <a:p>
            <a:pPr algn="ctr" indent="0" marL="0">
              <a:buNone/>
            </a:pPr>
            <a:r>
              <a:rPr lang="en-US" sz="850" dirty="0">
                <a:solidFill>
                  <a:schemeClr val="accent6"/>
                </a:solidFill>
              </a:rPr>
              <a:t>Economic</a:t>
            </a:r>
            <a:endParaRPr lang="en-US" sz="850" dirty="0"/>
          </a:p>
        </p:txBody>
      </p:sp>
      <p:sp>
        <p:nvSpPr>
          <p:cNvPr id="44" name="Shape 32"/>
          <p:cNvSpPr/>
          <p:nvPr/>
        </p:nvSpPr>
        <p:spPr>
          <a:xfrm>
            <a:off x="10703052" y="2468880"/>
            <a:ext cx="640080" cy="640080"/>
          </a:xfrm>
          <a:prstGeom prst="ellipse">
            <a:avLst/>
          </a:prstGeom>
          <a:solidFill>
            <a:schemeClr val="accent4"/>
          </a:solidFill>
          <a:ln/>
        </p:spPr>
      </p:sp>
      <p:pic>
        <p:nvPicPr>
          <p:cNvPr id="45" name="Image 10" descr="preencoded.png">    </p:cNvPr>
          <p:cNvPicPr>
            <a:picLocks noChangeAspect="1"/>
          </p:cNvPicPr>
          <p:nvPr/>
        </p:nvPicPr>
        <p:blipFill>
          <a:blip r:embed="rId11"/>
          <a:stretch>
            <a:fillRect/>
          </a:stretch>
        </p:blipFill>
        <p:spPr>
          <a:xfrm>
            <a:off x="10867644" y="2633472"/>
            <a:ext cx="310896" cy="310896"/>
          </a:xfrm>
          <a:prstGeom prst="rect">
            <a:avLst/>
          </a:prstGeom>
        </p:spPr>
      </p:pic>
      <p:sp>
        <p:nvSpPr>
          <p:cNvPr id="46" name="Text 33"/>
          <p:cNvSpPr txBox="1"/>
          <p:nvPr/>
        </p:nvSpPr>
        <p:spPr>
          <a:xfrm>
            <a:off x="10497312" y="3200400"/>
            <a:ext cx="1051560" cy="457200"/>
          </a:xfrm>
          <a:prstGeom prst="rect">
            <a:avLst/>
          </a:prstGeom>
          <a:noFill/>
          <a:ln/>
        </p:spPr>
        <p:txBody>
          <a:bodyPr wrap="square" lIns="0" tIns="0" rIns="0" bIns="0" rtlCol="0" anchor="t"/>
          <a:lstStyle/>
          <a:p>
            <a:pPr algn="ctr" indent="0" marL="0">
              <a:buNone/>
            </a:pPr>
            <a:r>
              <a:rPr lang="en-US" sz="1100" b="1" dirty="0">
                <a:solidFill>
                  <a:schemeClr val="tx2"/>
                </a:solidFill>
              </a:rPr>
              <a:t>Orphanhood</a:t>
            </a:r>
            <a:endParaRPr lang="en-US" sz="1100" dirty="0"/>
          </a:p>
        </p:txBody>
      </p:sp>
      <p:sp>
        <p:nvSpPr>
          <p:cNvPr id="47" name="Text 34"/>
          <p:cNvSpPr txBox="1"/>
          <p:nvPr/>
        </p:nvSpPr>
        <p:spPr>
          <a:xfrm>
            <a:off x="10497312" y="3675888"/>
            <a:ext cx="1051560" cy="365760"/>
          </a:xfrm>
          <a:prstGeom prst="rect">
            <a:avLst/>
          </a:prstGeom>
          <a:noFill/>
          <a:ln/>
        </p:spPr>
        <p:txBody>
          <a:bodyPr wrap="square" lIns="0" tIns="0" rIns="0" bIns="0" rtlCol="0" anchor="t"/>
          <a:lstStyle/>
          <a:p>
            <a:pPr algn="ctr" indent="0" marL="0">
              <a:buNone/>
            </a:pPr>
            <a:r>
              <a:rPr lang="en-US" sz="850" dirty="0">
                <a:solidFill>
                  <a:schemeClr val="accent4"/>
                </a:solidFill>
              </a:rPr>
              <a:t>Protection</a:t>
            </a:r>
            <a:endParaRPr lang="en-US" sz="850" dirty="0"/>
          </a:p>
        </p:txBody>
      </p:sp>
      <p:sp>
        <p:nvSpPr>
          <p:cNvPr id="48" name="Shape 35"/>
          <p:cNvSpPr/>
          <p:nvPr/>
        </p:nvSpPr>
        <p:spPr>
          <a:xfrm>
            <a:off x="6217920" y="4087368"/>
            <a:ext cx="5166360" cy="0"/>
          </a:xfrm>
          <a:prstGeom prst="line">
            <a:avLst/>
          </a:prstGeom>
          <a:noFill/>
          <a:ln w="19050">
            <a:solidFill>
              <a:srgbClr val="ECEAE5"/>
            </a:solidFill>
            <a:prstDash val="solid"/>
          </a:ln>
        </p:spPr>
      </p:sp>
      <p:sp>
        <p:nvSpPr>
          <p:cNvPr id="49" name="Text 36"/>
          <p:cNvSpPr txBox="1"/>
          <p:nvPr/>
        </p:nvSpPr>
        <p:spPr>
          <a:xfrm>
            <a:off x="6217920" y="4142232"/>
            <a:ext cx="5166360" cy="384048"/>
          </a:xfrm>
          <a:prstGeom prst="rect">
            <a:avLst/>
          </a:prstGeom>
          <a:noFill/>
          <a:ln/>
        </p:spPr>
        <p:txBody>
          <a:bodyPr wrap="square" lIns="0" tIns="0" rIns="0" bIns="0" rtlCol="0" anchor="ctr"/>
          <a:lstStyle/>
          <a:p>
            <a:pPr algn="ctr" indent="0" marL="0">
              <a:buNone/>
            </a:pPr>
            <a:r>
              <a:rPr lang="en-US" sz="1050" i="1" dirty="0">
                <a:solidFill>
                  <a:srgbClr val="5B5B5E"/>
                </a:solidFill>
              </a:rPr>
              <a:t>Each factor was tested for its association with respondents reporting child marriage.</a:t>
            </a:r>
            <a:endParaRPr lang="en-US" sz="1050" dirty="0"/>
          </a:p>
        </p:txBody>
      </p:sp>
      <p:sp>
        <p:nvSpPr>
          <p:cNvPr id="50" name="Use the results for strip"/>
          <p:cNvSpPr/>
          <p:nvPr/>
        </p:nvSpPr>
        <p:spPr>
          <a:xfrm>
            <a:off x="548640" y="4773168"/>
            <a:ext cx="11091672" cy="640080"/>
          </a:xfrm>
          <a:prstGeom prst="rect">
            <a:avLst/>
          </a:prstGeom>
          <a:solidFill>
            <a:srgbClr val="F3F1EE"/>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51" name="Shape 38"/>
          <p:cNvSpPr/>
          <p:nvPr/>
        </p:nvSpPr>
        <p:spPr>
          <a:xfrm>
            <a:off x="548640" y="4773168"/>
            <a:ext cx="64008" cy="640080"/>
          </a:xfrm>
          <a:prstGeom prst="rect">
            <a:avLst/>
          </a:prstGeom>
          <a:solidFill>
            <a:schemeClr val="tx2"/>
          </a:solidFill>
          <a:ln/>
        </p:spPr>
      </p:sp>
      <p:sp>
        <p:nvSpPr>
          <p:cNvPr id="52" name="Text 39"/>
          <p:cNvSpPr txBox="1"/>
          <p:nvPr/>
        </p:nvSpPr>
        <p:spPr>
          <a:xfrm>
            <a:off x="822960" y="4773168"/>
            <a:ext cx="2011680" cy="640080"/>
          </a:xfrm>
          <a:prstGeom prst="rect">
            <a:avLst/>
          </a:prstGeom>
          <a:noFill/>
          <a:ln/>
        </p:spPr>
        <p:txBody>
          <a:bodyPr wrap="square" lIns="0" tIns="0" rIns="0" bIns="0" rtlCol="0" anchor="ctr"/>
          <a:lstStyle/>
          <a:p>
            <a:pPr indent="0" marL="0">
              <a:buNone/>
            </a:pPr>
            <a:r>
              <a:rPr lang="en-US" sz="950" b="1" spc="200" kern="0" dirty="0">
                <a:solidFill>
                  <a:schemeClr val="tx2"/>
                </a:solidFill>
              </a:rPr>
              <a:t>USE THE RESULTS FOR</a:t>
            </a:r>
            <a:endParaRPr lang="en-US" sz="950" dirty="0"/>
          </a:p>
        </p:txBody>
      </p:sp>
      <p:sp>
        <p:nvSpPr>
          <p:cNvPr id="53" name="Shape 40"/>
          <p:cNvSpPr/>
          <p:nvPr/>
        </p:nvSpPr>
        <p:spPr>
          <a:xfrm>
            <a:off x="2862072" y="4910328"/>
            <a:ext cx="0" cy="365760"/>
          </a:xfrm>
          <a:prstGeom prst="line">
            <a:avLst/>
          </a:prstGeom>
          <a:noFill/>
          <a:ln w="19050">
            <a:solidFill>
              <a:srgbClr val="DEDBD5"/>
            </a:solidFill>
            <a:prstDash val="solid"/>
          </a:ln>
        </p:spPr>
      </p:sp>
      <p:sp>
        <p:nvSpPr>
          <p:cNvPr id="54" name="Shape 41"/>
          <p:cNvSpPr/>
          <p:nvPr/>
        </p:nvSpPr>
        <p:spPr>
          <a:xfrm>
            <a:off x="2971800" y="4864608"/>
            <a:ext cx="457200" cy="457200"/>
          </a:xfrm>
          <a:prstGeom prst="ellipse">
            <a:avLst/>
          </a:prstGeom>
          <a:solidFill>
            <a:schemeClr val="accent1"/>
          </a:solidFill>
          <a:ln/>
        </p:spPr>
      </p:sp>
      <p:pic>
        <p:nvPicPr>
          <p:cNvPr id="55" name="Image 11" descr="preencoded.png">    </p:cNvPr>
          <p:cNvPicPr>
            <a:picLocks noChangeAspect="1"/>
          </p:cNvPicPr>
          <p:nvPr/>
        </p:nvPicPr>
        <p:blipFill>
          <a:blip r:embed="rId12"/>
          <a:stretch>
            <a:fillRect/>
          </a:stretch>
        </p:blipFill>
        <p:spPr>
          <a:xfrm>
            <a:off x="3090672" y="4983480"/>
            <a:ext cx="219456" cy="219456"/>
          </a:xfrm>
          <a:prstGeom prst="rect">
            <a:avLst/>
          </a:prstGeom>
        </p:spPr>
      </p:pic>
      <p:sp>
        <p:nvSpPr>
          <p:cNvPr id="56" name="Text 42"/>
          <p:cNvSpPr txBox="1"/>
          <p:nvPr/>
        </p:nvSpPr>
        <p:spPr>
          <a:xfrm>
            <a:off x="3538728" y="4773168"/>
            <a:ext cx="2118360" cy="640080"/>
          </a:xfrm>
          <a:prstGeom prst="rect">
            <a:avLst/>
          </a:prstGeom>
          <a:noFill/>
          <a:ln/>
        </p:spPr>
        <p:txBody>
          <a:bodyPr wrap="square" lIns="0" tIns="0" rIns="0" bIns="0" rtlCol="0" anchor="ctr"/>
          <a:lstStyle/>
          <a:p>
            <a:pPr indent="0" marL="0">
              <a:buNone/>
            </a:pPr>
            <a:r>
              <a:rPr lang="en-US" sz="1050" dirty="0">
                <a:solidFill>
                  <a:schemeClr val="tx1"/>
                </a:solidFill>
              </a:rPr>
              <a:t>Further investigation</a:t>
            </a:r>
            <a:endParaRPr lang="en-US" sz="1050" dirty="0"/>
          </a:p>
        </p:txBody>
      </p:sp>
      <p:sp>
        <p:nvSpPr>
          <p:cNvPr id="57" name="Shape 43"/>
          <p:cNvSpPr/>
          <p:nvPr/>
        </p:nvSpPr>
        <p:spPr>
          <a:xfrm>
            <a:off x="5711952" y="4910328"/>
            <a:ext cx="0" cy="365760"/>
          </a:xfrm>
          <a:prstGeom prst="line">
            <a:avLst/>
          </a:prstGeom>
          <a:noFill/>
          <a:ln w="19050">
            <a:solidFill>
              <a:srgbClr val="DEDBD5"/>
            </a:solidFill>
            <a:prstDash val="solid"/>
          </a:ln>
        </p:spPr>
      </p:sp>
      <p:sp>
        <p:nvSpPr>
          <p:cNvPr id="58" name="Shape 44"/>
          <p:cNvSpPr/>
          <p:nvPr/>
        </p:nvSpPr>
        <p:spPr>
          <a:xfrm>
            <a:off x="5821680" y="4864608"/>
            <a:ext cx="457200" cy="457200"/>
          </a:xfrm>
          <a:prstGeom prst="ellipse">
            <a:avLst/>
          </a:prstGeom>
          <a:solidFill>
            <a:schemeClr val="accent1"/>
          </a:solidFill>
          <a:ln/>
        </p:spPr>
      </p:sp>
      <p:pic>
        <p:nvPicPr>
          <p:cNvPr id="59" name="Image 12" descr="preencoded.png">    </p:cNvPr>
          <p:cNvPicPr>
            <a:picLocks noChangeAspect="1"/>
          </p:cNvPicPr>
          <p:nvPr/>
        </p:nvPicPr>
        <p:blipFill>
          <a:blip r:embed="rId13"/>
          <a:stretch>
            <a:fillRect/>
          </a:stretch>
        </p:blipFill>
        <p:spPr>
          <a:xfrm>
            <a:off x="5940552" y="4983480"/>
            <a:ext cx="219456" cy="219456"/>
          </a:xfrm>
          <a:prstGeom prst="rect">
            <a:avLst/>
          </a:prstGeom>
        </p:spPr>
      </p:pic>
      <p:sp>
        <p:nvSpPr>
          <p:cNvPr id="60" name="Text 45"/>
          <p:cNvSpPr txBox="1"/>
          <p:nvPr/>
        </p:nvSpPr>
        <p:spPr>
          <a:xfrm>
            <a:off x="6388608" y="4773168"/>
            <a:ext cx="2118360" cy="640080"/>
          </a:xfrm>
          <a:prstGeom prst="rect">
            <a:avLst/>
          </a:prstGeom>
          <a:noFill/>
          <a:ln/>
        </p:spPr>
        <p:txBody>
          <a:bodyPr wrap="square" lIns="0" tIns="0" rIns="0" bIns="0" rtlCol="0" anchor="ctr"/>
          <a:lstStyle/>
          <a:p>
            <a:pPr indent="0" marL="0">
              <a:buNone/>
            </a:pPr>
            <a:r>
              <a:rPr lang="en-US" sz="1050" dirty="0">
                <a:solidFill>
                  <a:schemeClr val="tx1"/>
                </a:solidFill>
              </a:rPr>
              <a:t>Programming discussions</a:t>
            </a:r>
            <a:endParaRPr lang="en-US" sz="1050" dirty="0"/>
          </a:p>
        </p:txBody>
      </p:sp>
      <p:sp>
        <p:nvSpPr>
          <p:cNvPr id="61" name="Shape 46"/>
          <p:cNvSpPr/>
          <p:nvPr/>
        </p:nvSpPr>
        <p:spPr>
          <a:xfrm>
            <a:off x="8561832" y="4910328"/>
            <a:ext cx="0" cy="365760"/>
          </a:xfrm>
          <a:prstGeom prst="line">
            <a:avLst/>
          </a:prstGeom>
          <a:noFill/>
          <a:ln w="19050">
            <a:solidFill>
              <a:srgbClr val="DEDBD5"/>
            </a:solidFill>
            <a:prstDash val="solid"/>
          </a:ln>
        </p:spPr>
      </p:sp>
      <p:sp>
        <p:nvSpPr>
          <p:cNvPr id="62" name="Shape 47"/>
          <p:cNvSpPr/>
          <p:nvPr/>
        </p:nvSpPr>
        <p:spPr>
          <a:xfrm>
            <a:off x="8671560" y="4864608"/>
            <a:ext cx="457200" cy="457200"/>
          </a:xfrm>
          <a:prstGeom prst="ellipse">
            <a:avLst/>
          </a:prstGeom>
          <a:solidFill>
            <a:schemeClr val="accent1"/>
          </a:solidFill>
          <a:ln/>
        </p:spPr>
      </p:sp>
      <p:pic>
        <p:nvPicPr>
          <p:cNvPr id="63" name="Image 13" descr="preencoded.png">    </p:cNvPr>
          <p:cNvPicPr>
            <a:picLocks noChangeAspect="1"/>
          </p:cNvPicPr>
          <p:nvPr/>
        </p:nvPicPr>
        <p:blipFill>
          <a:blip r:embed="rId14"/>
          <a:stretch>
            <a:fillRect/>
          </a:stretch>
        </p:blipFill>
        <p:spPr>
          <a:xfrm>
            <a:off x="8790432" y="4983480"/>
            <a:ext cx="219456" cy="219456"/>
          </a:xfrm>
          <a:prstGeom prst="rect">
            <a:avLst/>
          </a:prstGeom>
        </p:spPr>
      </p:pic>
      <p:sp>
        <p:nvSpPr>
          <p:cNvPr id="64" name="Text 48"/>
          <p:cNvSpPr txBox="1"/>
          <p:nvPr/>
        </p:nvSpPr>
        <p:spPr>
          <a:xfrm>
            <a:off x="9238488" y="4773168"/>
            <a:ext cx="2118360" cy="640080"/>
          </a:xfrm>
          <a:prstGeom prst="rect">
            <a:avLst/>
          </a:prstGeom>
          <a:noFill/>
          <a:ln/>
        </p:spPr>
        <p:txBody>
          <a:bodyPr wrap="square" lIns="0" tIns="0" rIns="0" bIns="0" rtlCol="0" anchor="ctr"/>
          <a:lstStyle/>
          <a:p>
            <a:pPr indent="0" marL="0">
              <a:buNone/>
            </a:pPr>
            <a:r>
              <a:rPr lang="en-US" sz="1050" dirty="0">
                <a:solidFill>
                  <a:schemeClr val="tx1"/>
                </a:solidFill>
              </a:rPr>
              <a:t>Hypothesis generation</a:t>
            </a:r>
            <a:endParaRPr lang="en-US" sz="1050" dirty="0"/>
          </a:p>
        </p:txBody>
      </p:sp>
      <p:sp>
        <p:nvSpPr>
          <p:cNvPr id="65"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66" name="Shape 50"/>
          <p:cNvSpPr/>
          <p:nvPr/>
        </p:nvSpPr>
        <p:spPr>
          <a:xfrm>
            <a:off x="548640" y="5559552"/>
            <a:ext cx="64008" cy="731520"/>
          </a:xfrm>
          <a:prstGeom prst="rect">
            <a:avLst/>
          </a:prstGeom>
          <a:solidFill>
            <a:schemeClr val="accent2"/>
          </a:solidFill>
          <a:ln/>
        </p:spPr>
      </p:sp>
      <p:pic>
        <p:nvPicPr>
          <p:cNvPr id="67" name="Image 14" descr="preencoded.png">    </p:cNvPr>
          <p:cNvPicPr>
            <a:picLocks noChangeAspect="1"/>
          </p:cNvPicPr>
          <p:nvPr/>
        </p:nvPicPr>
        <p:blipFill>
          <a:blip r:embed="rId15"/>
          <a:stretch>
            <a:fillRect/>
          </a:stretch>
        </p:blipFill>
        <p:spPr>
          <a:xfrm>
            <a:off x="868680" y="5742432"/>
            <a:ext cx="365760" cy="365760"/>
          </a:xfrm>
          <a:prstGeom prst="rect">
            <a:avLst/>
          </a:prstGeom>
        </p:spPr>
      </p:pic>
      <p:sp>
        <p:nvSpPr>
          <p:cNvPr id="68" name="Text 51"/>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KEY POINT</a:t>
            </a:r>
            <a:endParaRPr lang="en-US" sz="900" dirty="0"/>
          </a:p>
        </p:txBody>
      </p:sp>
      <p:sp>
        <p:nvSpPr>
          <p:cNvPr id="69" name="Shape 52"/>
          <p:cNvSpPr/>
          <p:nvPr/>
        </p:nvSpPr>
        <p:spPr>
          <a:xfrm>
            <a:off x="3063240" y="5696712"/>
            <a:ext cx="0" cy="457200"/>
          </a:xfrm>
          <a:prstGeom prst="line">
            <a:avLst/>
          </a:prstGeom>
          <a:noFill/>
          <a:ln w="12700">
            <a:solidFill>
              <a:srgbClr val="3C4C86"/>
            </a:solidFill>
            <a:prstDash val="solid"/>
          </a:ln>
        </p:spPr>
      </p:sp>
      <p:sp>
        <p:nvSpPr>
          <p:cNvPr id="70"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These findings identify </a:t>
            </a:r>
            <a:pPr indent="0" marL="0">
              <a:buNone/>
            </a:pPr>
            <a:r>
              <a:rPr lang="en-US" sz="1300" b="1" dirty="0">
                <a:solidFill>
                  <a:schemeClr val="accent2"/>
                </a:solidFill>
              </a:rPr>
              <a:t>associations</a:t>
            </a:r>
            <a:pPr indent="0" marL="0">
              <a:buNone/>
            </a:pPr>
            <a:r>
              <a:rPr lang="en-US" sz="1300" b="1" dirty="0">
                <a:solidFill>
                  <a:schemeClr val="bg1"/>
                </a:solidFill>
              </a:rPr>
              <a:t> within the study population. They do not establish </a:t>
            </a:r>
            <a:pPr indent="0" marL="0">
              <a:buNone/>
            </a:pPr>
            <a:r>
              <a:rPr lang="en-US" sz="1300" b="1" dirty="0">
                <a:solidFill>
                  <a:schemeClr val="accent2"/>
                </a:solidFill>
              </a:rPr>
              <a:t>causes</a:t>
            </a:r>
            <a:pPr indent="0" marL="0">
              <a:buNone/>
            </a:pPr>
            <a:r>
              <a:rPr lang="en-US" sz="1300" b="1" dirty="0">
                <a:solidFill>
                  <a:schemeClr val="bg1"/>
                </a:solidFill>
              </a:rPr>
              <a:t> of child marriage.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02</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METHODOLOGY</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How Were the Findings Generated?</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A multi-stage sample and regression analysis produced an odds ratio for each factor.</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04 / 10</a:t>
            </a:r>
            <a:endParaRPr lang="en-US" sz="900" dirty="0"/>
          </a:p>
        </p:txBody>
      </p:sp>
      <p:sp>
        <p:nvSpPr>
          <p:cNvPr id="9" name="Study design card"/>
          <p:cNvSpPr/>
          <p:nvPr/>
        </p:nvSpPr>
        <p:spPr>
          <a:xfrm>
            <a:off x="548640" y="1691640"/>
            <a:ext cx="3520440" cy="2926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Study design card edge"/>
          <p:cNvSpPr/>
          <p:nvPr/>
        </p:nvSpPr>
        <p:spPr>
          <a:xfrm>
            <a:off x="548640" y="1691640"/>
            <a:ext cx="3520440" cy="54864"/>
          </a:xfrm>
          <a:prstGeom prst="rect">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77240" y="1874520"/>
            <a:ext cx="329184" cy="329184"/>
          </a:xfrm>
          <a:prstGeom prst="rect">
            <a:avLst/>
          </a:prstGeom>
        </p:spPr>
      </p:pic>
      <p:sp>
        <p:nvSpPr>
          <p:cNvPr id="12" name="Study design header"/>
          <p:cNvSpPr txBox="1"/>
          <p:nvPr/>
        </p:nvSpPr>
        <p:spPr>
          <a:xfrm>
            <a:off x="1234440"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1"/>
                </a:solidFill>
              </a:rPr>
              <a:t>STUDY DESIGN</a:t>
            </a:r>
            <a:endParaRPr lang="en-US" sz="1050" dirty="0"/>
          </a:p>
        </p:txBody>
      </p:sp>
      <p:pic>
        <p:nvPicPr>
          <p:cNvPr id="13" name="Image 2" descr="preencoded.png">    </p:cNvPr>
          <p:cNvPicPr>
            <a:picLocks noChangeAspect="1"/>
          </p:cNvPicPr>
          <p:nvPr/>
        </p:nvPicPr>
        <p:blipFill>
          <a:blip r:embed="rId3"/>
          <a:stretch>
            <a:fillRect/>
          </a:stretch>
        </p:blipFill>
        <p:spPr>
          <a:xfrm>
            <a:off x="822960" y="2432304"/>
            <a:ext cx="237744" cy="237744"/>
          </a:xfrm>
          <a:prstGeom prst="rect">
            <a:avLst/>
          </a:prstGeom>
        </p:spPr>
      </p:pic>
      <p:sp>
        <p:nvSpPr>
          <p:cNvPr id="14" name="Text 9"/>
          <p:cNvSpPr txBox="1"/>
          <p:nvPr/>
        </p:nvSpPr>
        <p:spPr>
          <a:xfrm>
            <a:off x="1207008" y="2404872"/>
            <a:ext cx="2633472" cy="45720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Multi-stage sampling approach.</a:t>
            </a:r>
            <a:endParaRPr lang="en-US" sz="1100" dirty="0"/>
          </a:p>
        </p:txBody>
      </p:sp>
      <p:sp>
        <p:nvSpPr>
          <p:cNvPr id="15" name="Shape 10"/>
          <p:cNvSpPr/>
          <p:nvPr/>
        </p:nvSpPr>
        <p:spPr>
          <a:xfrm>
            <a:off x="822960" y="2889504"/>
            <a:ext cx="2971800" cy="0"/>
          </a:xfrm>
          <a:prstGeom prst="line">
            <a:avLst/>
          </a:prstGeom>
          <a:noFill/>
          <a:ln w="19050">
            <a:solidFill>
              <a:srgbClr val="ECEAE5"/>
            </a:solidFill>
            <a:prstDash val="solid"/>
          </a:ln>
        </p:spPr>
      </p:sp>
      <p:pic>
        <p:nvPicPr>
          <p:cNvPr id="16" name="Image 3" descr="preencoded.png">    </p:cNvPr>
          <p:cNvPicPr>
            <a:picLocks noChangeAspect="1"/>
          </p:cNvPicPr>
          <p:nvPr/>
        </p:nvPicPr>
        <p:blipFill>
          <a:blip r:embed="rId4"/>
          <a:stretch>
            <a:fillRect/>
          </a:stretch>
        </p:blipFill>
        <p:spPr>
          <a:xfrm>
            <a:off x="822960" y="2980944"/>
            <a:ext cx="237744" cy="237744"/>
          </a:xfrm>
          <a:prstGeom prst="rect">
            <a:avLst/>
          </a:prstGeom>
        </p:spPr>
      </p:pic>
      <p:sp>
        <p:nvSpPr>
          <p:cNvPr id="17" name="Text 11"/>
          <p:cNvSpPr txBox="1"/>
          <p:nvPr/>
        </p:nvSpPr>
        <p:spPr>
          <a:xfrm>
            <a:off x="1207008" y="2953512"/>
            <a:ext cx="2633472" cy="45720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Data collected across 13 districts and a city.</a:t>
            </a:r>
            <a:endParaRPr lang="en-US" sz="1100" dirty="0"/>
          </a:p>
        </p:txBody>
      </p:sp>
      <p:sp>
        <p:nvSpPr>
          <p:cNvPr id="18" name="Shape 12"/>
          <p:cNvSpPr/>
          <p:nvPr/>
        </p:nvSpPr>
        <p:spPr>
          <a:xfrm>
            <a:off x="822960" y="3438144"/>
            <a:ext cx="2971800" cy="0"/>
          </a:xfrm>
          <a:prstGeom prst="line">
            <a:avLst/>
          </a:prstGeom>
          <a:noFill/>
          <a:ln w="19050">
            <a:solidFill>
              <a:srgbClr val="ECEAE5"/>
            </a:solidFill>
            <a:prstDash val="solid"/>
          </a:ln>
        </p:spPr>
      </p:sp>
      <p:pic>
        <p:nvPicPr>
          <p:cNvPr id="19" name="Image 4" descr="preencoded.png">    </p:cNvPr>
          <p:cNvPicPr>
            <a:picLocks noChangeAspect="1"/>
          </p:cNvPicPr>
          <p:nvPr/>
        </p:nvPicPr>
        <p:blipFill>
          <a:blip r:embed="rId5"/>
          <a:stretch>
            <a:fillRect/>
          </a:stretch>
        </p:blipFill>
        <p:spPr>
          <a:xfrm>
            <a:off x="822960" y="3529584"/>
            <a:ext cx="237744" cy="237744"/>
          </a:xfrm>
          <a:prstGeom prst="rect">
            <a:avLst/>
          </a:prstGeom>
        </p:spPr>
      </p:pic>
      <p:sp>
        <p:nvSpPr>
          <p:cNvPr id="20" name="Text 13"/>
          <p:cNvSpPr txBox="1"/>
          <p:nvPr/>
        </p:nvSpPr>
        <p:spPr>
          <a:xfrm>
            <a:off x="1207008" y="3502152"/>
            <a:ext cx="2633472" cy="45720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Relationships examined between child marriage and selected vulnerabilities.</a:t>
            </a:r>
            <a:endParaRPr lang="en-US" sz="1100" dirty="0"/>
          </a:p>
        </p:txBody>
      </p:sp>
      <p:sp>
        <p:nvSpPr>
          <p:cNvPr id="21" name="Shape 14"/>
          <p:cNvSpPr/>
          <p:nvPr/>
        </p:nvSpPr>
        <p:spPr>
          <a:xfrm>
            <a:off x="822960" y="3986784"/>
            <a:ext cx="2971800" cy="0"/>
          </a:xfrm>
          <a:prstGeom prst="line">
            <a:avLst/>
          </a:prstGeom>
          <a:noFill/>
          <a:ln w="19050">
            <a:solidFill>
              <a:srgbClr val="ECEAE5"/>
            </a:solidFill>
            <a:prstDash val="solid"/>
          </a:ln>
        </p:spPr>
      </p:sp>
      <p:pic>
        <p:nvPicPr>
          <p:cNvPr id="22" name="Image 5" descr="preencoded.png">    </p:cNvPr>
          <p:cNvPicPr>
            <a:picLocks noChangeAspect="1"/>
          </p:cNvPicPr>
          <p:nvPr/>
        </p:nvPicPr>
        <p:blipFill>
          <a:blip r:embed="rId6"/>
          <a:stretch>
            <a:fillRect/>
          </a:stretch>
        </p:blipFill>
        <p:spPr>
          <a:xfrm>
            <a:off x="822960" y="4078224"/>
            <a:ext cx="237744" cy="237744"/>
          </a:xfrm>
          <a:prstGeom prst="rect">
            <a:avLst/>
          </a:prstGeom>
        </p:spPr>
      </p:pic>
      <p:sp>
        <p:nvSpPr>
          <p:cNvPr id="23" name="Text 15"/>
          <p:cNvSpPr txBox="1"/>
          <p:nvPr/>
        </p:nvSpPr>
        <p:spPr>
          <a:xfrm>
            <a:off x="1207008" y="4050792"/>
            <a:ext cx="2633472" cy="45720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Regression analysis used to estimate odds ratios (ORs).</a:t>
            </a:r>
            <a:endParaRPr lang="en-US" sz="1100" dirty="0"/>
          </a:p>
        </p:txBody>
      </p:sp>
      <p:sp>
        <p:nvSpPr>
          <p:cNvPr id="24" name="What does an odds ratio tell us? card"/>
          <p:cNvSpPr/>
          <p:nvPr/>
        </p:nvSpPr>
        <p:spPr>
          <a:xfrm>
            <a:off x="4334256" y="1691640"/>
            <a:ext cx="3520440" cy="2926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5" name="What does an odds ratio tell us? card edge"/>
          <p:cNvSpPr/>
          <p:nvPr/>
        </p:nvSpPr>
        <p:spPr>
          <a:xfrm>
            <a:off x="4334256" y="1691640"/>
            <a:ext cx="3520440" cy="54864"/>
          </a:xfrm>
          <a:prstGeom prst="rect">
            <a:avLst/>
          </a:prstGeom>
          <a:solidFill>
            <a:schemeClr val="accent2"/>
          </a:solidFill>
          <a:ln/>
        </p:spPr>
      </p:sp>
      <p:pic>
        <p:nvPicPr>
          <p:cNvPr id="26" name="Image 6" descr="preencoded.png">    </p:cNvPr>
          <p:cNvPicPr>
            <a:picLocks noChangeAspect="1"/>
          </p:cNvPicPr>
          <p:nvPr/>
        </p:nvPicPr>
        <p:blipFill>
          <a:blip r:embed="rId7"/>
          <a:stretch>
            <a:fillRect/>
          </a:stretch>
        </p:blipFill>
        <p:spPr>
          <a:xfrm>
            <a:off x="4562856" y="1874520"/>
            <a:ext cx="329184" cy="329184"/>
          </a:xfrm>
          <a:prstGeom prst="rect">
            <a:avLst/>
          </a:prstGeom>
        </p:spPr>
      </p:pic>
      <p:sp>
        <p:nvSpPr>
          <p:cNvPr id="27" name="What does an odds ratio tell us? header"/>
          <p:cNvSpPr txBox="1"/>
          <p:nvPr/>
        </p:nvSpPr>
        <p:spPr>
          <a:xfrm>
            <a:off x="5020056"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2"/>
                </a:solidFill>
              </a:rPr>
              <a:t>WHAT DOES AN ODDS RATIO TELL US?</a:t>
            </a:r>
            <a:endParaRPr lang="en-US" sz="1050" dirty="0"/>
          </a:p>
        </p:txBody>
      </p:sp>
      <p:sp>
        <p:nvSpPr>
          <p:cNvPr id="28" name="Text 19"/>
          <p:cNvSpPr txBox="1"/>
          <p:nvPr/>
        </p:nvSpPr>
        <p:spPr>
          <a:xfrm>
            <a:off x="4608576" y="2377440"/>
            <a:ext cx="2971800" cy="502920"/>
          </a:xfrm>
          <a:prstGeom prst="rect">
            <a:avLst/>
          </a:prstGeom>
          <a:noFill/>
          <a:ln/>
        </p:spPr>
        <p:txBody>
          <a:bodyPr wrap="square" lIns="0" tIns="0" rIns="0" bIns="0" rtlCol="0" anchor="ctr"/>
          <a:lstStyle/>
          <a:p>
            <a:pPr indent="0" marL="0">
              <a:buNone/>
            </a:pPr>
            <a:r>
              <a:rPr lang="en-US" sz="1100" dirty="0">
                <a:solidFill>
                  <a:schemeClr val="tx1"/>
                </a:solidFill>
              </a:rPr>
              <a:t>An OR compares the odds of reporting child marriage between two groups.</a:t>
            </a:r>
            <a:endParaRPr lang="en-US" sz="1100" dirty="0"/>
          </a:p>
        </p:txBody>
      </p:sp>
      <p:sp>
        <p:nvSpPr>
          <p:cNvPr id="29" name="Shape 20"/>
          <p:cNvSpPr/>
          <p:nvPr/>
        </p:nvSpPr>
        <p:spPr>
          <a:xfrm>
            <a:off x="4608576" y="2990088"/>
            <a:ext cx="868680" cy="365760"/>
          </a:xfrm>
          <a:prstGeom prst="roundRect">
            <a:avLst>
              <a:gd name="adj" fmla="val 20000"/>
            </a:avLst>
          </a:prstGeom>
          <a:solidFill>
            <a:schemeClr val="accent5"/>
          </a:solidFill>
          <a:ln/>
        </p:spPr>
      </p:sp>
      <p:sp>
        <p:nvSpPr>
          <p:cNvPr id="30" name="Text 21"/>
          <p:cNvSpPr txBox="1"/>
          <p:nvPr/>
        </p:nvSpPr>
        <p:spPr>
          <a:xfrm>
            <a:off x="4608576" y="2990088"/>
            <a:ext cx="868680" cy="365760"/>
          </a:xfrm>
          <a:prstGeom prst="rect">
            <a:avLst/>
          </a:prstGeom>
          <a:noFill/>
          <a:ln/>
        </p:spPr>
        <p:txBody>
          <a:bodyPr wrap="square" lIns="0" tIns="0" rIns="0" bIns="0" rtlCol="0" anchor="ctr"/>
          <a:lstStyle/>
          <a:p>
            <a:pPr algn="ctr" indent="0" marL="0">
              <a:buNone/>
            </a:pPr>
            <a:r>
              <a:rPr lang="en-US" sz="1100" b="1" dirty="0">
                <a:solidFill>
                  <a:schemeClr val="bg1"/>
                </a:solidFill>
              </a:rPr>
              <a:t>OR &gt; 1</a:t>
            </a:r>
            <a:endParaRPr lang="en-US" sz="1100" dirty="0"/>
          </a:p>
        </p:txBody>
      </p:sp>
      <p:sp>
        <p:nvSpPr>
          <p:cNvPr id="31" name="Text 22"/>
          <p:cNvSpPr txBox="1"/>
          <p:nvPr/>
        </p:nvSpPr>
        <p:spPr>
          <a:xfrm>
            <a:off x="5614416" y="2944368"/>
            <a:ext cx="2011680" cy="457200"/>
          </a:xfrm>
          <a:prstGeom prst="rect">
            <a:avLst/>
          </a:prstGeom>
          <a:noFill/>
          <a:ln/>
        </p:spPr>
        <p:txBody>
          <a:bodyPr wrap="square" lIns="0" tIns="0" rIns="0" bIns="0" rtlCol="0" anchor="ctr"/>
          <a:lstStyle/>
          <a:p>
            <a:pPr indent="0" marL="0">
              <a:buNone/>
            </a:pPr>
            <a:r>
              <a:rPr lang="en-US" sz="1050" dirty="0">
                <a:solidFill>
                  <a:schemeClr val="tx1"/>
                </a:solidFill>
              </a:rPr>
              <a:t>Higher odds in the group with the factor</a:t>
            </a:r>
            <a:endParaRPr lang="en-US" sz="1050" dirty="0"/>
          </a:p>
        </p:txBody>
      </p:sp>
      <p:sp>
        <p:nvSpPr>
          <p:cNvPr id="32" name="Shape 23"/>
          <p:cNvSpPr/>
          <p:nvPr/>
        </p:nvSpPr>
        <p:spPr>
          <a:xfrm>
            <a:off x="4608576" y="3502152"/>
            <a:ext cx="868680" cy="365760"/>
          </a:xfrm>
          <a:prstGeom prst="roundRect">
            <a:avLst>
              <a:gd name="adj" fmla="val 20000"/>
            </a:avLst>
          </a:prstGeom>
          <a:solidFill>
            <a:srgbClr val="8E8E90"/>
          </a:solidFill>
          <a:ln/>
        </p:spPr>
      </p:sp>
      <p:sp>
        <p:nvSpPr>
          <p:cNvPr id="33" name="Text 24"/>
          <p:cNvSpPr txBox="1"/>
          <p:nvPr/>
        </p:nvSpPr>
        <p:spPr>
          <a:xfrm>
            <a:off x="4608576" y="3502152"/>
            <a:ext cx="868680" cy="365760"/>
          </a:xfrm>
          <a:prstGeom prst="rect">
            <a:avLst/>
          </a:prstGeom>
          <a:noFill/>
          <a:ln/>
        </p:spPr>
        <p:txBody>
          <a:bodyPr wrap="square" lIns="0" tIns="0" rIns="0" bIns="0" rtlCol="0" anchor="ctr"/>
          <a:lstStyle/>
          <a:p>
            <a:pPr algn="ctr" indent="0" marL="0">
              <a:buNone/>
            </a:pPr>
            <a:r>
              <a:rPr lang="en-US" sz="1100" b="1" dirty="0">
                <a:solidFill>
                  <a:schemeClr val="bg1"/>
                </a:solidFill>
              </a:rPr>
              <a:t>OR = 1</a:t>
            </a:r>
            <a:endParaRPr lang="en-US" sz="1100" dirty="0"/>
          </a:p>
        </p:txBody>
      </p:sp>
      <p:sp>
        <p:nvSpPr>
          <p:cNvPr id="34" name="Text 25"/>
          <p:cNvSpPr txBox="1"/>
          <p:nvPr/>
        </p:nvSpPr>
        <p:spPr>
          <a:xfrm>
            <a:off x="5614416" y="3456432"/>
            <a:ext cx="2011680" cy="457200"/>
          </a:xfrm>
          <a:prstGeom prst="rect">
            <a:avLst/>
          </a:prstGeom>
          <a:noFill/>
          <a:ln/>
        </p:spPr>
        <p:txBody>
          <a:bodyPr wrap="square" lIns="0" tIns="0" rIns="0" bIns="0" rtlCol="0" anchor="ctr"/>
          <a:lstStyle/>
          <a:p>
            <a:pPr indent="0" marL="0">
              <a:buNone/>
            </a:pPr>
            <a:r>
              <a:rPr lang="en-US" sz="1050" dirty="0">
                <a:solidFill>
                  <a:schemeClr val="tx1"/>
                </a:solidFill>
              </a:rPr>
              <a:t>No difference between the two groups</a:t>
            </a:r>
            <a:endParaRPr lang="en-US" sz="1050" dirty="0"/>
          </a:p>
        </p:txBody>
      </p:sp>
      <p:sp>
        <p:nvSpPr>
          <p:cNvPr id="35" name="Shape 26"/>
          <p:cNvSpPr/>
          <p:nvPr/>
        </p:nvSpPr>
        <p:spPr>
          <a:xfrm>
            <a:off x="4608576" y="4014216"/>
            <a:ext cx="868680" cy="365760"/>
          </a:xfrm>
          <a:prstGeom prst="roundRect">
            <a:avLst>
              <a:gd name="adj" fmla="val 20000"/>
            </a:avLst>
          </a:prstGeom>
          <a:solidFill>
            <a:schemeClr val="accent6"/>
          </a:solidFill>
          <a:ln/>
        </p:spPr>
      </p:sp>
      <p:sp>
        <p:nvSpPr>
          <p:cNvPr id="36" name="Text 27"/>
          <p:cNvSpPr txBox="1"/>
          <p:nvPr/>
        </p:nvSpPr>
        <p:spPr>
          <a:xfrm>
            <a:off x="4608576" y="4014216"/>
            <a:ext cx="868680" cy="365760"/>
          </a:xfrm>
          <a:prstGeom prst="rect">
            <a:avLst/>
          </a:prstGeom>
          <a:noFill/>
          <a:ln/>
        </p:spPr>
        <p:txBody>
          <a:bodyPr wrap="square" lIns="0" tIns="0" rIns="0" bIns="0" rtlCol="0" anchor="ctr"/>
          <a:lstStyle/>
          <a:p>
            <a:pPr algn="ctr" indent="0" marL="0">
              <a:buNone/>
            </a:pPr>
            <a:r>
              <a:rPr lang="en-US" sz="1100" b="1" dirty="0">
                <a:solidFill>
                  <a:schemeClr val="bg1"/>
                </a:solidFill>
              </a:rPr>
              <a:t>OR &lt; 1</a:t>
            </a:r>
            <a:endParaRPr lang="en-US" sz="1100" dirty="0"/>
          </a:p>
        </p:txBody>
      </p:sp>
      <p:sp>
        <p:nvSpPr>
          <p:cNvPr id="37" name="Text 28"/>
          <p:cNvSpPr txBox="1"/>
          <p:nvPr/>
        </p:nvSpPr>
        <p:spPr>
          <a:xfrm>
            <a:off x="5614416" y="3968496"/>
            <a:ext cx="2011680" cy="457200"/>
          </a:xfrm>
          <a:prstGeom prst="rect">
            <a:avLst/>
          </a:prstGeom>
          <a:noFill/>
          <a:ln/>
        </p:spPr>
        <p:txBody>
          <a:bodyPr wrap="square" lIns="0" tIns="0" rIns="0" bIns="0" rtlCol="0" anchor="ctr"/>
          <a:lstStyle/>
          <a:p>
            <a:pPr indent="0" marL="0">
              <a:buNone/>
            </a:pPr>
            <a:r>
              <a:rPr lang="en-US" sz="1050" dirty="0">
                <a:solidFill>
                  <a:schemeClr val="tx1"/>
                </a:solidFill>
              </a:rPr>
              <a:t>Lower odds in the group with the factor</a:t>
            </a:r>
            <a:endParaRPr lang="en-US" sz="1050" dirty="0"/>
          </a:p>
        </p:txBody>
      </p:sp>
      <p:sp>
        <p:nvSpPr>
          <p:cNvPr id="38" name="Worked example card"/>
          <p:cNvSpPr/>
          <p:nvPr/>
        </p:nvSpPr>
        <p:spPr>
          <a:xfrm>
            <a:off x="8119872" y="1691640"/>
            <a:ext cx="3520440" cy="2926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9" name="Worked example card edge"/>
          <p:cNvSpPr/>
          <p:nvPr/>
        </p:nvSpPr>
        <p:spPr>
          <a:xfrm>
            <a:off x="8119872" y="1691640"/>
            <a:ext cx="3520440" cy="54864"/>
          </a:xfrm>
          <a:prstGeom prst="rect">
            <a:avLst/>
          </a:prstGeom>
          <a:solidFill>
            <a:schemeClr val="accent4"/>
          </a:solidFill>
          <a:ln/>
        </p:spPr>
      </p:sp>
      <p:pic>
        <p:nvPicPr>
          <p:cNvPr id="40" name="Image 7" descr="preencoded.png">    </p:cNvPr>
          <p:cNvPicPr>
            <a:picLocks noChangeAspect="1"/>
          </p:cNvPicPr>
          <p:nvPr/>
        </p:nvPicPr>
        <p:blipFill>
          <a:blip r:embed="rId8"/>
          <a:stretch>
            <a:fillRect/>
          </a:stretch>
        </p:blipFill>
        <p:spPr>
          <a:xfrm>
            <a:off x="8348472" y="1874520"/>
            <a:ext cx="329184" cy="329184"/>
          </a:xfrm>
          <a:prstGeom prst="rect">
            <a:avLst/>
          </a:prstGeom>
        </p:spPr>
      </p:pic>
      <p:sp>
        <p:nvSpPr>
          <p:cNvPr id="41" name="Worked example header"/>
          <p:cNvSpPr txBox="1"/>
          <p:nvPr/>
        </p:nvSpPr>
        <p:spPr>
          <a:xfrm>
            <a:off x="8805672"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4"/>
                </a:solidFill>
              </a:rPr>
              <a:t>WORKED EXAMPLE</a:t>
            </a:r>
            <a:endParaRPr lang="en-US" sz="1050" dirty="0"/>
          </a:p>
        </p:txBody>
      </p:sp>
      <p:sp>
        <p:nvSpPr>
          <p:cNvPr id="42" name="Text 32"/>
          <p:cNvSpPr txBox="1"/>
          <p:nvPr/>
        </p:nvSpPr>
        <p:spPr>
          <a:xfrm>
            <a:off x="8394192" y="2313432"/>
            <a:ext cx="2971800" cy="731520"/>
          </a:xfrm>
          <a:prstGeom prst="rect">
            <a:avLst/>
          </a:prstGeom>
          <a:noFill/>
          <a:ln/>
        </p:spPr>
        <p:txBody>
          <a:bodyPr wrap="square" lIns="0" tIns="0" rIns="0" bIns="0" rtlCol="0" anchor="ctr"/>
          <a:lstStyle/>
          <a:p>
            <a:pPr indent="0" marL="0">
              <a:buNone/>
            </a:pPr>
            <a:r>
              <a:rPr lang="en-US" sz="2000" b="1" dirty="0">
                <a:solidFill>
                  <a:schemeClr val="tx2"/>
                </a:solidFill>
              </a:rPr>
              <a:t>OR = </a:t>
            </a:r>
            <a:pPr indent="0" marL="0">
              <a:buNone/>
            </a:pPr>
            <a:r>
              <a:rPr lang="en-US" sz="4000" b="1" dirty="0">
                <a:solidFill>
                  <a:schemeClr val="accent4"/>
                </a:solidFill>
              </a:rPr>
              <a:t>5.14</a:t>
            </a:r>
            <a:endParaRPr lang="en-US" sz="2000" dirty="0"/>
          </a:p>
        </p:txBody>
      </p:sp>
      <p:sp>
        <p:nvSpPr>
          <p:cNvPr id="43" name="Text 33"/>
          <p:cNvSpPr txBox="1"/>
          <p:nvPr/>
        </p:nvSpPr>
        <p:spPr>
          <a:xfrm>
            <a:off x="8394192" y="3108960"/>
            <a:ext cx="2971800" cy="128016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Respondents who reported sex before age 18 had approximately </a:t>
            </a:r>
            <a:pPr indent="0" marL="0">
              <a:lnSpc>
                <a:spcPct val="110000"/>
              </a:lnSpc>
              <a:buNone/>
            </a:pPr>
            <a:r>
              <a:rPr lang="en-US" sz="1100" b="1" dirty="0">
                <a:solidFill>
                  <a:schemeClr val="tx2"/>
                </a:solidFill>
              </a:rPr>
              <a:t>5 times the odds</a:t>
            </a:r>
            <a:pPr indent="0" marL="0">
              <a:lnSpc>
                <a:spcPct val="110000"/>
              </a:lnSpc>
              <a:buNone/>
            </a:pPr>
            <a:r>
              <a:rPr lang="en-US" sz="1100" dirty="0">
                <a:solidFill>
                  <a:schemeClr val="tx1"/>
                </a:solidFill>
              </a:rPr>
              <a:t> of reporting child marriage, compared with those who did not report sex before age 18.</a:t>
            </a:r>
            <a:endParaRPr lang="en-US" sz="1100" dirty="0"/>
          </a:p>
        </p:txBody>
      </p:sp>
      <p:sp>
        <p:nvSpPr>
          <p:cNvPr id="44" name="Shape 34"/>
          <p:cNvSpPr/>
          <p:nvPr/>
        </p:nvSpPr>
        <p:spPr>
          <a:xfrm>
            <a:off x="548640" y="4773168"/>
            <a:ext cx="11091672" cy="640080"/>
          </a:xfrm>
          <a:prstGeom prst="rect">
            <a:avLst/>
          </a:prstGeom>
          <a:solidFill>
            <a:srgbClr val="F3F1EE"/>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45" name="Shape 35"/>
          <p:cNvSpPr/>
          <p:nvPr/>
        </p:nvSpPr>
        <p:spPr>
          <a:xfrm>
            <a:off x="548640" y="4773168"/>
            <a:ext cx="64008" cy="640080"/>
          </a:xfrm>
          <a:prstGeom prst="rect">
            <a:avLst/>
          </a:prstGeom>
          <a:solidFill>
            <a:srgbClr val="E2231A"/>
          </a:solidFill>
          <a:ln/>
        </p:spPr>
      </p:sp>
      <p:sp>
        <p:nvSpPr>
          <p:cNvPr id="46" name="Shape 36"/>
          <p:cNvSpPr/>
          <p:nvPr/>
        </p:nvSpPr>
        <p:spPr>
          <a:xfrm>
            <a:off x="868680" y="4864608"/>
            <a:ext cx="457200" cy="457200"/>
          </a:xfrm>
          <a:prstGeom prst="ellipse">
            <a:avLst/>
          </a:prstGeom>
          <a:solidFill>
            <a:srgbClr val="E2231A"/>
          </a:solidFill>
          <a:ln/>
        </p:spPr>
      </p:sp>
      <p:pic>
        <p:nvPicPr>
          <p:cNvPr id="47" name="Image 8" descr="preencoded.png">    </p:cNvPr>
          <p:cNvPicPr>
            <a:picLocks noChangeAspect="1"/>
          </p:cNvPicPr>
          <p:nvPr/>
        </p:nvPicPr>
        <p:blipFill>
          <a:blip r:embed="rId9"/>
          <a:stretch>
            <a:fillRect/>
          </a:stretch>
        </p:blipFill>
        <p:spPr>
          <a:xfrm>
            <a:off x="987552" y="4983480"/>
            <a:ext cx="219456" cy="219456"/>
          </a:xfrm>
          <a:prstGeom prst="rect">
            <a:avLst/>
          </a:prstGeom>
        </p:spPr>
      </p:pic>
      <p:sp>
        <p:nvSpPr>
          <p:cNvPr id="48" name="Text 37"/>
          <p:cNvSpPr txBox="1"/>
          <p:nvPr/>
        </p:nvSpPr>
        <p:spPr>
          <a:xfrm>
            <a:off x="1508760" y="4773168"/>
            <a:ext cx="1828800" cy="640080"/>
          </a:xfrm>
          <a:prstGeom prst="rect">
            <a:avLst/>
          </a:prstGeom>
          <a:noFill/>
          <a:ln/>
        </p:spPr>
        <p:txBody>
          <a:bodyPr wrap="square" lIns="0" tIns="0" rIns="0" bIns="0" rtlCol="0" anchor="ctr"/>
          <a:lstStyle/>
          <a:p>
            <a:pPr indent="0" marL="0">
              <a:buNone/>
            </a:pPr>
            <a:r>
              <a:rPr lang="en-US" sz="950" b="1" spc="200" kern="0" dirty="0">
                <a:solidFill>
                  <a:srgbClr val="E2231A"/>
                </a:solidFill>
              </a:rPr>
              <a:t>IT DOES NOT MEAN</a:t>
            </a:r>
            <a:endParaRPr lang="en-US" sz="950" dirty="0"/>
          </a:p>
        </p:txBody>
      </p:sp>
      <p:sp>
        <p:nvSpPr>
          <p:cNvPr id="49" name="Text 38"/>
          <p:cNvSpPr txBox="1"/>
          <p:nvPr/>
        </p:nvSpPr>
        <p:spPr>
          <a:xfrm>
            <a:off x="3429000" y="4773168"/>
            <a:ext cx="7955280" cy="640080"/>
          </a:xfrm>
          <a:prstGeom prst="rect">
            <a:avLst/>
          </a:prstGeom>
          <a:noFill/>
          <a:ln/>
        </p:spPr>
        <p:txBody>
          <a:bodyPr wrap="square" lIns="0" tIns="0" rIns="0" bIns="0" rtlCol="0" anchor="ctr"/>
          <a:lstStyle/>
          <a:p>
            <a:pPr indent="0" marL="0">
              <a:buNone/>
            </a:pPr>
            <a:r>
              <a:rPr lang="en-US" sz="1400" b="1" i="1" dirty="0">
                <a:solidFill>
                  <a:schemeClr val="tx2"/>
                </a:solidFill>
              </a:rPr>
              <a:t>“Early sex causes child marriage.”</a:t>
            </a:r>
            <a:endParaRPr lang="en-US" sz="1400" dirty="0"/>
          </a:p>
        </p:txBody>
      </p:sp>
      <p:sp>
        <p:nvSpPr>
          <p:cNvPr id="50"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51" name="Shape 40"/>
          <p:cNvSpPr/>
          <p:nvPr/>
        </p:nvSpPr>
        <p:spPr>
          <a:xfrm>
            <a:off x="548640" y="5559552"/>
            <a:ext cx="64008" cy="731520"/>
          </a:xfrm>
          <a:prstGeom prst="rect">
            <a:avLst/>
          </a:prstGeom>
          <a:solidFill>
            <a:schemeClr val="accent2"/>
          </a:solidFill>
          <a:ln/>
        </p:spPr>
      </p:sp>
      <p:pic>
        <p:nvPicPr>
          <p:cNvPr id="52" name="Image 9" descr="preencoded.png">    </p:cNvPr>
          <p:cNvPicPr>
            <a:picLocks noChangeAspect="1"/>
          </p:cNvPicPr>
          <p:nvPr/>
        </p:nvPicPr>
        <p:blipFill>
          <a:blip r:embed="rId10"/>
          <a:stretch>
            <a:fillRect/>
          </a:stretch>
        </p:blipFill>
        <p:spPr>
          <a:xfrm>
            <a:off x="868680" y="5742432"/>
            <a:ext cx="365760" cy="365760"/>
          </a:xfrm>
          <a:prstGeom prst="rect">
            <a:avLst/>
          </a:prstGeom>
        </p:spPr>
      </p:pic>
      <p:sp>
        <p:nvSpPr>
          <p:cNvPr id="53" name="Text 41"/>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PRINCIPLE</a:t>
            </a:r>
            <a:endParaRPr lang="en-US" sz="900" dirty="0"/>
          </a:p>
        </p:txBody>
      </p:sp>
      <p:sp>
        <p:nvSpPr>
          <p:cNvPr id="54" name="Shape 42"/>
          <p:cNvSpPr/>
          <p:nvPr/>
        </p:nvSpPr>
        <p:spPr>
          <a:xfrm>
            <a:off x="3063240" y="5696712"/>
            <a:ext cx="0" cy="457200"/>
          </a:xfrm>
          <a:prstGeom prst="line">
            <a:avLst/>
          </a:prstGeom>
          <a:noFill/>
          <a:ln w="12700">
            <a:solidFill>
              <a:srgbClr val="3C4C86"/>
            </a:solidFill>
            <a:prstDash val="solid"/>
          </a:ln>
        </p:spPr>
      </p:sp>
      <p:sp>
        <p:nvSpPr>
          <p:cNvPr id="55"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Odds ratios should be interpreted as </a:t>
            </a:r>
            <a:pPr indent="0" marL="0">
              <a:buNone/>
            </a:pPr>
            <a:r>
              <a:rPr lang="en-US" sz="1300" b="1" dirty="0">
                <a:solidFill>
                  <a:schemeClr val="accent2"/>
                </a:solidFill>
              </a:rPr>
              <a:t>associations</a:t>
            </a:r>
            <a:pPr indent="0" marL="0">
              <a:buNone/>
            </a:pPr>
            <a:r>
              <a:rPr lang="en-US" sz="1300" b="1" dirty="0">
                <a:solidFill>
                  <a:schemeClr val="bg1"/>
                </a:solidFill>
              </a:rPr>
              <a:t> rather than </a:t>
            </a:r>
            <a:pPr indent="0" marL="0">
              <a:buNone/>
            </a:pPr>
            <a:r>
              <a:rPr lang="en-US" sz="1300" b="1" dirty="0">
                <a:solidFill>
                  <a:schemeClr val="accent2"/>
                </a:solidFill>
              </a:rPr>
              <a:t>causal effects</a:t>
            </a:r>
            <a:pPr indent="0" marL="0">
              <a:buNone/>
            </a:pPr>
            <a:r>
              <a:rPr lang="en-US" sz="1300" b="1" dirty="0">
                <a:solidFill>
                  <a:schemeClr val="bg1"/>
                </a:solidFill>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03</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LIMITATIONS</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Limitations and Guidance on Interpretation</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Read the results as patterns within the sample, not as national facts or as causes.</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05 / 10</a:t>
            </a:r>
            <a:endParaRPr lang="en-US" sz="900" dirty="0"/>
          </a:p>
        </p:txBody>
      </p:sp>
      <p:sp>
        <p:nvSpPr>
          <p:cNvPr id="9" name="Not national prevalence card"/>
          <p:cNvSpPr/>
          <p:nvPr/>
        </p:nvSpPr>
        <p:spPr>
          <a:xfrm>
            <a:off x="548640" y="1691640"/>
            <a:ext cx="3520440" cy="36576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Not national prevalence card edge"/>
          <p:cNvSpPr/>
          <p:nvPr/>
        </p:nvSpPr>
        <p:spPr>
          <a:xfrm>
            <a:off x="548640" y="1691640"/>
            <a:ext cx="3520440" cy="54864"/>
          </a:xfrm>
          <a:prstGeom prst="rect">
            <a:avLst/>
          </a:prstGeom>
          <a:solidFill>
            <a:schemeClr val="accent4"/>
          </a:solidFill>
          <a:ln/>
        </p:spPr>
      </p:sp>
      <p:sp>
        <p:nvSpPr>
          <p:cNvPr id="11" name="Shape 8"/>
          <p:cNvSpPr/>
          <p:nvPr/>
        </p:nvSpPr>
        <p:spPr>
          <a:xfrm>
            <a:off x="548640" y="1746504"/>
            <a:ext cx="457200" cy="457200"/>
          </a:xfrm>
          <a:prstGeom prst="rect">
            <a:avLst/>
          </a:prstGeom>
          <a:solidFill>
            <a:schemeClr val="accent4"/>
          </a:solidFill>
          <a:ln/>
        </p:spPr>
      </p:sp>
      <p:sp>
        <p:nvSpPr>
          <p:cNvPr id="12" name="Text 9"/>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13" name="Image 1" descr="preencoded.png">    </p:cNvPr>
          <p:cNvPicPr>
            <a:picLocks noChangeAspect="1"/>
          </p:cNvPicPr>
          <p:nvPr/>
        </p:nvPicPr>
        <p:blipFill>
          <a:blip r:embed="rId2"/>
          <a:stretch>
            <a:fillRect/>
          </a:stretch>
        </p:blipFill>
        <p:spPr>
          <a:xfrm>
            <a:off x="1143000" y="1874520"/>
            <a:ext cx="329184" cy="329184"/>
          </a:xfrm>
          <a:prstGeom prst="rect">
            <a:avLst/>
          </a:prstGeom>
        </p:spPr>
      </p:pic>
      <p:sp>
        <p:nvSpPr>
          <p:cNvPr id="14" name="Not national prevalence header"/>
          <p:cNvSpPr txBox="1"/>
          <p:nvPr/>
        </p:nvSpPr>
        <p:spPr>
          <a:xfrm>
            <a:off x="1600200" y="1819656"/>
            <a:ext cx="2331720" cy="438912"/>
          </a:xfrm>
          <a:prstGeom prst="rect">
            <a:avLst/>
          </a:prstGeom>
          <a:noFill/>
          <a:ln/>
        </p:spPr>
        <p:txBody>
          <a:bodyPr wrap="square" lIns="0" tIns="0" rIns="0" bIns="0" rtlCol="0" anchor="ctr"/>
          <a:lstStyle/>
          <a:p>
            <a:pPr indent="0" marL="0">
              <a:buNone/>
            </a:pPr>
            <a:r>
              <a:rPr lang="en-US" sz="1050" b="1" spc="150" kern="0" dirty="0">
                <a:solidFill>
                  <a:schemeClr val="accent4"/>
                </a:solidFill>
              </a:rPr>
              <a:t>NOT NATIONAL PREVALENCE</a:t>
            </a:r>
            <a:endParaRPr lang="en-US" sz="1050" dirty="0"/>
          </a:p>
        </p:txBody>
      </p:sp>
      <p:sp>
        <p:nvSpPr>
          <p:cNvPr id="15" name="Text 11"/>
          <p:cNvSpPr txBox="1"/>
          <p:nvPr/>
        </p:nvSpPr>
        <p:spPr>
          <a:xfrm>
            <a:off x="822960" y="2350008"/>
            <a:ext cx="2971800" cy="411480"/>
          </a:xfrm>
          <a:prstGeom prst="rect">
            <a:avLst/>
          </a:prstGeom>
          <a:noFill/>
          <a:ln/>
        </p:spPr>
        <p:txBody>
          <a:bodyPr wrap="square" lIns="0" tIns="0" rIns="0" bIns="0" rtlCol="0" anchor="ctr"/>
          <a:lstStyle/>
          <a:p>
            <a:pPr indent="0" marL="0">
              <a:buNone/>
            </a:pPr>
            <a:r>
              <a:rPr lang="en-US" sz="1100" dirty="0">
                <a:solidFill>
                  <a:schemeClr val="tx1"/>
                </a:solidFill>
              </a:rPr>
              <a:t>The analysis was conducted without sampling weights.</a:t>
            </a:r>
            <a:endParaRPr lang="en-US" sz="1100" dirty="0"/>
          </a:p>
        </p:txBody>
      </p:sp>
      <p:sp>
        <p:nvSpPr>
          <p:cNvPr id="16" name="Text 12"/>
          <p:cNvSpPr txBox="1"/>
          <p:nvPr/>
        </p:nvSpPr>
        <p:spPr>
          <a:xfrm>
            <a:off x="822960" y="2834640"/>
            <a:ext cx="2971800" cy="228600"/>
          </a:xfrm>
          <a:prstGeom prst="rect">
            <a:avLst/>
          </a:prstGeom>
          <a:noFill/>
          <a:ln/>
        </p:spPr>
        <p:txBody>
          <a:bodyPr wrap="square" lIns="0" tIns="0" rIns="0" bIns="0" rtlCol="0" anchor="ctr"/>
          <a:lstStyle/>
          <a:p>
            <a:pPr indent="0" marL="0">
              <a:buNone/>
            </a:pPr>
            <a:r>
              <a:rPr lang="en-US" sz="850" b="1" spc="150" kern="0" dirty="0">
                <a:solidFill>
                  <a:schemeClr val="accent3"/>
                </a:solidFill>
              </a:rPr>
              <a:t>USE LANGUAGE SUCH AS</a:t>
            </a:r>
            <a:endParaRPr lang="en-US" sz="850" dirty="0"/>
          </a:p>
        </p:txBody>
      </p:sp>
      <p:pic>
        <p:nvPicPr>
          <p:cNvPr id="17" name="Image 2" descr="preencoded.png">    </p:cNvPr>
          <p:cNvPicPr>
            <a:picLocks noChangeAspect="1"/>
          </p:cNvPicPr>
          <p:nvPr/>
        </p:nvPicPr>
        <p:blipFill>
          <a:blip r:embed="rId3"/>
          <a:stretch>
            <a:fillRect/>
          </a:stretch>
        </p:blipFill>
        <p:spPr>
          <a:xfrm>
            <a:off x="822960" y="3136392"/>
            <a:ext cx="237744" cy="237744"/>
          </a:xfrm>
          <a:prstGeom prst="rect">
            <a:avLst/>
          </a:prstGeom>
        </p:spPr>
      </p:pic>
      <p:sp>
        <p:nvSpPr>
          <p:cNvPr id="18" name="Text 13"/>
          <p:cNvSpPr txBox="1"/>
          <p:nvPr/>
        </p:nvSpPr>
        <p:spPr>
          <a:xfrm>
            <a:off x="1207008" y="3108960"/>
            <a:ext cx="2587752" cy="292608"/>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Among respondents…</a:t>
            </a:r>
            <a:endParaRPr lang="en-US" sz="1100" dirty="0"/>
          </a:p>
        </p:txBody>
      </p:sp>
      <p:pic>
        <p:nvPicPr>
          <p:cNvPr id="19" name="Image 3" descr="preencoded.png">    </p:cNvPr>
          <p:cNvPicPr>
            <a:picLocks noChangeAspect="1"/>
          </p:cNvPicPr>
          <p:nvPr/>
        </p:nvPicPr>
        <p:blipFill>
          <a:blip r:embed="rId4"/>
          <a:stretch>
            <a:fillRect/>
          </a:stretch>
        </p:blipFill>
        <p:spPr>
          <a:xfrm>
            <a:off x="822960" y="3465576"/>
            <a:ext cx="237744" cy="237744"/>
          </a:xfrm>
          <a:prstGeom prst="rect">
            <a:avLst/>
          </a:prstGeom>
        </p:spPr>
      </p:pic>
      <p:sp>
        <p:nvSpPr>
          <p:cNvPr id="20" name="Text 14"/>
          <p:cNvSpPr txBox="1"/>
          <p:nvPr/>
        </p:nvSpPr>
        <p:spPr>
          <a:xfrm>
            <a:off x="1207008" y="3438144"/>
            <a:ext cx="2587752" cy="292608"/>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In the sampled population…</a:t>
            </a:r>
            <a:endParaRPr lang="en-US" sz="1100" dirty="0"/>
          </a:p>
        </p:txBody>
      </p:sp>
      <p:pic>
        <p:nvPicPr>
          <p:cNvPr id="21" name="Image 4" descr="preencoded.png">    </p:cNvPr>
          <p:cNvPicPr>
            <a:picLocks noChangeAspect="1"/>
          </p:cNvPicPr>
          <p:nvPr/>
        </p:nvPicPr>
        <p:blipFill>
          <a:blip r:embed="rId5"/>
          <a:stretch>
            <a:fillRect/>
          </a:stretch>
        </p:blipFill>
        <p:spPr>
          <a:xfrm>
            <a:off x="822960" y="3794760"/>
            <a:ext cx="237744" cy="237744"/>
          </a:xfrm>
          <a:prstGeom prst="rect">
            <a:avLst/>
          </a:prstGeom>
        </p:spPr>
      </p:pic>
      <p:sp>
        <p:nvSpPr>
          <p:cNvPr id="22" name="Text 15"/>
          <p:cNvSpPr txBox="1"/>
          <p:nvPr/>
        </p:nvSpPr>
        <p:spPr>
          <a:xfrm>
            <a:off x="1207008" y="3767328"/>
            <a:ext cx="2587752" cy="292608"/>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The analysis found…</a:t>
            </a:r>
            <a:endParaRPr lang="en-US" sz="1100" dirty="0"/>
          </a:p>
        </p:txBody>
      </p:sp>
      <p:pic>
        <p:nvPicPr>
          <p:cNvPr id="23" name="Image 5" descr="preencoded.png">    </p:cNvPr>
          <p:cNvPicPr>
            <a:picLocks noChangeAspect="1"/>
          </p:cNvPicPr>
          <p:nvPr/>
        </p:nvPicPr>
        <p:blipFill>
          <a:blip r:embed="rId6"/>
          <a:stretch>
            <a:fillRect/>
          </a:stretch>
        </p:blipFill>
        <p:spPr>
          <a:xfrm>
            <a:off x="822960" y="4123944"/>
            <a:ext cx="237744" cy="237744"/>
          </a:xfrm>
          <a:prstGeom prst="rect">
            <a:avLst/>
          </a:prstGeom>
        </p:spPr>
      </p:pic>
      <p:sp>
        <p:nvSpPr>
          <p:cNvPr id="24" name="Text 16"/>
          <p:cNvSpPr txBox="1"/>
          <p:nvPr/>
        </p:nvSpPr>
        <p:spPr>
          <a:xfrm>
            <a:off x="1207008" y="4096512"/>
            <a:ext cx="2587752" cy="292608"/>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Reported higher / lower levels…</a:t>
            </a:r>
            <a:endParaRPr lang="en-US" sz="1100" dirty="0"/>
          </a:p>
        </p:txBody>
      </p:sp>
      <p:sp>
        <p:nvSpPr>
          <p:cNvPr id="25" name="Shape 17"/>
          <p:cNvSpPr/>
          <p:nvPr/>
        </p:nvSpPr>
        <p:spPr>
          <a:xfrm>
            <a:off x="822960" y="4471416"/>
            <a:ext cx="2971800" cy="0"/>
          </a:xfrm>
          <a:prstGeom prst="line">
            <a:avLst/>
          </a:prstGeom>
          <a:noFill/>
          <a:ln w="19050">
            <a:solidFill>
              <a:srgbClr val="ECEAE5"/>
            </a:solidFill>
            <a:prstDash val="solid"/>
          </a:ln>
        </p:spPr>
      </p:sp>
      <p:sp>
        <p:nvSpPr>
          <p:cNvPr id="26" name="Text 18"/>
          <p:cNvSpPr txBox="1"/>
          <p:nvPr/>
        </p:nvSpPr>
        <p:spPr>
          <a:xfrm>
            <a:off x="822960" y="4544568"/>
            <a:ext cx="2971800" cy="228600"/>
          </a:xfrm>
          <a:prstGeom prst="rect">
            <a:avLst/>
          </a:prstGeom>
          <a:noFill/>
          <a:ln/>
        </p:spPr>
        <p:txBody>
          <a:bodyPr wrap="square" lIns="0" tIns="0" rIns="0" bIns="0" rtlCol="0" anchor="ctr"/>
          <a:lstStyle/>
          <a:p>
            <a:pPr indent="0" marL="0">
              <a:buNone/>
            </a:pPr>
            <a:r>
              <a:rPr lang="en-US" sz="850" b="1" spc="150" kern="0" dirty="0">
                <a:solidFill>
                  <a:srgbClr val="E2231A"/>
                </a:solidFill>
              </a:rPr>
              <a:t>AVOID</a:t>
            </a:r>
            <a:endParaRPr lang="en-US" sz="850" dirty="0"/>
          </a:p>
        </p:txBody>
      </p:sp>
      <p:pic>
        <p:nvPicPr>
          <p:cNvPr id="27" name="Image 6" descr="preencoded.png">    </p:cNvPr>
          <p:cNvPicPr>
            <a:picLocks noChangeAspect="1"/>
          </p:cNvPicPr>
          <p:nvPr/>
        </p:nvPicPr>
        <p:blipFill>
          <a:blip r:embed="rId7"/>
          <a:stretch>
            <a:fillRect/>
          </a:stretch>
        </p:blipFill>
        <p:spPr>
          <a:xfrm>
            <a:off x="822960" y="4846320"/>
            <a:ext cx="237744" cy="237744"/>
          </a:xfrm>
          <a:prstGeom prst="rect">
            <a:avLst/>
          </a:prstGeom>
        </p:spPr>
      </p:pic>
      <p:sp>
        <p:nvSpPr>
          <p:cNvPr id="28" name="Text 19"/>
          <p:cNvSpPr txBox="1"/>
          <p:nvPr/>
        </p:nvSpPr>
        <p:spPr>
          <a:xfrm>
            <a:off x="1207008" y="4818888"/>
            <a:ext cx="2587752" cy="36576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“X% of children in Malawi experience…”</a:t>
            </a:r>
            <a:endParaRPr lang="en-US" sz="1100" dirty="0"/>
          </a:p>
        </p:txBody>
      </p:sp>
      <p:sp>
        <p:nvSpPr>
          <p:cNvPr id="29" name="Odds ratio ≠ causation card"/>
          <p:cNvSpPr/>
          <p:nvPr/>
        </p:nvSpPr>
        <p:spPr>
          <a:xfrm>
            <a:off x="4334256" y="1691640"/>
            <a:ext cx="3520440" cy="36576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0" name="Odds ratio ≠ causation card edge"/>
          <p:cNvSpPr/>
          <p:nvPr/>
        </p:nvSpPr>
        <p:spPr>
          <a:xfrm>
            <a:off x="4334256" y="1691640"/>
            <a:ext cx="3520440" cy="54864"/>
          </a:xfrm>
          <a:prstGeom prst="rect">
            <a:avLst/>
          </a:prstGeom>
          <a:solidFill>
            <a:schemeClr val="accent1"/>
          </a:solidFill>
          <a:ln/>
        </p:spPr>
      </p:sp>
      <p:sp>
        <p:nvSpPr>
          <p:cNvPr id="31" name="Shape 22"/>
          <p:cNvSpPr/>
          <p:nvPr/>
        </p:nvSpPr>
        <p:spPr>
          <a:xfrm>
            <a:off x="4334256" y="1746504"/>
            <a:ext cx="457200" cy="457200"/>
          </a:xfrm>
          <a:prstGeom prst="rect">
            <a:avLst/>
          </a:prstGeom>
          <a:solidFill>
            <a:schemeClr val="accent1"/>
          </a:solidFill>
          <a:ln/>
        </p:spPr>
      </p:sp>
      <p:sp>
        <p:nvSpPr>
          <p:cNvPr id="32" name="Text 23"/>
          <p:cNvSpPr txBox="1"/>
          <p:nvPr/>
        </p:nvSpPr>
        <p:spPr>
          <a:xfrm>
            <a:off x="4334256"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33" name="Image 7" descr="preencoded.png">    </p:cNvPr>
          <p:cNvPicPr>
            <a:picLocks noChangeAspect="1"/>
          </p:cNvPicPr>
          <p:nvPr/>
        </p:nvPicPr>
        <p:blipFill>
          <a:blip r:embed="rId8"/>
          <a:stretch>
            <a:fillRect/>
          </a:stretch>
        </p:blipFill>
        <p:spPr>
          <a:xfrm>
            <a:off x="4928616" y="1874520"/>
            <a:ext cx="329184" cy="329184"/>
          </a:xfrm>
          <a:prstGeom prst="rect">
            <a:avLst/>
          </a:prstGeom>
        </p:spPr>
      </p:pic>
      <p:sp>
        <p:nvSpPr>
          <p:cNvPr id="34" name="Odds ratio ≠ causation header"/>
          <p:cNvSpPr txBox="1"/>
          <p:nvPr/>
        </p:nvSpPr>
        <p:spPr>
          <a:xfrm>
            <a:off x="5385816" y="1819656"/>
            <a:ext cx="2331720" cy="438912"/>
          </a:xfrm>
          <a:prstGeom prst="rect">
            <a:avLst/>
          </a:prstGeom>
          <a:noFill/>
          <a:ln/>
        </p:spPr>
        <p:txBody>
          <a:bodyPr wrap="square" lIns="0" tIns="0" rIns="0" bIns="0" rtlCol="0" anchor="ctr"/>
          <a:lstStyle/>
          <a:p>
            <a:pPr indent="0" marL="0">
              <a:buNone/>
            </a:pPr>
            <a:r>
              <a:rPr lang="en-US" sz="1050" b="1" spc="150" kern="0" dirty="0">
                <a:solidFill>
                  <a:schemeClr val="accent1"/>
                </a:solidFill>
              </a:rPr>
              <a:t>ODDS RATIO ≠ CAUSATION</a:t>
            </a:r>
            <a:endParaRPr lang="en-US" sz="1050" dirty="0"/>
          </a:p>
        </p:txBody>
      </p:sp>
      <p:sp>
        <p:nvSpPr>
          <p:cNvPr id="35" name="Text 25"/>
          <p:cNvSpPr txBox="1"/>
          <p:nvPr/>
        </p:nvSpPr>
        <p:spPr>
          <a:xfrm>
            <a:off x="4608576" y="2350008"/>
            <a:ext cx="2971800" cy="594360"/>
          </a:xfrm>
          <a:prstGeom prst="rect">
            <a:avLst/>
          </a:prstGeom>
          <a:noFill/>
          <a:ln/>
        </p:spPr>
        <p:txBody>
          <a:bodyPr wrap="square" lIns="0" tIns="0" rIns="0" bIns="0" rtlCol="0" anchor="ctr"/>
          <a:lstStyle/>
          <a:p>
            <a:pPr indent="0" marL="0">
              <a:buNone/>
            </a:pPr>
            <a:r>
              <a:rPr lang="en-US" sz="1100" dirty="0">
                <a:solidFill>
                  <a:schemeClr val="tx1"/>
                </a:solidFill>
              </a:rPr>
              <a:t>A high OR indicates a statistical association, not proof that one factor caused another.</a:t>
            </a:r>
            <a:endParaRPr lang="en-US" sz="1100" dirty="0"/>
          </a:p>
        </p:txBody>
      </p:sp>
      <p:sp>
        <p:nvSpPr>
          <p:cNvPr id="36" name="Shape 26"/>
          <p:cNvSpPr/>
          <p:nvPr/>
        </p:nvSpPr>
        <p:spPr>
          <a:xfrm>
            <a:off x="4608576" y="3063240"/>
            <a:ext cx="2971800" cy="914400"/>
          </a:xfrm>
          <a:prstGeom prst="roundRect">
            <a:avLst>
              <a:gd name="adj" fmla="val 6000"/>
            </a:avLst>
          </a:prstGeom>
          <a:solidFill>
            <a:srgbClr val="F3F1EE"/>
          </a:solidFill>
          <a:ln/>
        </p:spPr>
      </p:sp>
      <p:sp>
        <p:nvSpPr>
          <p:cNvPr id="37" name="Text 27"/>
          <p:cNvSpPr txBox="1"/>
          <p:nvPr/>
        </p:nvSpPr>
        <p:spPr>
          <a:xfrm>
            <a:off x="4745736" y="3118104"/>
            <a:ext cx="2697480" cy="228600"/>
          </a:xfrm>
          <a:prstGeom prst="rect">
            <a:avLst/>
          </a:prstGeom>
          <a:noFill/>
          <a:ln/>
        </p:spPr>
        <p:txBody>
          <a:bodyPr wrap="square" lIns="0" tIns="0" rIns="0" bIns="0" rtlCol="0" anchor="ctr"/>
          <a:lstStyle/>
          <a:p>
            <a:pPr indent="0" marL="0">
              <a:buNone/>
            </a:pPr>
            <a:r>
              <a:rPr lang="en-US" sz="850" b="1" spc="150" kern="0" dirty="0">
                <a:solidFill>
                  <a:schemeClr val="accent3"/>
                </a:solidFill>
              </a:rPr>
              <a:t>WHAT THE OR SHOWS</a:t>
            </a:r>
            <a:endParaRPr lang="en-US" sz="850" dirty="0"/>
          </a:p>
        </p:txBody>
      </p:sp>
      <p:sp>
        <p:nvSpPr>
          <p:cNvPr id="38" name="Text 28"/>
          <p:cNvSpPr txBox="1"/>
          <p:nvPr/>
        </p:nvSpPr>
        <p:spPr>
          <a:xfrm>
            <a:off x="4745736" y="3410712"/>
            <a:ext cx="914400" cy="411480"/>
          </a:xfrm>
          <a:prstGeom prst="rect">
            <a:avLst/>
          </a:prstGeom>
          <a:solidFill>
            <a:schemeClr val="bg1"/>
          </a:solidFill>
          <a:ln/>
        </p:spPr>
        <p:txBody>
          <a:bodyPr wrap="square" lIns="0" tIns="0" rIns="0" bIns="0" rtlCol="0" anchor="ctr"/>
          <a:lstStyle/>
          <a:p>
            <a:pPr algn="ctr" indent="0" marL="0">
              <a:buNone/>
            </a:pPr>
            <a:r>
              <a:rPr lang="en-US" sz="1050" b="1" dirty="0">
                <a:solidFill>
                  <a:schemeClr val="tx2"/>
                </a:solidFill>
              </a:rPr>
              <a:t>Factor</a:t>
            </a:r>
            <a:endParaRPr lang="en-US" sz="1050" dirty="0"/>
          </a:p>
        </p:txBody>
      </p:sp>
      <p:sp>
        <p:nvSpPr>
          <p:cNvPr id="39" name="Text 29"/>
          <p:cNvSpPr txBox="1"/>
          <p:nvPr/>
        </p:nvSpPr>
        <p:spPr>
          <a:xfrm>
            <a:off x="5687568" y="3410712"/>
            <a:ext cx="777240" cy="411480"/>
          </a:xfrm>
          <a:prstGeom prst="rect">
            <a:avLst/>
          </a:prstGeom>
          <a:noFill/>
          <a:ln/>
        </p:spPr>
        <p:txBody>
          <a:bodyPr wrap="square" lIns="0" tIns="0" rIns="0" bIns="0" rtlCol="0" anchor="ctr"/>
          <a:lstStyle/>
          <a:p>
            <a:pPr algn="ctr" indent="0" marL="0">
              <a:buNone/>
            </a:pPr>
            <a:r>
              <a:rPr lang="en-US" sz="1500" b="1" dirty="0">
                <a:solidFill>
                  <a:schemeClr val="accent3"/>
                </a:solidFill>
              </a:rPr>
              <a:t>◄ ►</a:t>
            </a:r>
            <a:endParaRPr lang="en-US" sz="1500" dirty="0"/>
          </a:p>
        </p:txBody>
      </p:sp>
      <p:sp>
        <p:nvSpPr>
          <p:cNvPr id="40" name="Text 30"/>
          <p:cNvSpPr txBox="1"/>
          <p:nvPr/>
        </p:nvSpPr>
        <p:spPr>
          <a:xfrm>
            <a:off x="6483096" y="3410712"/>
            <a:ext cx="1097280" cy="411480"/>
          </a:xfrm>
          <a:prstGeom prst="rect">
            <a:avLst/>
          </a:prstGeom>
          <a:solidFill>
            <a:schemeClr val="bg1"/>
          </a:solidFill>
          <a:ln/>
        </p:spPr>
        <p:txBody>
          <a:bodyPr wrap="square" lIns="0" tIns="0" rIns="0" bIns="0" rtlCol="0" anchor="ctr"/>
          <a:lstStyle/>
          <a:p>
            <a:pPr algn="ctr" indent="0" marL="0">
              <a:buNone/>
            </a:pPr>
            <a:r>
              <a:rPr lang="en-US" sz="1050" b="1" dirty="0">
                <a:solidFill>
                  <a:schemeClr val="tx2"/>
                </a:solidFill>
              </a:rPr>
              <a:t>Child marriage</a:t>
            </a:r>
            <a:endParaRPr lang="en-US" sz="1050" dirty="0"/>
          </a:p>
        </p:txBody>
      </p:sp>
      <p:pic>
        <p:nvPicPr>
          <p:cNvPr id="41" name="Image 8" descr="preencoded.png">    </p:cNvPr>
          <p:cNvPicPr>
            <a:picLocks noChangeAspect="1"/>
          </p:cNvPicPr>
          <p:nvPr/>
        </p:nvPicPr>
        <p:blipFill>
          <a:blip r:embed="rId9"/>
          <a:stretch>
            <a:fillRect/>
          </a:stretch>
        </p:blipFill>
        <p:spPr>
          <a:xfrm>
            <a:off x="7351776" y="3118104"/>
            <a:ext cx="182880" cy="182880"/>
          </a:xfrm>
          <a:prstGeom prst="rect">
            <a:avLst/>
          </a:prstGeom>
        </p:spPr>
      </p:pic>
      <p:sp>
        <p:nvSpPr>
          <p:cNvPr id="42" name="Shape 31"/>
          <p:cNvSpPr/>
          <p:nvPr/>
        </p:nvSpPr>
        <p:spPr>
          <a:xfrm>
            <a:off x="4608576" y="4160520"/>
            <a:ext cx="2971800" cy="914400"/>
          </a:xfrm>
          <a:prstGeom prst="roundRect">
            <a:avLst>
              <a:gd name="adj" fmla="val 6000"/>
            </a:avLst>
          </a:prstGeom>
          <a:solidFill>
            <a:srgbClr val="F3F1EE"/>
          </a:solidFill>
          <a:ln/>
        </p:spPr>
      </p:sp>
      <p:sp>
        <p:nvSpPr>
          <p:cNvPr id="43" name="Text 32"/>
          <p:cNvSpPr txBox="1"/>
          <p:nvPr/>
        </p:nvSpPr>
        <p:spPr>
          <a:xfrm>
            <a:off x="4745736" y="4215384"/>
            <a:ext cx="2697480" cy="228600"/>
          </a:xfrm>
          <a:prstGeom prst="rect">
            <a:avLst/>
          </a:prstGeom>
          <a:noFill/>
          <a:ln/>
        </p:spPr>
        <p:txBody>
          <a:bodyPr wrap="square" lIns="0" tIns="0" rIns="0" bIns="0" rtlCol="0" anchor="ctr"/>
          <a:lstStyle/>
          <a:p>
            <a:pPr indent="0" marL="0">
              <a:buNone/>
            </a:pPr>
            <a:r>
              <a:rPr lang="en-US" sz="850" b="1" spc="150" kern="0" dirty="0">
                <a:solidFill>
                  <a:srgbClr val="E2231A"/>
                </a:solidFill>
              </a:rPr>
              <a:t>WHAT IT DOES NOT SHOW</a:t>
            </a:r>
            <a:endParaRPr lang="en-US" sz="850" dirty="0"/>
          </a:p>
        </p:txBody>
      </p:sp>
      <p:sp>
        <p:nvSpPr>
          <p:cNvPr id="44" name="Text 33"/>
          <p:cNvSpPr txBox="1"/>
          <p:nvPr/>
        </p:nvSpPr>
        <p:spPr>
          <a:xfrm>
            <a:off x="4745736" y="4507992"/>
            <a:ext cx="914400" cy="411480"/>
          </a:xfrm>
          <a:prstGeom prst="rect">
            <a:avLst/>
          </a:prstGeom>
          <a:solidFill>
            <a:schemeClr val="bg1"/>
          </a:solidFill>
          <a:ln/>
        </p:spPr>
        <p:txBody>
          <a:bodyPr wrap="square" lIns="0" tIns="0" rIns="0" bIns="0" rtlCol="0" anchor="ctr"/>
          <a:lstStyle/>
          <a:p>
            <a:pPr algn="ctr" indent="0" marL="0">
              <a:buNone/>
            </a:pPr>
            <a:r>
              <a:rPr lang="en-US" sz="1050" b="1" dirty="0">
                <a:solidFill>
                  <a:schemeClr val="tx2"/>
                </a:solidFill>
              </a:rPr>
              <a:t>Factor</a:t>
            </a:r>
            <a:endParaRPr lang="en-US" sz="1050" dirty="0"/>
          </a:p>
        </p:txBody>
      </p:sp>
      <p:sp>
        <p:nvSpPr>
          <p:cNvPr id="45" name="Text 34"/>
          <p:cNvSpPr txBox="1"/>
          <p:nvPr/>
        </p:nvSpPr>
        <p:spPr>
          <a:xfrm>
            <a:off x="5687568" y="4507992"/>
            <a:ext cx="777240" cy="411480"/>
          </a:xfrm>
          <a:prstGeom prst="rect">
            <a:avLst/>
          </a:prstGeom>
          <a:noFill/>
          <a:ln/>
        </p:spPr>
        <p:txBody>
          <a:bodyPr wrap="square" lIns="0" tIns="0" rIns="0" bIns="0" rtlCol="0" anchor="ctr"/>
          <a:lstStyle/>
          <a:p>
            <a:pPr algn="ctr" indent="0" marL="0">
              <a:buNone/>
            </a:pPr>
            <a:r>
              <a:rPr lang="en-US" sz="1500" b="1" dirty="0">
                <a:solidFill>
                  <a:srgbClr val="E2231A"/>
                </a:solidFill>
              </a:rPr>
              <a:t>►</a:t>
            </a:r>
            <a:endParaRPr lang="en-US" sz="1500" dirty="0"/>
          </a:p>
        </p:txBody>
      </p:sp>
      <p:sp>
        <p:nvSpPr>
          <p:cNvPr id="46" name="Text 35"/>
          <p:cNvSpPr txBox="1"/>
          <p:nvPr/>
        </p:nvSpPr>
        <p:spPr>
          <a:xfrm>
            <a:off x="6483096" y="4507992"/>
            <a:ext cx="1097280" cy="411480"/>
          </a:xfrm>
          <a:prstGeom prst="rect">
            <a:avLst/>
          </a:prstGeom>
          <a:solidFill>
            <a:schemeClr val="bg1"/>
          </a:solidFill>
          <a:ln/>
        </p:spPr>
        <p:txBody>
          <a:bodyPr wrap="square" lIns="0" tIns="0" rIns="0" bIns="0" rtlCol="0" anchor="ctr"/>
          <a:lstStyle/>
          <a:p>
            <a:pPr algn="ctr" indent="0" marL="0">
              <a:buNone/>
            </a:pPr>
            <a:r>
              <a:rPr lang="en-US" sz="1050" b="1" dirty="0">
                <a:solidFill>
                  <a:schemeClr val="tx2"/>
                </a:solidFill>
              </a:rPr>
              <a:t>Child marriage</a:t>
            </a:r>
            <a:endParaRPr lang="en-US" sz="1050" dirty="0"/>
          </a:p>
        </p:txBody>
      </p:sp>
      <p:pic>
        <p:nvPicPr>
          <p:cNvPr id="47" name="Image 9" descr="preencoded.png">    </p:cNvPr>
          <p:cNvPicPr>
            <a:picLocks noChangeAspect="1"/>
          </p:cNvPicPr>
          <p:nvPr/>
        </p:nvPicPr>
        <p:blipFill>
          <a:blip r:embed="rId10"/>
          <a:stretch>
            <a:fillRect/>
          </a:stretch>
        </p:blipFill>
        <p:spPr>
          <a:xfrm>
            <a:off x="7351776" y="4215384"/>
            <a:ext cx="182880" cy="182880"/>
          </a:xfrm>
          <a:prstGeom prst="rect">
            <a:avLst/>
          </a:prstGeom>
        </p:spPr>
      </p:pic>
      <p:sp>
        <p:nvSpPr>
          <p:cNvPr id="48" name="Useful for patterns and priorities card"/>
          <p:cNvSpPr/>
          <p:nvPr/>
        </p:nvSpPr>
        <p:spPr>
          <a:xfrm>
            <a:off x="8119872" y="1691640"/>
            <a:ext cx="3520440" cy="36576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49" name="Useful for patterns and priorities card edge"/>
          <p:cNvSpPr/>
          <p:nvPr/>
        </p:nvSpPr>
        <p:spPr>
          <a:xfrm>
            <a:off x="8119872" y="1691640"/>
            <a:ext cx="3520440" cy="54864"/>
          </a:xfrm>
          <a:prstGeom prst="rect">
            <a:avLst/>
          </a:prstGeom>
          <a:solidFill>
            <a:schemeClr val="accent3"/>
          </a:solidFill>
          <a:ln/>
        </p:spPr>
      </p:sp>
      <p:sp>
        <p:nvSpPr>
          <p:cNvPr id="50" name="Shape 38"/>
          <p:cNvSpPr/>
          <p:nvPr/>
        </p:nvSpPr>
        <p:spPr>
          <a:xfrm>
            <a:off x="8119872" y="1746504"/>
            <a:ext cx="457200" cy="457200"/>
          </a:xfrm>
          <a:prstGeom prst="rect">
            <a:avLst/>
          </a:prstGeom>
          <a:solidFill>
            <a:schemeClr val="accent3"/>
          </a:solidFill>
          <a:ln/>
        </p:spPr>
      </p:sp>
      <p:sp>
        <p:nvSpPr>
          <p:cNvPr id="51" name="Text 39"/>
          <p:cNvSpPr txBox="1"/>
          <p:nvPr/>
        </p:nvSpPr>
        <p:spPr>
          <a:xfrm>
            <a:off x="8119872"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52" name="Image 10" descr="preencoded.png">    </p:cNvPr>
          <p:cNvPicPr>
            <a:picLocks noChangeAspect="1"/>
          </p:cNvPicPr>
          <p:nvPr/>
        </p:nvPicPr>
        <p:blipFill>
          <a:blip r:embed="rId11"/>
          <a:stretch>
            <a:fillRect/>
          </a:stretch>
        </p:blipFill>
        <p:spPr>
          <a:xfrm>
            <a:off x="8714232" y="1874520"/>
            <a:ext cx="329184" cy="329184"/>
          </a:xfrm>
          <a:prstGeom prst="rect">
            <a:avLst/>
          </a:prstGeom>
        </p:spPr>
      </p:pic>
      <p:sp>
        <p:nvSpPr>
          <p:cNvPr id="53" name="Useful for patterns and priorities header"/>
          <p:cNvSpPr txBox="1"/>
          <p:nvPr/>
        </p:nvSpPr>
        <p:spPr>
          <a:xfrm>
            <a:off x="9171432" y="1819656"/>
            <a:ext cx="2331720" cy="438912"/>
          </a:xfrm>
          <a:prstGeom prst="rect">
            <a:avLst/>
          </a:prstGeom>
          <a:noFill/>
          <a:ln/>
        </p:spPr>
        <p:txBody>
          <a:bodyPr wrap="square" lIns="0" tIns="0" rIns="0" bIns="0" rtlCol="0" anchor="ctr"/>
          <a:lstStyle/>
          <a:p>
            <a:pPr indent="0" marL="0">
              <a:buNone/>
            </a:pPr>
            <a:r>
              <a:rPr lang="en-US" sz="1050" b="1" spc="150" kern="0" dirty="0">
                <a:solidFill>
                  <a:schemeClr val="accent3"/>
                </a:solidFill>
              </a:rPr>
              <a:t>USEFUL FOR PATTERNS AND PRIORITIES</a:t>
            </a:r>
            <a:endParaRPr lang="en-US" sz="1050" dirty="0"/>
          </a:p>
        </p:txBody>
      </p:sp>
      <p:sp>
        <p:nvSpPr>
          <p:cNvPr id="54" name="Text 41"/>
          <p:cNvSpPr txBox="1"/>
          <p:nvPr/>
        </p:nvSpPr>
        <p:spPr>
          <a:xfrm>
            <a:off x="8394192" y="2350008"/>
            <a:ext cx="2971800" cy="274320"/>
          </a:xfrm>
          <a:prstGeom prst="rect">
            <a:avLst/>
          </a:prstGeom>
          <a:noFill/>
          <a:ln/>
        </p:spPr>
        <p:txBody>
          <a:bodyPr wrap="square" lIns="0" tIns="0" rIns="0" bIns="0" rtlCol="0" anchor="ctr"/>
          <a:lstStyle/>
          <a:p>
            <a:pPr indent="0" marL="0">
              <a:buNone/>
            </a:pPr>
            <a:r>
              <a:rPr lang="en-US" sz="1100" dirty="0">
                <a:solidFill>
                  <a:schemeClr val="tx1"/>
                </a:solidFill>
              </a:rPr>
              <a:t>The findings allow us to identify:</a:t>
            </a:r>
            <a:endParaRPr lang="en-US" sz="1100" dirty="0"/>
          </a:p>
        </p:txBody>
      </p:sp>
      <p:pic>
        <p:nvPicPr>
          <p:cNvPr id="55" name="Image 11" descr="preencoded.png">    </p:cNvPr>
          <p:cNvPicPr>
            <a:picLocks noChangeAspect="1"/>
          </p:cNvPicPr>
          <p:nvPr/>
        </p:nvPicPr>
        <p:blipFill>
          <a:blip r:embed="rId12"/>
          <a:stretch>
            <a:fillRect/>
          </a:stretch>
        </p:blipFill>
        <p:spPr>
          <a:xfrm>
            <a:off x="8394192" y="2743200"/>
            <a:ext cx="237744" cy="237744"/>
          </a:xfrm>
          <a:prstGeom prst="rect">
            <a:avLst/>
          </a:prstGeom>
        </p:spPr>
      </p:pic>
      <p:sp>
        <p:nvSpPr>
          <p:cNvPr id="56" name="Text 42"/>
          <p:cNvSpPr txBox="1"/>
          <p:nvPr/>
        </p:nvSpPr>
        <p:spPr>
          <a:xfrm>
            <a:off x="8778240" y="2715768"/>
            <a:ext cx="2587752" cy="438912"/>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Patterns within the sampled population</a:t>
            </a:r>
            <a:endParaRPr lang="en-US" sz="1100" dirty="0"/>
          </a:p>
        </p:txBody>
      </p:sp>
      <p:sp>
        <p:nvSpPr>
          <p:cNvPr id="57" name="Shape 43"/>
          <p:cNvSpPr/>
          <p:nvPr/>
        </p:nvSpPr>
        <p:spPr>
          <a:xfrm>
            <a:off x="8394192" y="3172968"/>
            <a:ext cx="2971800" cy="0"/>
          </a:xfrm>
          <a:prstGeom prst="line">
            <a:avLst/>
          </a:prstGeom>
          <a:noFill/>
          <a:ln w="19050">
            <a:solidFill>
              <a:srgbClr val="ECEAE5"/>
            </a:solidFill>
            <a:prstDash val="solid"/>
          </a:ln>
        </p:spPr>
      </p:sp>
      <p:pic>
        <p:nvPicPr>
          <p:cNvPr id="58" name="Image 12" descr="preencoded.png">    </p:cNvPr>
          <p:cNvPicPr>
            <a:picLocks noChangeAspect="1"/>
          </p:cNvPicPr>
          <p:nvPr/>
        </p:nvPicPr>
        <p:blipFill>
          <a:blip r:embed="rId13"/>
          <a:stretch>
            <a:fillRect/>
          </a:stretch>
        </p:blipFill>
        <p:spPr>
          <a:xfrm>
            <a:off x="8394192" y="3255264"/>
            <a:ext cx="237744" cy="237744"/>
          </a:xfrm>
          <a:prstGeom prst="rect">
            <a:avLst/>
          </a:prstGeom>
        </p:spPr>
      </p:pic>
      <p:sp>
        <p:nvSpPr>
          <p:cNvPr id="59" name="Text 44"/>
          <p:cNvSpPr txBox="1"/>
          <p:nvPr/>
        </p:nvSpPr>
        <p:spPr>
          <a:xfrm>
            <a:off x="8778240" y="3227832"/>
            <a:ext cx="2587752" cy="438912"/>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Differences between sub-groups</a:t>
            </a:r>
            <a:endParaRPr lang="en-US" sz="1100" dirty="0"/>
          </a:p>
        </p:txBody>
      </p:sp>
      <p:sp>
        <p:nvSpPr>
          <p:cNvPr id="60" name="Shape 45"/>
          <p:cNvSpPr/>
          <p:nvPr/>
        </p:nvSpPr>
        <p:spPr>
          <a:xfrm>
            <a:off x="8394192" y="3685032"/>
            <a:ext cx="2971800" cy="0"/>
          </a:xfrm>
          <a:prstGeom prst="line">
            <a:avLst/>
          </a:prstGeom>
          <a:noFill/>
          <a:ln w="19050">
            <a:solidFill>
              <a:srgbClr val="ECEAE5"/>
            </a:solidFill>
            <a:prstDash val="solid"/>
          </a:ln>
        </p:spPr>
      </p:sp>
      <p:pic>
        <p:nvPicPr>
          <p:cNvPr id="61" name="Image 13" descr="preencoded.png">    </p:cNvPr>
          <p:cNvPicPr>
            <a:picLocks noChangeAspect="1"/>
          </p:cNvPicPr>
          <p:nvPr/>
        </p:nvPicPr>
        <p:blipFill>
          <a:blip r:embed="rId14"/>
          <a:stretch>
            <a:fillRect/>
          </a:stretch>
        </p:blipFill>
        <p:spPr>
          <a:xfrm>
            <a:off x="8394192" y="3767328"/>
            <a:ext cx="237744" cy="237744"/>
          </a:xfrm>
          <a:prstGeom prst="rect">
            <a:avLst/>
          </a:prstGeom>
        </p:spPr>
      </p:pic>
      <p:sp>
        <p:nvSpPr>
          <p:cNvPr id="62" name="Text 46"/>
          <p:cNvSpPr txBox="1"/>
          <p:nvPr/>
        </p:nvSpPr>
        <p:spPr>
          <a:xfrm>
            <a:off x="8778240" y="3739896"/>
            <a:ext cx="2587752" cy="438912"/>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Associations between vulnerabilities</a:t>
            </a:r>
            <a:endParaRPr lang="en-US" sz="1100" dirty="0"/>
          </a:p>
        </p:txBody>
      </p:sp>
      <p:sp>
        <p:nvSpPr>
          <p:cNvPr id="63" name="Shape 47"/>
          <p:cNvSpPr/>
          <p:nvPr/>
        </p:nvSpPr>
        <p:spPr>
          <a:xfrm>
            <a:off x="8394192" y="4197096"/>
            <a:ext cx="2971800" cy="0"/>
          </a:xfrm>
          <a:prstGeom prst="line">
            <a:avLst/>
          </a:prstGeom>
          <a:noFill/>
          <a:ln w="19050">
            <a:solidFill>
              <a:srgbClr val="ECEAE5"/>
            </a:solidFill>
            <a:prstDash val="solid"/>
          </a:ln>
        </p:spPr>
      </p:sp>
      <p:pic>
        <p:nvPicPr>
          <p:cNvPr id="64" name="Image 14" descr="preencoded.png">    </p:cNvPr>
          <p:cNvPicPr>
            <a:picLocks noChangeAspect="1"/>
          </p:cNvPicPr>
          <p:nvPr/>
        </p:nvPicPr>
        <p:blipFill>
          <a:blip r:embed="rId15"/>
          <a:stretch>
            <a:fillRect/>
          </a:stretch>
        </p:blipFill>
        <p:spPr>
          <a:xfrm>
            <a:off x="8394192" y="4279392"/>
            <a:ext cx="237744" cy="237744"/>
          </a:xfrm>
          <a:prstGeom prst="rect">
            <a:avLst/>
          </a:prstGeom>
        </p:spPr>
      </p:pic>
      <p:sp>
        <p:nvSpPr>
          <p:cNvPr id="65" name="Text 48"/>
          <p:cNvSpPr txBox="1"/>
          <p:nvPr/>
        </p:nvSpPr>
        <p:spPr>
          <a:xfrm>
            <a:off x="8778240" y="4251960"/>
            <a:ext cx="2587752" cy="438912"/>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Areas of concern requiring further investigation</a:t>
            </a:r>
            <a:endParaRPr lang="en-US" sz="1100" dirty="0"/>
          </a:p>
        </p:txBody>
      </p:sp>
      <p:sp>
        <p:nvSpPr>
          <p:cNvPr id="66" name="Shape 49"/>
          <p:cNvSpPr/>
          <p:nvPr/>
        </p:nvSpPr>
        <p:spPr>
          <a:xfrm>
            <a:off x="8394192" y="4709160"/>
            <a:ext cx="2971800" cy="0"/>
          </a:xfrm>
          <a:prstGeom prst="line">
            <a:avLst/>
          </a:prstGeom>
          <a:noFill/>
          <a:ln w="19050">
            <a:solidFill>
              <a:srgbClr val="ECEAE5"/>
            </a:solidFill>
            <a:prstDash val="solid"/>
          </a:ln>
        </p:spPr>
      </p:sp>
      <p:pic>
        <p:nvPicPr>
          <p:cNvPr id="67" name="Image 15" descr="preencoded.png">    </p:cNvPr>
          <p:cNvPicPr>
            <a:picLocks noChangeAspect="1"/>
          </p:cNvPicPr>
          <p:nvPr/>
        </p:nvPicPr>
        <p:blipFill>
          <a:blip r:embed="rId16"/>
          <a:stretch>
            <a:fillRect/>
          </a:stretch>
        </p:blipFill>
        <p:spPr>
          <a:xfrm>
            <a:off x="8394192" y="4791456"/>
            <a:ext cx="237744" cy="237744"/>
          </a:xfrm>
          <a:prstGeom prst="rect">
            <a:avLst/>
          </a:prstGeom>
        </p:spPr>
      </p:pic>
      <p:sp>
        <p:nvSpPr>
          <p:cNvPr id="68" name="Text 50"/>
          <p:cNvSpPr txBox="1"/>
          <p:nvPr/>
        </p:nvSpPr>
        <p:spPr>
          <a:xfrm>
            <a:off x="8778240" y="4764024"/>
            <a:ext cx="2587752" cy="438912"/>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Relationships that may inform programming and policy discussions</a:t>
            </a:r>
            <a:endParaRPr lang="en-US" sz="1100" dirty="0"/>
          </a:p>
        </p:txBody>
      </p:sp>
      <p:sp>
        <p:nvSpPr>
          <p:cNvPr id="69"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70" name="Shape 52"/>
          <p:cNvSpPr/>
          <p:nvPr/>
        </p:nvSpPr>
        <p:spPr>
          <a:xfrm>
            <a:off x="548640" y="5559552"/>
            <a:ext cx="64008" cy="731520"/>
          </a:xfrm>
          <a:prstGeom prst="rect">
            <a:avLst/>
          </a:prstGeom>
          <a:solidFill>
            <a:schemeClr val="accent2"/>
          </a:solidFill>
          <a:ln/>
        </p:spPr>
      </p:sp>
      <p:pic>
        <p:nvPicPr>
          <p:cNvPr id="71" name="Image 16" descr="preencoded.png">    </p:cNvPr>
          <p:cNvPicPr>
            <a:picLocks noChangeAspect="1"/>
          </p:cNvPicPr>
          <p:nvPr/>
        </p:nvPicPr>
        <p:blipFill>
          <a:blip r:embed="rId17"/>
          <a:stretch>
            <a:fillRect/>
          </a:stretch>
        </p:blipFill>
        <p:spPr>
          <a:xfrm>
            <a:off x="868680" y="5742432"/>
            <a:ext cx="365760" cy="365760"/>
          </a:xfrm>
          <a:prstGeom prst="rect">
            <a:avLst/>
          </a:prstGeom>
        </p:spPr>
      </p:pic>
      <p:sp>
        <p:nvSpPr>
          <p:cNvPr id="72" name="Text 53"/>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GUIDANCE</a:t>
            </a:r>
            <a:endParaRPr lang="en-US" sz="900" dirty="0"/>
          </a:p>
        </p:txBody>
      </p:sp>
      <p:sp>
        <p:nvSpPr>
          <p:cNvPr id="73" name="Shape 54"/>
          <p:cNvSpPr/>
          <p:nvPr/>
        </p:nvSpPr>
        <p:spPr>
          <a:xfrm>
            <a:off x="3063240" y="5696712"/>
            <a:ext cx="0" cy="457200"/>
          </a:xfrm>
          <a:prstGeom prst="line">
            <a:avLst/>
          </a:prstGeom>
          <a:noFill/>
          <a:ln w="12700">
            <a:solidFill>
              <a:srgbClr val="3C4C86"/>
            </a:solidFill>
            <a:prstDash val="solid"/>
          </a:ln>
        </p:spPr>
      </p:sp>
      <p:sp>
        <p:nvSpPr>
          <p:cNvPr id="74"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Report every finding as a pattern </a:t>
            </a:r>
            <a:pPr indent="0" marL="0">
              <a:buNone/>
            </a:pPr>
            <a:r>
              <a:rPr lang="en-US" sz="1300" b="1" dirty="0">
                <a:solidFill>
                  <a:schemeClr val="accent2"/>
                </a:solidFill>
              </a:rPr>
              <a:t>among respondents</a:t>
            </a:r>
            <a:pPr indent="0" marL="0">
              <a:buNone/>
            </a:pPr>
            <a:r>
              <a:rPr lang="en-US" sz="1300" b="1" dirty="0">
                <a:solidFill>
                  <a:schemeClr val="bg1"/>
                </a:solidFill>
              </a:rPr>
              <a:t>, never as a national rate or a proven cause.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04</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OVERVIEW OF FINDINGS</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Child Marriage Is Associated with Multiple Vulnerabilities</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The regression analysis shows a cluster of interconnected factors.</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06 / 10</a:t>
            </a:r>
            <a:endParaRPr lang="en-US" sz="900" dirty="0"/>
          </a:p>
        </p:txBody>
      </p:sp>
      <p:sp>
        <p:nvSpPr>
          <p:cNvPr id="9" name="Odds ratios for reported child marriage card"/>
          <p:cNvSpPr/>
          <p:nvPr/>
        </p:nvSpPr>
        <p:spPr>
          <a:xfrm>
            <a:off x="548640" y="1691640"/>
            <a:ext cx="6035040" cy="37033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Odds ratios for reported child marriage card edge"/>
          <p:cNvSpPr/>
          <p:nvPr/>
        </p:nvSpPr>
        <p:spPr>
          <a:xfrm>
            <a:off x="548640" y="1691640"/>
            <a:ext cx="6035040" cy="54864"/>
          </a:xfrm>
          <a:prstGeom prst="rect">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777240" y="1874520"/>
            <a:ext cx="329184" cy="329184"/>
          </a:xfrm>
          <a:prstGeom prst="rect">
            <a:avLst/>
          </a:prstGeom>
        </p:spPr>
      </p:pic>
      <p:sp>
        <p:nvSpPr>
          <p:cNvPr id="12" name="Odds ratios for reported child marriage header"/>
          <p:cNvSpPr txBox="1"/>
          <p:nvPr/>
        </p:nvSpPr>
        <p:spPr>
          <a:xfrm>
            <a:off x="1234440" y="1819656"/>
            <a:ext cx="5212080" cy="438912"/>
          </a:xfrm>
          <a:prstGeom prst="rect">
            <a:avLst/>
          </a:prstGeom>
          <a:noFill/>
          <a:ln/>
        </p:spPr>
        <p:txBody>
          <a:bodyPr wrap="square" lIns="0" tIns="0" rIns="0" bIns="0" rtlCol="0" anchor="ctr"/>
          <a:lstStyle/>
          <a:p>
            <a:pPr indent="0" marL="0">
              <a:buNone/>
            </a:pPr>
            <a:r>
              <a:rPr lang="en-US" sz="1050" b="1" spc="150" kern="0" dirty="0">
                <a:solidFill>
                  <a:schemeClr val="tx2"/>
                </a:solidFill>
              </a:rPr>
              <a:t>ODDS RATIOS FOR REPORTED CHILD MARRIAGE</a:t>
            </a:r>
            <a:endParaRPr lang="en-US" sz="1050" dirty="0"/>
          </a:p>
        </p:txBody>
      </p:sp>
      <p:graphicFrame>
        <p:nvGraphicFramePr>
          <p:cNvPr id="13" name="Chart 0" descr=""/>
          <p:cNvGraphicFramePr/>
          <p:nvPr/>
        </p:nvGraphicFramePr>
        <p:xfrm>
          <a:off x="685800" y="2286000"/>
          <a:ext cx="5760720" cy="274320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txBox="1"/>
          <p:nvPr/>
        </p:nvSpPr>
        <p:spPr>
          <a:xfrm>
            <a:off x="822960" y="5029200"/>
            <a:ext cx="5577840" cy="274320"/>
          </a:xfrm>
          <a:prstGeom prst="rect">
            <a:avLst/>
          </a:prstGeom>
          <a:noFill/>
          <a:ln/>
        </p:spPr>
        <p:txBody>
          <a:bodyPr wrap="square" lIns="0" tIns="0" rIns="0" bIns="0" rtlCol="0" anchor="ctr"/>
          <a:lstStyle/>
          <a:p>
            <a:pPr indent="0" marL="0">
              <a:buNone/>
            </a:pPr>
            <a:r>
              <a:rPr lang="en-US" sz="950" i="1" dirty="0">
                <a:solidFill>
                  <a:srgbClr val="5B5B5E"/>
                </a:solidFill>
              </a:rPr>
              <a:t>OR = 1 would mean no difference in odds. All six factors sit above it.</a:t>
            </a:r>
            <a:endParaRPr lang="en-US" sz="950" dirty="0"/>
          </a:p>
        </p:txBody>
      </p:sp>
      <p:sp>
        <p:nvSpPr>
          <p:cNvPr id="15" name="What it means card"/>
          <p:cNvSpPr/>
          <p:nvPr/>
        </p:nvSpPr>
        <p:spPr>
          <a:xfrm>
            <a:off x="6858000" y="1691640"/>
            <a:ext cx="4782312" cy="37033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6" name="What it means card edge"/>
          <p:cNvSpPr/>
          <p:nvPr/>
        </p:nvSpPr>
        <p:spPr>
          <a:xfrm>
            <a:off x="6858000" y="1691640"/>
            <a:ext cx="4782312" cy="54864"/>
          </a:xfrm>
          <a:prstGeom prst="rect">
            <a:avLst/>
          </a:prstGeom>
          <a:solidFill>
            <a:schemeClr val="accent2"/>
          </a:solidFill>
          <a:ln/>
        </p:spPr>
      </p:sp>
      <p:pic>
        <p:nvPicPr>
          <p:cNvPr id="17" name="Image 2" descr="preencoded.png">    </p:cNvPr>
          <p:cNvPicPr>
            <a:picLocks noChangeAspect="1"/>
          </p:cNvPicPr>
          <p:nvPr/>
        </p:nvPicPr>
        <p:blipFill>
          <a:blip r:embed="rId4"/>
          <a:stretch>
            <a:fillRect/>
          </a:stretch>
        </p:blipFill>
        <p:spPr>
          <a:xfrm>
            <a:off x="7086600" y="1874520"/>
            <a:ext cx="329184" cy="329184"/>
          </a:xfrm>
          <a:prstGeom prst="rect">
            <a:avLst/>
          </a:prstGeom>
        </p:spPr>
      </p:pic>
      <p:sp>
        <p:nvSpPr>
          <p:cNvPr id="18" name="What it means header"/>
          <p:cNvSpPr txBox="1"/>
          <p:nvPr/>
        </p:nvSpPr>
        <p:spPr>
          <a:xfrm>
            <a:off x="7543800" y="1819656"/>
            <a:ext cx="3959352" cy="438912"/>
          </a:xfrm>
          <a:prstGeom prst="rect">
            <a:avLst/>
          </a:prstGeom>
          <a:noFill/>
          <a:ln/>
        </p:spPr>
        <p:txBody>
          <a:bodyPr wrap="square" lIns="0" tIns="0" rIns="0" bIns="0" rtlCol="0" anchor="ctr"/>
          <a:lstStyle/>
          <a:p>
            <a:pPr indent="0" marL="0">
              <a:buNone/>
            </a:pPr>
            <a:r>
              <a:rPr lang="en-US" sz="1050" b="1" spc="150" kern="0" dirty="0">
                <a:solidFill>
                  <a:schemeClr val="accent2"/>
                </a:solidFill>
              </a:rPr>
              <a:t>WHAT IT MEANS</a:t>
            </a:r>
            <a:endParaRPr lang="en-US" sz="1050" dirty="0"/>
          </a:p>
        </p:txBody>
      </p:sp>
      <p:sp>
        <p:nvSpPr>
          <p:cNvPr id="19" name="Shape 13"/>
          <p:cNvSpPr/>
          <p:nvPr/>
        </p:nvSpPr>
        <p:spPr>
          <a:xfrm>
            <a:off x="7132320" y="2468880"/>
            <a:ext cx="146304" cy="146304"/>
          </a:xfrm>
          <a:prstGeom prst="ellipse">
            <a:avLst/>
          </a:prstGeom>
          <a:solidFill>
            <a:schemeClr val="accent5"/>
          </a:solidFill>
          <a:ln/>
        </p:spPr>
      </p:sp>
      <p:sp>
        <p:nvSpPr>
          <p:cNvPr id="20" name="Text 14"/>
          <p:cNvSpPr txBox="1"/>
          <p:nvPr/>
        </p:nvSpPr>
        <p:spPr>
          <a:xfrm>
            <a:off x="7406640" y="2350008"/>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Two children</a:t>
            </a:r>
            <a:endParaRPr lang="en-US" sz="1100" dirty="0"/>
          </a:p>
        </p:txBody>
      </p:sp>
      <p:sp>
        <p:nvSpPr>
          <p:cNvPr id="21" name="Text 15"/>
          <p:cNvSpPr txBox="1"/>
          <p:nvPr/>
        </p:nvSpPr>
        <p:spPr>
          <a:xfrm>
            <a:off x="9006840" y="2350008"/>
            <a:ext cx="2423160" cy="384048"/>
          </a:xfrm>
          <a:prstGeom prst="rect">
            <a:avLst/>
          </a:prstGeom>
          <a:noFill/>
          <a:ln/>
        </p:spPr>
        <p:txBody>
          <a:bodyPr wrap="square" lIns="0" tIns="0" rIns="0" bIns="0" rtlCol="0" anchor="ctr"/>
          <a:lstStyle/>
          <a:p>
            <a:pPr indent="0" marL="0">
              <a:buNone/>
            </a:pPr>
            <a:r>
              <a:rPr lang="en-US" sz="1100" dirty="0">
                <a:solidFill>
                  <a:schemeClr val="tx1"/>
                </a:solidFill>
              </a:rPr>
              <a:t>About 6 times the odds</a:t>
            </a:r>
            <a:endParaRPr lang="en-US" sz="1100" dirty="0"/>
          </a:p>
        </p:txBody>
      </p:sp>
      <p:sp>
        <p:nvSpPr>
          <p:cNvPr id="22" name="Shape 16"/>
          <p:cNvSpPr/>
          <p:nvPr/>
        </p:nvSpPr>
        <p:spPr>
          <a:xfrm>
            <a:off x="7132320" y="2779776"/>
            <a:ext cx="4297680" cy="0"/>
          </a:xfrm>
          <a:prstGeom prst="line">
            <a:avLst/>
          </a:prstGeom>
          <a:noFill/>
          <a:ln w="19050">
            <a:solidFill>
              <a:srgbClr val="ECEAE5"/>
            </a:solidFill>
            <a:prstDash val="solid"/>
          </a:ln>
        </p:spPr>
      </p:sp>
      <p:sp>
        <p:nvSpPr>
          <p:cNvPr id="23" name="Shape 17"/>
          <p:cNvSpPr/>
          <p:nvPr/>
        </p:nvSpPr>
        <p:spPr>
          <a:xfrm>
            <a:off x="7132320" y="2944368"/>
            <a:ext cx="146304" cy="146304"/>
          </a:xfrm>
          <a:prstGeom prst="ellipse">
            <a:avLst/>
          </a:prstGeom>
          <a:solidFill>
            <a:schemeClr val="accent5"/>
          </a:solidFill>
          <a:ln/>
        </p:spPr>
      </p:sp>
      <p:sp>
        <p:nvSpPr>
          <p:cNvPr id="24" name="Text 18"/>
          <p:cNvSpPr txBox="1"/>
          <p:nvPr/>
        </p:nvSpPr>
        <p:spPr>
          <a:xfrm>
            <a:off x="7406640" y="2825496"/>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Early sex</a:t>
            </a:r>
            <a:endParaRPr lang="en-US" sz="1100" dirty="0"/>
          </a:p>
        </p:txBody>
      </p:sp>
      <p:sp>
        <p:nvSpPr>
          <p:cNvPr id="25" name="Text 19"/>
          <p:cNvSpPr txBox="1"/>
          <p:nvPr/>
        </p:nvSpPr>
        <p:spPr>
          <a:xfrm>
            <a:off x="9006840" y="2825496"/>
            <a:ext cx="2423160" cy="384048"/>
          </a:xfrm>
          <a:prstGeom prst="rect">
            <a:avLst/>
          </a:prstGeom>
          <a:noFill/>
          <a:ln/>
        </p:spPr>
        <p:txBody>
          <a:bodyPr wrap="square" lIns="0" tIns="0" rIns="0" bIns="0" rtlCol="0" anchor="ctr"/>
          <a:lstStyle/>
          <a:p>
            <a:pPr indent="0" marL="0">
              <a:buNone/>
            </a:pPr>
            <a:r>
              <a:rPr lang="en-US" sz="1100" dirty="0">
                <a:solidFill>
                  <a:schemeClr val="tx1"/>
                </a:solidFill>
              </a:rPr>
              <a:t>About 5.1 times the odds</a:t>
            </a:r>
            <a:endParaRPr lang="en-US" sz="1100" dirty="0"/>
          </a:p>
        </p:txBody>
      </p:sp>
      <p:sp>
        <p:nvSpPr>
          <p:cNvPr id="26" name="Shape 20"/>
          <p:cNvSpPr/>
          <p:nvPr/>
        </p:nvSpPr>
        <p:spPr>
          <a:xfrm>
            <a:off x="7132320" y="3255264"/>
            <a:ext cx="4297680" cy="0"/>
          </a:xfrm>
          <a:prstGeom prst="line">
            <a:avLst/>
          </a:prstGeom>
          <a:noFill/>
          <a:ln w="19050">
            <a:solidFill>
              <a:srgbClr val="ECEAE5"/>
            </a:solidFill>
            <a:prstDash val="solid"/>
          </a:ln>
        </p:spPr>
      </p:sp>
      <p:sp>
        <p:nvSpPr>
          <p:cNvPr id="27" name="Shape 21"/>
          <p:cNvSpPr/>
          <p:nvPr/>
        </p:nvSpPr>
        <p:spPr>
          <a:xfrm>
            <a:off x="7132320" y="3419856"/>
            <a:ext cx="146304" cy="146304"/>
          </a:xfrm>
          <a:prstGeom prst="ellipse">
            <a:avLst/>
          </a:prstGeom>
          <a:solidFill>
            <a:schemeClr val="accent5"/>
          </a:solidFill>
          <a:ln/>
        </p:spPr>
      </p:sp>
      <p:sp>
        <p:nvSpPr>
          <p:cNvPr id="28" name="Text 22"/>
          <p:cNvSpPr txBox="1"/>
          <p:nvPr/>
        </p:nvSpPr>
        <p:spPr>
          <a:xfrm>
            <a:off x="7406640" y="3300984"/>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One child</a:t>
            </a:r>
            <a:endParaRPr lang="en-US" sz="1100" dirty="0"/>
          </a:p>
        </p:txBody>
      </p:sp>
      <p:sp>
        <p:nvSpPr>
          <p:cNvPr id="29" name="Text 23"/>
          <p:cNvSpPr txBox="1"/>
          <p:nvPr/>
        </p:nvSpPr>
        <p:spPr>
          <a:xfrm>
            <a:off x="9006840" y="3300984"/>
            <a:ext cx="2423160" cy="384048"/>
          </a:xfrm>
          <a:prstGeom prst="rect">
            <a:avLst/>
          </a:prstGeom>
          <a:noFill/>
          <a:ln/>
        </p:spPr>
        <p:txBody>
          <a:bodyPr wrap="square" lIns="0" tIns="0" rIns="0" bIns="0" rtlCol="0" anchor="ctr"/>
          <a:lstStyle/>
          <a:p>
            <a:pPr indent="0" marL="0">
              <a:buNone/>
            </a:pPr>
            <a:r>
              <a:rPr lang="en-US" sz="1100" dirty="0">
                <a:solidFill>
                  <a:schemeClr val="tx1"/>
                </a:solidFill>
              </a:rPr>
              <a:t>About 4.8 times the odds</a:t>
            </a:r>
            <a:endParaRPr lang="en-US" sz="1100" dirty="0"/>
          </a:p>
        </p:txBody>
      </p:sp>
      <p:sp>
        <p:nvSpPr>
          <p:cNvPr id="30" name="Shape 24"/>
          <p:cNvSpPr/>
          <p:nvPr/>
        </p:nvSpPr>
        <p:spPr>
          <a:xfrm>
            <a:off x="7132320" y="3730752"/>
            <a:ext cx="4297680" cy="0"/>
          </a:xfrm>
          <a:prstGeom prst="line">
            <a:avLst/>
          </a:prstGeom>
          <a:noFill/>
          <a:ln w="19050">
            <a:solidFill>
              <a:srgbClr val="ECEAE5"/>
            </a:solidFill>
            <a:prstDash val="solid"/>
          </a:ln>
        </p:spPr>
      </p:sp>
      <p:sp>
        <p:nvSpPr>
          <p:cNvPr id="31" name="Shape 25"/>
          <p:cNvSpPr/>
          <p:nvPr/>
        </p:nvSpPr>
        <p:spPr>
          <a:xfrm>
            <a:off x="7132320" y="3895344"/>
            <a:ext cx="146304" cy="146304"/>
          </a:xfrm>
          <a:prstGeom prst="ellipse">
            <a:avLst/>
          </a:prstGeom>
          <a:solidFill>
            <a:schemeClr val="accent6"/>
          </a:solidFill>
          <a:ln/>
        </p:spPr>
      </p:sp>
      <p:sp>
        <p:nvSpPr>
          <p:cNvPr id="32" name="Text 26"/>
          <p:cNvSpPr txBox="1"/>
          <p:nvPr/>
        </p:nvSpPr>
        <p:spPr>
          <a:xfrm>
            <a:off x="7406640" y="3776472"/>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Child labour</a:t>
            </a:r>
            <a:endParaRPr lang="en-US" sz="1100" dirty="0"/>
          </a:p>
        </p:txBody>
      </p:sp>
      <p:sp>
        <p:nvSpPr>
          <p:cNvPr id="33" name="Text 27"/>
          <p:cNvSpPr txBox="1"/>
          <p:nvPr/>
        </p:nvSpPr>
        <p:spPr>
          <a:xfrm>
            <a:off x="9006840" y="3776472"/>
            <a:ext cx="2423160" cy="384048"/>
          </a:xfrm>
          <a:prstGeom prst="rect">
            <a:avLst/>
          </a:prstGeom>
          <a:noFill/>
          <a:ln/>
        </p:spPr>
        <p:txBody>
          <a:bodyPr wrap="square" lIns="0" tIns="0" rIns="0" bIns="0" rtlCol="0" anchor="ctr"/>
          <a:lstStyle/>
          <a:p>
            <a:pPr indent="0" marL="0">
              <a:buNone/>
            </a:pPr>
            <a:r>
              <a:rPr lang="en-US" sz="1100" dirty="0">
                <a:solidFill>
                  <a:schemeClr val="tx1"/>
                </a:solidFill>
              </a:rPr>
              <a:t>About 2.1 times the odds</a:t>
            </a:r>
            <a:endParaRPr lang="en-US" sz="1100" dirty="0"/>
          </a:p>
        </p:txBody>
      </p:sp>
      <p:sp>
        <p:nvSpPr>
          <p:cNvPr id="34" name="Shape 28"/>
          <p:cNvSpPr/>
          <p:nvPr/>
        </p:nvSpPr>
        <p:spPr>
          <a:xfrm>
            <a:off x="7132320" y="4206240"/>
            <a:ext cx="4297680" cy="0"/>
          </a:xfrm>
          <a:prstGeom prst="line">
            <a:avLst/>
          </a:prstGeom>
          <a:noFill/>
          <a:ln w="19050">
            <a:solidFill>
              <a:srgbClr val="ECEAE5"/>
            </a:solidFill>
            <a:prstDash val="solid"/>
          </a:ln>
        </p:spPr>
      </p:sp>
      <p:sp>
        <p:nvSpPr>
          <p:cNvPr id="35" name="Shape 29"/>
          <p:cNvSpPr/>
          <p:nvPr/>
        </p:nvSpPr>
        <p:spPr>
          <a:xfrm>
            <a:off x="7132320" y="4370832"/>
            <a:ext cx="146304" cy="146304"/>
          </a:xfrm>
          <a:prstGeom prst="ellipse">
            <a:avLst/>
          </a:prstGeom>
          <a:solidFill>
            <a:schemeClr val="accent6"/>
          </a:solidFill>
          <a:ln/>
        </p:spPr>
      </p:sp>
      <p:sp>
        <p:nvSpPr>
          <p:cNvPr id="36" name="Text 30"/>
          <p:cNvSpPr txBox="1"/>
          <p:nvPr/>
        </p:nvSpPr>
        <p:spPr>
          <a:xfrm>
            <a:off x="7406640" y="4251960"/>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Poverty</a:t>
            </a:r>
            <a:endParaRPr lang="en-US" sz="1100" dirty="0"/>
          </a:p>
        </p:txBody>
      </p:sp>
      <p:sp>
        <p:nvSpPr>
          <p:cNvPr id="37" name="Text 31"/>
          <p:cNvSpPr txBox="1"/>
          <p:nvPr/>
        </p:nvSpPr>
        <p:spPr>
          <a:xfrm>
            <a:off x="9006840" y="4251960"/>
            <a:ext cx="2423160" cy="384048"/>
          </a:xfrm>
          <a:prstGeom prst="rect">
            <a:avLst/>
          </a:prstGeom>
          <a:noFill/>
          <a:ln/>
        </p:spPr>
        <p:txBody>
          <a:bodyPr wrap="square" lIns="0" tIns="0" rIns="0" bIns="0" rtlCol="0" anchor="ctr"/>
          <a:lstStyle/>
          <a:p>
            <a:pPr indent="0" marL="0">
              <a:buNone/>
            </a:pPr>
            <a:r>
              <a:rPr lang="en-US" sz="1100" dirty="0">
                <a:solidFill>
                  <a:schemeClr val="tx1"/>
                </a:solidFill>
              </a:rPr>
              <a:t>About 1.9 times the odds</a:t>
            </a:r>
            <a:endParaRPr lang="en-US" sz="1100" dirty="0"/>
          </a:p>
        </p:txBody>
      </p:sp>
      <p:sp>
        <p:nvSpPr>
          <p:cNvPr id="38" name="Shape 32"/>
          <p:cNvSpPr/>
          <p:nvPr/>
        </p:nvSpPr>
        <p:spPr>
          <a:xfrm>
            <a:off x="7132320" y="4681728"/>
            <a:ext cx="4297680" cy="0"/>
          </a:xfrm>
          <a:prstGeom prst="line">
            <a:avLst/>
          </a:prstGeom>
          <a:noFill/>
          <a:ln w="19050">
            <a:solidFill>
              <a:srgbClr val="ECEAE5"/>
            </a:solidFill>
            <a:prstDash val="solid"/>
          </a:ln>
        </p:spPr>
      </p:sp>
      <p:sp>
        <p:nvSpPr>
          <p:cNvPr id="39" name="Shape 33"/>
          <p:cNvSpPr/>
          <p:nvPr/>
        </p:nvSpPr>
        <p:spPr>
          <a:xfrm>
            <a:off x="7132320" y="4846320"/>
            <a:ext cx="146304" cy="146304"/>
          </a:xfrm>
          <a:prstGeom prst="ellipse">
            <a:avLst/>
          </a:prstGeom>
          <a:solidFill>
            <a:schemeClr val="accent4"/>
          </a:solidFill>
          <a:ln/>
        </p:spPr>
      </p:sp>
      <p:sp>
        <p:nvSpPr>
          <p:cNvPr id="40" name="Text 34"/>
          <p:cNvSpPr txBox="1"/>
          <p:nvPr/>
        </p:nvSpPr>
        <p:spPr>
          <a:xfrm>
            <a:off x="7406640" y="4727448"/>
            <a:ext cx="1554480" cy="384048"/>
          </a:xfrm>
          <a:prstGeom prst="rect">
            <a:avLst/>
          </a:prstGeom>
          <a:noFill/>
          <a:ln/>
        </p:spPr>
        <p:txBody>
          <a:bodyPr wrap="square" lIns="0" tIns="0" rIns="0" bIns="0" rtlCol="0" anchor="ctr"/>
          <a:lstStyle/>
          <a:p>
            <a:pPr indent="0" marL="0">
              <a:buNone/>
            </a:pPr>
            <a:r>
              <a:rPr lang="en-US" sz="1100" b="1" dirty="0">
                <a:solidFill>
                  <a:schemeClr val="tx2"/>
                </a:solidFill>
              </a:rPr>
              <a:t>Double orphan</a:t>
            </a:r>
            <a:endParaRPr lang="en-US" sz="1100" dirty="0"/>
          </a:p>
        </p:txBody>
      </p:sp>
      <p:sp>
        <p:nvSpPr>
          <p:cNvPr id="41" name="Text 35"/>
          <p:cNvSpPr txBox="1"/>
          <p:nvPr/>
        </p:nvSpPr>
        <p:spPr>
          <a:xfrm>
            <a:off x="9006840" y="4727448"/>
            <a:ext cx="2423160" cy="384048"/>
          </a:xfrm>
          <a:prstGeom prst="rect">
            <a:avLst/>
          </a:prstGeom>
          <a:noFill/>
          <a:ln/>
        </p:spPr>
        <p:txBody>
          <a:bodyPr wrap="square" lIns="0" tIns="0" rIns="0" bIns="0" rtlCol="0" anchor="ctr"/>
          <a:lstStyle/>
          <a:p>
            <a:pPr indent="0" marL="0">
              <a:buNone/>
            </a:pPr>
            <a:r>
              <a:rPr lang="en-US" sz="1100" dirty="0">
                <a:solidFill>
                  <a:schemeClr val="tx1"/>
                </a:solidFill>
              </a:rPr>
              <a:t>Significantly associated</a:t>
            </a:r>
            <a:endParaRPr lang="en-US" sz="1100" dirty="0"/>
          </a:p>
        </p:txBody>
      </p:sp>
      <p:sp>
        <p:nvSpPr>
          <p:cNvPr id="42" name="Text 36"/>
          <p:cNvSpPr txBox="1"/>
          <p:nvPr/>
        </p:nvSpPr>
        <p:spPr>
          <a:xfrm>
            <a:off x="7132320" y="5047488"/>
            <a:ext cx="4297680" cy="274320"/>
          </a:xfrm>
          <a:prstGeom prst="rect">
            <a:avLst/>
          </a:prstGeom>
          <a:noFill/>
          <a:ln/>
        </p:spPr>
        <p:txBody>
          <a:bodyPr wrap="square" lIns="0" tIns="0" rIns="0" bIns="0" rtlCol="0" anchor="ctr"/>
          <a:lstStyle/>
          <a:p>
            <a:pPr indent="0" marL="0">
              <a:buNone/>
            </a:pPr>
            <a:r>
              <a:rPr lang="en-US" sz="950" i="1" dirty="0">
                <a:solidFill>
                  <a:srgbClr val="5B5B5E"/>
                </a:solidFill>
              </a:rPr>
              <a:t>of reporting child marriage, compared with respondents without the factor.</a:t>
            </a:r>
            <a:endParaRPr lang="en-US" sz="950" dirty="0"/>
          </a:p>
        </p:txBody>
      </p:sp>
      <p:sp>
        <p:nvSpPr>
          <p:cNvPr id="43"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44" name="Shape 38"/>
          <p:cNvSpPr/>
          <p:nvPr/>
        </p:nvSpPr>
        <p:spPr>
          <a:xfrm>
            <a:off x="548640" y="5559552"/>
            <a:ext cx="64008" cy="731520"/>
          </a:xfrm>
          <a:prstGeom prst="rect">
            <a:avLst/>
          </a:prstGeom>
          <a:solidFill>
            <a:schemeClr val="accent2"/>
          </a:solidFill>
          <a:ln/>
        </p:spPr>
      </p:sp>
      <p:pic>
        <p:nvPicPr>
          <p:cNvPr id="45" name="Image 3" descr="preencoded.png">    </p:cNvPr>
          <p:cNvPicPr>
            <a:picLocks noChangeAspect="1"/>
          </p:cNvPicPr>
          <p:nvPr/>
        </p:nvPicPr>
        <p:blipFill>
          <a:blip r:embed="rId5"/>
          <a:stretch>
            <a:fillRect/>
          </a:stretch>
        </p:blipFill>
        <p:spPr>
          <a:xfrm>
            <a:off x="868680" y="5742432"/>
            <a:ext cx="365760" cy="365760"/>
          </a:xfrm>
          <a:prstGeom prst="rect">
            <a:avLst/>
          </a:prstGeom>
        </p:spPr>
      </p:pic>
      <p:sp>
        <p:nvSpPr>
          <p:cNvPr id="46" name="Text 39"/>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KEY MESSAGE</a:t>
            </a:r>
            <a:endParaRPr lang="en-US" sz="900" dirty="0"/>
          </a:p>
        </p:txBody>
      </p:sp>
      <p:sp>
        <p:nvSpPr>
          <p:cNvPr id="47" name="Shape 40"/>
          <p:cNvSpPr/>
          <p:nvPr/>
        </p:nvSpPr>
        <p:spPr>
          <a:xfrm>
            <a:off x="3063240" y="5696712"/>
            <a:ext cx="0" cy="457200"/>
          </a:xfrm>
          <a:prstGeom prst="line">
            <a:avLst/>
          </a:prstGeom>
          <a:noFill/>
          <a:ln w="12700">
            <a:solidFill>
              <a:srgbClr val="3C4C86"/>
            </a:solidFill>
            <a:prstDash val="solid"/>
          </a:ln>
        </p:spPr>
      </p:sp>
      <p:sp>
        <p:nvSpPr>
          <p:cNvPr id="48"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Child marriage occurs within a </a:t>
            </a:r>
            <a:pPr indent="0" marL="0">
              <a:buNone/>
            </a:pPr>
            <a:r>
              <a:rPr lang="en-US" sz="1300" b="1" dirty="0">
                <a:solidFill>
                  <a:schemeClr val="accent2"/>
                </a:solidFill>
              </a:rPr>
              <a:t>broader pattern of interconnected vulnerabilities</a:t>
            </a:r>
            <a:pPr indent="0" marL="0">
              <a:buNone/>
            </a:pPr>
            <a:r>
              <a:rPr lang="en-US" sz="1300" b="1" dirty="0">
                <a:solidFill>
                  <a:schemeClr val="bg1"/>
                </a:solidFill>
              </a:rPr>
              <a:t>, not alongside a single factor.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05</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SEXUAL AND REPRODUCTIVE VULNERABILITY</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Early Sex and Childbearing: Strongest Associations</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Early reproductive experiences are strongly associated with reported child marriage.</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07 / 10</a:t>
            </a:r>
            <a:endParaRPr lang="en-US" sz="900" dirty="0"/>
          </a:p>
        </p:txBody>
      </p:sp>
      <p:sp>
        <p:nvSpPr>
          <p:cNvPr id="9" name="Early sex card"/>
          <p:cNvSpPr/>
          <p:nvPr/>
        </p:nvSpPr>
        <p:spPr>
          <a:xfrm>
            <a:off x="548640" y="1691640"/>
            <a:ext cx="3520440" cy="29718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Early sex card edge"/>
          <p:cNvSpPr/>
          <p:nvPr/>
        </p:nvSpPr>
        <p:spPr>
          <a:xfrm>
            <a:off x="548640" y="1691640"/>
            <a:ext cx="3520440" cy="54864"/>
          </a:xfrm>
          <a:prstGeom prst="rect">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777240" y="1874520"/>
            <a:ext cx="329184" cy="329184"/>
          </a:xfrm>
          <a:prstGeom prst="rect">
            <a:avLst/>
          </a:prstGeom>
        </p:spPr>
      </p:pic>
      <p:sp>
        <p:nvSpPr>
          <p:cNvPr id="12" name="Early sex header"/>
          <p:cNvSpPr txBox="1"/>
          <p:nvPr/>
        </p:nvSpPr>
        <p:spPr>
          <a:xfrm>
            <a:off x="1234440"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5"/>
                </a:solidFill>
              </a:rPr>
              <a:t>EARLY SEX</a:t>
            </a:r>
            <a:endParaRPr lang="en-US" sz="1050" dirty="0"/>
          </a:p>
        </p:txBody>
      </p:sp>
      <p:sp>
        <p:nvSpPr>
          <p:cNvPr id="13" name="Text 9"/>
          <p:cNvSpPr txBox="1"/>
          <p:nvPr/>
        </p:nvSpPr>
        <p:spPr>
          <a:xfrm>
            <a:off x="822960" y="2313432"/>
            <a:ext cx="2971800" cy="777240"/>
          </a:xfrm>
          <a:prstGeom prst="rect">
            <a:avLst/>
          </a:prstGeom>
          <a:noFill/>
          <a:ln/>
        </p:spPr>
        <p:txBody>
          <a:bodyPr wrap="square" lIns="0" tIns="0" rIns="0" bIns="0" rtlCol="0" anchor="ctr"/>
          <a:lstStyle/>
          <a:p>
            <a:pPr indent="0" marL="0">
              <a:buNone/>
            </a:pPr>
            <a:r>
              <a:rPr lang="en-US" sz="4400" b="1" dirty="0">
                <a:solidFill>
                  <a:schemeClr val="accent5"/>
                </a:solidFill>
              </a:rPr>
              <a:t>5.14</a:t>
            </a:r>
            <a:pPr indent="0" marL="0">
              <a:buNone/>
            </a:pPr>
            <a:r>
              <a:rPr lang="en-US" sz="1300" b="1" dirty="0">
                <a:solidFill>
                  <a:schemeClr val="tx2"/>
                </a:solidFill>
              </a:rPr>
              <a:t>  × the odds</a:t>
            </a:r>
            <a:endParaRPr lang="en-US" sz="4400" dirty="0"/>
          </a:p>
        </p:txBody>
      </p:sp>
      <p:sp>
        <p:nvSpPr>
          <p:cNvPr id="14" name="Text 10"/>
          <p:cNvSpPr txBox="1"/>
          <p:nvPr/>
        </p:nvSpPr>
        <p:spPr>
          <a:xfrm>
            <a:off x="822960" y="3154680"/>
            <a:ext cx="2971800" cy="77724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Respondents who reported sex before age 18 had approximately 5.1 times the odds of reporting child marriage.</a:t>
            </a:r>
            <a:endParaRPr lang="en-US" sz="1100" dirty="0"/>
          </a:p>
        </p:txBody>
      </p:sp>
      <p:sp>
        <p:nvSpPr>
          <p:cNvPr id="15" name="Shape 11"/>
          <p:cNvSpPr/>
          <p:nvPr/>
        </p:nvSpPr>
        <p:spPr>
          <a:xfrm>
            <a:off x="822960" y="3995928"/>
            <a:ext cx="2971800" cy="0"/>
          </a:xfrm>
          <a:prstGeom prst="line">
            <a:avLst/>
          </a:prstGeom>
          <a:noFill/>
          <a:ln w="19050">
            <a:solidFill>
              <a:srgbClr val="ECEAE5"/>
            </a:solidFill>
            <a:prstDash val="solid"/>
          </a:ln>
        </p:spPr>
      </p:sp>
      <p:sp>
        <p:nvSpPr>
          <p:cNvPr id="16" name="Text 12"/>
          <p:cNvSpPr txBox="1"/>
          <p:nvPr/>
        </p:nvSpPr>
        <p:spPr>
          <a:xfrm>
            <a:off x="822960" y="4050792"/>
            <a:ext cx="2971800" cy="502920"/>
          </a:xfrm>
          <a:prstGeom prst="rect">
            <a:avLst/>
          </a:prstGeom>
          <a:noFill/>
          <a:ln/>
        </p:spPr>
        <p:txBody>
          <a:bodyPr wrap="square" lIns="0" tIns="0" rIns="0" bIns="0" rtlCol="0" anchor="ctr"/>
          <a:lstStyle/>
          <a:p>
            <a:pPr indent="0" marL="0">
              <a:buNone/>
            </a:pPr>
            <a:r>
              <a:rPr lang="en-US" sz="1000" i="1" dirty="0">
                <a:solidFill>
                  <a:srgbClr val="5B5B5E"/>
                </a:solidFill>
              </a:rPr>
              <a:t>Compared with those who did not report sex before age 18.</a:t>
            </a:r>
            <a:endParaRPr lang="en-US" sz="1000" dirty="0"/>
          </a:p>
        </p:txBody>
      </p:sp>
      <p:sp>
        <p:nvSpPr>
          <p:cNvPr id="17" name="Having one child card"/>
          <p:cNvSpPr/>
          <p:nvPr/>
        </p:nvSpPr>
        <p:spPr>
          <a:xfrm>
            <a:off x="4334256" y="1691640"/>
            <a:ext cx="3520440" cy="29718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8" name="Having one child card edge"/>
          <p:cNvSpPr/>
          <p:nvPr/>
        </p:nvSpPr>
        <p:spPr>
          <a:xfrm>
            <a:off x="4334256" y="1691640"/>
            <a:ext cx="3520440" cy="54864"/>
          </a:xfrm>
          <a:prstGeom prst="rect">
            <a:avLst/>
          </a:prstGeom>
          <a:solidFill>
            <a:schemeClr val="accent5"/>
          </a:solidFill>
          <a:ln/>
        </p:spPr>
      </p:sp>
      <p:pic>
        <p:nvPicPr>
          <p:cNvPr id="19" name="Image 2" descr="preencoded.png">    </p:cNvPr>
          <p:cNvPicPr>
            <a:picLocks noChangeAspect="1"/>
          </p:cNvPicPr>
          <p:nvPr/>
        </p:nvPicPr>
        <p:blipFill>
          <a:blip r:embed="rId3"/>
          <a:stretch>
            <a:fillRect/>
          </a:stretch>
        </p:blipFill>
        <p:spPr>
          <a:xfrm>
            <a:off x="4562856" y="1874520"/>
            <a:ext cx="329184" cy="329184"/>
          </a:xfrm>
          <a:prstGeom prst="rect">
            <a:avLst/>
          </a:prstGeom>
        </p:spPr>
      </p:pic>
      <p:sp>
        <p:nvSpPr>
          <p:cNvPr id="20" name="Having one child header"/>
          <p:cNvSpPr txBox="1"/>
          <p:nvPr/>
        </p:nvSpPr>
        <p:spPr>
          <a:xfrm>
            <a:off x="5020056"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5"/>
                </a:solidFill>
              </a:rPr>
              <a:t>HAVING ONE CHILD</a:t>
            </a:r>
            <a:endParaRPr lang="en-US" sz="1050" dirty="0"/>
          </a:p>
        </p:txBody>
      </p:sp>
      <p:sp>
        <p:nvSpPr>
          <p:cNvPr id="21" name="Text 16"/>
          <p:cNvSpPr txBox="1"/>
          <p:nvPr/>
        </p:nvSpPr>
        <p:spPr>
          <a:xfrm>
            <a:off x="4608576" y="2313432"/>
            <a:ext cx="2971800" cy="777240"/>
          </a:xfrm>
          <a:prstGeom prst="rect">
            <a:avLst/>
          </a:prstGeom>
          <a:noFill/>
          <a:ln/>
        </p:spPr>
        <p:txBody>
          <a:bodyPr wrap="square" lIns="0" tIns="0" rIns="0" bIns="0" rtlCol="0" anchor="ctr"/>
          <a:lstStyle/>
          <a:p>
            <a:pPr indent="0" marL="0">
              <a:buNone/>
            </a:pPr>
            <a:r>
              <a:rPr lang="en-US" sz="4400" b="1" dirty="0">
                <a:solidFill>
                  <a:schemeClr val="accent5"/>
                </a:solidFill>
              </a:rPr>
              <a:t>4.81</a:t>
            </a:r>
            <a:pPr indent="0" marL="0">
              <a:buNone/>
            </a:pPr>
            <a:r>
              <a:rPr lang="en-US" sz="1300" b="1" dirty="0">
                <a:solidFill>
                  <a:schemeClr val="tx2"/>
                </a:solidFill>
              </a:rPr>
              <a:t>  × the odds</a:t>
            </a:r>
            <a:endParaRPr lang="en-US" sz="4400" dirty="0"/>
          </a:p>
        </p:txBody>
      </p:sp>
      <p:sp>
        <p:nvSpPr>
          <p:cNvPr id="22" name="Text 17"/>
          <p:cNvSpPr txBox="1"/>
          <p:nvPr/>
        </p:nvSpPr>
        <p:spPr>
          <a:xfrm>
            <a:off x="4608576" y="3154680"/>
            <a:ext cx="2971800" cy="77724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Respondents who had one child before age 18 had approximately 4.8 times the odds of reporting child marriage.</a:t>
            </a:r>
            <a:endParaRPr lang="en-US" sz="1100" dirty="0"/>
          </a:p>
        </p:txBody>
      </p:sp>
      <p:sp>
        <p:nvSpPr>
          <p:cNvPr id="23" name="Shape 18"/>
          <p:cNvSpPr/>
          <p:nvPr/>
        </p:nvSpPr>
        <p:spPr>
          <a:xfrm>
            <a:off x="4608576" y="3995928"/>
            <a:ext cx="2971800" cy="0"/>
          </a:xfrm>
          <a:prstGeom prst="line">
            <a:avLst/>
          </a:prstGeom>
          <a:noFill/>
          <a:ln w="19050">
            <a:solidFill>
              <a:srgbClr val="ECEAE5"/>
            </a:solidFill>
            <a:prstDash val="solid"/>
          </a:ln>
        </p:spPr>
      </p:sp>
      <p:sp>
        <p:nvSpPr>
          <p:cNvPr id="24" name="Text 19"/>
          <p:cNvSpPr txBox="1"/>
          <p:nvPr/>
        </p:nvSpPr>
        <p:spPr>
          <a:xfrm>
            <a:off x="4608576" y="4050792"/>
            <a:ext cx="2971800" cy="502920"/>
          </a:xfrm>
          <a:prstGeom prst="rect">
            <a:avLst/>
          </a:prstGeom>
          <a:noFill/>
          <a:ln/>
        </p:spPr>
        <p:txBody>
          <a:bodyPr wrap="square" lIns="0" tIns="0" rIns="0" bIns="0" rtlCol="0" anchor="ctr"/>
          <a:lstStyle/>
          <a:p>
            <a:pPr indent="0" marL="0">
              <a:buNone/>
            </a:pPr>
            <a:r>
              <a:rPr lang="en-US" sz="1000" i="1" dirty="0">
                <a:solidFill>
                  <a:srgbClr val="5B5B5E"/>
                </a:solidFill>
              </a:rPr>
              <a:t>Compared with those who had no child.</a:t>
            </a:r>
            <a:endParaRPr lang="en-US" sz="1000" dirty="0"/>
          </a:p>
        </p:txBody>
      </p:sp>
      <p:sp>
        <p:nvSpPr>
          <p:cNvPr id="25" name="Having two children card"/>
          <p:cNvSpPr/>
          <p:nvPr/>
        </p:nvSpPr>
        <p:spPr>
          <a:xfrm>
            <a:off x="8119872" y="1691640"/>
            <a:ext cx="3520440" cy="29718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6" name="Having two children card edge"/>
          <p:cNvSpPr/>
          <p:nvPr/>
        </p:nvSpPr>
        <p:spPr>
          <a:xfrm>
            <a:off x="8119872" y="1691640"/>
            <a:ext cx="3520440" cy="54864"/>
          </a:xfrm>
          <a:prstGeom prst="rect">
            <a:avLst/>
          </a:prstGeom>
          <a:solidFill>
            <a:schemeClr val="accent5"/>
          </a:solidFill>
          <a:ln/>
        </p:spPr>
      </p:sp>
      <p:pic>
        <p:nvPicPr>
          <p:cNvPr id="27" name="Image 3" descr="preencoded.png">    </p:cNvPr>
          <p:cNvPicPr>
            <a:picLocks noChangeAspect="1"/>
          </p:cNvPicPr>
          <p:nvPr/>
        </p:nvPicPr>
        <p:blipFill>
          <a:blip r:embed="rId4"/>
          <a:stretch>
            <a:fillRect/>
          </a:stretch>
        </p:blipFill>
        <p:spPr>
          <a:xfrm>
            <a:off x="8348472" y="1874520"/>
            <a:ext cx="329184" cy="329184"/>
          </a:xfrm>
          <a:prstGeom prst="rect">
            <a:avLst/>
          </a:prstGeom>
        </p:spPr>
      </p:pic>
      <p:sp>
        <p:nvSpPr>
          <p:cNvPr id="28" name="Having two children header"/>
          <p:cNvSpPr txBox="1"/>
          <p:nvPr/>
        </p:nvSpPr>
        <p:spPr>
          <a:xfrm>
            <a:off x="8805672"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5"/>
                </a:solidFill>
              </a:rPr>
              <a:t>HAVING TWO CHILDREN</a:t>
            </a:r>
            <a:endParaRPr lang="en-US" sz="1050" dirty="0"/>
          </a:p>
        </p:txBody>
      </p:sp>
      <p:sp>
        <p:nvSpPr>
          <p:cNvPr id="29" name="Text 23"/>
          <p:cNvSpPr txBox="1"/>
          <p:nvPr/>
        </p:nvSpPr>
        <p:spPr>
          <a:xfrm>
            <a:off x="8394192" y="2313432"/>
            <a:ext cx="2971800" cy="777240"/>
          </a:xfrm>
          <a:prstGeom prst="rect">
            <a:avLst/>
          </a:prstGeom>
          <a:noFill/>
          <a:ln/>
        </p:spPr>
        <p:txBody>
          <a:bodyPr wrap="square" lIns="0" tIns="0" rIns="0" bIns="0" rtlCol="0" anchor="ctr"/>
          <a:lstStyle/>
          <a:p>
            <a:pPr indent="0" marL="0">
              <a:buNone/>
            </a:pPr>
            <a:r>
              <a:rPr lang="en-US" sz="4400" b="1" dirty="0">
                <a:solidFill>
                  <a:schemeClr val="accent5"/>
                </a:solidFill>
              </a:rPr>
              <a:t>5.96</a:t>
            </a:r>
            <a:pPr indent="0" marL="0">
              <a:buNone/>
            </a:pPr>
            <a:r>
              <a:rPr lang="en-US" sz="1300" b="1" dirty="0">
                <a:solidFill>
                  <a:schemeClr val="tx2"/>
                </a:solidFill>
              </a:rPr>
              <a:t>  × the odds</a:t>
            </a:r>
            <a:endParaRPr lang="en-US" sz="4400" dirty="0"/>
          </a:p>
        </p:txBody>
      </p:sp>
      <p:sp>
        <p:nvSpPr>
          <p:cNvPr id="30" name="Text 24"/>
          <p:cNvSpPr txBox="1"/>
          <p:nvPr/>
        </p:nvSpPr>
        <p:spPr>
          <a:xfrm>
            <a:off x="8394192" y="3154680"/>
            <a:ext cx="2971800" cy="777240"/>
          </a:xfrm>
          <a:prstGeom prst="rect">
            <a:avLst/>
          </a:prstGeom>
          <a:noFill/>
          <a:ln/>
        </p:spPr>
        <p:txBody>
          <a:bodyPr wrap="square" lIns="0" tIns="0" rIns="0" bIns="0" rtlCol="0" anchor="t"/>
          <a:lstStyle/>
          <a:p>
            <a:pPr indent="0" marL="0">
              <a:lnSpc>
                <a:spcPct val="110000"/>
              </a:lnSpc>
              <a:buNone/>
            </a:pPr>
            <a:r>
              <a:rPr lang="en-US" sz="1100" dirty="0">
                <a:solidFill>
                  <a:schemeClr val="tx1"/>
                </a:solidFill>
              </a:rPr>
              <a:t>Respondents who had two children before age 18 had approximately 6 times the odds of reporting child marriage.</a:t>
            </a:r>
            <a:endParaRPr lang="en-US" sz="1100" dirty="0"/>
          </a:p>
        </p:txBody>
      </p:sp>
      <p:sp>
        <p:nvSpPr>
          <p:cNvPr id="31" name="Shape 25"/>
          <p:cNvSpPr/>
          <p:nvPr/>
        </p:nvSpPr>
        <p:spPr>
          <a:xfrm>
            <a:off x="8394192" y="3995928"/>
            <a:ext cx="2971800" cy="0"/>
          </a:xfrm>
          <a:prstGeom prst="line">
            <a:avLst/>
          </a:prstGeom>
          <a:noFill/>
          <a:ln w="19050">
            <a:solidFill>
              <a:srgbClr val="ECEAE5"/>
            </a:solidFill>
            <a:prstDash val="solid"/>
          </a:ln>
        </p:spPr>
      </p:sp>
      <p:sp>
        <p:nvSpPr>
          <p:cNvPr id="32" name="Text 26"/>
          <p:cNvSpPr txBox="1"/>
          <p:nvPr/>
        </p:nvSpPr>
        <p:spPr>
          <a:xfrm>
            <a:off x="8394192" y="4050792"/>
            <a:ext cx="2971800" cy="502920"/>
          </a:xfrm>
          <a:prstGeom prst="rect">
            <a:avLst/>
          </a:prstGeom>
          <a:noFill/>
          <a:ln/>
        </p:spPr>
        <p:txBody>
          <a:bodyPr wrap="square" lIns="0" tIns="0" rIns="0" bIns="0" rtlCol="0" anchor="ctr"/>
          <a:lstStyle/>
          <a:p>
            <a:pPr indent="0" marL="0">
              <a:buNone/>
            </a:pPr>
            <a:r>
              <a:rPr lang="en-US" sz="1000" i="1" dirty="0">
                <a:solidFill>
                  <a:srgbClr val="5B5B5E"/>
                </a:solidFill>
              </a:rPr>
              <a:t>Compared with those who had no children.</a:t>
            </a:r>
            <a:endParaRPr lang="en-US" sz="1000" dirty="0"/>
          </a:p>
        </p:txBody>
      </p:sp>
      <p:sp>
        <p:nvSpPr>
          <p:cNvPr id="33" name="What links them strip"/>
          <p:cNvSpPr/>
          <p:nvPr/>
        </p:nvSpPr>
        <p:spPr>
          <a:xfrm>
            <a:off x="548640" y="4818888"/>
            <a:ext cx="11091672" cy="594360"/>
          </a:xfrm>
          <a:prstGeom prst="rect">
            <a:avLst/>
          </a:prstGeom>
          <a:solidFill>
            <a:srgbClr val="F3F1EE"/>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4" name="Shape 28"/>
          <p:cNvSpPr/>
          <p:nvPr/>
        </p:nvSpPr>
        <p:spPr>
          <a:xfrm>
            <a:off x="548640" y="4818888"/>
            <a:ext cx="64008" cy="594360"/>
          </a:xfrm>
          <a:prstGeom prst="rect">
            <a:avLst/>
          </a:prstGeom>
          <a:solidFill>
            <a:schemeClr val="tx2"/>
          </a:solidFill>
          <a:ln/>
        </p:spPr>
      </p:sp>
      <p:sp>
        <p:nvSpPr>
          <p:cNvPr id="35" name="Text 29"/>
          <p:cNvSpPr txBox="1"/>
          <p:nvPr/>
        </p:nvSpPr>
        <p:spPr>
          <a:xfrm>
            <a:off x="822960" y="4818888"/>
            <a:ext cx="2011680" cy="594360"/>
          </a:xfrm>
          <a:prstGeom prst="rect">
            <a:avLst/>
          </a:prstGeom>
          <a:noFill/>
          <a:ln/>
        </p:spPr>
        <p:txBody>
          <a:bodyPr wrap="square" lIns="0" tIns="0" rIns="0" bIns="0" rtlCol="0" anchor="ctr"/>
          <a:lstStyle/>
          <a:p>
            <a:pPr indent="0" marL="0">
              <a:buNone/>
            </a:pPr>
            <a:r>
              <a:rPr lang="en-US" sz="950" b="1" spc="200" kern="0" dirty="0">
                <a:solidFill>
                  <a:schemeClr val="tx2"/>
                </a:solidFill>
              </a:rPr>
              <a:t>WHAT LINKS THEM</a:t>
            </a:r>
            <a:endParaRPr lang="en-US" sz="950" dirty="0"/>
          </a:p>
        </p:txBody>
      </p:sp>
      <p:sp>
        <p:nvSpPr>
          <p:cNvPr id="36" name="Shape 30"/>
          <p:cNvSpPr/>
          <p:nvPr/>
        </p:nvSpPr>
        <p:spPr>
          <a:xfrm>
            <a:off x="2862072" y="4956048"/>
            <a:ext cx="0" cy="320040"/>
          </a:xfrm>
          <a:prstGeom prst="line">
            <a:avLst/>
          </a:prstGeom>
          <a:noFill/>
          <a:ln w="19050">
            <a:solidFill>
              <a:srgbClr val="DEDBD5"/>
            </a:solidFill>
            <a:prstDash val="solid"/>
          </a:ln>
        </p:spPr>
      </p:sp>
      <p:sp>
        <p:nvSpPr>
          <p:cNvPr id="37" name="Shape 31"/>
          <p:cNvSpPr/>
          <p:nvPr/>
        </p:nvSpPr>
        <p:spPr>
          <a:xfrm>
            <a:off x="2971800" y="4887468"/>
            <a:ext cx="457200" cy="457200"/>
          </a:xfrm>
          <a:prstGeom prst="ellipse">
            <a:avLst/>
          </a:prstGeom>
          <a:solidFill>
            <a:schemeClr val="accent5"/>
          </a:solidFill>
          <a:ln/>
        </p:spPr>
      </p:sp>
      <p:pic>
        <p:nvPicPr>
          <p:cNvPr id="38" name="Image 4" descr="preencoded.png">    </p:cNvPr>
          <p:cNvPicPr>
            <a:picLocks noChangeAspect="1"/>
          </p:cNvPicPr>
          <p:nvPr/>
        </p:nvPicPr>
        <p:blipFill>
          <a:blip r:embed="rId5"/>
          <a:stretch>
            <a:fillRect/>
          </a:stretch>
        </p:blipFill>
        <p:spPr>
          <a:xfrm>
            <a:off x="3090672" y="5006340"/>
            <a:ext cx="219456" cy="219456"/>
          </a:xfrm>
          <a:prstGeom prst="rect">
            <a:avLst/>
          </a:prstGeom>
        </p:spPr>
      </p:pic>
      <p:sp>
        <p:nvSpPr>
          <p:cNvPr id="39" name="Text 32"/>
          <p:cNvSpPr txBox="1"/>
          <p:nvPr/>
        </p:nvSpPr>
        <p:spPr>
          <a:xfrm>
            <a:off x="3538728" y="4818888"/>
            <a:ext cx="2118360" cy="594360"/>
          </a:xfrm>
          <a:prstGeom prst="rect">
            <a:avLst/>
          </a:prstGeom>
          <a:noFill/>
          <a:ln/>
        </p:spPr>
        <p:txBody>
          <a:bodyPr wrap="square" lIns="0" tIns="0" rIns="0" bIns="0" rtlCol="0" anchor="ctr"/>
          <a:lstStyle/>
          <a:p>
            <a:pPr indent="0" marL="0">
              <a:buNone/>
            </a:pPr>
            <a:r>
              <a:rPr lang="en-US" sz="1050" dirty="0">
                <a:solidFill>
                  <a:schemeClr val="tx1"/>
                </a:solidFill>
              </a:rPr>
              <a:t>Child marriage</a:t>
            </a:r>
            <a:endParaRPr lang="en-US" sz="1050" dirty="0"/>
          </a:p>
        </p:txBody>
      </p:sp>
      <p:sp>
        <p:nvSpPr>
          <p:cNvPr id="40" name="Shape 33"/>
          <p:cNvSpPr/>
          <p:nvPr/>
        </p:nvSpPr>
        <p:spPr>
          <a:xfrm>
            <a:off x="5711952" y="4956048"/>
            <a:ext cx="0" cy="320040"/>
          </a:xfrm>
          <a:prstGeom prst="line">
            <a:avLst/>
          </a:prstGeom>
          <a:noFill/>
          <a:ln w="19050">
            <a:solidFill>
              <a:srgbClr val="DEDBD5"/>
            </a:solidFill>
            <a:prstDash val="solid"/>
          </a:ln>
        </p:spPr>
      </p:sp>
      <p:sp>
        <p:nvSpPr>
          <p:cNvPr id="41" name="Shape 34"/>
          <p:cNvSpPr/>
          <p:nvPr/>
        </p:nvSpPr>
        <p:spPr>
          <a:xfrm>
            <a:off x="5821680" y="4887468"/>
            <a:ext cx="457200" cy="457200"/>
          </a:xfrm>
          <a:prstGeom prst="ellipse">
            <a:avLst/>
          </a:prstGeom>
          <a:solidFill>
            <a:schemeClr val="accent5"/>
          </a:solidFill>
          <a:ln/>
        </p:spPr>
      </p:sp>
      <p:pic>
        <p:nvPicPr>
          <p:cNvPr id="42" name="Image 5" descr="preencoded.png">    </p:cNvPr>
          <p:cNvPicPr>
            <a:picLocks noChangeAspect="1"/>
          </p:cNvPicPr>
          <p:nvPr/>
        </p:nvPicPr>
        <p:blipFill>
          <a:blip r:embed="rId6"/>
          <a:stretch>
            <a:fillRect/>
          </a:stretch>
        </p:blipFill>
        <p:spPr>
          <a:xfrm>
            <a:off x="5940552" y="5006340"/>
            <a:ext cx="219456" cy="219456"/>
          </a:xfrm>
          <a:prstGeom prst="rect">
            <a:avLst/>
          </a:prstGeom>
        </p:spPr>
      </p:pic>
      <p:sp>
        <p:nvSpPr>
          <p:cNvPr id="43" name="Text 35"/>
          <p:cNvSpPr txBox="1"/>
          <p:nvPr/>
        </p:nvSpPr>
        <p:spPr>
          <a:xfrm>
            <a:off x="6388608" y="4818888"/>
            <a:ext cx="2118360" cy="594360"/>
          </a:xfrm>
          <a:prstGeom prst="rect">
            <a:avLst/>
          </a:prstGeom>
          <a:noFill/>
          <a:ln/>
        </p:spPr>
        <p:txBody>
          <a:bodyPr wrap="square" lIns="0" tIns="0" rIns="0" bIns="0" rtlCol="0" anchor="ctr"/>
          <a:lstStyle/>
          <a:p>
            <a:pPr indent="0" marL="0">
              <a:buNone/>
            </a:pPr>
            <a:r>
              <a:rPr lang="en-US" sz="1050" dirty="0">
                <a:solidFill>
                  <a:schemeClr val="tx1"/>
                </a:solidFill>
              </a:rPr>
              <a:t>Early sexual activity</a:t>
            </a:r>
            <a:endParaRPr lang="en-US" sz="1050" dirty="0"/>
          </a:p>
        </p:txBody>
      </p:sp>
      <p:sp>
        <p:nvSpPr>
          <p:cNvPr id="44" name="Shape 36"/>
          <p:cNvSpPr/>
          <p:nvPr/>
        </p:nvSpPr>
        <p:spPr>
          <a:xfrm>
            <a:off x="8561832" y="4956048"/>
            <a:ext cx="0" cy="320040"/>
          </a:xfrm>
          <a:prstGeom prst="line">
            <a:avLst/>
          </a:prstGeom>
          <a:noFill/>
          <a:ln w="19050">
            <a:solidFill>
              <a:srgbClr val="DEDBD5"/>
            </a:solidFill>
            <a:prstDash val="solid"/>
          </a:ln>
        </p:spPr>
      </p:sp>
      <p:sp>
        <p:nvSpPr>
          <p:cNvPr id="45" name="Shape 37"/>
          <p:cNvSpPr/>
          <p:nvPr/>
        </p:nvSpPr>
        <p:spPr>
          <a:xfrm>
            <a:off x="8671560" y="4887468"/>
            <a:ext cx="457200" cy="457200"/>
          </a:xfrm>
          <a:prstGeom prst="ellipse">
            <a:avLst/>
          </a:prstGeom>
          <a:solidFill>
            <a:schemeClr val="accent5"/>
          </a:solidFill>
          <a:ln/>
        </p:spPr>
      </p:sp>
      <p:pic>
        <p:nvPicPr>
          <p:cNvPr id="46" name="Image 6" descr="preencoded.png">    </p:cNvPr>
          <p:cNvPicPr>
            <a:picLocks noChangeAspect="1"/>
          </p:cNvPicPr>
          <p:nvPr/>
        </p:nvPicPr>
        <p:blipFill>
          <a:blip r:embed="rId7"/>
          <a:stretch>
            <a:fillRect/>
          </a:stretch>
        </p:blipFill>
        <p:spPr>
          <a:xfrm>
            <a:off x="8790432" y="5006340"/>
            <a:ext cx="219456" cy="219456"/>
          </a:xfrm>
          <a:prstGeom prst="rect">
            <a:avLst/>
          </a:prstGeom>
        </p:spPr>
      </p:pic>
      <p:sp>
        <p:nvSpPr>
          <p:cNvPr id="47" name="Text 38"/>
          <p:cNvSpPr txBox="1"/>
          <p:nvPr/>
        </p:nvSpPr>
        <p:spPr>
          <a:xfrm>
            <a:off x="9238488" y="4818888"/>
            <a:ext cx="2118360" cy="594360"/>
          </a:xfrm>
          <a:prstGeom prst="rect">
            <a:avLst/>
          </a:prstGeom>
          <a:noFill/>
          <a:ln/>
        </p:spPr>
        <p:txBody>
          <a:bodyPr wrap="square" lIns="0" tIns="0" rIns="0" bIns="0" rtlCol="0" anchor="ctr"/>
          <a:lstStyle/>
          <a:p>
            <a:pPr indent="0" marL="0">
              <a:buNone/>
            </a:pPr>
            <a:r>
              <a:rPr lang="en-US" sz="1050" dirty="0">
                <a:solidFill>
                  <a:schemeClr val="tx1"/>
                </a:solidFill>
              </a:rPr>
              <a:t>Early childbearing</a:t>
            </a:r>
            <a:endParaRPr lang="en-US" sz="1050" dirty="0"/>
          </a:p>
        </p:txBody>
      </p:sp>
      <p:sp>
        <p:nvSpPr>
          <p:cNvPr id="48"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49" name="Shape 40"/>
          <p:cNvSpPr/>
          <p:nvPr/>
        </p:nvSpPr>
        <p:spPr>
          <a:xfrm>
            <a:off x="548640" y="5559552"/>
            <a:ext cx="64008" cy="731520"/>
          </a:xfrm>
          <a:prstGeom prst="rect">
            <a:avLst/>
          </a:prstGeom>
          <a:solidFill>
            <a:schemeClr val="accent2"/>
          </a:solidFill>
          <a:ln/>
        </p:spPr>
      </p:sp>
      <p:pic>
        <p:nvPicPr>
          <p:cNvPr id="50" name="Image 7" descr="preencoded.png">    </p:cNvPr>
          <p:cNvPicPr>
            <a:picLocks noChangeAspect="1"/>
          </p:cNvPicPr>
          <p:nvPr/>
        </p:nvPicPr>
        <p:blipFill>
          <a:blip r:embed="rId8"/>
          <a:stretch>
            <a:fillRect/>
          </a:stretch>
        </p:blipFill>
        <p:spPr>
          <a:xfrm>
            <a:off x="868680" y="5742432"/>
            <a:ext cx="365760" cy="365760"/>
          </a:xfrm>
          <a:prstGeom prst="rect">
            <a:avLst/>
          </a:prstGeom>
        </p:spPr>
      </p:pic>
      <p:sp>
        <p:nvSpPr>
          <p:cNvPr id="51" name="Text 41"/>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INTERPRET</a:t>
            </a:r>
            <a:endParaRPr lang="en-US" sz="900" dirty="0"/>
          </a:p>
        </p:txBody>
      </p:sp>
      <p:sp>
        <p:nvSpPr>
          <p:cNvPr id="52" name="Shape 42"/>
          <p:cNvSpPr/>
          <p:nvPr/>
        </p:nvSpPr>
        <p:spPr>
          <a:xfrm>
            <a:off x="3063240" y="5696712"/>
            <a:ext cx="0" cy="457200"/>
          </a:xfrm>
          <a:prstGeom prst="line">
            <a:avLst/>
          </a:prstGeom>
          <a:noFill/>
          <a:ln w="12700">
            <a:solidFill>
              <a:srgbClr val="3C4C86"/>
            </a:solidFill>
            <a:prstDash val="solid"/>
          </a:ln>
        </p:spPr>
      </p:sp>
      <p:sp>
        <p:nvSpPr>
          <p:cNvPr id="53"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The overlap is strong, but it does not show that early sex or childbearing </a:t>
            </a:r>
            <a:pPr indent="0" marL="0">
              <a:buNone/>
            </a:pPr>
            <a:r>
              <a:rPr lang="en-US" sz="1300" b="1" dirty="0">
                <a:solidFill>
                  <a:schemeClr val="accent2"/>
                </a:solidFill>
              </a:rPr>
              <a:t>independently causes</a:t>
            </a:r>
            <a:pPr indent="0" marL="0">
              <a:buNone/>
            </a:pPr>
            <a:r>
              <a:rPr lang="en-US" sz="1300" b="1" dirty="0">
                <a:solidFill>
                  <a:schemeClr val="bg1"/>
                </a:solidFill>
              </a:rPr>
              <a:t> child marriage.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06</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ECONOMIC AND PROTECTION VULNERABILITY</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Poverty, Child Labour and Orphanhood</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Economic vulnerability is closely connected to child marriage.</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08 / 10</a:t>
            </a:r>
            <a:endParaRPr lang="en-US" sz="900" dirty="0"/>
          </a:p>
        </p:txBody>
      </p:sp>
      <p:sp>
        <p:nvSpPr>
          <p:cNvPr id="9" name="Child labour card"/>
          <p:cNvSpPr/>
          <p:nvPr/>
        </p:nvSpPr>
        <p:spPr>
          <a:xfrm>
            <a:off x="548640" y="1691640"/>
            <a:ext cx="3520440" cy="1783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Child labour card edge"/>
          <p:cNvSpPr/>
          <p:nvPr/>
        </p:nvSpPr>
        <p:spPr>
          <a:xfrm>
            <a:off x="548640" y="1691640"/>
            <a:ext cx="3520440" cy="54864"/>
          </a:xfrm>
          <a:prstGeom prst="rect">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777240" y="1874520"/>
            <a:ext cx="329184" cy="329184"/>
          </a:xfrm>
          <a:prstGeom prst="rect">
            <a:avLst/>
          </a:prstGeom>
        </p:spPr>
      </p:pic>
      <p:sp>
        <p:nvSpPr>
          <p:cNvPr id="12" name="Child labour header"/>
          <p:cNvSpPr txBox="1"/>
          <p:nvPr/>
        </p:nvSpPr>
        <p:spPr>
          <a:xfrm>
            <a:off x="1234440"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6"/>
                </a:solidFill>
              </a:rPr>
              <a:t>CHILD LABOUR</a:t>
            </a:r>
            <a:endParaRPr lang="en-US" sz="1050" dirty="0"/>
          </a:p>
        </p:txBody>
      </p:sp>
      <p:sp>
        <p:nvSpPr>
          <p:cNvPr id="13" name="Text 9"/>
          <p:cNvSpPr txBox="1"/>
          <p:nvPr/>
        </p:nvSpPr>
        <p:spPr>
          <a:xfrm>
            <a:off x="822960" y="2286000"/>
            <a:ext cx="1143000" cy="1051560"/>
          </a:xfrm>
          <a:prstGeom prst="rect">
            <a:avLst/>
          </a:prstGeom>
          <a:noFill/>
          <a:ln/>
        </p:spPr>
        <p:txBody>
          <a:bodyPr wrap="square" lIns="0" tIns="0" rIns="0" bIns="0" rtlCol="0" anchor="ctr"/>
          <a:lstStyle/>
          <a:p>
            <a:pPr indent="0" marL="0">
              <a:buNone/>
            </a:pPr>
            <a:r>
              <a:rPr lang="en-US" sz="3400" b="1" dirty="0">
                <a:solidFill>
                  <a:schemeClr val="accent6"/>
                </a:solidFill>
              </a:rPr>
              <a:t>2.14</a:t>
            </a:r>
            <a:endParaRPr lang="en-US" sz="3400" dirty="0"/>
          </a:p>
          <a:p>
            <a:pPr indent="0" marL="0">
              <a:buNone/>
            </a:pPr>
            <a:r>
              <a:rPr lang="en-US" sz="1100" b="1" dirty="0">
                <a:solidFill>
                  <a:schemeClr val="tx2"/>
                </a:solidFill>
              </a:rPr>
              <a:t>× the odds</a:t>
            </a:r>
            <a:endParaRPr lang="en-US" sz="3400" dirty="0"/>
          </a:p>
        </p:txBody>
      </p:sp>
      <p:sp>
        <p:nvSpPr>
          <p:cNvPr id="14" name="Text 10"/>
          <p:cNvSpPr txBox="1"/>
          <p:nvPr/>
        </p:nvSpPr>
        <p:spPr>
          <a:xfrm>
            <a:off x="2011680" y="2286000"/>
            <a:ext cx="1828800" cy="1051560"/>
          </a:xfrm>
          <a:prstGeom prst="rect">
            <a:avLst/>
          </a:prstGeom>
          <a:noFill/>
          <a:ln/>
        </p:spPr>
        <p:txBody>
          <a:bodyPr wrap="square" lIns="0" tIns="0" rIns="0" bIns="0" rtlCol="0" anchor="ctr"/>
          <a:lstStyle/>
          <a:p>
            <a:pPr indent="0" marL="0">
              <a:lnSpc>
                <a:spcPct val="110000"/>
              </a:lnSpc>
              <a:buNone/>
            </a:pPr>
            <a:r>
              <a:rPr lang="en-US" sz="1050" dirty="0">
                <a:solidFill>
                  <a:schemeClr val="tx1"/>
                </a:solidFill>
              </a:rPr>
              <a:t>Respondents involved in child labour had approximately 2.1 times the odds of reporting child marriage.</a:t>
            </a:r>
            <a:endParaRPr lang="en-US" sz="1050" dirty="0"/>
          </a:p>
        </p:txBody>
      </p:sp>
      <p:sp>
        <p:nvSpPr>
          <p:cNvPr id="15" name="Poverty card"/>
          <p:cNvSpPr/>
          <p:nvPr/>
        </p:nvSpPr>
        <p:spPr>
          <a:xfrm>
            <a:off x="4334256" y="1691640"/>
            <a:ext cx="3520440" cy="1783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6" name="Poverty card edge"/>
          <p:cNvSpPr/>
          <p:nvPr/>
        </p:nvSpPr>
        <p:spPr>
          <a:xfrm>
            <a:off x="4334256" y="1691640"/>
            <a:ext cx="3520440" cy="54864"/>
          </a:xfrm>
          <a:prstGeom prst="rect">
            <a:avLst/>
          </a:prstGeom>
          <a:solidFill>
            <a:schemeClr val="accent6"/>
          </a:solidFill>
          <a:ln/>
        </p:spPr>
      </p:sp>
      <p:pic>
        <p:nvPicPr>
          <p:cNvPr id="17" name="Image 2" descr="preencoded.png">    </p:cNvPr>
          <p:cNvPicPr>
            <a:picLocks noChangeAspect="1"/>
          </p:cNvPicPr>
          <p:nvPr/>
        </p:nvPicPr>
        <p:blipFill>
          <a:blip r:embed="rId3"/>
          <a:stretch>
            <a:fillRect/>
          </a:stretch>
        </p:blipFill>
        <p:spPr>
          <a:xfrm>
            <a:off x="4562856" y="1874520"/>
            <a:ext cx="329184" cy="329184"/>
          </a:xfrm>
          <a:prstGeom prst="rect">
            <a:avLst/>
          </a:prstGeom>
        </p:spPr>
      </p:pic>
      <p:sp>
        <p:nvSpPr>
          <p:cNvPr id="18" name="Poverty header"/>
          <p:cNvSpPr txBox="1"/>
          <p:nvPr/>
        </p:nvSpPr>
        <p:spPr>
          <a:xfrm>
            <a:off x="5020056"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6"/>
                </a:solidFill>
              </a:rPr>
              <a:t>POVERTY</a:t>
            </a:r>
            <a:endParaRPr lang="en-US" sz="1050" dirty="0"/>
          </a:p>
        </p:txBody>
      </p:sp>
      <p:sp>
        <p:nvSpPr>
          <p:cNvPr id="19" name="Text 14"/>
          <p:cNvSpPr txBox="1"/>
          <p:nvPr/>
        </p:nvSpPr>
        <p:spPr>
          <a:xfrm>
            <a:off x="4608576" y="2286000"/>
            <a:ext cx="1143000" cy="1051560"/>
          </a:xfrm>
          <a:prstGeom prst="rect">
            <a:avLst/>
          </a:prstGeom>
          <a:noFill/>
          <a:ln/>
        </p:spPr>
        <p:txBody>
          <a:bodyPr wrap="square" lIns="0" tIns="0" rIns="0" bIns="0" rtlCol="0" anchor="ctr"/>
          <a:lstStyle/>
          <a:p>
            <a:pPr indent="0" marL="0">
              <a:buNone/>
            </a:pPr>
            <a:r>
              <a:rPr lang="en-US" sz="3400" b="1" dirty="0">
                <a:solidFill>
                  <a:schemeClr val="accent6"/>
                </a:solidFill>
              </a:rPr>
              <a:t>1.94</a:t>
            </a:r>
            <a:endParaRPr lang="en-US" sz="3400" dirty="0"/>
          </a:p>
          <a:p>
            <a:pPr indent="0" marL="0">
              <a:buNone/>
            </a:pPr>
            <a:r>
              <a:rPr lang="en-US" sz="1100" b="1" dirty="0">
                <a:solidFill>
                  <a:schemeClr val="tx2"/>
                </a:solidFill>
              </a:rPr>
              <a:t>× the odds</a:t>
            </a:r>
            <a:endParaRPr lang="en-US" sz="3400" dirty="0"/>
          </a:p>
        </p:txBody>
      </p:sp>
      <p:sp>
        <p:nvSpPr>
          <p:cNvPr id="20" name="Text 15"/>
          <p:cNvSpPr txBox="1"/>
          <p:nvPr/>
        </p:nvSpPr>
        <p:spPr>
          <a:xfrm>
            <a:off x="5797296" y="2286000"/>
            <a:ext cx="1828800" cy="1051560"/>
          </a:xfrm>
          <a:prstGeom prst="rect">
            <a:avLst/>
          </a:prstGeom>
          <a:noFill/>
          <a:ln/>
        </p:spPr>
        <p:txBody>
          <a:bodyPr wrap="square" lIns="0" tIns="0" rIns="0" bIns="0" rtlCol="0" anchor="ctr"/>
          <a:lstStyle/>
          <a:p>
            <a:pPr indent="0" marL="0">
              <a:lnSpc>
                <a:spcPct val="110000"/>
              </a:lnSpc>
              <a:buNone/>
            </a:pPr>
            <a:r>
              <a:rPr lang="en-US" sz="1050" dirty="0">
                <a:solidFill>
                  <a:schemeClr val="tx1"/>
                </a:solidFill>
              </a:rPr>
              <a:t>Respondents experiencing poverty had approximately 1.9 times the odds of reporting child marriage.</a:t>
            </a:r>
            <a:endParaRPr lang="en-US" sz="1050" dirty="0"/>
          </a:p>
        </p:txBody>
      </p:sp>
      <p:sp>
        <p:nvSpPr>
          <p:cNvPr id="21" name="Orphanhood card"/>
          <p:cNvSpPr/>
          <p:nvPr/>
        </p:nvSpPr>
        <p:spPr>
          <a:xfrm>
            <a:off x="8119872" y="1691640"/>
            <a:ext cx="3520440" cy="178308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2" name="Orphanhood card edge"/>
          <p:cNvSpPr/>
          <p:nvPr/>
        </p:nvSpPr>
        <p:spPr>
          <a:xfrm>
            <a:off x="8119872" y="1691640"/>
            <a:ext cx="3520440" cy="54864"/>
          </a:xfrm>
          <a:prstGeom prst="rect">
            <a:avLst/>
          </a:prstGeom>
          <a:solidFill>
            <a:schemeClr val="accent4"/>
          </a:solidFill>
          <a:ln/>
        </p:spPr>
      </p:sp>
      <p:pic>
        <p:nvPicPr>
          <p:cNvPr id="23" name="Image 3" descr="preencoded.png">    </p:cNvPr>
          <p:cNvPicPr>
            <a:picLocks noChangeAspect="1"/>
          </p:cNvPicPr>
          <p:nvPr/>
        </p:nvPicPr>
        <p:blipFill>
          <a:blip r:embed="rId4"/>
          <a:stretch>
            <a:fillRect/>
          </a:stretch>
        </p:blipFill>
        <p:spPr>
          <a:xfrm>
            <a:off x="8348472" y="1874520"/>
            <a:ext cx="329184" cy="329184"/>
          </a:xfrm>
          <a:prstGeom prst="rect">
            <a:avLst/>
          </a:prstGeom>
        </p:spPr>
      </p:pic>
      <p:sp>
        <p:nvSpPr>
          <p:cNvPr id="24" name="Orphanhood header"/>
          <p:cNvSpPr txBox="1"/>
          <p:nvPr/>
        </p:nvSpPr>
        <p:spPr>
          <a:xfrm>
            <a:off x="8805672" y="1819656"/>
            <a:ext cx="2697480" cy="438912"/>
          </a:xfrm>
          <a:prstGeom prst="rect">
            <a:avLst/>
          </a:prstGeom>
          <a:noFill/>
          <a:ln/>
        </p:spPr>
        <p:txBody>
          <a:bodyPr wrap="square" lIns="0" tIns="0" rIns="0" bIns="0" rtlCol="0" anchor="ctr"/>
          <a:lstStyle/>
          <a:p>
            <a:pPr indent="0" marL="0">
              <a:buNone/>
            </a:pPr>
            <a:r>
              <a:rPr lang="en-US" sz="1050" b="1" spc="150" kern="0" dirty="0">
                <a:solidFill>
                  <a:schemeClr val="accent4"/>
                </a:solidFill>
              </a:rPr>
              <a:t>ORPHANHOOD</a:t>
            </a:r>
            <a:endParaRPr lang="en-US" sz="1050" dirty="0"/>
          </a:p>
        </p:txBody>
      </p:sp>
      <p:sp>
        <p:nvSpPr>
          <p:cNvPr id="25" name="Text 19"/>
          <p:cNvSpPr txBox="1"/>
          <p:nvPr/>
        </p:nvSpPr>
        <p:spPr>
          <a:xfrm>
            <a:off x="8394192" y="2286000"/>
            <a:ext cx="1143000" cy="1051560"/>
          </a:xfrm>
          <a:prstGeom prst="rect">
            <a:avLst/>
          </a:prstGeom>
          <a:noFill/>
          <a:ln/>
        </p:spPr>
        <p:txBody>
          <a:bodyPr wrap="square" lIns="0" tIns="0" rIns="0" bIns="0" rtlCol="0" anchor="ctr"/>
          <a:lstStyle/>
          <a:p>
            <a:pPr indent="0" marL="0">
              <a:buNone/>
            </a:pPr>
            <a:r>
              <a:rPr lang="en-US" sz="3400" b="1" dirty="0">
                <a:solidFill>
                  <a:schemeClr val="accent4"/>
                </a:solidFill>
              </a:rPr>
              <a:t>1.47</a:t>
            </a:r>
            <a:endParaRPr lang="en-US" sz="3400" dirty="0"/>
          </a:p>
          <a:p>
            <a:pPr indent="0" marL="0">
              <a:buNone/>
            </a:pPr>
            <a:r>
              <a:rPr lang="en-US" sz="1100" b="1" dirty="0">
                <a:solidFill>
                  <a:schemeClr val="tx2"/>
                </a:solidFill>
              </a:rPr>
              <a:t>significant</a:t>
            </a:r>
            <a:endParaRPr lang="en-US" sz="3400" dirty="0"/>
          </a:p>
        </p:txBody>
      </p:sp>
      <p:sp>
        <p:nvSpPr>
          <p:cNvPr id="26" name="Text 20"/>
          <p:cNvSpPr txBox="1"/>
          <p:nvPr/>
        </p:nvSpPr>
        <p:spPr>
          <a:xfrm>
            <a:off x="9582912" y="2286000"/>
            <a:ext cx="1828800" cy="1051560"/>
          </a:xfrm>
          <a:prstGeom prst="rect">
            <a:avLst/>
          </a:prstGeom>
          <a:noFill/>
          <a:ln/>
        </p:spPr>
        <p:txBody>
          <a:bodyPr wrap="square" lIns="0" tIns="0" rIns="0" bIns="0" rtlCol="0" anchor="ctr"/>
          <a:lstStyle/>
          <a:p>
            <a:pPr indent="0" marL="0">
              <a:lnSpc>
                <a:spcPct val="110000"/>
              </a:lnSpc>
              <a:buNone/>
            </a:pPr>
            <a:r>
              <a:rPr lang="en-US" sz="1050" dirty="0">
                <a:solidFill>
                  <a:schemeClr val="tx1"/>
                </a:solidFill>
              </a:rPr>
              <a:t>Double orphanhood was significantly associated with child marriage.</a:t>
            </a:r>
            <a:endParaRPr lang="en-US" sz="1050" dirty="0"/>
          </a:p>
        </p:txBody>
      </p:sp>
      <p:sp>
        <p:nvSpPr>
          <p:cNvPr id="27" name="Pathway panel"/>
          <p:cNvSpPr/>
          <p:nvPr/>
        </p:nvSpPr>
        <p:spPr>
          <a:xfrm>
            <a:off x="548640" y="3703320"/>
            <a:ext cx="11091672" cy="169164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8" name="Shape 22"/>
          <p:cNvSpPr/>
          <p:nvPr/>
        </p:nvSpPr>
        <p:spPr>
          <a:xfrm>
            <a:off x="548640" y="3703320"/>
            <a:ext cx="11091672" cy="54864"/>
          </a:xfrm>
          <a:prstGeom prst="rect">
            <a:avLst/>
          </a:prstGeom>
          <a:solidFill>
            <a:schemeClr val="tx2"/>
          </a:solidFill>
          <a:ln/>
        </p:spPr>
      </p:sp>
      <p:sp>
        <p:nvSpPr>
          <p:cNvPr id="29" name="Text 23"/>
          <p:cNvSpPr txBox="1"/>
          <p:nvPr/>
        </p:nvSpPr>
        <p:spPr>
          <a:xfrm>
            <a:off x="822960" y="3831336"/>
            <a:ext cx="10515600" cy="292608"/>
          </a:xfrm>
          <a:prstGeom prst="rect">
            <a:avLst/>
          </a:prstGeom>
          <a:noFill/>
          <a:ln/>
        </p:spPr>
        <p:txBody>
          <a:bodyPr wrap="square" lIns="0" tIns="0" rIns="0" bIns="0" rtlCol="0" anchor="ctr"/>
          <a:lstStyle/>
          <a:p>
            <a:pPr indent="0" marL="0">
              <a:buNone/>
            </a:pPr>
            <a:r>
              <a:rPr lang="en-US" sz="1000" b="1" spc="150" kern="0" dirty="0">
                <a:solidFill>
                  <a:schemeClr val="tx2"/>
                </a:solidFill>
              </a:rPr>
              <a:t>HOW THESE FACTORS MAY BE CONNECTED  (BASED ON QUALITATIVE EVIDENCE)</a:t>
            </a:r>
            <a:endParaRPr lang="en-US" sz="1000" dirty="0"/>
          </a:p>
        </p:txBody>
      </p:sp>
      <p:sp>
        <p:nvSpPr>
          <p:cNvPr id="30" name="Shape 24"/>
          <p:cNvSpPr/>
          <p:nvPr/>
        </p:nvSpPr>
        <p:spPr>
          <a:xfrm>
            <a:off x="822960" y="4361688"/>
            <a:ext cx="640080" cy="640080"/>
          </a:xfrm>
          <a:prstGeom prst="ellipse">
            <a:avLst/>
          </a:prstGeom>
          <a:solidFill>
            <a:schemeClr val="accent6"/>
          </a:solidFill>
          <a:ln/>
        </p:spPr>
      </p:sp>
      <p:pic>
        <p:nvPicPr>
          <p:cNvPr id="31" name="Image 4" descr="preencoded.png">    </p:cNvPr>
          <p:cNvPicPr>
            <a:picLocks noChangeAspect="1"/>
          </p:cNvPicPr>
          <p:nvPr/>
        </p:nvPicPr>
        <p:blipFill>
          <a:blip r:embed="rId5"/>
          <a:stretch>
            <a:fillRect/>
          </a:stretch>
        </p:blipFill>
        <p:spPr>
          <a:xfrm>
            <a:off x="987552" y="4526280"/>
            <a:ext cx="310896" cy="310896"/>
          </a:xfrm>
          <a:prstGeom prst="rect">
            <a:avLst/>
          </a:prstGeom>
        </p:spPr>
      </p:pic>
      <p:sp>
        <p:nvSpPr>
          <p:cNvPr id="32" name="Text 25"/>
          <p:cNvSpPr txBox="1"/>
          <p:nvPr/>
        </p:nvSpPr>
        <p:spPr>
          <a:xfrm>
            <a:off x="1572768" y="4297680"/>
            <a:ext cx="1581912" cy="777240"/>
          </a:xfrm>
          <a:prstGeom prst="rect">
            <a:avLst/>
          </a:prstGeom>
          <a:noFill/>
          <a:ln/>
        </p:spPr>
        <p:txBody>
          <a:bodyPr wrap="square" lIns="0" tIns="0" rIns="0" bIns="0" rtlCol="0" anchor="ctr"/>
          <a:lstStyle/>
          <a:p>
            <a:pPr indent="0" marL="0">
              <a:buNone/>
            </a:pPr>
            <a:r>
              <a:rPr lang="en-US" sz="1150" b="1" dirty="0">
                <a:solidFill>
                  <a:schemeClr val="tx2"/>
                </a:solidFill>
              </a:rPr>
              <a:t>Economic hardship</a:t>
            </a:r>
            <a:endParaRPr lang="en-US" sz="1150" dirty="0"/>
          </a:p>
          <a:p>
            <a:pPr indent="0" marL="0">
              <a:buNone/>
            </a:pPr>
            <a:r>
              <a:rPr lang="en-US" sz="1000" dirty="0">
                <a:solidFill>
                  <a:srgbClr val="5B5B5E"/>
                </a:solidFill>
              </a:rPr>
              <a:t>Poverty, hunger</a:t>
            </a:r>
            <a:endParaRPr lang="en-US" sz="1150" dirty="0"/>
          </a:p>
        </p:txBody>
      </p:sp>
      <p:pic>
        <p:nvPicPr>
          <p:cNvPr id="33" name="Image 5" descr="preencoded.png">    </p:cNvPr>
          <p:cNvPicPr>
            <a:picLocks noChangeAspect="1"/>
          </p:cNvPicPr>
          <p:nvPr/>
        </p:nvPicPr>
        <p:blipFill>
          <a:blip r:embed="rId6"/>
          <a:stretch>
            <a:fillRect/>
          </a:stretch>
        </p:blipFill>
        <p:spPr>
          <a:xfrm>
            <a:off x="3238500" y="4562856"/>
            <a:ext cx="237744" cy="237744"/>
          </a:xfrm>
          <a:prstGeom prst="rect">
            <a:avLst/>
          </a:prstGeom>
        </p:spPr>
      </p:pic>
      <p:sp>
        <p:nvSpPr>
          <p:cNvPr id="34" name="Shape 26"/>
          <p:cNvSpPr/>
          <p:nvPr/>
        </p:nvSpPr>
        <p:spPr>
          <a:xfrm>
            <a:off x="3560064" y="4361688"/>
            <a:ext cx="640080" cy="640080"/>
          </a:xfrm>
          <a:prstGeom prst="ellipse">
            <a:avLst/>
          </a:prstGeom>
          <a:solidFill>
            <a:schemeClr val="accent6"/>
          </a:solidFill>
          <a:ln/>
        </p:spPr>
      </p:sp>
      <p:pic>
        <p:nvPicPr>
          <p:cNvPr id="35" name="Image 6" descr="preencoded.png">    </p:cNvPr>
          <p:cNvPicPr>
            <a:picLocks noChangeAspect="1"/>
          </p:cNvPicPr>
          <p:nvPr/>
        </p:nvPicPr>
        <p:blipFill>
          <a:blip r:embed="rId7"/>
          <a:stretch>
            <a:fillRect/>
          </a:stretch>
        </p:blipFill>
        <p:spPr>
          <a:xfrm>
            <a:off x="3724656" y="4526280"/>
            <a:ext cx="310896" cy="310896"/>
          </a:xfrm>
          <a:prstGeom prst="rect">
            <a:avLst/>
          </a:prstGeom>
        </p:spPr>
      </p:pic>
      <p:sp>
        <p:nvSpPr>
          <p:cNvPr id="36" name="Text 27"/>
          <p:cNvSpPr txBox="1"/>
          <p:nvPr/>
        </p:nvSpPr>
        <p:spPr>
          <a:xfrm>
            <a:off x="4309872" y="4297680"/>
            <a:ext cx="1581912" cy="777240"/>
          </a:xfrm>
          <a:prstGeom prst="rect">
            <a:avLst/>
          </a:prstGeom>
          <a:noFill/>
          <a:ln/>
        </p:spPr>
        <p:txBody>
          <a:bodyPr wrap="square" lIns="0" tIns="0" rIns="0" bIns="0" rtlCol="0" anchor="ctr"/>
          <a:lstStyle/>
          <a:p>
            <a:pPr indent="0" marL="0">
              <a:buNone/>
            </a:pPr>
            <a:r>
              <a:rPr lang="en-US" sz="1150" b="1" dirty="0">
                <a:solidFill>
                  <a:schemeClr val="tx2"/>
                </a:solidFill>
              </a:rPr>
              <a:t>Child labour</a:t>
            </a:r>
            <a:endParaRPr lang="en-US" sz="1150" dirty="0"/>
          </a:p>
          <a:p>
            <a:pPr indent="0" marL="0">
              <a:buNone/>
            </a:pPr>
            <a:r>
              <a:rPr lang="en-US" sz="1000" dirty="0">
                <a:solidFill>
                  <a:srgbClr val="5B5B5E"/>
                </a:solidFill>
              </a:rPr>
              <a:t>School disruption</a:t>
            </a:r>
            <a:endParaRPr lang="en-US" sz="1150" dirty="0"/>
          </a:p>
        </p:txBody>
      </p:sp>
      <p:pic>
        <p:nvPicPr>
          <p:cNvPr id="37" name="Image 7" descr="preencoded.png">    </p:cNvPr>
          <p:cNvPicPr>
            <a:picLocks noChangeAspect="1"/>
          </p:cNvPicPr>
          <p:nvPr/>
        </p:nvPicPr>
        <p:blipFill>
          <a:blip r:embed="rId8"/>
          <a:stretch>
            <a:fillRect/>
          </a:stretch>
        </p:blipFill>
        <p:spPr>
          <a:xfrm>
            <a:off x="5975604" y="4562856"/>
            <a:ext cx="237744" cy="237744"/>
          </a:xfrm>
          <a:prstGeom prst="rect">
            <a:avLst/>
          </a:prstGeom>
        </p:spPr>
      </p:pic>
      <p:sp>
        <p:nvSpPr>
          <p:cNvPr id="38" name="Shape 28"/>
          <p:cNvSpPr/>
          <p:nvPr/>
        </p:nvSpPr>
        <p:spPr>
          <a:xfrm>
            <a:off x="6297168" y="4361688"/>
            <a:ext cx="640080" cy="640080"/>
          </a:xfrm>
          <a:prstGeom prst="ellipse">
            <a:avLst/>
          </a:prstGeom>
          <a:solidFill>
            <a:schemeClr val="accent4"/>
          </a:solidFill>
          <a:ln/>
        </p:spPr>
      </p:sp>
      <p:pic>
        <p:nvPicPr>
          <p:cNvPr id="39" name="Image 8" descr="preencoded.png">    </p:cNvPr>
          <p:cNvPicPr>
            <a:picLocks noChangeAspect="1"/>
          </p:cNvPicPr>
          <p:nvPr/>
        </p:nvPicPr>
        <p:blipFill>
          <a:blip r:embed="rId9"/>
          <a:stretch>
            <a:fillRect/>
          </a:stretch>
        </p:blipFill>
        <p:spPr>
          <a:xfrm>
            <a:off x="6461760" y="4526280"/>
            <a:ext cx="310896" cy="310896"/>
          </a:xfrm>
          <a:prstGeom prst="rect">
            <a:avLst/>
          </a:prstGeom>
        </p:spPr>
      </p:pic>
      <p:sp>
        <p:nvSpPr>
          <p:cNvPr id="40" name="Text 29"/>
          <p:cNvSpPr txBox="1"/>
          <p:nvPr/>
        </p:nvSpPr>
        <p:spPr>
          <a:xfrm>
            <a:off x="7046976" y="4297680"/>
            <a:ext cx="1581912" cy="777240"/>
          </a:xfrm>
          <a:prstGeom prst="rect">
            <a:avLst/>
          </a:prstGeom>
          <a:noFill/>
          <a:ln/>
        </p:spPr>
        <p:txBody>
          <a:bodyPr wrap="square" lIns="0" tIns="0" rIns="0" bIns="0" rtlCol="0" anchor="ctr"/>
          <a:lstStyle/>
          <a:p>
            <a:pPr indent="0" marL="0">
              <a:buNone/>
            </a:pPr>
            <a:r>
              <a:rPr lang="en-US" sz="1150" b="1" dirty="0">
                <a:solidFill>
                  <a:schemeClr val="tx2"/>
                </a:solidFill>
              </a:rPr>
              <a:t>Increased vulnerability</a:t>
            </a:r>
            <a:endParaRPr lang="en-US" sz="1150" dirty="0"/>
          </a:p>
          <a:p>
            <a:pPr indent="0" marL="0">
              <a:buNone/>
            </a:pPr>
            <a:r>
              <a:rPr lang="en-US" sz="1000" dirty="0">
                <a:solidFill>
                  <a:srgbClr val="5B5B5E"/>
                </a:solidFill>
              </a:rPr>
              <a:t>Loss of parental protection</a:t>
            </a:r>
            <a:endParaRPr lang="en-US" sz="1150" dirty="0"/>
          </a:p>
        </p:txBody>
      </p:sp>
      <p:pic>
        <p:nvPicPr>
          <p:cNvPr id="41" name="Image 9" descr="preencoded.png">    </p:cNvPr>
          <p:cNvPicPr>
            <a:picLocks noChangeAspect="1"/>
          </p:cNvPicPr>
          <p:nvPr/>
        </p:nvPicPr>
        <p:blipFill>
          <a:blip r:embed="rId10"/>
          <a:stretch>
            <a:fillRect/>
          </a:stretch>
        </p:blipFill>
        <p:spPr>
          <a:xfrm>
            <a:off x="8712708" y="4562856"/>
            <a:ext cx="237744" cy="237744"/>
          </a:xfrm>
          <a:prstGeom prst="rect">
            <a:avLst/>
          </a:prstGeom>
        </p:spPr>
      </p:pic>
      <p:sp>
        <p:nvSpPr>
          <p:cNvPr id="42" name="Shape 30"/>
          <p:cNvSpPr/>
          <p:nvPr/>
        </p:nvSpPr>
        <p:spPr>
          <a:xfrm>
            <a:off x="9034272" y="4361688"/>
            <a:ext cx="640080" cy="640080"/>
          </a:xfrm>
          <a:prstGeom prst="ellipse">
            <a:avLst/>
          </a:prstGeom>
          <a:solidFill>
            <a:schemeClr val="accent1"/>
          </a:solidFill>
          <a:ln/>
        </p:spPr>
      </p:sp>
      <p:pic>
        <p:nvPicPr>
          <p:cNvPr id="43" name="Image 10" descr="preencoded.png">    </p:cNvPr>
          <p:cNvPicPr>
            <a:picLocks noChangeAspect="1"/>
          </p:cNvPicPr>
          <p:nvPr/>
        </p:nvPicPr>
        <p:blipFill>
          <a:blip r:embed="rId11"/>
          <a:stretch>
            <a:fillRect/>
          </a:stretch>
        </p:blipFill>
        <p:spPr>
          <a:xfrm>
            <a:off x="9198864" y="4526280"/>
            <a:ext cx="310896" cy="310896"/>
          </a:xfrm>
          <a:prstGeom prst="rect">
            <a:avLst/>
          </a:prstGeom>
        </p:spPr>
      </p:pic>
      <p:sp>
        <p:nvSpPr>
          <p:cNvPr id="44" name="Text 31"/>
          <p:cNvSpPr txBox="1"/>
          <p:nvPr/>
        </p:nvSpPr>
        <p:spPr>
          <a:xfrm>
            <a:off x="9784080" y="4297680"/>
            <a:ext cx="1581912" cy="777240"/>
          </a:xfrm>
          <a:prstGeom prst="rect">
            <a:avLst/>
          </a:prstGeom>
          <a:noFill/>
          <a:ln/>
        </p:spPr>
        <p:txBody>
          <a:bodyPr wrap="square" lIns="0" tIns="0" rIns="0" bIns="0" rtlCol="0" anchor="ctr"/>
          <a:lstStyle/>
          <a:p>
            <a:pPr indent="0" marL="0">
              <a:buNone/>
            </a:pPr>
            <a:r>
              <a:rPr lang="en-US" sz="1150" b="1" dirty="0">
                <a:solidFill>
                  <a:schemeClr val="tx2"/>
                </a:solidFill>
              </a:rPr>
              <a:t>Higher risk of early marriage</a:t>
            </a:r>
            <a:endParaRPr lang="en-US" sz="1150" dirty="0"/>
          </a:p>
        </p:txBody>
      </p:sp>
      <p:sp>
        <p:nvSpPr>
          <p:cNvPr id="45"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46" name="Shape 33"/>
          <p:cNvSpPr/>
          <p:nvPr/>
        </p:nvSpPr>
        <p:spPr>
          <a:xfrm>
            <a:off x="548640" y="5559552"/>
            <a:ext cx="64008" cy="731520"/>
          </a:xfrm>
          <a:prstGeom prst="rect">
            <a:avLst/>
          </a:prstGeom>
          <a:solidFill>
            <a:schemeClr val="accent2"/>
          </a:solidFill>
          <a:ln/>
        </p:spPr>
      </p:sp>
      <p:pic>
        <p:nvPicPr>
          <p:cNvPr id="47" name="Image 11" descr="preencoded.png">    </p:cNvPr>
          <p:cNvPicPr>
            <a:picLocks noChangeAspect="1"/>
          </p:cNvPicPr>
          <p:nvPr/>
        </p:nvPicPr>
        <p:blipFill>
          <a:blip r:embed="rId12"/>
          <a:stretch>
            <a:fillRect/>
          </a:stretch>
        </p:blipFill>
        <p:spPr>
          <a:xfrm>
            <a:off x="868680" y="5742432"/>
            <a:ext cx="365760" cy="365760"/>
          </a:xfrm>
          <a:prstGeom prst="rect">
            <a:avLst/>
          </a:prstGeom>
        </p:spPr>
      </p:pic>
      <p:sp>
        <p:nvSpPr>
          <p:cNvPr id="48" name="Text 34"/>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CAUTION</a:t>
            </a:r>
            <a:endParaRPr lang="en-US" sz="900" dirty="0"/>
          </a:p>
        </p:txBody>
      </p:sp>
      <p:sp>
        <p:nvSpPr>
          <p:cNvPr id="49" name="Shape 35"/>
          <p:cNvSpPr/>
          <p:nvPr/>
        </p:nvSpPr>
        <p:spPr>
          <a:xfrm>
            <a:off x="3063240" y="5696712"/>
            <a:ext cx="0" cy="457200"/>
          </a:xfrm>
          <a:prstGeom prst="line">
            <a:avLst/>
          </a:prstGeom>
          <a:noFill/>
          <a:ln w="12700">
            <a:solidFill>
              <a:srgbClr val="3C4C86"/>
            </a:solidFill>
            <a:prstDash val="solid"/>
          </a:ln>
        </p:spPr>
      </p:sp>
      <p:sp>
        <p:nvSpPr>
          <p:cNvPr id="50"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This is an </a:t>
            </a:r>
            <a:pPr indent="0" marL="0">
              <a:buNone/>
            </a:pPr>
            <a:r>
              <a:rPr lang="en-US" sz="1300" b="1" dirty="0">
                <a:solidFill>
                  <a:schemeClr val="accent2"/>
                </a:solidFill>
              </a:rPr>
              <a:t>explanatory pathway</a:t>
            </a:r>
            <a:pPr indent="0" marL="0">
              <a:buNone/>
            </a:pPr>
            <a:r>
              <a:rPr lang="en-US" sz="1300" b="1" dirty="0">
                <a:solidFill>
                  <a:schemeClr val="bg1"/>
                </a:solidFill>
              </a:rPr>
              <a:t> from the combined evidence. Do not present it as a proven causal pathway.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number"/>
          <p:cNvSpPr txBox="1"/>
          <p:nvPr/>
        </p:nvSpPr>
        <p:spPr>
          <a:xfrm>
            <a:off x="676656" y="329184"/>
            <a:ext cx="603504" cy="502920"/>
          </a:xfrm>
          <a:prstGeom prst="rect">
            <a:avLst/>
          </a:prstGeom>
          <a:noFill/>
          <a:ln/>
        </p:spPr>
        <p:txBody>
          <a:bodyPr wrap="square" lIns="0" tIns="0" rIns="0" bIns="0" rtlCol="0" anchor="ctr"/>
          <a:lstStyle/>
          <a:p>
            <a:pPr indent="0" marL="0">
              <a:buNone/>
            </a:pPr>
            <a:r>
              <a:rPr lang="en-US" sz="2800" b="1" dirty="0">
                <a:solidFill>
                  <a:srgbClr val="C9C6C0"/>
                </a:solidFill>
              </a:rPr>
              <a:t>07</a:t>
            </a:r>
            <a:endParaRPr lang="en-US" sz="2800" dirty="0"/>
          </a:p>
        </p:txBody>
      </p:sp>
      <p:sp>
        <p:nvSpPr>
          <p:cNvPr id="3" name="Text 7"/>
          <p:cNvSpPr/>
          <p:nvPr>
            <p:ph idx="107" type="body" hasCustomPrompt="1"/>
          </p:nvPr>
        </p:nvSpPr>
        <p:spPr>
          <a:xfrm>
            <a:off x="1280160" y="310896"/>
            <a:ext cx="8686800" cy="256032"/>
          </a:xfrm>
          <a:prstGeom prst="rect">
            <a:avLst/>
          </a:prstGeom>
          <a:noFill/>
          <a:ln/>
        </p:spPr>
        <p:txBody>
          <a:bodyPr wrap="square" lIns="0" tIns="0" rIns="0" bIns="0" rtlCol="0"/>
          <a:lstStyle/>
          <a:p>
            <a:pPr indent="0" marL="0">
              <a:buNone/>
            </a:pPr>
            <a:r>
              <a:rPr lang="en-US" sz="900" b="1" spc="300" kern="0" dirty="0">
                <a:solidFill>
                  <a:schemeClr val="accent2"/>
                </a:solidFill>
              </a:rPr>
              <a:t>PROGRAMMING</a:t>
            </a:r>
            <a:endParaRPr lang="en-US" sz="900" dirty="0"/>
          </a:p>
        </p:txBody>
      </p:sp>
      <p:sp>
        <p:nvSpPr>
          <p:cNvPr id="4" name="Text 7"/>
          <p:cNvSpPr/>
          <p:nvPr>
            <p:ph idx="108" type="title" hasCustomPrompt="1"/>
          </p:nvPr>
        </p:nvSpPr>
        <p:spPr>
          <a:xfrm>
            <a:off x="1280160" y="566928"/>
            <a:ext cx="9418320" cy="502920"/>
          </a:xfrm>
          <a:prstGeom prst="rect">
            <a:avLst/>
          </a:prstGeom>
          <a:noFill/>
          <a:ln/>
        </p:spPr>
        <p:txBody>
          <a:bodyPr wrap="square" lIns="0" tIns="0" rIns="0" bIns="0" rtlCol="0" anchor="ctr"/>
          <a:lstStyle/>
          <a:p>
            <a:pPr algn="l" indent="0" marL="0">
              <a:buNone/>
            </a:pPr>
            <a:r>
              <a:rPr lang="en-US" sz="2600" b="1" dirty="0">
                <a:solidFill>
                  <a:schemeClr val="tx2"/>
                </a:solidFill>
              </a:rPr>
              <a:t>What Do These Findings Mean for Programming?</a:t>
            </a:r>
            <a:endParaRPr lang="en-US" sz="2600" dirty="0"/>
          </a:p>
        </p:txBody>
      </p:sp>
      <p:sp>
        <p:nvSpPr>
          <p:cNvPr id="5" name="Text 7"/>
          <p:cNvSpPr/>
          <p:nvPr>
            <p:ph idx="109" type="body" hasCustomPrompt="1"/>
          </p:nvPr>
        </p:nvSpPr>
        <p:spPr>
          <a:xfrm>
            <a:off x="1280160" y="1051560"/>
            <a:ext cx="9418320" cy="292608"/>
          </a:xfrm>
          <a:prstGeom prst="rect">
            <a:avLst/>
          </a:prstGeom>
          <a:noFill/>
          <a:ln/>
        </p:spPr>
        <p:txBody>
          <a:bodyPr wrap="square" lIns="0" tIns="0" rIns="0" bIns="0" rtlCol="0"/>
          <a:lstStyle/>
          <a:p>
            <a:pPr indent="0" marL="0">
              <a:buNone/>
            </a:pPr>
            <a:r>
              <a:rPr lang="en-US" sz="1200" dirty="0">
                <a:solidFill>
                  <a:srgbClr val="5B5B5E"/>
                </a:solidFill>
              </a:rPr>
              <a:t>Child marriage should be understood as part of a broader vulnerability system.</a:t>
            </a:r>
            <a:endParaRPr lang="en-US" sz="1200" dirty="0"/>
          </a:p>
        </p:txBody>
      </p:sp>
      <p:sp>
        <p:nvSpPr>
          <p:cNvPr id="6" name="Header icon disc"/>
          <p:cNvSpPr/>
          <p:nvPr/>
        </p:nvSpPr>
        <p:spPr>
          <a:xfrm>
            <a:off x="10954512" y="475488"/>
            <a:ext cx="685800" cy="685800"/>
          </a:xfrm>
          <a:prstGeom prst="ellipse">
            <a:avLst/>
          </a:prstGeom>
          <a:solidFill>
            <a:schemeClr val="bg1"/>
          </a:solidFill>
          <a:ln w="19050">
            <a:solidFill>
              <a:srgbClr val="DEDBD5"/>
            </a:solidFill>
            <a:prstDash val="solid"/>
          </a:ln>
          <a:effectLst>
            <a:outerShdw sx="100000" sy="100000" kx="0" ky="0" algn="bl" rotWithShape="0" blurRad="76200" dist="25400" dir="5400000">
              <a:srgbClr val="000000">
                <a:alpha val="14000"/>
              </a:srgbClr>
            </a:outerShdw>
          </a:effectLst>
        </p:spPr>
      </p:sp>
      <p:pic>
        <p:nvPicPr>
          <p:cNvPr id="7" name="Header icon" descr="preencoded.png">    </p:cNvPr>
          <p:cNvPicPr>
            <a:picLocks noChangeAspect="1"/>
          </p:cNvPicPr>
          <p:nvPr/>
        </p:nvPicPr>
        <p:blipFill>
          <a:blip r:embed="rId1"/>
          <a:stretch>
            <a:fillRect/>
          </a:stretch>
        </p:blipFill>
        <p:spPr>
          <a:xfrm>
            <a:off x="11128248" y="649224"/>
            <a:ext cx="338328" cy="338328"/>
          </a:xfrm>
          <a:prstGeom prst="rect">
            <a:avLst/>
          </a:prstGeom>
        </p:spPr>
      </p:pic>
      <p:sp>
        <p:nvSpPr>
          <p:cNvPr id="8" name="Page number"/>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09 / 10</a:t>
            </a:r>
            <a:endParaRPr lang="en-US" sz="900" dirty="0"/>
          </a:p>
        </p:txBody>
      </p:sp>
      <p:sp>
        <p:nvSpPr>
          <p:cNvPr id="9" name="Economic vulnerability box"/>
          <p:cNvSpPr/>
          <p:nvPr/>
        </p:nvSpPr>
        <p:spPr>
          <a:xfrm>
            <a:off x="548640" y="1691640"/>
            <a:ext cx="2514600" cy="16459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0" name="Shape 7"/>
          <p:cNvSpPr/>
          <p:nvPr/>
        </p:nvSpPr>
        <p:spPr>
          <a:xfrm>
            <a:off x="548640" y="1691640"/>
            <a:ext cx="2514600" cy="457200"/>
          </a:xfrm>
          <a:prstGeom prst="rect">
            <a:avLst/>
          </a:prstGeom>
          <a:solidFill>
            <a:schemeClr val="accent6"/>
          </a:solidFill>
          <a:ln/>
        </p:spPr>
      </p:sp>
      <p:sp>
        <p:nvSpPr>
          <p:cNvPr id="11" name="Text 8"/>
          <p:cNvSpPr txBox="1"/>
          <p:nvPr/>
        </p:nvSpPr>
        <p:spPr>
          <a:xfrm>
            <a:off x="685800" y="1691640"/>
            <a:ext cx="2240280" cy="457200"/>
          </a:xfrm>
          <a:prstGeom prst="rect">
            <a:avLst/>
          </a:prstGeom>
          <a:noFill/>
          <a:ln/>
        </p:spPr>
        <p:txBody>
          <a:bodyPr wrap="square" lIns="0" tIns="0" rIns="0" bIns="0" rtlCol="0" anchor="ctr"/>
          <a:lstStyle/>
          <a:p>
            <a:pPr indent="0" marL="0">
              <a:buNone/>
            </a:pPr>
            <a:r>
              <a:rPr lang="en-US" sz="950" b="1" spc="100" kern="0" dirty="0">
                <a:solidFill>
                  <a:schemeClr val="bg1"/>
                </a:solidFill>
              </a:rPr>
              <a:t>ECONOMIC VULNERABILITY</a:t>
            </a:r>
            <a:endParaRPr lang="en-US" sz="950" dirty="0"/>
          </a:p>
        </p:txBody>
      </p:sp>
      <p:pic>
        <p:nvPicPr>
          <p:cNvPr id="12" name="Image 1" descr="preencoded.png">    </p:cNvPr>
          <p:cNvPicPr>
            <a:picLocks noChangeAspect="1"/>
          </p:cNvPicPr>
          <p:nvPr/>
        </p:nvPicPr>
        <p:blipFill>
          <a:blip r:embed="rId2"/>
          <a:stretch>
            <a:fillRect/>
          </a:stretch>
        </p:blipFill>
        <p:spPr>
          <a:xfrm>
            <a:off x="731520" y="2350008"/>
            <a:ext cx="365760" cy="365760"/>
          </a:xfrm>
          <a:prstGeom prst="rect">
            <a:avLst/>
          </a:prstGeom>
        </p:spPr>
      </p:pic>
      <p:sp>
        <p:nvSpPr>
          <p:cNvPr id="13" name="Text 9"/>
          <p:cNvSpPr txBox="1"/>
          <p:nvPr/>
        </p:nvSpPr>
        <p:spPr>
          <a:xfrm>
            <a:off x="1234440" y="2258568"/>
            <a:ext cx="1691640" cy="11430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Poverty</a:t>
            </a:r>
            <a:endParaRPr lang="en-US" sz="1050" dirty="0"/>
          </a:p>
          <a:p>
            <a:pPr marL="152400" indent="-152400">
              <a:spcAft>
                <a:spcPts val="300"/>
              </a:spcAft>
              <a:buSzPct val="100000"/>
              <a:buChar char="•"/>
            </a:pPr>
            <a:r>
              <a:rPr lang="en-US" sz="1050" dirty="0">
                <a:solidFill>
                  <a:schemeClr val="tx1"/>
                </a:solidFill>
              </a:rPr>
              <a:t>Hunger</a:t>
            </a:r>
            <a:endParaRPr lang="en-US" sz="1050" dirty="0"/>
          </a:p>
          <a:p>
            <a:pPr marL="152400" indent="-152400">
              <a:spcAft>
                <a:spcPts val="300"/>
              </a:spcAft>
              <a:buSzPct val="100000"/>
              <a:buChar char="•"/>
            </a:pPr>
            <a:r>
              <a:rPr lang="en-US" sz="1050" dirty="0">
                <a:solidFill>
                  <a:schemeClr val="tx1"/>
                </a:solidFill>
              </a:rPr>
              <a:t>Child labour</a:t>
            </a:r>
            <a:endParaRPr lang="en-US" sz="1050" dirty="0"/>
          </a:p>
        </p:txBody>
      </p:sp>
      <p:pic>
        <p:nvPicPr>
          <p:cNvPr id="14" name="Image 2" descr="preencoded.png">    </p:cNvPr>
          <p:cNvPicPr>
            <a:picLocks noChangeAspect="1"/>
          </p:cNvPicPr>
          <p:nvPr/>
        </p:nvPicPr>
        <p:blipFill>
          <a:blip r:embed="rId3"/>
          <a:stretch>
            <a:fillRect/>
          </a:stretch>
        </p:blipFill>
        <p:spPr>
          <a:xfrm>
            <a:off x="3116580" y="2395728"/>
            <a:ext cx="237744" cy="237744"/>
          </a:xfrm>
          <a:prstGeom prst="rect">
            <a:avLst/>
          </a:prstGeom>
        </p:spPr>
      </p:pic>
      <p:sp>
        <p:nvSpPr>
          <p:cNvPr id="15" name="Education &amp; protection box"/>
          <p:cNvSpPr/>
          <p:nvPr/>
        </p:nvSpPr>
        <p:spPr>
          <a:xfrm>
            <a:off x="3407664" y="1691640"/>
            <a:ext cx="2514600" cy="16459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16" name="Shape 11"/>
          <p:cNvSpPr/>
          <p:nvPr/>
        </p:nvSpPr>
        <p:spPr>
          <a:xfrm>
            <a:off x="3407664" y="1691640"/>
            <a:ext cx="2514600" cy="457200"/>
          </a:xfrm>
          <a:prstGeom prst="rect">
            <a:avLst/>
          </a:prstGeom>
          <a:solidFill>
            <a:schemeClr val="accent4"/>
          </a:solidFill>
          <a:ln/>
        </p:spPr>
      </p:sp>
      <p:sp>
        <p:nvSpPr>
          <p:cNvPr id="17" name="Text 12"/>
          <p:cNvSpPr txBox="1"/>
          <p:nvPr/>
        </p:nvSpPr>
        <p:spPr>
          <a:xfrm>
            <a:off x="3544824" y="1691640"/>
            <a:ext cx="2240280" cy="457200"/>
          </a:xfrm>
          <a:prstGeom prst="rect">
            <a:avLst/>
          </a:prstGeom>
          <a:noFill/>
          <a:ln/>
        </p:spPr>
        <p:txBody>
          <a:bodyPr wrap="square" lIns="0" tIns="0" rIns="0" bIns="0" rtlCol="0" anchor="ctr"/>
          <a:lstStyle/>
          <a:p>
            <a:pPr indent="0" marL="0">
              <a:buNone/>
            </a:pPr>
            <a:r>
              <a:rPr lang="en-US" sz="950" b="1" spc="100" kern="0" dirty="0">
                <a:solidFill>
                  <a:schemeClr val="bg1"/>
                </a:solidFill>
              </a:rPr>
              <a:t>EDUCATION &amp; PROTECTION</a:t>
            </a:r>
            <a:endParaRPr lang="en-US" sz="950" dirty="0"/>
          </a:p>
        </p:txBody>
      </p:sp>
      <p:pic>
        <p:nvPicPr>
          <p:cNvPr id="18" name="Image 3" descr="preencoded.png">    </p:cNvPr>
          <p:cNvPicPr>
            <a:picLocks noChangeAspect="1"/>
          </p:cNvPicPr>
          <p:nvPr/>
        </p:nvPicPr>
        <p:blipFill>
          <a:blip r:embed="rId4"/>
          <a:stretch>
            <a:fillRect/>
          </a:stretch>
        </p:blipFill>
        <p:spPr>
          <a:xfrm>
            <a:off x="3590544" y="2350008"/>
            <a:ext cx="365760" cy="365760"/>
          </a:xfrm>
          <a:prstGeom prst="rect">
            <a:avLst/>
          </a:prstGeom>
        </p:spPr>
      </p:pic>
      <p:sp>
        <p:nvSpPr>
          <p:cNvPr id="19" name="Text 13"/>
          <p:cNvSpPr txBox="1"/>
          <p:nvPr/>
        </p:nvSpPr>
        <p:spPr>
          <a:xfrm>
            <a:off x="4093464" y="2258568"/>
            <a:ext cx="1691640" cy="11430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School disruption</a:t>
            </a:r>
            <a:endParaRPr lang="en-US" sz="1050" dirty="0"/>
          </a:p>
          <a:p>
            <a:pPr marL="152400" indent="-152400">
              <a:spcAft>
                <a:spcPts val="300"/>
              </a:spcAft>
              <a:buSzPct val="100000"/>
              <a:buChar char="•"/>
            </a:pPr>
            <a:r>
              <a:rPr lang="en-US" sz="1050" dirty="0">
                <a:solidFill>
                  <a:schemeClr val="tx1"/>
                </a:solidFill>
              </a:rPr>
              <a:t>Loss of parental protection</a:t>
            </a:r>
            <a:endParaRPr lang="en-US" sz="1050" dirty="0"/>
          </a:p>
          <a:p>
            <a:pPr marL="152400" indent="-152400">
              <a:spcAft>
                <a:spcPts val="300"/>
              </a:spcAft>
              <a:buSzPct val="100000"/>
              <a:buChar char="•"/>
            </a:pPr>
            <a:r>
              <a:rPr lang="en-US" sz="1050" dirty="0">
                <a:solidFill>
                  <a:schemeClr val="tx1"/>
                </a:solidFill>
              </a:rPr>
              <a:t>Exposure to harmful environments</a:t>
            </a:r>
            <a:endParaRPr lang="en-US" sz="1050" dirty="0"/>
          </a:p>
        </p:txBody>
      </p:sp>
      <p:pic>
        <p:nvPicPr>
          <p:cNvPr id="20" name="Image 4" descr="preencoded.png">    </p:cNvPr>
          <p:cNvPicPr>
            <a:picLocks noChangeAspect="1"/>
          </p:cNvPicPr>
          <p:nvPr/>
        </p:nvPicPr>
        <p:blipFill>
          <a:blip r:embed="rId5"/>
          <a:stretch>
            <a:fillRect/>
          </a:stretch>
        </p:blipFill>
        <p:spPr>
          <a:xfrm>
            <a:off x="5975604" y="2395728"/>
            <a:ext cx="237744" cy="237744"/>
          </a:xfrm>
          <a:prstGeom prst="rect">
            <a:avLst/>
          </a:prstGeom>
        </p:spPr>
      </p:pic>
      <p:sp>
        <p:nvSpPr>
          <p:cNvPr id="21" name="Sexual &amp; reproductive box"/>
          <p:cNvSpPr/>
          <p:nvPr/>
        </p:nvSpPr>
        <p:spPr>
          <a:xfrm>
            <a:off x="6266688" y="1691640"/>
            <a:ext cx="2514600" cy="16459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2" name="Shape 15"/>
          <p:cNvSpPr/>
          <p:nvPr/>
        </p:nvSpPr>
        <p:spPr>
          <a:xfrm>
            <a:off x="6266688" y="1691640"/>
            <a:ext cx="2514600" cy="457200"/>
          </a:xfrm>
          <a:prstGeom prst="rect">
            <a:avLst/>
          </a:prstGeom>
          <a:solidFill>
            <a:schemeClr val="accent5"/>
          </a:solidFill>
          <a:ln/>
        </p:spPr>
      </p:sp>
      <p:sp>
        <p:nvSpPr>
          <p:cNvPr id="23" name="Text 16"/>
          <p:cNvSpPr txBox="1"/>
          <p:nvPr/>
        </p:nvSpPr>
        <p:spPr>
          <a:xfrm>
            <a:off x="6403848" y="1691640"/>
            <a:ext cx="2240280" cy="457200"/>
          </a:xfrm>
          <a:prstGeom prst="rect">
            <a:avLst/>
          </a:prstGeom>
          <a:noFill/>
          <a:ln/>
        </p:spPr>
        <p:txBody>
          <a:bodyPr wrap="square" lIns="0" tIns="0" rIns="0" bIns="0" rtlCol="0" anchor="ctr"/>
          <a:lstStyle/>
          <a:p>
            <a:pPr indent="0" marL="0">
              <a:buNone/>
            </a:pPr>
            <a:r>
              <a:rPr lang="en-US" sz="950" b="1" spc="100" kern="0" dirty="0">
                <a:solidFill>
                  <a:schemeClr val="bg1"/>
                </a:solidFill>
              </a:rPr>
              <a:t>SEXUAL &amp; REPRODUCTIVE</a:t>
            </a:r>
            <a:endParaRPr lang="en-US" sz="950" dirty="0"/>
          </a:p>
        </p:txBody>
      </p:sp>
      <p:pic>
        <p:nvPicPr>
          <p:cNvPr id="24" name="Image 5" descr="preencoded.png">    </p:cNvPr>
          <p:cNvPicPr>
            <a:picLocks noChangeAspect="1"/>
          </p:cNvPicPr>
          <p:nvPr/>
        </p:nvPicPr>
        <p:blipFill>
          <a:blip r:embed="rId6"/>
          <a:stretch>
            <a:fillRect/>
          </a:stretch>
        </p:blipFill>
        <p:spPr>
          <a:xfrm>
            <a:off x="6449568" y="2350008"/>
            <a:ext cx="365760" cy="365760"/>
          </a:xfrm>
          <a:prstGeom prst="rect">
            <a:avLst/>
          </a:prstGeom>
        </p:spPr>
      </p:pic>
      <p:sp>
        <p:nvSpPr>
          <p:cNvPr id="25" name="Text 17"/>
          <p:cNvSpPr txBox="1"/>
          <p:nvPr/>
        </p:nvSpPr>
        <p:spPr>
          <a:xfrm>
            <a:off x="6952488" y="2258568"/>
            <a:ext cx="1691640" cy="11430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chemeClr val="tx1"/>
                </a:solidFill>
              </a:rPr>
              <a:t>Early sexual activity</a:t>
            </a:r>
            <a:endParaRPr lang="en-US" sz="1050" dirty="0"/>
          </a:p>
          <a:p>
            <a:pPr marL="152400" indent="-152400">
              <a:spcAft>
                <a:spcPts val="300"/>
              </a:spcAft>
              <a:buSzPct val="100000"/>
              <a:buChar char="•"/>
            </a:pPr>
            <a:r>
              <a:rPr lang="en-US" sz="1050" dirty="0">
                <a:solidFill>
                  <a:schemeClr val="tx1"/>
                </a:solidFill>
              </a:rPr>
              <a:t>Early pregnancy</a:t>
            </a:r>
            <a:endParaRPr lang="en-US" sz="1050" dirty="0"/>
          </a:p>
          <a:p>
            <a:pPr marL="152400" indent="-152400">
              <a:spcAft>
                <a:spcPts val="300"/>
              </a:spcAft>
              <a:buSzPct val="100000"/>
              <a:buChar char="•"/>
            </a:pPr>
            <a:r>
              <a:rPr lang="en-US" sz="1050" dirty="0">
                <a:solidFill>
                  <a:schemeClr val="tx1"/>
                </a:solidFill>
              </a:rPr>
              <a:t>Early childbearing</a:t>
            </a:r>
            <a:endParaRPr lang="en-US" sz="1050" dirty="0"/>
          </a:p>
        </p:txBody>
      </p:sp>
      <p:pic>
        <p:nvPicPr>
          <p:cNvPr id="26" name="Image 6" descr="preencoded.png">    </p:cNvPr>
          <p:cNvPicPr>
            <a:picLocks noChangeAspect="1"/>
          </p:cNvPicPr>
          <p:nvPr/>
        </p:nvPicPr>
        <p:blipFill>
          <a:blip r:embed="rId7"/>
          <a:stretch>
            <a:fillRect/>
          </a:stretch>
        </p:blipFill>
        <p:spPr>
          <a:xfrm>
            <a:off x="8834628" y="2395728"/>
            <a:ext cx="237744" cy="237744"/>
          </a:xfrm>
          <a:prstGeom prst="rect">
            <a:avLst/>
          </a:prstGeom>
        </p:spPr>
      </p:pic>
      <p:sp>
        <p:nvSpPr>
          <p:cNvPr id="27" name="Child marriage box"/>
          <p:cNvSpPr/>
          <p:nvPr/>
        </p:nvSpPr>
        <p:spPr>
          <a:xfrm>
            <a:off x="9125712" y="1691640"/>
            <a:ext cx="2514600" cy="164592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8" name="Shape 19"/>
          <p:cNvSpPr/>
          <p:nvPr/>
        </p:nvSpPr>
        <p:spPr>
          <a:xfrm>
            <a:off x="9125712" y="1691640"/>
            <a:ext cx="2514600" cy="457200"/>
          </a:xfrm>
          <a:prstGeom prst="rect">
            <a:avLst/>
          </a:prstGeom>
          <a:solidFill>
            <a:schemeClr val="accent1"/>
          </a:solidFill>
          <a:ln/>
        </p:spPr>
      </p:sp>
      <p:sp>
        <p:nvSpPr>
          <p:cNvPr id="29" name="Text 20"/>
          <p:cNvSpPr txBox="1"/>
          <p:nvPr/>
        </p:nvSpPr>
        <p:spPr>
          <a:xfrm>
            <a:off x="9262872" y="1691640"/>
            <a:ext cx="2240280" cy="457200"/>
          </a:xfrm>
          <a:prstGeom prst="rect">
            <a:avLst/>
          </a:prstGeom>
          <a:noFill/>
          <a:ln/>
        </p:spPr>
        <p:txBody>
          <a:bodyPr wrap="square" lIns="0" tIns="0" rIns="0" bIns="0" rtlCol="0" anchor="ctr"/>
          <a:lstStyle/>
          <a:p>
            <a:pPr indent="0" marL="0">
              <a:buNone/>
            </a:pPr>
            <a:r>
              <a:rPr lang="en-US" sz="950" b="1" spc="100" kern="0" dirty="0">
                <a:solidFill>
                  <a:schemeClr val="bg1"/>
                </a:solidFill>
              </a:rPr>
              <a:t>CHILD MARRIAGE</a:t>
            </a:r>
            <a:endParaRPr lang="en-US" sz="950" dirty="0"/>
          </a:p>
        </p:txBody>
      </p:sp>
      <p:pic>
        <p:nvPicPr>
          <p:cNvPr id="30" name="Image 7" descr="preencoded.png">    </p:cNvPr>
          <p:cNvPicPr>
            <a:picLocks noChangeAspect="1"/>
          </p:cNvPicPr>
          <p:nvPr/>
        </p:nvPicPr>
        <p:blipFill>
          <a:blip r:embed="rId8"/>
          <a:stretch>
            <a:fillRect/>
          </a:stretch>
        </p:blipFill>
        <p:spPr>
          <a:xfrm>
            <a:off x="10136124" y="2258568"/>
            <a:ext cx="493776" cy="493776"/>
          </a:xfrm>
          <a:prstGeom prst="rect">
            <a:avLst/>
          </a:prstGeom>
        </p:spPr>
      </p:pic>
      <p:sp>
        <p:nvSpPr>
          <p:cNvPr id="31" name="Text 21"/>
          <p:cNvSpPr txBox="1"/>
          <p:nvPr/>
        </p:nvSpPr>
        <p:spPr>
          <a:xfrm>
            <a:off x="9308592" y="2788920"/>
            <a:ext cx="2148840" cy="457200"/>
          </a:xfrm>
          <a:prstGeom prst="rect">
            <a:avLst/>
          </a:prstGeom>
          <a:noFill/>
          <a:ln/>
        </p:spPr>
        <p:txBody>
          <a:bodyPr wrap="square" lIns="0" tIns="0" rIns="0" bIns="0" rtlCol="0" anchor="ctr"/>
          <a:lstStyle/>
          <a:p>
            <a:pPr algn="ctr" indent="0" marL="0">
              <a:buNone/>
            </a:pPr>
            <a:r>
              <a:rPr lang="en-US" sz="1000" i="1" dirty="0">
                <a:solidFill>
                  <a:srgbClr val="5B5B5E"/>
                </a:solidFill>
              </a:rPr>
              <a:t>The outcome these vulnerabilities converge on</a:t>
            </a:r>
            <a:endParaRPr lang="en-US" sz="1000" dirty="0"/>
          </a:p>
        </p:txBody>
      </p:sp>
      <p:sp>
        <p:nvSpPr>
          <p:cNvPr id="32" name="What the evidence can support card"/>
          <p:cNvSpPr/>
          <p:nvPr/>
        </p:nvSpPr>
        <p:spPr>
          <a:xfrm>
            <a:off x="548640" y="3566160"/>
            <a:ext cx="5413248" cy="18288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3" name="What the evidence can support card edge"/>
          <p:cNvSpPr/>
          <p:nvPr/>
        </p:nvSpPr>
        <p:spPr>
          <a:xfrm>
            <a:off x="548640" y="3566160"/>
            <a:ext cx="5413248" cy="54864"/>
          </a:xfrm>
          <a:prstGeom prst="rect">
            <a:avLst/>
          </a:prstGeom>
          <a:solidFill>
            <a:schemeClr val="accent3"/>
          </a:solidFill>
          <a:ln/>
        </p:spPr>
      </p:sp>
      <p:pic>
        <p:nvPicPr>
          <p:cNvPr id="34" name="Image 8" descr="preencoded.png">    </p:cNvPr>
          <p:cNvPicPr>
            <a:picLocks noChangeAspect="1"/>
          </p:cNvPicPr>
          <p:nvPr/>
        </p:nvPicPr>
        <p:blipFill>
          <a:blip r:embed="rId9"/>
          <a:stretch>
            <a:fillRect/>
          </a:stretch>
        </p:blipFill>
        <p:spPr>
          <a:xfrm>
            <a:off x="777240" y="3749040"/>
            <a:ext cx="329184" cy="329184"/>
          </a:xfrm>
          <a:prstGeom prst="rect">
            <a:avLst/>
          </a:prstGeom>
        </p:spPr>
      </p:pic>
      <p:sp>
        <p:nvSpPr>
          <p:cNvPr id="35" name="What the evidence can support header"/>
          <p:cNvSpPr txBox="1"/>
          <p:nvPr/>
        </p:nvSpPr>
        <p:spPr>
          <a:xfrm>
            <a:off x="1234440" y="3694176"/>
            <a:ext cx="4590288" cy="438912"/>
          </a:xfrm>
          <a:prstGeom prst="rect">
            <a:avLst/>
          </a:prstGeom>
          <a:noFill/>
          <a:ln/>
        </p:spPr>
        <p:txBody>
          <a:bodyPr wrap="square" lIns="0" tIns="0" rIns="0" bIns="0" rtlCol="0" anchor="ctr"/>
          <a:lstStyle/>
          <a:p>
            <a:pPr indent="0" marL="0">
              <a:buNone/>
            </a:pPr>
            <a:r>
              <a:rPr lang="en-US" sz="1050" b="1" spc="150" kern="0" dirty="0">
                <a:solidFill>
                  <a:schemeClr val="accent3"/>
                </a:solidFill>
              </a:rPr>
              <a:t>WHAT THE EVIDENCE CAN SUPPORT</a:t>
            </a:r>
            <a:endParaRPr lang="en-US" sz="1050" dirty="0"/>
          </a:p>
        </p:txBody>
      </p:sp>
      <p:sp>
        <p:nvSpPr>
          <p:cNvPr id="36" name="Text 25"/>
          <p:cNvSpPr txBox="1"/>
          <p:nvPr/>
        </p:nvSpPr>
        <p:spPr>
          <a:xfrm>
            <a:off x="822960" y="4206240"/>
            <a:ext cx="2377440" cy="10515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Identify priority vulnerabilities</a:t>
            </a:r>
            <a:endParaRPr lang="en-US" sz="1150" dirty="0"/>
          </a:p>
          <a:p>
            <a:pPr marL="152400" indent="-152400">
              <a:spcAft>
                <a:spcPts val="500"/>
              </a:spcAft>
              <a:buSzPct val="100000"/>
              <a:buChar char="•"/>
            </a:pPr>
            <a:r>
              <a:rPr lang="en-US" sz="1150" dirty="0">
                <a:solidFill>
                  <a:schemeClr val="tx1"/>
                </a:solidFill>
              </a:rPr>
              <a:t>Generate research questions</a:t>
            </a:r>
            <a:endParaRPr lang="en-US" sz="1150" dirty="0"/>
          </a:p>
          <a:p>
            <a:pPr marL="152400" indent="-152400">
              <a:spcAft>
                <a:spcPts val="500"/>
              </a:spcAft>
              <a:buSzPct val="100000"/>
              <a:buChar char="•"/>
            </a:pPr>
            <a:r>
              <a:rPr lang="en-US" sz="1150" dirty="0">
                <a:solidFill>
                  <a:schemeClr val="tx1"/>
                </a:solidFill>
              </a:rPr>
              <a:t>Strengthen programme design</a:t>
            </a:r>
            <a:endParaRPr lang="en-US" sz="1150" dirty="0"/>
          </a:p>
        </p:txBody>
      </p:sp>
      <p:sp>
        <p:nvSpPr>
          <p:cNvPr id="37" name="Text 26"/>
          <p:cNvSpPr txBox="1"/>
          <p:nvPr/>
        </p:nvSpPr>
        <p:spPr>
          <a:xfrm>
            <a:off x="3291840" y="4206240"/>
            <a:ext cx="2514600" cy="10515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Identify areas for qualitative investigation</a:t>
            </a:r>
            <a:endParaRPr lang="en-US" sz="1150" dirty="0"/>
          </a:p>
          <a:p>
            <a:pPr marL="152400" indent="-152400">
              <a:spcAft>
                <a:spcPts val="500"/>
              </a:spcAft>
              <a:buSzPct val="100000"/>
              <a:buChar char="•"/>
            </a:pPr>
            <a:r>
              <a:rPr lang="en-US" sz="1150" dirty="0">
                <a:solidFill>
                  <a:schemeClr val="tx1"/>
                </a:solidFill>
              </a:rPr>
              <a:t>Explore convergence between quantitative and qualitative evidence</a:t>
            </a:r>
            <a:endParaRPr lang="en-US" sz="1150" dirty="0"/>
          </a:p>
        </p:txBody>
      </p:sp>
      <p:sp>
        <p:nvSpPr>
          <p:cNvPr id="38" name="What it should not be used for card"/>
          <p:cNvSpPr/>
          <p:nvPr/>
        </p:nvSpPr>
        <p:spPr>
          <a:xfrm>
            <a:off x="6227064" y="3566160"/>
            <a:ext cx="5413248" cy="182880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9" name="What it should not be used for card edge"/>
          <p:cNvSpPr/>
          <p:nvPr/>
        </p:nvSpPr>
        <p:spPr>
          <a:xfrm>
            <a:off x="6227064" y="3566160"/>
            <a:ext cx="5413248" cy="54864"/>
          </a:xfrm>
          <a:prstGeom prst="rect">
            <a:avLst/>
          </a:prstGeom>
          <a:solidFill>
            <a:srgbClr val="E2231A"/>
          </a:solidFill>
          <a:ln/>
        </p:spPr>
      </p:sp>
      <p:pic>
        <p:nvPicPr>
          <p:cNvPr id="40" name="Image 9" descr="preencoded.png">    </p:cNvPr>
          <p:cNvPicPr>
            <a:picLocks noChangeAspect="1"/>
          </p:cNvPicPr>
          <p:nvPr/>
        </p:nvPicPr>
        <p:blipFill>
          <a:blip r:embed="rId10"/>
          <a:stretch>
            <a:fillRect/>
          </a:stretch>
        </p:blipFill>
        <p:spPr>
          <a:xfrm>
            <a:off x="6455664" y="3749040"/>
            <a:ext cx="329184" cy="329184"/>
          </a:xfrm>
          <a:prstGeom prst="rect">
            <a:avLst/>
          </a:prstGeom>
        </p:spPr>
      </p:pic>
      <p:sp>
        <p:nvSpPr>
          <p:cNvPr id="41" name="What it should not be used for header"/>
          <p:cNvSpPr txBox="1"/>
          <p:nvPr/>
        </p:nvSpPr>
        <p:spPr>
          <a:xfrm>
            <a:off x="6912864" y="3694176"/>
            <a:ext cx="4590288" cy="438912"/>
          </a:xfrm>
          <a:prstGeom prst="rect">
            <a:avLst/>
          </a:prstGeom>
          <a:noFill/>
          <a:ln/>
        </p:spPr>
        <p:txBody>
          <a:bodyPr wrap="square" lIns="0" tIns="0" rIns="0" bIns="0" rtlCol="0" anchor="ctr"/>
          <a:lstStyle/>
          <a:p>
            <a:pPr indent="0" marL="0">
              <a:buNone/>
            </a:pPr>
            <a:r>
              <a:rPr lang="en-US" sz="1050" b="1" spc="150" kern="0" dirty="0">
                <a:solidFill>
                  <a:srgbClr val="E2231A"/>
                </a:solidFill>
              </a:rPr>
              <a:t>WHAT IT SHOULD NOT BE USED FOR</a:t>
            </a:r>
            <a:endParaRPr lang="en-US" sz="1050" dirty="0"/>
          </a:p>
        </p:txBody>
      </p:sp>
      <p:sp>
        <p:nvSpPr>
          <p:cNvPr id="42" name="Text 30"/>
          <p:cNvSpPr txBox="1"/>
          <p:nvPr/>
        </p:nvSpPr>
        <p:spPr>
          <a:xfrm>
            <a:off x="6492240" y="4206240"/>
            <a:ext cx="4846320" cy="10515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National prevalence estimates</a:t>
            </a:r>
            <a:endParaRPr lang="en-US" sz="1150" dirty="0"/>
          </a:p>
          <a:p>
            <a:pPr marL="152400" indent="-152400">
              <a:spcAft>
                <a:spcPts val="500"/>
              </a:spcAft>
              <a:buSzPct val="100000"/>
              <a:buChar char="•"/>
            </a:pPr>
            <a:r>
              <a:rPr lang="en-US" sz="1150" dirty="0">
                <a:solidFill>
                  <a:schemeClr val="tx1"/>
                </a:solidFill>
              </a:rPr>
              <a:t>Causal claims</a:t>
            </a:r>
            <a:endParaRPr lang="en-US" sz="1150" dirty="0"/>
          </a:p>
          <a:p>
            <a:pPr marL="152400" indent="-152400">
              <a:spcAft>
                <a:spcPts val="500"/>
              </a:spcAft>
              <a:buSzPct val="100000"/>
              <a:buChar char="•"/>
            </a:pPr>
            <a:r>
              <a:rPr lang="en-US" sz="1150" dirty="0">
                <a:solidFill>
                  <a:schemeClr val="tx1"/>
                </a:solidFill>
              </a:rPr>
              <a:t>Donor reporting of these figures as national statistics</a:t>
            </a:r>
            <a:endParaRPr lang="en-US" sz="1150" dirty="0"/>
          </a:p>
        </p:txBody>
      </p:sp>
      <p:sp>
        <p:nvSpPr>
          <p:cNvPr id="43" name="Key message bar"/>
          <p:cNvSpPr/>
          <p:nvPr/>
        </p:nvSpPr>
        <p:spPr>
          <a:xfrm>
            <a:off x="548640" y="5559552"/>
            <a:ext cx="11091672" cy="73152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44" name="Shape 32"/>
          <p:cNvSpPr/>
          <p:nvPr/>
        </p:nvSpPr>
        <p:spPr>
          <a:xfrm>
            <a:off x="548640" y="5559552"/>
            <a:ext cx="64008" cy="731520"/>
          </a:xfrm>
          <a:prstGeom prst="rect">
            <a:avLst/>
          </a:prstGeom>
          <a:solidFill>
            <a:schemeClr val="accent2"/>
          </a:solidFill>
          <a:ln/>
        </p:spPr>
      </p:sp>
      <p:pic>
        <p:nvPicPr>
          <p:cNvPr id="45" name="Image 10" descr="preencoded.png">    </p:cNvPr>
          <p:cNvPicPr>
            <a:picLocks noChangeAspect="1"/>
          </p:cNvPicPr>
          <p:nvPr/>
        </p:nvPicPr>
        <p:blipFill>
          <a:blip r:embed="rId11"/>
          <a:stretch>
            <a:fillRect/>
          </a:stretch>
        </p:blipFill>
        <p:spPr>
          <a:xfrm>
            <a:off x="868680" y="5742432"/>
            <a:ext cx="365760" cy="365760"/>
          </a:xfrm>
          <a:prstGeom prst="rect">
            <a:avLst/>
          </a:prstGeom>
        </p:spPr>
      </p:pic>
      <p:sp>
        <p:nvSpPr>
          <p:cNvPr id="46" name="Text 33"/>
          <p:cNvSpPr txBox="1"/>
          <p:nvPr/>
        </p:nvSpPr>
        <p:spPr>
          <a:xfrm>
            <a:off x="1417320" y="5559552"/>
            <a:ext cx="1600200" cy="731520"/>
          </a:xfrm>
          <a:prstGeom prst="rect">
            <a:avLst/>
          </a:prstGeom>
          <a:noFill/>
          <a:ln/>
        </p:spPr>
        <p:txBody>
          <a:bodyPr wrap="square" lIns="0" tIns="0" rIns="0" bIns="0" rtlCol="0" anchor="ctr"/>
          <a:lstStyle/>
          <a:p>
            <a:pPr indent="0" marL="0">
              <a:buNone/>
            </a:pPr>
            <a:r>
              <a:rPr lang="en-US" sz="900" b="1" spc="300" kern="0" dirty="0">
                <a:solidFill>
                  <a:schemeClr val="accent2"/>
                </a:solidFill>
              </a:rPr>
              <a:t>KEY MESSAGE</a:t>
            </a:r>
            <a:endParaRPr lang="en-US" sz="900" dirty="0"/>
          </a:p>
        </p:txBody>
      </p:sp>
      <p:sp>
        <p:nvSpPr>
          <p:cNvPr id="47" name="Shape 34"/>
          <p:cNvSpPr/>
          <p:nvPr/>
        </p:nvSpPr>
        <p:spPr>
          <a:xfrm>
            <a:off x="3063240" y="5696712"/>
            <a:ext cx="0" cy="457200"/>
          </a:xfrm>
          <a:prstGeom prst="line">
            <a:avLst/>
          </a:prstGeom>
          <a:noFill/>
          <a:ln w="12700">
            <a:solidFill>
              <a:srgbClr val="3C4C86"/>
            </a:solidFill>
            <a:prstDash val="solid"/>
          </a:ln>
        </p:spPr>
      </p:sp>
      <p:sp>
        <p:nvSpPr>
          <p:cNvPr id="48" name="Key message"/>
          <p:cNvSpPr txBox="1"/>
          <p:nvPr/>
        </p:nvSpPr>
        <p:spPr>
          <a:xfrm>
            <a:off x="3246120" y="5559552"/>
            <a:ext cx="8229600" cy="731520"/>
          </a:xfrm>
          <a:prstGeom prst="rect">
            <a:avLst/>
          </a:prstGeom>
          <a:noFill/>
          <a:ln/>
        </p:spPr>
        <p:txBody>
          <a:bodyPr wrap="square" lIns="0" tIns="0" rIns="0" bIns="0" rtlCol="0" anchor="ctr"/>
          <a:lstStyle/>
          <a:p>
            <a:pPr indent="0" marL="0">
              <a:buNone/>
            </a:pPr>
            <a:r>
              <a:rPr lang="en-US" sz="1300" b="1" dirty="0">
                <a:solidFill>
                  <a:schemeClr val="bg1"/>
                </a:solidFill>
              </a:rPr>
              <a:t>Quantitative findings show </a:t>
            </a:r>
            <a:pPr indent="0" marL="0">
              <a:buNone/>
            </a:pPr>
            <a:r>
              <a:rPr lang="en-US" sz="1300" b="1" dirty="0">
                <a:solidFill>
                  <a:schemeClr val="accent2"/>
                </a:solidFill>
              </a:rPr>
              <a:t>who is more vulnerable</a:t>
            </a:r>
            <a:pPr indent="0" marL="0">
              <a:buNone/>
            </a:pPr>
            <a:r>
              <a:rPr lang="en-US" sz="1300" b="1" dirty="0">
                <a:solidFill>
                  <a:schemeClr val="bg1"/>
                </a:solidFill>
              </a:rPr>
              <a:t> and how vulnerabilities intersect. Qualitative evidence explains </a:t>
            </a:r>
            <a:pPr indent="0" marL="0">
              <a:buNone/>
            </a:pPr>
            <a:r>
              <a:rPr lang="en-US" sz="1300" b="1" dirty="0">
                <a:solidFill>
                  <a:schemeClr val="accent2"/>
                </a:solidFill>
              </a:rPr>
              <a:t>how and why</a:t>
            </a:r>
            <a:pPr indent="0" marL="0">
              <a:buNone/>
            </a:pPr>
            <a:r>
              <a:rPr lang="en-US" sz="1300" b="1" dirty="0">
                <a:solidFill>
                  <a:schemeClr val="bg1"/>
                </a:solidFill>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11091672" cy="256032"/>
          </a:xfrm>
          <a:prstGeom prst="rect">
            <a:avLst/>
          </a:prstGeom>
          <a:noFill/>
          <a:ln/>
        </p:spPr>
        <p:txBody>
          <a:bodyPr wrap="square" lIns="0" tIns="0" rIns="0" bIns="0" rtlCol="0" anchor="ctr"/>
          <a:lstStyle/>
          <a:p>
            <a:pPr algn="ctr" indent="0" marL="0">
              <a:buNone/>
            </a:pPr>
            <a:r>
              <a:rPr lang="en-US" sz="900" b="1" spc="300" kern="0" dirty="0">
                <a:solidFill>
                  <a:schemeClr val="accent2"/>
                </a:solidFill>
              </a:rPr>
              <a:t>CLOSING</a:t>
            </a:r>
            <a:endParaRPr lang="en-US" sz="900" dirty="0"/>
          </a:p>
        </p:txBody>
      </p:sp>
      <p:sp>
        <p:nvSpPr>
          <p:cNvPr id="3" name="Closing title"/>
          <p:cNvSpPr txBox="1"/>
          <p:nvPr/>
        </p:nvSpPr>
        <p:spPr>
          <a:xfrm>
            <a:off x="548640" y="777240"/>
            <a:ext cx="11091672" cy="548640"/>
          </a:xfrm>
          <a:prstGeom prst="rect">
            <a:avLst/>
          </a:prstGeom>
          <a:noFill/>
          <a:ln/>
        </p:spPr>
        <p:txBody>
          <a:bodyPr wrap="square" lIns="0" tIns="0" rIns="0" bIns="0" rtlCol="0" anchor="ctr"/>
          <a:lstStyle/>
          <a:p>
            <a:pPr algn="ctr" indent="0" marL="0">
              <a:buNone/>
            </a:pPr>
            <a:r>
              <a:rPr lang="en-US" sz="2800" b="1" dirty="0">
                <a:solidFill>
                  <a:schemeClr val="tx2"/>
                </a:solidFill>
              </a:rPr>
              <a:t>From Associations to Action</a:t>
            </a:r>
            <a:endParaRPr lang="en-US" sz="2800" dirty="0"/>
          </a:p>
        </p:txBody>
      </p:sp>
      <p:sp>
        <p:nvSpPr>
          <p:cNvPr id="4" name="Shape 2"/>
          <p:cNvSpPr/>
          <p:nvPr/>
        </p:nvSpPr>
        <p:spPr>
          <a:xfrm>
            <a:off x="5550408" y="1463040"/>
            <a:ext cx="1097280" cy="0"/>
          </a:xfrm>
          <a:prstGeom prst="line">
            <a:avLst/>
          </a:prstGeom>
          <a:noFill/>
          <a:ln w="38100">
            <a:solidFill>
              <a:srgbClr val="1CABE2"/>
            </a:solidFill>
            <a:prstDash val="solid"/>
          </a:ln>
        </p:spPr>
      </p:sp>
      <p:sp>
        <p:nvSpPr>
          <p:cNvPr id="5" name="Text 3"/>
          <p:cNvSpPr txBox="1"/>
          <p:nvPr/>
        </p:nvSpPr>
        <p:spPr>
          <a:xfrm>
            <a:off x="548640" y="1627632"/>
            <a:ext cx="11091672" cy="320040"/>
          </a:xfrm>
          <a:prstGeom prst="rect">
            <a:avLst/>
          </a:prstGeom>
          <a:noFill/>
          <a:ln/>
        </p:spPr>
        <p:txBody>
          <a:bodyPr wrap="square" lIns="0" tIns="0" rIns="0" bIns="0" rtlCol="0" anchor="ctr"/>
          <a:lstStyle/>
          <a:p>
            <a:pPr algn="ctr" indent="0" marL="0">
              <a:buNone/>
            </a:pPr>
            <a:r>
              <a:rPr lang="en-US" sz="1200" dirty="0">
                <a:solidFill>
                  <a:srgbClr val="5B5B5E"/>
                </a:solidFill>
              </a:rPr>
              <a:t>The findings matter most when they </a:t>
            </a:r>
            <a:pPr algn="ctr" indent="0" marL="0">
              <a:buNone/>
            </a:pPr>
            <a:r>
              <a:rPr lang="en-US" sz="1200" b="1" dirty="0">
                <a:solidFill>
                  <a:schemeClr val="accent1"/>
                </a:solidFill>
              </a:rPr>
              <a:t>change what we investigate and how we programme</a:t>
            </a:r>
            <a:pPr algn="ctr" indent="0" marL="0">
              <a:buNone/>
            </a:pPr>
            <a:r>
              <a:rPr lang="en-US" sz="1200" dirty="0">
                <a:solidFill>
                  <a:srgbClr val="5B5B5E"/>
                </a:solidFill>
              </a:rPr>
              <a:t>.</a:t>
            </a:r>
            <a:endParaRPr lang="en-US" sz="1200" dirty="0"/>
          </a:p>
        </p:txBody>
      </p:sp>
      <p:sp>
        <p:nvSpPr>
          <p:cNvPr id="6" name="1.  Identify the patterns card"/>
          <p:cNvSpPr/>
          <p:nvPr/>
        </p:nvSpPr>
        <p:spPr>
          <a:xfrm>
            <a:off x="540868" y="2423160"/>
            <a:ext cx="3337560" cy="260604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7" name="Shape 5"/>
          <p:cNvSpPr/>
          <p:nvPr/>
        </p:nvSpPr>
        <p:spPr>
          <a:xfrm>
            <a:off x="540868" y="2423160"/>
            <a:ext cx="3337560" cy="658368"/>
          </a:xfrm>
          <a:prstGeom prst="rect">
            <a:avLst/>
          </a:prstGeom>
          <a:solidFill>
            <a:schemeClr val="tx2"/>
          </a:solidFill>
          <a:ln/>
        </p:spPr>
      </p:sp>
      <p:sp>
        <p:nvSpPr>
          <p:cNvPr id="8" name="Shape 6"/>
          <p:cNvSpPr/>
          <p:nvPr/>
        </p:nvSpPr>
        <p:spPr>
          <a:xfrm>
            <a:off x="1880464" y="2039112"/>
            <a:ext cx="658368" cy="658368"/>
          </a:xfrm>
          <a:prstGeom prst="ellipse">
            <a:avLst/>
          </a:prstGeom>
          <a:solidFill>
            <a:schemeClr val="bg1"/>
          </a:solidFill>
          <a:ln w="25400">
            <a:solidFill>
              <a:srgbClr val="213063"/>
            </a:solidFill>
            <a:prstDash val="solid"/>
          </a:ln>
        </p:spPr>
      </p:sp>
      <p:pic>
        <p:nvPicPr>
          <p:cNvPr id="9" name="Image 0" descr="preencoded.png">    </p:cNvPr>
          <p:cNvPicPr>
            <a:picLocks noChangeAspect="1"/>
          </p:cNvPicPr>
          <p:nvPr/>
        </p:nvPicPr>
        <p:blipFill>
          <a:blip r:embed="rId1"/>
          <a:stretch>
            <a:fillRect/>
          </a:stretch>
        </p:blipFill>
        <p:spPr>
          <a:xfrm>
            <a:off x="2054200" y="2212848"/>
            <a:ext cx="310896" cy="310896"/>
          </a:xfrm>
          <a:prstGeom prst="rect">
            <a:avLst/>
          </a:prstGeom>
        </p:spPr>
      </p:pic>
      <p:sp>
        <p:nvSpPr>
          <p:cNvPr id="10" name="Text 7"/>
          <p:cNvSpPr txBox="1"/>
          <p:nvPr/>
        </p:nvSpPr>
        <p:spPr>
          <a:xfrm>
            <a:off x="540868" y="2715768"/>
            <a:ext cx="3337560" cy="347472"/>
          </a:xfrm>
          <a:prstGeom prst="rect">
            <a:avLst/>
          </a:prstGeom>
          <a:noFill/>
          <a:ln/>
        </p:spPr>
        <p:txBody>
          <a:bodyPr wrap="square" lIns="0" tIns="0" rIns="0" bIns="0" rtlCol="0" anchor="ctr"/>
          <a:lstStyle/>
          <a:p>
            <a:pPr algn="ctr" indent="0" marL="0">
              <a:buNone/>
            </a:pPr>
            <a:r>
              <a:rPr lang="en-US" sz="1050" b="1" spc="150" kern="0" dirty="0">
                <a:solidFill>
                  <a:schemeClr val="bg1"/>
                </a:solidFill>
              </a:rPr>
              <a:t>1.  IDENTIFY THE PATTERNS</a:t>
            </a:r>
            <a:endParaRPr lang="en-US" sz="1050" dirty="0"/>
          </a:p>
        </p:txBody>
      </p:sp>
      <p:sp>
        <p:nvSpPr>
          <p:cNvPr id="11" name="Text 8"/>
          <p:cNvSpPr txBox="1"/>
          <p:nvPr/>
        </p:nvSpPr>
        <p:spPr>
          <a:xfrm>
            <a:off x="723748" y="3154680"/>
            <a:ext cx="2971800" cy="457200"/>
          </a:xfrm>
          <a:prstGeom prst="rect">
            <a:avLst/>
          </a:prstGeom>
          <a:noFill/>
          <a:ln/>
        </p:spPr>
        <p:txBody>
          <a:bodyPr wrap="square" lIns="0" tIns="0" rIns="0" bIns="0" rtlCol="0" anchor="ctr"/>
          <a:lstStyle/>
          <a:p>
            <a:pPr algn="ctr" indent="0" marL="0">
              <a:buNone/>
            </a:pPr>
            <a:r>
              <a:rPr lang="en-US" sz="1050" b="1" dirty="0">
                <a:solidFill>
                  <a:schemeClr val="accent1"/>
                </a:solidFill>
              </a:rPr>
              <a:t>Six factors cluster around reported child marriage</a:t>
            </a:r>
            <a:endParaRPr lang="en-US" sz="1050" dirty="0"/>
          </a:p>
        </p:txBody>
      </p:sp>
      <p:pic>
        <p:nvPicPr>
          <p:cNvPr id="12" name="Image 1" descr="preencoded.png">    </p:cNvPr>
          <p:cNvPicPr>
            <a:picLocks noChangeAspect="1"/>
          </p:cNvPicPr>
          <p:nvPr/>
        </p:nvPicPr>
        <p:blipFill>
          <a:blip r:embed="rId2"/>
          <a:stretch>
            <a:fillRect/>
          </a:stretch>
        </p:blipFill>
        <p:spPr>
          <a:xfrm>
            <a:off x="1063600" y="3703320"/>
            <a:ext cx="310896" cy="310896"/>
          </a:xfrm>
          <a:prstGeom prst="rect">
            <a:avLst/>
          </a:prstGeom>
        </p:spPr>
      </p:pic>
      <p:sp>
        <p:nvSpPr>
          <p:cNvPr id="13" name="Text 9"/>
          <p:cNvSpPr txBox="1"/>
          <p:nvPr/>
        </p:nvSpPr>
        <p:spPr>
          <a:xfrm>
            <a:off x="7237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Early sex and childbearing</a:t>
            </a:r>
            <a:endParaRPr lang="en-US" sz="900" dirty="0"/>
          </a:p>
        </p:txBody>
      </p:sp>
      <p:pic>
        <p:nvPicPr>
          <p:cNvPr id="14" name="Image 2" descr="preencoded.png">    </p:cNvPr>
          <p:cNvPicPr>
            <a:picLocks noChangeAspect="1"/>
          </p:cNvPicPr>
          <p:nvPr/>
        </p:nvPicPr>
        <p:blipFill>
          <a:blip r:embed="rId3"/>
          <a:stretch>
            <a:fillRect/>
          </a:stretch>
        </p:blipFill>
        <p:spPr>
          <a:xfrm>
            <a:off x="2054200" y="3703320"/>
            <a:ext cx="310896" cy="310896"/>
          </a:xfrm>
          <a:prstGeom prst="rect">
            <a:avLst/>
          </a:prstGeom>
        </p:spPr>
      </p:pic>
      <p:sp>
        <p:nvSpPr>
          <p:cNvPr id="15" name="Text 10"/>
          <p:cNvSpPr txBox="1"/>
          <p:nvPr/>
        </p:nvSpPr>
        <p:spPr>
          <a:xfrm>
            <a:off x="17143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Poverty and child labour</a:t>
            </a:r>
            <a:endParaRPr lang="en-US" sz="900" dirty="0"/>
          </a:p>
        </p:txBody>
      </p:sp>
      <p:pic>
        <p:nvPicPr>
          <p:cNvPr id="16" name="Image 3" descr="preencoded.png">    </p:cNvPr>
          <p:cNvPicPr>
            <a:picLocks noChangeAspect="1"/>
          </p:cNvPicPr>
          <p:nvPr/>
        </p:nvPicPr>
        <p:blipFill>
          <a:blip r:embed="rId4"/>
          <a:stretch>
            <a:fillRect/>
          </a:stretch>
        </p:blipFill>
        <p:spPr>
          <a:xfrm>
            <a:off x="3044800" y="3703320"/>
            <a:ext cx="310896" cy="310896"/>
          </a:xfrm>
          <a:prstGeom prst="rect">
            <a:avLst/>
          </a:prstGeom>
        </p:spPr>
      </p:pic>
      <p:sp>
        <p:nvSpPr>
          <p:cNvPr id="17" name="Text 11"/>
          <p:cNvSpPr txBox="1"/>
          <p:nvPr/>
        </p:nvSpPr>
        <p:spPr>
          <a:xfrm>
            <a:off x="27049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Orphanhood</a:t>
            </a:r>
            <a:endParaRPr lang="en-US" sz="900" dirty="0"/>
          </a:p>
        </p:txBody>
      </p:sp>
      <p:sp>
        <p:nvSpPr>
          <p:cNvPr id="18" name="Shape 12"/>
          <p:cNvSpPr/>
          <p:nvPr/>
        </p:nvSpPr>
        <p:spPr>
          <a:xfrm>
            <a:off x="769468" y="4526280"/>
            <a:ext cx="2880360" cy="0"/>
          </a:xfrm>
          <a:prstGeom prst="line">
            <a:avLst/>
          </a:prstGeom>
          <a:noFill/>
          <a:ln w="19050">
            <a:solidFill>
              <a:srgbClr val="ECEAE5"/>
            </a:solidFill>
            <a:prstDash val="solid"/>
          </a:ln>
        </p:spPr>
      </p:sp>
      <p:sp>
        <p:nvSpPr>
          <p:cNvPr id="19" name="Text 13"/>
          <p:cNvSpPr txBox="1"/>
          <p:nvPr/>
        </p:nvSpPr>
        <p:spPr>
          <a:xfrm>
            <a:off x="678028" y="4581144"/>
            <a:ext cx="3063240" cy="384048"/>
          </a:xfrm>
          <a:prstGeom prst="rect">
            <a:avLst/>
          </a:prstGeom>
          <a:noFill/>
          <a:ln/>
        </p:spPr>
        <p:txBody>
          <a:bodyPr wrap="square" lIns="0" tIns="0" rIns="0" bIns="0" rtlCol="0" anchor="ctr"/>
          <a:lstStyle/>
          <a:p>
            <a:pPr algn="ctr" indent="0" marL="0">
              <a:buNone/>
            </a:pPr>
            <a:r>
              <a:rPr lang="en-US" sz="950" i="1" dirty="0">
                <a:solidFill>
                  <a:srgbClr val="5B5B5E"/>
                </a:solidFill>
              </a:rPr>
              <a:t>Strongest: early reproductive experiences.</a:t>
            </a:r>
            <a:endParaRPr lang="en-US" sz="950" dirty="0"/>
          </a:p>
        </p:txBody>
      </p:sp>
      <p:pic>
        <p:nvPicPr>
          <p:cNvPr id="20" name="Image 4" descr="preencoded.png">    </p:cNvPr>
          <p:cNvPicPr>
            <a:picLocks noChangeAspect="1"/>
          </p:cNvPicPr>
          <p:nvPr/>
        </p:nvPicPr>
        <p:blipFill>
          <a:blip r:embed="rId5"/>
          <a:stretch>
            <a:fillRect/>
          </a:stretch>
        </p:blipFill>
        <p:spPr>
          <a:xfrm>
            <a:off x="4043020" y="3616452"/>
            <a:ext cx="219456" cy="219456"/>
          </a:xfrm>
          <a:prstGeom prst="rect">
            <a:avLst/>
          </a:prstGeom>
        </p:spPr>
      </p:pic>
      <p:sp>
        <p:nvSpPr>
          <p:cNvPr id="21" name="2.  Interpret with care card"/>
          <p:cNvSpPr/>
          <p:nvPr/>
        </p:nvSpPr>
        <p:spPr>
          <a:xfrm>
            <a:off x="4427068" y="2423160"/>
            <a:ext cx="3337560" cy="260604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22" name="Shape 15"/>
          <p:cNvSpPr/>
          <p:nvPr/>
        </p:nvSpPr>
        <p:spPr>
          <a:xfrm>
            <a:off x="4427068" y="2423160"/>
            <a:ext cx="3337560" cy="658368"/>
          </a:xfrm>
          <a:prstGeom prst="rect">
            <a:avLst/>
          </a:prstGeom>
          <a:solidFill>
            <a:schemeClr val="accent6"/>
          </a:solidFill>
          <a:ln/>
        </p:spPr>
      </p:sp>
      <p:sp>
        <p:nvSpPr>
          <p:cNvPr id="23" name="Shape 16"/>
          <p:cNvSpPr/>
          <p:nvPr/>
        </p:nvSpPr>
        <p:spPr>
          <a:xfrm>
            <a:off x="5766664" y="2039112"/>
            <a:ext cx="658368" cy="658368"/>
          </a:xfrm>
          <a:prstGeom prst="ellipse">
            <a:avLst/>
          </a:prstGeom>
          <a:solidFill>
            <a:schemeClr val="bg1"/>
          </a:solidFill>
          <a:ln w="25400">
            <a:solidFill>
              <a:srgbClr val="0E8F9E"/>
            </a:solidFill>
            <a:prstDash val="solid"/>
          </a:ln>
        </p:spPr>
      </p:sp>
      <p:pic>
        <p:nvPicPr>
          <p:cNvPr id="24" name="Image 5" descr="preencoded.png">    </p:cNvPr>
          <p:cNvPicPr>
            <a:picLocks noChangeAspect="1"/>
          </p:cNvPicPr>
          <p:nvPr/>
        </p:nvPicPr>
        <p:blipFill>
          <a:blip r:embed="rId6"/>
          <a:stretch>
            <a:fillRect/>
          </a:stretch>
        </p:blipFill>
        <p:spPr>
          <a:xfrm>
            <a:off x="5940400" y="2212848"/>
            <a:ext cx="310896" cy="310896"/>
          </a:xfrm>
          <a:prstGeom prst="rect">
            <a:avLst/>
          </a:prstGeom>
        </p:spPr>
      </p:pic>
      <p:sp>
        <p:nvSpPr>
          <p:cNvPr id="25" name="Text 17"/>
          <p:cNvSpPr txBox="1"/>
          <p:nvPr/>
        </p:nvSpPr>
        <p:spPr>
          <a:xfrm>
            <a:off x="4427068" y="2715768"/>
            <a:ext cx="3337560" cy="347472"/>
          </a:xfrm>
          <a:prstGeom prst="rect">
            <a:avLst/>
          </a:prstGeom>
          <a:noFill/>
          <a:ln/>
        </p:spPr>
        <p:txBody>
          <a:bodyPr wrap="square" lIns="0" tIns="0" rIns="0" bIns="0" rtlCol="0" anchor="ctr"/>
          <a:lstStyle/>
          <a:p>
            <a:pPr algn="ctr" indent="0" marL="0">
              <a:buNone/>
            </a:pPr>
            <a:r>
              <a:rPr lang="en-US" sz="1050" b="1" spc="150" kern="0" dirty="0">
                <a:solidFill>
                  <a:schemeClr val="bg1"/>
                </a:solidFill>
              </a:rPr>
              <a:t>2.  INTERPRET WITH CARE</a:t>
            </a:r>
            <a:endParaRPr lang="en-US" sz="1050" dirty="0"/>
          </a:p>
        </p:txBody>
      </p:sp>
      <p:sp>
        <p:nvSpPr>
          <p:cNvPr id="26" name="Text 18"/>
          <p:cNvSpPr txBox="1"/>
          <p:nvPr/>
        </p:nvSpPr>
        <p:spPr>
          <a:xfrm>
            <a:off x="4609948" y="3154680"/>
            <a:ext cx="2971800" cy="457200"/>
          </a:xfrm>
          <a:prstGeom prst="rect">
            <a:avLst/>
          </a:prstGeom>
          <a:noFill/>
          <a:ln/>
        </p:spPr>
        <p:txBody>
          <a:bodyPr wrap="square" lIns="0" tIns="0" rIns="0" bIns="0" rtlCol="0" anchor="ctr"/>
          <a:lstStyle/>
          <a:p>
            <a:pPr algn="ctr" indent="0" marL="0">
              <a:buNone/>
            </a:pPr>
            <a:r>
              <a:rPr lang="en-US" sz="1050" b="1" dirty="0">
                <a:solidFill>
                  <a:schemeClr val="accent6"/>
                </a:solidFill>
              </a:rPr>
              <a:t>Associations within the sample, not national facts</a:t>
            </a:r>
            <a:endParaRPr lang="en-US" sz="1050" dirty="0"/>
          </a:p>
        </p:txBody>
      </p:sp>
      <p:pic>
        <p:nvPicPr>
          <p:cNvPr id="27" name="Image 6" descr="preencoded.png">    </p:cNvPr>
          <p:cNvPicPr>
            <a:picLocks noChangeAspect="1"/>
          </p:cNvPicPr>
          <p:nvPr/>
        </p:nvPicPr>
        <p:blipFill>
          <a:blip r:embed="rId7"/>
          <a:stretch>
            <a:fillRect/>
          </a:stretch>
        </p:blipFill>
        <p:spPr>
          <a:xfrm>
            <a:off x="4949800" y="3703320"/>
            <a:ext cx="310896" cy="310896"/>
          </a:xfrm>
          <a:prstGeom prst="rect">
            <a:avLst/>
          </a:prstGeom>
        </p:spPr>
      </p:pic>
      <p:sp>
        <p:nvSpPr>
          <p:cNvPr id="28" name="Text 19"/>
          <p:cNvSpPr txBox="1"/>
          <p:nvPr/>
        </p:nvSpPr>
        <p:spPr>
          <a:xfrm>
            <a:off x="46099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Not prevalence</a:t>
            </a:r>
            <a:endParaRPr lang="en-US" sz="900" dirty="0"/>
          </a:p>
        </p:txBody>
      </p:sp>
      <p:pic>
        <p:nvPicPr>
          <p:cNvPr id="29" name="Image 7" descr="preencoded.png">    </p:cNvPr>
          <p:cNvPicPr>
            <a:picLocks noChangeAspect="1"/>
          </p:cNvPicPr>
          <p:nvPr/>
        </p:nvPicPr>
        <p:blipFill>
          <a:blip r:embed="rId8"/>
          <a:stretch>
            <a:fillRect/>
          </a:stretch>
        </p:blipFill>
        <p:spPr>
          <a:xfrm>
            <a:off x="5940400" y="3703320"/>
            <a:ext cx="310896" cy="310896"/>
          </a:xfrm>
          <a:prstGeom prst="rect">
            <a:avLst/>
          </a:prstGeom>
        </p:spPr>
      </p:pic>
      <p:sp>
        <p:nvSpPr>
          <p:cNvPr id="30" name="Text 20"/>
          <p:cNvSpPr txBox="1"/>
          <p:nvPr/>
        </p:nvSpPr>
        <p:spPr>
          <a:xfrm>
            <a:off x="56005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Not causation</a:t>
            </a:r>
            <a:endParaRPr lang="en-US" sz="900" dirty="0"/>
          </a:p>
        </p:txBody>
      </p:sp>
      <p:pic>
        <p:nvPicPr>
          <p:cNvPr id="31" name="Image 8" descr="preencoded.png">    </p:cNvPr>
          <p:cNvPicPr>
            <a:picLocks noChangeAspect="1"/>
          </p:cNvPicPr>
          <p:nvPr/>
        </p:nvPicPr>
        <p:blipFill>
          <a:blip r:embed="rId9"/>
          <a:stretch>
            <a:fillRect/>
          </a:stretch>
        </p:blipFill>
        <p:spPr>
          <a:xfrm>
            <a:off x="6931000" y="3703320"/>
            <a:ext cx="310896" cy="310896"/>
          </a:xfrm>
          <a:prstGeom prst="rect">
            <a:avLst/>
          </a:prstGeom>
        </p:spPr>
      </p:pic>
      <p:sp>
        <p:nvSpPr>
          <p:cNvPr id="32" name="Text 21"/>
          <p:cNvSpPr txBox="1"/>
          <p:nvPr/>
        </p:nvSpPr>
        <p:spPr>
          <a:xfrm>
            <a:off x="65911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Among respondents</a:t>
            </a:r>
            <a:endParaRPr lang="en-US" sz="900" dirty="0"/>
          </a:p>
        </p:txBody>
      </p:sp>
      <p:sp>
        <p:nvSpPr>
          <p:cNvPr id="33" name="Shape 22"/>
          <p:cNvSpPr/>
          <p:nvPr/>
        </p:nvSpPr>
        <p:spPr>
          <a:xfrm>
            <a:off x="4655668" y="4526280"/>
            <a:ext cx="2880360" cy="0"/>
          </a:xfrm>
          <a:prstGeom prst="line">
            <a:avLst/>
          </a:prstGeom>
          <a:noFill/>
          <a:ln w="19050">
            <a:solidFill>
              <a:srgbClr val="ECEAE5"/>
            </a:solidFill>
            <a:prstDash val="solid"/>
          </a:ln>
        </p:spPr>
      </p:sp>
      <p:sp>
        <p:nvSpPr>
          <p:cNvPr id="34" name="Text 23"/>
          <p:cNvSpPr txBox="1"/>
          <p:nvPr/>
        </p:nvSpPr>
        <p:spPr>
          <a:xfrm>
            <a:off x="4564228" y="4581144"/>
            <a:ext cx="3063240" cy="384048"/>
          </a:xfrm>
          <a:prstGeom prst="rect">
            <a:avLst/>
          </a:prstGeom>
          <a:noFill/>
          <a:ln/>
        </p:spPr>
        <p:txBody>
          <a:bodyPr wrap="square" lIns="0" tIns="0" rIns="0" bIns="0" rtlCol="0" anchor="ctr"/>
          <a:lstStyle/>
          <a:p>
            <a:pPr algn="ctr" indent="0" marL="0">
              <a:buNone/>
            </a:pPr>
            <a:r>
              <a:rPr lang="en-US" sz="950" i="1" dirty="0">
                <a:solidFill>
                  <a:srgbClr val="5B5B5E"/>
                </a:solidFill>
              </a:rPr>
              <a:t>Use population-specific language.</a:t>
            </a:r>
            <a:endParaRPr lang="en-US" sz="950" dirty="0"/>
          </a:p>
        </p:txBody>
      </p:sp>
      <p:pic>
        <p:nvPicPr>
          <p:cNvPr id="35" name="Image 9" descr="preencoded.png">    </p:cNvPr>
          <p:cNvPicPr>
            <a:picLocks noChangeAspect="1"/>
          </p:cNvPicPr>
          <p:nvPr/>
        </p:nvPicPr>
        <p:blipFill>
          <a:blip r:embed="rId10"/>
          <a:stretch>
            <a:fillRect/>
          </a:stretch>
        </p:blipFill>
        <p:spPr>
          <a:xfrm>
            <a:off x="7929220" y="3616452"/>
            <a:ext cx="219456" cy="219456"/>
          </a:xfrm>
          <a:prstGeom prst="rect">
            <a:avLst/>
          </a:prstGeom>
        </p:spPr>
      </p:pic>
      <p:sp>
        <p:nvSpPr>
          <p:cNvPr id="36" name="3.  Investigate and act card"/>
          <p:cNvSpPr/>
          <p:nvPr/>
        </p:nvSpPr>
        <p:spPr>
          <a:xfrm>
            <a:off x="8313268" y="2423160"/>
            <a:ext cx="3337560" cy="2606040"/>
          </a:xfrm>
          <a:prstGeom prst="rect">
            <a:avLst/>
          </a:prstGeom>
          <a:solidFill>
            <a:schemeClr val="bg1"/>
          </a:solidFill>
          <a:ln w="9525">
            <a:solidFill>
              <a:srgbClr val="DEDBD5"/>
            </a:solidFill>
            <a:prstDash val="solid"/>
          </a:ln>
          <a:effectLst>
            <a:outerShdw sx="100000" sy="100000" kx="0" ky="0" algn="bl" rotWithShape="0" blurRad="76200" dist="25400" dir="5400000">
              <a:srgbClr val="000000">
                <a:alpha val="14000"/>
              </a:srgbClr>
            </a:outerShdw>
          </a:effectLst>
        </p:spPr>
      </p:sp>
      <p:sp>
        <p:nvSpPr>
          <p:cNvPr id="37" name="Shape 25"/>
          <p:cNvSpPr/>
          <p:nvPr/>
        </p:nvSpPr>
        <p:spPr>
          <a:xfrm>
            <a:off x="8313268" y="2423160"/>
            <a:ext cx="3337560" cy="658368"/>
          </a:xfrm>
          <a:prstGeom prst="rect">
            <a:avLst/>
          </a:prstGeom>
          <a:solidFill>
            <a:schemeClr val="accent3"/>
          </a:solidFill>
          <a:ln/>
        </p:spPr>
      </p:sp>
      <p:sp>
        <p:nvSpPr>
          <p:cNvPr id="38" name="Shape 26"/>
          <p:cNvSpPr/>
          <p:nvPr/>
        </p:nvSpPr>
        <p:spPr>
          <a:xfrm>
            <a:off x="9652864" y="2039112"/>
            <a:ext cx="658368" cy="658368"/>
          </a:xfrm>
          <a:prstGeom prst="ellipse">
            <a:avLst/>
          </a:prstGeom>
          <a:solidFill>
            <a:schemeClr val="bg1"/>
          </a:solidFill>
          <a:ln w="25400">
            <a:solidFill>
              <a:srgbClr val="00833D"/>
            </a:solidFill>
            <a:prstDash val="solid"/>
          </a:ln>
        </p:spPr>
      </p:sp>
      <p:pic>
        <p:nvPicPr>
          <p:cNvPr id="39" name="Image 10" descr="preencoded.png">    </p:cNvPr>
          <p:cNvPicPr>
            <a:picLocks noChangeAspect="1"/>
          </p:cNvPicPr>
          <p:nvPr/>
        </p:nvPicPr>
        <p:blipFill>
          <a:blip r:embed="rId11"/>
          <a:stretch>
            <a:fillRect/>
          </a:stretch>
        </p:blipFill>
        <p:spPr>
          <a:xfrm>
            <a:off x="9826600" y="2212848"/>
            <a:ext cx="310896" cy="310896"/>
          </a:xfrm>
          <a:prstGeom prst="rect">
            <a:avLst/>
          </a:prstGeom>
        </p:spPr>
      </p:pic>
      <p:sp>
        <p:nvSpPr>
          <p:cNvPr id="40" name="Text 27"/>
          <p:cNvSpPr txBox="1"/>
          <p:nvPr/>
        </p:nvSpPr>
        <p:spPr>
          <a:xfrm>
            <a:off x="8313268" y="2715768"/>
            <a:ext cx="3337560" cy="347472"/>
          </a:xfrm>
          <a:prstGeom prst="rect">
            <a:avLst/>
          </a:prstGeom>
          <a:noFill/>
          <a:ln/>
        </p:spPr>
        <p:txBody>
          <a:bodyPr wrap="square" lIns="0" tIns="0" rIns="0" bIns="0" rtlCol="0" anchor="ctr"/>
          <a:lstStyle/>
          <a:p>
            <a:pPr algn="ctr" indent="0" marL="0">
              <a:buNone/>
            </a:pPr>
            <a:r>
              <a:rPr lang="en-US" sz="1050" b="1" spc="150" kern="0" dirty="0">
                <a:solidFill>
                  <a:schemeClr val="bg1"/>
                </a:solidFill>
              </a:rPr>
              <a:t>3.  INVESTIGATE AND ACT</a:t>
            </a:r>
            <a:endParaRPr lang="en-US" sz="1050" dirty="0"/>
          </a:p>
        </p:txBody>
      </p:sp>
      <p:sp>
        <p:nvSpPr>
          <p:cNvPr id="41" name="Text 28"/>
          <p:cNvSpPr txBox="1"/>
          <p:nvPr/>
        </p:nvSpPr>
        <p:spPr>
          <a:xfrm>
            <a:off x="8496148" y="3154680"/>
            <a:ext cx="2971800" cy="457200"/>
          </a:xfrm>
          <a:prstGeom prst="rect">
            <a:avLst/>
          </a:prstGeom>
          <a:noFill/>
          <a:ln/>
        </p:spPr>
        <p:txBody>
          <a:bodyPr wrap="square" lIns="0" tIns="0" rIns="0" bIns="0" rtlCol="0" anchor="ctr"/>
          <a:lstStyle/>
          <a:p>
            <a:pPr algn="ctr" indent="0" marL="0">
              <a:buNone/>
            </a:pPr>
            <a:r>
              <a:rPr lang="en-US" sz="1050" b="1" dirty="0">
                <a:solidFill>
                  <a:schemeClr val="accent3"/>
                </a:solidFill>
              </a:rPr>
              <a:t>Use the signals to shape the next step</a:t>
            </a:r>
            <a:endParaRPr lang="en-US" sz="1050" dirty="0"/>
          </a:p>
        </p:txBody>
      </p:sp>
      <p:pic>
        <p:nvPicPr>
          <p:cNvPr id="42" name="Image 11" descr="preencoded.png">    </p:cNvPr>
          <p:cNvPicPr>
            <a:picLocks noChangeAspect="1"/>
          </p:cNvPicPr>
          <p:nvPr/>
        </p:nvPicPr>
        <p:blipFill>
          <a:blip r:embed="rId12"/>
          <a:stretch>
            <a:fillRect/>
          </a:stretch>
        </p:blipFill>
        <p:spPr>
          <a:xfrm>
            <a:off x="8836000" y="3703320"/>
            <a:ext cx="310896" cy="310896"/>
          </a:xfrm>
          <a:prstGeom prst="rect">
            <a:avLst/>
          </a:prstGeom>
        </p:spPr>
      </p:pic>
      <p:sp>
        <p:nvSpPr>
          <p:cNvPr id="43" name="Text 29"/>
          <p:cNvSpPr txBox="1"/>
          <p:nvPr/>
        </p:nvSpPr>
        <p:spPr>
          <a:xfrm>
            <a:off x="84961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Qualitative study</a:t>
            </a:r>
            <a:endParaRPr lang="en-US" sz="900" dirty="0"/>
          </a:p>
        </p:txBody>
      </p:sp>
      <p:pic>
        <p:nvPicPr>
          <p:cNvPr id="44" name="Image 12" descr="preencoded.png">    </p:cNvPr>
          <p:cNvPicPr>
            <a:picLocks noChangeAspect="1"/>
          </p:cNvPicPr>
          <p:nvPr/>
        </p:nvPicPr>
        <p:blipFill>
          <a:blip r:embed="rId13"/>
          <a:stretch>
            <a:fillRect/>
          </a:stretch>
        </p:blipFill>
        <p:spPr>
          <a:xfrm>
            <a:off x="9826600" y="3703320"/>
            <a:ext cx="310896" cy="310896"/>
          </a:xfrm>
          <a:prstGeom prst="rect">
            <a:avLst/>
          </a:prstGeom>
        </p:spPr>
      </p:pic>
      <p:sp>
        <p:nvSpPr>
          <p:cNvPr id="45" name="Text 30"/>
          <p:cNvSpPr txBox="1"/>
          <p:nvPr/>
        </p:nvSpPr>
        <p:spPr>
          <a:xfrm>
            <a:off x="94867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Programme design</a:t>
            </a:r>
            <a:endParaRPr lang="en-US" sz="900" dirty="0"/>
          </a:p>
        </p:txBody>
      </p:sp>
      <p:pic>
        <p:nvPicPr>
          <p:cNvPr id="46" name="Image 13" descr="preencoded.png">    </p:cNvPr>
          <p:cNvPicPr>
            <a:picLocks noChangeAspect="1"/>
          </p:cNvPicPr>
          <p:nvPr/>
        </p:nvPicPr>
        <p:blipFill>
          <a:blip r:embed="rId14"/>
          <a:stretch>
            <a:fillRect/>
          </a:stretch>
        </p:blipFill>
        <p:spPr>
          <a:xfrm>
            <a:off x="10817200" y="3703320"/>
            <a:ext cx="310896" cy="310896"/>
          </a:xfrm>
          <a:prstGeom prst="rect">
            <a:avLst/>
          </a:prstGeom>
        </p:spPr>
      </p:pic>
      <p:sp>
        <p:nvSpPr>
          <p:cNvPr id="47" name="Text 31"/>
          <p:cNvSpPr txBox="1"/>
          <p:nvPr/>
        </p:nvSpPr>
        <p:spPr>
          <a:xfrm>
            <a:off x="10477348" y="4069080"/>
            <a:ext cx="990600" cy="411480"/>
          </a:xfrm>
          <a:prstGeom prst="rect">
            <a:avLst/>
          </a:prstGeom>
          <a:noFill/>
          <a:ln/>
        </p:spPr>
        <p:txBody>
          <a:bodyPr wrap="square" lIns="0" tIns="0" rIns="0" bIns="0" rtlCol="0" anchor="t"/>
          <a:lstStyle/>
          <a:p>
            <a:pPr algn="ctr" indent="0" marL="0">
              <a:buNone/>
            </a:pPr>
            <a:r>
              <a:rPr lang="en-US" sz="900" dirty="0">
                <a:solidFill>
                  <a:schemeClr val="tx1"/>
                </a:solidFill>
              </a:rPr>
              <a:t>Integrated response</a:t>
            </a:r>
            <a:endParaRPr lang="en-US" sz="900" dirty="0"/>
          </a:p>
        </p:txBody>
      </p:sp>
      <p:sp>
        <p:nvSpPr>
          <p:cNvPr id="48" name="Shape 32"/>
          <p:cNvSpPr/>
          <p:nvPr/>
        </p:nvSpPr>
        <p:spPr>
          <a:xfrm>
            <a:off x="8541868" y="4526280"/>
            <a:ext cx="2880360" cy="0"/>
          </a:xfrm>
          <a:prstGeom prst="line">
            <a:avLst/>
          </a:prstGeom>
          <a:noFill/>
          <a:ln w="19050">
            <a:solidFill>
              <a:srgbClr val="ECEAE5"/>
            </a:solidFill>
            <a:prstDash val="solid"/>
          </a:ln>
        </p:spPr>
      </p:sp>
      <p:sp>
        <p:nvSpPr>
          <p:cNvPr id="49" name="Text 33"/>
          <p:cNvSpPr txBox="1"/>
          <p:nvPr/>
        </p:nvSpPr>
        <p:spPr>
          <a:xfrm>
            <a:off x="8450428" y="4581144"/>
            <a:ext cx="3063240" cy="384048"/>
          </a:xfrm>
          <a:prstGeom prst="rect">
            <a:avLst/>
          </a:prstGeom>
          <a:noFill/>
          <a:ln/>
        </p:spPr>
        <p:txBody>
          <a:bodyPr wrap="square" lIns="0" tIns="0" rIns="0" bIns="0" rtlCol="0" anchor="ctr"/>
          <a:lstStyle/>
          <a:p>
            <a:pPr algn="ctr" indent="0" marL="0">
              <a:buNone/>
            </a:pPr>
            <a:r>
              <a:rPr lang="en-US" sz="950" i="1" dirty="0">
                <a:solidFill>
                  <a:srgbClr val="5B5B5E"/>
                </a:solidFill>
              </a:rPr>
              <a:t>Respond to the system, not one factor.</a:t>
            </a:r>
            <a:endParaRPr lang="en-US" sz="950" dirty="0"/>
          </a:p>
        </p:txBody>
      </p:sp>
      <p:sp>
        <p:nvSpPr>
          <p:cNvPr id="50" name="Shape 34"/>
          <p:cNvSpPr/>
          <p:nvPr/>
        </p:nvSpPr>
        <p:spPr>
          <a:xfrm>
            <a:off x="548640" y="5349240"/>
            <a:ext cx="11091672" cy="822960"/>
          </a:xfrm>
          <a:prstGeom prst="rect">
            <a:avLst/>
          </a:prstGeom>
          <a:solidFill>
            <a:schemeClr val="tx2"/>
          </a:solidFill>
          <a:ln/>
          <a:effectLst>
            <a:outerShdw sx="100000" sy="100000" kx="0" ky="0" algn="bl" rotWithShape="0" blurRad="76200" dist="25400" dir="5400000">
              <a:srgbClr val="000000">
                <a:alpha val="14000"/>
              </a:srgbClr>
            </a:outerShdw>
          </a:effectLst>
        </p:spPr>
      </p:sp>
      <p:sp>
        <p:nvSpPr>
          <p:cNvPr id="51" name="Shape 35"/>
          <p:cNvSpPr/>
          <p:nvPr/>
        </p:nvSpPr>
        <p:spPr>
          <a:xfrm>
            <a:off x="868680" y="5532120"/>
            <a:ext cx="502920" cy="502920"/>
          </a:xfrm>
          <a:prstGeom prst="ellipse">
            <a:avLst/>
          </a:prstGeom>
          <a:solidFill>
            <a:schemeClr val="tx2"/>
          </a:solidFill>
          <a:ln w="19050">
            <a:solidFill>
              <a:srgbClr val="1CABE2"/>
            </a:solidFill>
            <a:prstDash val="solid"/>
          </a:ln>
        </p:spPr>
      </p:sp>
      <p:pic>
        <p:nvPicPr>
          <p:cNvPr id="52" name="Image 14" descr="preencoded.png">    </p:cNvPr>
          <p:cNvPicPr>
            <a:picLocks noChangeAspect="1"/>
          </p:cNvPicPr>
          <p:nvPr/>
        </p:nvPicPr>
        <p:blipFill>
          <a:blip r:embed="rId15"/>
          <a:stretch>
            <a:fillRect/>
          </a:stretch>
        </p:blipFill>
        <p:spPr>
          <a:xfrm>
            <a:off x="996696" y="5660136"/>
            <a:ext cx="246888" cy="246888"/>
          </a:xfrm>
          <a:prstGeom prst="rect">
            <a:avLst/>
          </a:prstGeom>
        </p:spPr>
      </p:pic>
      <p:sp>
        <p:nvSpPr>
          <p:cNvPr id="53" name="Text 36"/>
          <p:cNvSpPr txBox="1"/>
          <p:nvPr/>
        </p:nvSpPr>
        <p:spPr>
          <a:xfrm>
            <a:off x="1600200" y="5349240"/>
            <a:ext cx="9784080" cy="822960"/>
          </a:xfrm>
          <a:prstGeom prst="rect">
            <a:avLst/>
          </a:prstGeom>
          <a:noFill/>
          <a:ln/>
        </p:spPr>
        <p:txBody>
          <a:bodyPr wrap="square" lIns="0" tIns="0" rIns="0" bIns="0" rtlCol="0" anchor="ctr"/>
          <a:lstStyle/>
          <a:p>
            <a:pPr indent="0" marL="0">
              <a:buNone/>
            </a:pPr>
            <a:r>
              <a:rPr lang="en-US" sz="1400" b="1" dirty="0">
                <a:solidFill>
                  <a:schemeClr val="bg1"/>
                </a:solidFill>
              </a:rPr>
              <a:t>Child marriage sits inside a </a:t>
            </a:r>
            <a:pPr indent="0" marL="0">
              <a:buNone/>
            </a:pPr>
            <a:r>
              <a:rPr lang="en-US" sz="1400" b="1" dirty="0">
                <a:solidFill>
                  <a:schemeClr val="accent2"/>
                </a:solidFill>
              </a:rPr>
              <a:t>system of interconnected vulnerabilities</a:t>
            </a:r>
            <a:pPr indent="0" marL="0">
              <a:buNone/>
            </a:pPr>
            <a:r>
              <a:rPr lang="en-US" sz="1400" b="1" dirty="0">
                <a:solidFill>
                  <a:schemeClr val="bg1"/>
                </a:solidFill>
              </a:rPr>
              <a:t>. The numbers show </a:t>
            </a:r>
            <a:pPr indent="0" marL="0">
              <a:buNone/>
            </a:pPr>
            <a:r>
              <a:rPr lang="en-US" sz="1400" b="1" dirty="0">
                <a:solidFill>
                  <a:schemeClr val="accent2"/>
                </a:solidFill>
              </a:rPr>
              <a:t>where to look</a:t>
            </a:r>
            <a:pPr indent="0" marL="0">
              <a:buNone/>
            </a:pPr>
            <a:r>
              <a:rPr lang="en-US" sz="1400" b="1" dirty="0">
                <a:solidFill>
                  <a:schemeClr val="bg1"/>
                </a:solidFill>
              </a:rPr>
              <a:t>; qualitative evidence shows </a:t>
            </a:r>
            <a:pPr indent="0" marL="0">
              <a:buNone/>
            </a:pPr>
            <a:r>
              <a:rPr lang="en-US" sz="1400" b="1" dirty="0">
                <a:solidFill>
                  <a:schemeClr val="accent2"/>
                </a:solidFill>
              </a:rPr>
              <a:t>why</a:t>
            </a:r>
            <a:pPr indent="0" marL="0">
              <a:buNone/>
            </a:pPr>
            <a:r>
              <a:rPr lang="en-US" sz="1400" b="1" dirty="0">
                <a:solidFill>
                  <a:schemeClr val="bg1"/>
                </a:solidFill>
              </a:rPr>
              <a:t>.</a:t>
            </a:r>
            <a:endParaRPr lang="en-US" sz="1400" dirty="0"/>
          </a:p>
        </p:txBody>
      </p:sp>
      <p:sp>
        <p:nvSpPr>
          <p:cNvPr id="54" name="Text 37"/>
          <p:cNvSpPr txBox="1"/>
          <p:nvPr/>
        </p:nvSpPr>
        <p:spPr>
          <a:xfrm>
            <a:off x="10725912" y="6473952"/>
            <a:ext cx="914400" cy="274320"/>
          </a:xfrm>
          <a:prstGeom prst="rect">
            <a:avLst/>
          </a:prstGeom>
          <a:noFill/>
          <a:ln/>
        </p:spPr>
        <p:txBody>
          <a:bodyPr wrap="square" lIns="0" tIns="0" rIns="0" bIns="0" rtlCol="0" anchor="ctr"/>
          <a:lstStyle/>
          <a:p>
            <a:pPr algn="r" indent="0" marL="0">
              <a:buNone/>
            </a:pPr>
            <a:r>
              <a:rPr lang="en-US" sz="900" b="1" dirty="0">
                <a:solidFill>
                  <a:schemeClr val="tx2"/>
                </a:solidFill>
              </a:rPr>
              <a:t>10 / 10</a:t>
            </a:r>
            <a:endParaRPr lang="en-US" sz="900" dirty="0"/>
          </a:p>
        </p:txBody>
      </p:sp>
    </p:spTree>
  </p:cSld>
  <p:clrMapOvr>
    <a:masterClrMapping/>
  </p:clrMapOvr>
</p:sld>
</file>

<file path=ppt/theme/theme1.xml><?xml version="1.0" encoding="utf-8"?>
<a:theme xmlns:a="http://schemas.openxmlformats.org/drawingml/2006/main" name="Understanding the Evidence">
  <a:themeElements>
    <a:clrScheme name="Understanding the Evidence">
      <a:dk1>
        <a:srgbClr val="404041"/>
      </a:dk1>
      <a:lt1>
        <a:srgbClr val="FFFFFF"/>
      </a:lt1>
      <a:dk2>
        <a:srgbClr val="213063"/>
      </a:dk2>
      <a:lt2>
        <a:srgbClr val="FAF9F7"/>
      </a:lt2>
      <a:accent1>
        <a:srgbClr val="374EA2"/>
      </a:accent1>
      <a:accent2>
        <a:srgbClr val="1CABE2"/>
      </a:accent2>
      <a:accent3>
        <a:srgbClr val="00833D"/>
      </a:accent3>
      <a:accent4>
        <a:srgbClr val="F26A21"/>
      </a:accent4>
      <a:accent5>
        <a:srgbClr val="6A1E74"/>
      </a:accent5>
      <a:accent6>
        <a:srgbClr val="0E8F9E"/>
      </a:accent6>
      <a:hlink>
        <a:srgbClr val="1CABE2"/>
      </a:hlink>
      <a:folHlink>
        <a:srgbClr val="6A1E74"/>
      </a:folHlink>
    </a:clrScheme>
    <a:fontScheme name="Understanding the Evide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the Evidence: Child Marriage</dc:title>
  <dc:subject>PptxGenJS Presentation</dc:subject>
  <dc:creator>Daniel Kalunga</dc:creator>
  <cp:lastModifiedBy>Daniel Kalunga</cp:lastModifiedBy>
  <cp:revision>1</cp:revision>
  <dcterms:created xsi:type="dcterms:W3CDTF">2026-10-03T06:18:58Z</dcterms:created>
  <dcterms:modified xsi:type="dcterms:W3CDTF">2026-10-03T06:18:58Z</dcterms:modified>
</cp:coreProperties>
</file>